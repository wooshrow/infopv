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04" r:id="rId1"/>
  </p:sldMasterIdLst>
  <p:notesMasterIdLst>
    <p:notesMasterId r:id="rId30"/>
  </p:notesMasterIdLst>
  <p:handoutMasterIdLst>
    <p:handoutMasterId r:id="rId31"/>
  </p:handoutMasterIdLst>
  <p:sldIdLst>
    <p:sldId id="302" r:id="rId2"/>
    <p:sldId id="316" r:id="rId3"/>
    <p:sldId id="308" r:id="rId4"/>
    <p:sldId id="309" r:id="rId5"/>
    <p:sldId id="303" r:id="rId6"/>
    <p:sldId id="304" r:id="rId7"/>
    <p:sldId id="305" r:id="rId8"/>
    <p:sldId id="306" r:id="rId9"/>
    <p:sldId id="307" r:id="rId10"/>
    <p:sldId id="310" r:id="rId11"/>
    <p:sldId id="311" r:id="rId12"/>
    <p:sldId id="312" r:id="rId13"/>
    <p:sldId id="313" r:id="rId14"/>
    <p:sldId id="314" r:id="rId15"/>
    <p:sldId id="315" r:id="rId16"/>
    <p:sldId id="325" r:id="rId17"/>
    <p:sldId id="326" r:id="rId18"/>
    <p:sldId id="329" r:id="rId19"/>
    <p:sldId id="330" r:id="rId20"/>
    <p:sldId id="331" r:id="rId21"/>
    <p:sldId id="317" r:id="rId22"/>
    <p:sldId id="318" r:id="rId23"/>
    <p:sldId id="320" r:id="rId24"/>
    <p:sldId id="319" r:id="rId25"/>
    <p:sldId id="321" r:id="rId26"/>
    <p:sldId id="323" r:id="rId27"/>
    <p:sldId id="324" r:id="rId28"/>
    <p:sldId id="322" r:id="rId2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shnu" initials="w" lastIdx="1" clrIdx="0"/>
  <p:cmAuthor id="1" name="wishnu" initials="u" lastIdx="4" clrIdx="1"/>
  <p:cmAuthor id="2" name="underdarkprime" initials="u" lastIdx="2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FF7C80"/>
    <a:srgbClr val="0000FF"/>
    <a:srgbClr val="00FFFF"/>
    <a:srgbClr val="740000"/>
    <a:srgbClr val="FFFF00"/>
    <a:srgbClr val="0099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769"/>
    <p:restoredTop sz="85586" autoAdjust="0"/>
  </p:normalViewPr>
  <p:slideViewPr>
    <p:cSldViewPr snapToGrid="0">
      <p:cViewPr>
        <p:scale>
          <a:sx n="150" d="100"/>
          <a:sy n="150" d="100"/>
        </p:scale>
        <p:origin x="-1304" y="-20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136"/>
    </p:cViewPr>
  </p:sorterViewPr>
  <p:notesViewPr>
    <p:cSldViewPr snapToGrid="0">
      <p:cViewPr varScale="1">
        <p:scale>
          <a:sx n="83" d="100"/>
          <a:sy n="83" d="100"/>
        </p:scale>
        <p:origin x="-2040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56ECA777-5D92-4C71-BBBC-929AAD46A9DA}" type="datetimeFigureOut">
              <a:rPr lang="en-US"/>
              <a:pPr>
                <a:defRPr/>
              </a:pPr>
              <a:t>10/24/25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885A2965-3344-491C-B19D-721A1CAE9C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1925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68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2A987913-0F2C-424D-8BF1-193910EA9E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4949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7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 dirty="0"/>
          </a:p>
        </p:txBody>
      </p:sp>
      <p:sp>
        <p:nvSpPr>
          <p:cNvPr id="77828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CDCF684-DEB6-4A1B-AC63-4D941A9235D8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5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A987913-0F2C-424D-8BF1-193910EA9E3D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770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A987913-0F2C-424D-8BF1-193910EA9E3D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510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A987913-0F2C-424D-8BF1-193910EA9E3D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8164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A987913-0F2C-424D-8BF1-193910EA9E3D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3679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A987913-0F2C-424D-8BF1-193910EA9E3D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9752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A987913-0F2C-424D-8BF1-193910EA9E3D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8526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A987913-0F2C-424D-8BF1-193910EA9E3D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1670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A987913-0F2C-424D-8BF1-193910EA9E3D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9729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A987913-0F2C-424D-8BF1-193910EA9E3D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991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5" name="Afgeronde rechthoek 10"/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hthoek 11"/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hthoek 12"/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Rechthoek 14"/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Ondertitel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nl-NL"/>
              <a:t>Klik om het opmaakprofiel van de modelondertitel te bewerken</a:t>
            </a:r>
            <a:endParaRPr lang="en-US"/>
          </a:p>
        </p:txBody>
      </p:sp>
      <p:sp>
        <p:nvSpPr>
          <p:cNvPr id="8" name="Titel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11" name="Tijdelijke aanduiding voor datum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8-11-2009</a:t>
            </a:r>
            <a:endParaRPr lang="nl-NL"/>
          </a:p>
        </p:txBody>
      </p:sp>
      <p:sp>
        <p:nvSpPr>
          <p:cNvPr id="12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13" name="Tijdelijke aanduiding voor dianumm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22EDF4D3-6773-40AE-86F4-FFECAC5A56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9"/>
          <p:cNvSpPr/>
          <p:nvPr/>
        </p:nvSpPr>
        <p:spPr>
          <a:xfrm>
            <a:off x="0" y="1071563"/>
            <a:ext cx="571500" cy="3571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00034" y="274638"/>
            <a:ext cx="8358246" cy="796908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8" name="Tijdelijke aanduiding voor inhoud 7"/>
          <p:cNvSpPr>
            <a:spLocks noGrp="1"/>
          </p:cNvSpPr>
          <p:nvPr>
            <p:ph sz="quarter" idx="1"/>
          </p:nvPr>
        </p:nvSpPr>
        <p:spPr>
          <a:xfrm>
            <a:off x="500034" y="1447800"/>
            <a:ext cx="8358246" cy="4572000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8-11-2009</a:t>
            </a:r>
            <a:endParaRPr lang="nl-NL"/>
          </a:p>
        </p:txBody>
      </p:sp>
      <p:sp>
        <p:nvSpPr>
          <p:cNvPr id="6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7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021F5-617A-4386-B224-EDC4A8F1A9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ekop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5" name="Afgeronde rechthoek 10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hthoek 11"/>
          <p:cNvSpPr/>
          <p:nvPr/>
        </p:nvSpPr>
        <p:spPr>
          <a:xfrm flipV="1">
            <a:off x="69850" y="2376488"/>
            <a:ext cx="90138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hthoek 12"/>
          <p:cNvSpPr/>
          <p:nvPr/>
        </p:nvSpPr>
        <p:spPr>
          <a:xfrm>
            <a:off x="69850" y="2341563"/>
            <a:ext cx="901382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hthoek 14"/>
          <p:cNvSpPr/>
          <p:nvPr/>
        </p:nvSpPr>
        <p:spPr>
          <a:xfrm>
            <a:off x="68263" y="2468563"/>
            <a:ext cx="9015412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9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8-11-2009</a:t>
            </a:r>
            <a:endParaRPr lang="nl-NL"/>
          </a:p>
        </p:txBody>
      </p:sp>
      <p:sp>
        <p:nvSpPr>
          <p:cNvPr id="10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11" name="Tijdelijke aanduiding voor dianummer 5"/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7BF423-235F-4FD8-90D3-4AC1039755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11" name="Tijdelijke aanduiding voor inhoud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8-11-2009</a:t>
            </a:r>
            <a:endParaRPr lang="nl-NL"/>
          </a:p>
        </p:txBody>
      </p:sp>
      <p:sp>
        <p:nvSpPr>
          <p:cNvPr id="6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7" name="Tijdelijke aanduiding voor dianumm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6DB06B-448C-4468-BA6A-FBDA659043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11" name="Tijdelijke aanduiding voor inhoud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13" name="Tijdelijke aanduiding voor inhoud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8-11-2009</a:t>
            </a:r>
            <a:endParaRPr lang="nl-NL"/>
          </a:p>
        </p:txBody>
      </p:sp>
      <p:sp>
        <p:nvSpPr>
          <p:cNvPr id="8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9" name="Tijdelijke aanduiding voor dianumm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B48FA4-6726-4A4F-9B9A-8AF0AC6E74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8-11-2009</a:t>
            </a:r>
            <a:endParaRPr lang="nl-NL"/>
          </a:p>
        </p:txBody>
      </p:sp>
      <p:sp>
        <p:nvSpPr>
          <p:cNvPr id="4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5" name="Tijdelijke aanduiding voor dianumm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0B26D1-C0C0-422C-94F4-A11F546AC0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8-11-2009</a:t>
            </a:r>
            <a:endParaRPr lang="nl-NL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4" name="Tijdelijke aanduiding voor dianumm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B6A5C9-CD61-469B-9012-32298A16DD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6" name="Afgeronde rechthoek 10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11" name="Tijdelijke aanduiding voor inhoud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8-11-2009</a:t>
            </a:r>
            <a:endParaRPr lang="nl-NL"/>
          </a:p>
        </p:txBody>
      </p:sp>
      <p:sp>
        <p:nvSpPr>
          <p:cNvPr id="8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9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EC0175-1A49-4F94-A376-C10786AFA4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9"/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hthoek 10"/>
          <p:cNvSpPr/>
          <p:nvPr/>
        </p:nvSpPr>
        <p:spPr>
          <a:xfrm>
            <a:off x="68263" y="4649788"/>
            <a:ext cx="900747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hthoek 11"/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nl-NL" noProof="0"/>
              <a:t>Klik op het pictogram als u een afbeelding wilt toevoegen</a:t>
            </a:r>
            <a:endParaRPr lang="en-US" noProof="0" dirty="0"/>
          </a:p>
        </p:txBody>
      </p:sp>
      <p:sp>
        <p:nvSpPr>
          <p:cNvPr id="8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8-11-2009</a:t>
            </a:r>
            <a:endParaRPr lang="nl-NL"/>
          </a:p>
        </p:txBody>
      </p:sp>
      <p:sp>
        <p:nvSpPr>
          <p:cNvPr id="9" name="Tijdelijke aanduiding voor voettekst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10" name="Tijdelijke aanduiding voor dianummer 6"/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74FA54-49ED-4316-A703-B6A53634F9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8-11-2009</a:t>
            </a:r>
            <a:endParaRPr lang="nl-NL"/>
          </a:p>
        </p:txBody>
      </p:sp>
      <p:sp>
        <p:nvSpPr>
          <p:cNvPr id="5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Tijdelijke aanduiding voor dianumm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8B5863-3B74-4ECA-AF39-1550A9B1F8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8-11-2009</a:t>
            </a:r>
            <a:endParaRPr lang="nl-NL"/>
          </a:p>
        </p:txBody>
      </p:sp>
      <p:sp>
        <p:nvSpPr>
          <p:cNvPr id="5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Tijdelijke aanduiding voor dianumm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5FABF1-2479-4D05-819F-074DE7625B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8" name="Afgeronde rechthoek 7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28" name="Tijdelijke aanduiding voor titel 21"/>
          <p:cNvSpPr>
            <a:spLocks noGrp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nl-NL"/>
              <a:t>Klik om de stijl te bewerken</a:t>
            </a:r>
            <a:endParaRPr lang="en-US"/>
          </a:p>
        </p:txBody>
      </p:sp>
      <p:sp>
        <p:nvSpPr>
          <p:cNvPr id="1029" name="Tijdelijke aanduiding voor tekst 12"/>
          <p:cNvSpPr>
            <a:spLocks noGrp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8-11-2009</a:t>
            </a:r>
            <a:endParaRPr lang="nl-NL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23" name="Tijdelijke aanduiding voor dianummer 22"/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B7B3BD64-C00E-46CB-8631-BB77724B76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99" r:id="rId1"/>
    <p:sldLayoutId id="2147484300" r:id="rId2"/>
    <p:sldLayoutId id="2147484301" r:id="rId3"/>
    <p:sldLayoutId id="2147484293" r:id="rId4"/>
    <p:sldLayoutId id="2147484294" r:id="rId5"/>
    <p:sldLayoutId id="2147484295" r:id="rId6"/>
    <p:sldLayoutId id="2147484296" r:id="rId7"/>
    <p:sldLayoutId id="2147484302" r:id="rId8"/>
    <p:sldLayoutId id="2147484303" r:id="rId9"/>
    <p:sldLayoutId id="2147484297" r:id="rId10"/>
    <p:sldLayoutId id="2147484298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C0E5AF"/>
        </a:buClr>
        <a:buSzPct val="8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FEB80A"/>
        </a:buClr>
        <a:buSzPct val="80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FEB80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wishnu@cs.uu.n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4"/>
          <p:cNvSpPr>
            <a:spLocks noGrp="1"/>
          </p:cNvSpPr>
          <p:nvPr>
            <p:ph type="ctrTitle"/>
          </p:nvPr>
        </p:nvSpPr>
        <p:spPr>
          <a:xfrm>
            <a:off x="457200" y="1506538"/>
            <a:ext cx="8229600" cy="1470025"/>
          </a:xfrm>
        </p:spPr>
        <p:txBody>
          <a:bodyPr/>
          <a:lstStyle/>
          <a:p>
            <a:pPr eaLnBrk="1" hangingPunct="1"/>
            <a:r>
              <a:rPr lang="en-US" dirty="0"/>
              <a:t>Probabilistic</a:t>
            </a:r>
            <a:r>
              <a:rPr dirty="0"/>
              <a:t> Model Checking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50888" y="3917950"/>
            <a:ext cx="6400800" cy="2139950"/>
          </a:xfrm>
        </p:spPr>
        <p:txBody>
          <a:bodyPr/>
          <a:lstStyle/>
          <a:p>
            <a:pPr algn="l" eaLnBrk="1" hangingPunct="1">
              <a:lnSpc>
                <a:spcPct val="80000"/>
              </a:lnSpc>
            </a:pPr>
            <a:r>
              <a:rPr lang="en-US" sz="2400"/>
              <a:t>Wishnu Prasetya	</a:t>
            </a:r>
            <a:r>
              <a:rPr lang="en-US" sz="1800"/>
              <a:t>	</a:t>
            </a:r>
          </a:p>
          <a:p>
            <a:pPr algn="l" eaLnBrk="1" hangingPunct="1">
              <a:lnSpc>
                <a:spcPct val="80000"/>
              </a:lnSpc>
            </a:pPr>
            <a:endParaRPr lang="en-US" sz="1800">
              <a:hlinkClick r:id="rId3"/>
            </a:endParaRPr>
          </a:p>
          <a:p>
            <a:pPr algn="l" eaLnBrk="1" hangingPunct="1">
              <a:lnSpc>
                <a:spcPct val="80000"/>
              </a:lnSpc>
            </a:pPr>
            <a:endParaRPr lang="en-US" sz="1800">
              <a:hlinkClick r:id="rId3"/>
            </a:endParaRPr>
          </a:p>
          <a:p>
            <a:pPr algn="l" eaLnBrk="1" hangingPunct="1">
              <a:lnSpc>
                <a:spcPct val="80000"/>
              </a:lnSpc>
            </a:pPr>
            <a:endParaRPr lang="en-US" sz="1800">
              <a:hlinkClick r:id="rId3"/>
            </a:endParaRPr>
          </a:p>
          <a:p>
            <a:pPr algn="l" eaLnBrk="1" hangingPunct="1">
              <a:lnSpc>
                <a:spcPct val="80000"/>
              </a:lnSpc>
            </a:pPr>
            <a:r>
              <a:rPr lang="en-US" sz="1600">
                <a:hlinkClick r:id="rId3"/>
              </a:rPr>
              <a:t>wishnu@cs.uu.nl</a:t>
            </a:r>
            <a:endParaRPr lang="en-US" sz="1600"/>
          </a:p>
          <a:p>
            <a:pPr algn="l" eaLnBrk="1" hangingPunct="1">
              <a:lnSpc>
                <a:spcPct val="80000"/>
              </a:lnSpc>
            </a:pPr>
            <a:r>
              <a:rPr lang="en-US" sz="1600">
                <a:solidFill>
                  <a:schemeClr val="accent2"/>
                </a:solidFill>
              </a:rPr>
              <a:t>www.cs.uu.nl/docs/vakken/pv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DFD13-4340-1B3E-EBC5-D2B75ECD2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412720"/>
            <a:ext cx="7772400" cy="1143000"/>
          </a:xfrm>
        </p:spPr>
        <p:txBody>
          <a:bodyPr/>
          <a:lstStyle/>
          <a:p>
            <a:pPr algn="ctr"/>
            <a:r>
              <a:rPr lang="en-GB" sz="5400" b="1" dirty="0"/>
              <a:t>a</a:t>
            </a:r>
            <a:r>
              <a:rPr lang="en-NL" sz="5400" b="1" dirty="0"/>
              <a:t>dditional slides DTMC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0BC11E-6703-A4C6-3287-D71BB3673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0B26D1-C0C0-422C-94F4-A11F546AC08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549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2A796-0523-08E8-89CA-ADEDCEE25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sz="3200" dirty="0"/>
              <a:t>Probability of taking a path or a set of paths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4A233-30A5-1259-1D5B-6A201107923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34296" y="3541543"/>
            <a:ext cx="8523983" cy="2800263"/>
          </a:xfrm>
        </p:spPr>
        <p:txBody>
          <a:bodyPr/>
          <a:lstStyle/>
          <a:p>
            <a:r>
              <a:rPr lang="en-NL" sz="2000" dirty="0"/>
              <a:t>Consider a path </a:t>
            </a:r>
            <a:r>
              <a:rPr lang="en-NL" sz="2000" dirty="0">
                <a:highlight>
                  <a:srgbClr val="FFFF00"/>
                </a:highlight>
              </a:rPr>
              <a:t>𝜔 e.g. s</a:t>
            </a:r>
            <a:r>
              <a:rPr lang="en-NL" sz="2000" baseline="-25000" dirty="0">
                <a:highlight>
                  <a:srgbClr val="FFFF00"/>
                </a:highlight>
              </a:rPr>
              <a:t>0</a:t>
            </a:r>
            <a:r>
              <a:rPr lang="en-NL" sz="2000" dirty="0">
                <a:highlight>
                  <a:srgbClr val="FFFF00"/>
                </a:highlight>
              </a:rPr>
              <a:t>,s</a:t>
            </a:r>
            <a:r>
              <a:rPr lang="en-NL" sz="2000" baseline="-25000" dirty="0">
                <a:highlight>
                  <a:srgbClr val="FFFF00"/>
                </a:highlight>
              </a:rPr>
              <a:t>1</a:t>
            </a:r>
            <a:r>
              <a:rPr lang="en-NL" sz="2000" dirty="0">
                <a:highlight>
                  <a:srgbClr val="FFFF00"/>
                </a:highlight>
              </a:rPr>
              <a:t>,s</a:t>
            </a:r>
            <a:r>
              <a:rPr lang="en-NL" sz="2000" baseline="-25000" dirty="0">
                <a:highlight>
                  <a:srgbClr val="FFFF00"/>
                </a:highlight>
              </a:rPr>
              <a:t>2</a:t>
            </a:r>
            <a:r>
              <a:rPr lang="en-NL" sz="2000" dirty="0">
                <a:highlight>
                  <a:srgbClr val="FFFF00"/>
                </a:highlight>
              </a:rPr>
              <a:t>,s</a:t>
            </a:r>
            <a:r>
              <a:rPr lang="en-NL" sz="2000" baseline="-25000" dirty="0">
                <a:highlight>
                  <a:srgbClr val="FFFF00"/>
                </a:highlight>
              </a:rPr>
              <a:t>0.</a:t>
            </a:r>
            <a:r>
              <a:rPr lang="en-NL" sz="2000" dirty="0"/>
              <a:t> The probability that the system follows this path when executed with the starting state s</a:t>
            </a:r>
            <a:r>
              <a:rPr lang="en-NL" sz="2000" baseline="-25000" dirty="0"/>
              <a:t>0</a:t>
            </a:r>
            <a:r>
              <a:rPr lang="en-NL" sz="2000" dirty="0"/>
              <a:t> is denoted by P</a:t>
            </a:r>
            <a:r>
              <a:rPr lang="en-NL" sz="2000" baseline="-25000" dirty="0"/>
              <a:t>s0</a:t>
            </a:r>
            <a:r>
              <a:rPr lang="en-NL" sz="2000" dirty="0"/>
              <a:t>(𝜔). Or simply P(𝜔 ) if it is clear which s</a:t>
            </a:r>
            <a:r>
              <a:rPr lang="en-NL" sz="2000" baseline="-25000" dirty="0"/>
              <a:t>0</a:t>
            </a:r>
            <a:r>
              <a:rPr lang="en-NL" sz="2000" dirty="0"/>
              <a:t> is meant. It is the product of the probability of each transition in 𝜔.</a:t>
            </a:r>
            <a:br>
              <a:rPr lang="en-NL" sz="2000" dirty="0"/>
            </a:br>
            <a:br>
              <a:rPr lang="en-NL" sz="2000" dirty="0"/>
            </a:br>
            <a:r>
              <a:rPr lang="en-NL" sz="2000" dirty="0"/>
              <a:t>Example: for the above 𝜔, P(𝜔) = 1 * 0.01 * 1 = 0.01</a:t>
            </a:r>
          </a:p>
          <a:p>
            <a:r>
              <a:rPr lang="en-NL" sz="2000" dirty="0"/>
              <a:t>For a </a:t>
            </a:r>
            <a:r>
              <a:rPr lang="en-NL" sz="2000" b="1" dirty="0"/>
              <a:t>set of of paths </a:t>
            </a:r>
            <a:r>
              <a:rPr lang="en-NL" sz="2000" dirty="0"/>
              <a:t>U (starting from s0), the probability that the system’s execution follows </a:t>
            </a:r>
            <a:r>
              <a:rPr lang="en-NL" sz="2000" b="1" dirty="0"/>
              <a:t>one of </a:t>
            </a:r>
            <a:r>
              <a:rPr lang="en-NL" sz="2000" dirty="0"/>
              <a:t>the paths in U, denoted by P(U), is ∑</a:t>
            </a:r>
            <a:r>
              <a:rPr lang="en-NL" sz="2000" baseline="-25000" dirty="0"/>
              <a:t>𝜔∊U </a:t>
            </a:r>
            <a:r>
              <a:rPr lang="en-NL" sz="2000" dirty="0"/>
              <a:t>P(𝜔).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36D1E8-236A-0284-592E-681339040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D021F5-617A-4386-B224-EDC4A8F1A934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pic>
        <p:nvPicPr>
          <p:cNvPr id="6" name="Picture 5" descr="A diagram of a diagram&#10;&#10;Description automatically generated">
            <a:extLst>
              <a:ext uri="{FF2B5EF4-FFF2-40B4-BE49-F238E27FC236}">
                <a16:creationId xmlns:a16="http://schemas.microsoft.com/office/drawing/2014/main" id="{7FF3A02D-87A3-757B-64E4-F33A6E440A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1373" y="1466279"/>
            <a:ext cx="2859368" cy="185017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2A2DF53-D7A2-F122-A093-4D5E73F863A1}"/>
              </a:ext>
            </a:extLst>
          </p:cNvPr>
          <p:cNvSpPr txBox="1"/>
          <p:nvPr/>
        </p:nvSpPr>
        <p:spPr>
          <a:xfrm>
            <a:off x="845574" y="2160535"/>
            <a:ext cx="1722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A</a:t>
            </a:r>
            <a:r>
              <a:rPr lang="en-NL" sz="2400" dirty="0"/>
              <a:t> “</a:t>
            </a:r>
            <a:r>
              <a:rPr lang="en-NL" sz="2400" dirty="0">
                <a:highlight>
                  <a:srgbClr val="FFFF00"/>
                </a:highlight>
              </a:rPr>
              <a:t>DTMC</a:t>
            </a:r>
            <a:r>
              <a:rPr lang="en-NL" sz="2400" dirty="0"/>
              <a:t>” :</a:t>
            </a:r>
          </a:p>
        </p:txBody>
      </p:sp>
    </p:spTree>
    <p:extLst>
      <p:ext uri="{BB962C8B-B14F-4D97-AF65-F5344CB8AC3E}">
        <p14:creationId xmlns:p14="http://schemas.microsoft.com/office/powerpoint/2010/main" val="521966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2A796-0523-08E8-89CA-ADEDCEE25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sz="3200" dirty="0"/>
              <a:t>Probability of taking a path or a set of paths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04A233-30A5-1259-1D5B-6A2011079235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16310" y="3541543"/>
                <a:ext cx="8641970" cy="28002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NL" sz="2000" dirty="0"/>
                  <a:t>Example: consider U = the set of paths that ends in s</a:t>
                </a:r>
                <a:r>
                  <a:rPr lang="en-NL" sz="2000" baseline="-25000" dirty="0"/>
                  <a:t>2</a:t>
                </a:r>
                <a:r>
                  <a:rPr lang="en-NL" sz="2000" dirty="0"/>
                  <a:t>. Note that U is infinite: U = { 02, 0102, 010102, … }. But we can calculate P(U).</a:t>
                </a:r>
                <a:br>
                  <a:rPr lang="en-NL" sz="2000" dirty="0"/>
                </a:br>
                <a:br>
                  <a:rPr lang="en-NL" sz="2000" dirty="0"/>
                </a:br>
                <a:r>
                  <a:rPr lang="en-NL" sz="2000" dirty="0"/>
                  <a:t>	P(U) =  0.5 + 0.52 + 0.53 + … = ∑</a:t>
                </a:r>
                <a:r>
                  <a:rPr lang="en-NL" sz="2000" baseline="-25000" dirty="0"/>
                  <a:t>k≥0</a:t>
                </a:r>
                <a:r>
                  <a:rPr lang="en-NL" sz="2000" dirty="0"/>
                  <a:t>  0.5</a:t>
                </a:r>
                <a:r>
                  <a:rPr lang="en-NL" sz="2000" baseline="30000" dirty="0"/>
                  <a:t>k</a:t>
                </a:r>
                <a:r>
                  <a:rPr lang="en-NL" sz="2000" dirty="0"/>
                  <a:t> </a:t>
                </a:r>
                <a:br>
                  <a:rPr lang="en-NL" sz="2000" dirty="0"/>
                </a:br>
                <a:r>
                  <a:rPr lang="en-NL" sz="2000" dirty="0"/>
                  <a:t>	</a:t>
                </a:r>
              </a:p>
              <a:p>
                <a:pPr marL="0" indent="0">
                  <a:buNone/>
                </a:pPr>
                <a:r>
                  <a:rPr lang="en-NL" sz="2000" dirty="0"/>
                  <a:t>	        =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0.5 ∗ 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1 −0.5</m:t>
                        </m:r>
                      </m:den>
                    </m:f>
                  </m:oMath>
                </a14:m>
                <a:r>
                  <a:rPr lang="en-NL" sz="2000" dirty="0"/>
                  <a:t>  = 1</a:t>
                </a:r>
                <a:br>
                  <a:rPr lang="en-NL" sz="2000" dirty="0"/>
                </a:br>
                <a:br>
                  <a:rPr lang="en-NL" sz="2000" dirty="0"/>
                </a:br>
                <a:endParaRPr lang="en-NL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04A233-30A5-1259-1D5B-6A20110792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16310" y="3541543"/>
                <a:ext cx="8641970" cy="2800263"/>
              </a:xfrm>
              <a:blipFill>
                <a:blip r:embed="rId2"/>
                <a:stretch>
                  <a:fillRect l="-587" t="-901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36D1E8-236A-0284-592E-681339040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D021F5-617A-4386-B224-EDC4A8F1A934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pic>
        <p:nvPicPr>
          <p:cNvPr id="7" name="Picture 6" descr="A diagram of a diagram&#10;&#10;Description automatically generated">
            <a:extLst>
              <a:ext uri="{FF2B5EF4-FFF2-40B4-BE49-F238E27FC236}">
                <a16:creationId xmlns:a16="http://schemas.microsoft.com/office/drawing/2014/main" id="{E5BD4988-1C48-D831-ACF9-F4D69B80FD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2579" y="1440763"/>
            <a:ext cx="1890866" cy="1731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10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2A796-0523-08E8-89CA-ADEDCEE25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Probability Matrix Representation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36D1E8-236A-0284-592E-681339040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D021F5-617A-4386-B224-EDC4A8F1A934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pic>
        <p:nvPicPr>
          <p:cNvPr id="6" name="Picture 5" descr="A diagram of a diagram&#10;&#10;Description automatically generated">
            <a:extLst>
              <a:ext uri="{FF2B5EF4-FFF2-40B4-BE49-F238E27FC236}">
                <a16:creationId xmlns:a16="http://schemas.microsoft.com/office/drawing/2014/main" id="{7FF3A02D-87A3-757B-64E4-F33A6E440A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650" y="2149949"/>
            <a:ext cx="2859368" cy="1850179"/>
          </a:xfrm>
          <a:prstGeom prst="rect">
            <a:avLst/>
          </a:prstGeom>
        </p:spPr>
      </p:pic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9820F5CB-6E2C-62DB-6000-E82C8DDD26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178634"/>
              </p:ext>
            </p:extLst>
          </p:nvPr>
        </p:nvGraphicFramePr>
        <p:xfrm>
          <a:off x="4572000" y="1815389"/>
          <a:ext cx="3572435" cy="1954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487">
                  <a:extLst>
                    <a:ext uri="{9D8B030D-6E8A-4147-A177-3AD203B41FA5}">
                      <a16:colId xmlns:a16="http://schemas.microsoft.com/office/drawing/2014/main" val="1511311719"/>
                    </a:ext>
                  </a:extLst>
                </a:gridCol>
                <a:gridCol w="714487">
                  <a:extLst>
                    <a:ext uri="{9D8B030D-6E8A-4147-A177-3AD203B41FA5}">
                      <a16:colId xmlns:a16="http://schemas.microsoft.com/office/drawing/2014/main" val="2729571296"/>
                    </a:ext>
                  </a:extLst>
                </a:gridCol>
                <a:gridCol w="714487">
                  <a:extLst>
                    <a:ext uri="{9D8B030D-6E8A-4147-A177-3AD203B41FA5}">
                      <a16:colId xmlns:a16="http://schemas.microsoft.com/office/drawing/2014/main" val="1271490288"/>
                    </a:ext>
                  </a:extLst>
                </a:gridCol>
                <a:gridCol w="714487">
                  <a:extLst>
                    <a:ext uri="{9D8B030D-6E8A-4147-A177-3AD203B41FA5}">
                      <a16:colId xmlns:a16="http://schemas.microsoft.com/office/drawing/2014/main" val="817790872"/>
                    </a:ext>
                  </a:extLst>
                </a:gridCol>
                <a:gridCol w="714487">
                  <a:extLst>
                    <a:ext uri="{9D8B030D-6E8A-4147-A177-3AD203B41FA5}">
                      <a16:colId xmlns:a16="http://schemas.microsoft.com/office/drawing/2014/main" val="2129977649"/>
                    </a:ext>
                  </a:extLst>
                </a:gridCol>
              </a:tblGrid>
              <a:tr h="370036">
                <a:tc>
                  <a:txBody>
                    <a:bodyPr/>
                    <a:lstStyle/>
                    <a:p>
                      <a:pPr algn="ctr"/>
                      <a:endParaRPr lang="en-NL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ysClr val="windowText" lastClr="000000"/>
                          </a:solidFill>
                        </a:rPr>
                        <a:t>s</a:t>
                      </a:r>
                      <a:r>
                        <a:rPr lang="en-NL" sz="1400" b="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400" b="0" dirty="0">
                          <a:solidFill>
                            <a:sysClr val="windowText" lastClr="000000"/>
                          </a:solidFill>
                        </a:rPr>
                        <a:t>s1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400" b="0" dirty="0">
                          <a:solidFill>
                            <a:sysClr val="windowText" lastClr="000000"/>
                          </a:solidFill>
                        </a:rPr>
                        <a:t>s2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400" b="0" dirty="0">
                          <a:solidFill>
                            <a:sysClr val="windowText" lastClr="000000"/>
                          </a:solidFill>
                        </a:rPr>
                        <a:t>s3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9293362"/>
                  </a:ext>
                </a:extLst>
              </a:tr>
              <a:tr h="370036">
                <a:tc>
                  <a:txBody>
                    <a:bodyPr/>
                    <a:lstStyle/>
                    <a:p>
                      <a:pPr algn="ctr"/>
                      <a:r>
                        <a:rPr lang="en-NL" sz="1400" dirty="0"/>
                        <a:t>s0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20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2000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20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20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623907"/>
                  </a:ext>
                </a:extLst>
              </a:tr>
              <a:tr h="370036">
                <a:tc>
                  <a:txBody>
                    <a:bodyPr/>
                    <a:lstStyle/>
                    <a:p>
                      <a:pPr algn="ctr"/>
                      <a:r>
                        <a:rPr lang="en-NL" sz="1400" dirty="0"/>
                        <a:t>s1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20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L" sz="2000" dirty="0"/>
                        <a:t>0.01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2000" dirty="0"/>
                        <a:t>0.01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2000" dirty="0"/>
                        <a:t>0.98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101951"/>
                  </a:ext>
                </a:extLst>
              </a:tr>
              <a:tr h="370036">
                <a:tc>
                  <a:txBody>
                    <a:bodyPr/>
                    <a:lstStyle/>
                    <a:p>
                      <a:pPr algn="ctr"/>
                      <a:r>
                        <a:rPr lang="en-NL" sz="1400" dirty="0"/>
                        <a:t>s2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2000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20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20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20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732619"/>
                  </a:ext>
                </a:extLst>
              </a:tr>
              <a:tr h="370036">
                <a:tc>
                  <a:txBody>
                    <a:bodyPr/>
                    <a:lstStyle/>
                    <a:p>
                      <a:pPr algn="ctr"/>
                      <a:r>
                        <a:rPr lang="en-NL" sz="1400" dirty="0"/>
                        <a:t>s3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20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20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20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2000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594105"/>
                  </a:ext>
                </a:extLst>
              </a:tr>
            </a:tbl>
          </a:graphicData>
        </a:graphic>
      </p:graphicFrame>
      <p:sp>
        <p:nvSpPr>
          <p:cNvPr id="8" name="Oval 7">
            <a:extLst>
              <a:ext uri="{FF2B5EF4-FFF2-40B4-BE49-F238E27FC236}">
                <a16:creationId xmlns:a16="http://schemas.microsoft.com/office/drawing/2014/main" id="{FA1EF857-F5F4-BCAA-BFF9-1093F31500C7}"/>
              </a:ext>
            </a:extLst>
          </p:cNvPr>
          <p:cNvSpPr/>
          <p:nvPr/>
        </p:nvSpPr>
        <p:spPr>
          <a:xfrm>
            <a:off x="6683767" y="2488303"/>
            <a:ext cx="751012" cy="576903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B9BA36-C33C-520C-138B-BBE177D3AB87}"/>
              </a:ext>
            </a:extLst>
          </p:cNvPr>
          <p:cNvSpPr txBox="1"/>
          <p:nvPr/>
        </p:nvSpPr>
        <p:spPr>
          <a:xfrm>
            <a:off x="4119205" y="2675251"/>
            <a:ext cx="5229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2800" dirty="0"/>
              <a:t>P: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8872ED9E-D6F1-CA8C-EE8E-869A6AD4197D}"/>
              </a:ext>
            </a:extLst>
          </p:cNvPr>
          <p:cNvSpPr/>
          <p:nvPr/>
        </p:nvSpPr>
        <p:spPr>
          <a:xfrm>
            <a:off x="3276544" y="2787111"/>
            <a:ext cx="678426" cy="3342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7C83E5-FE6C-9EC2-9468-2D76EF6BB01A}"/>
              </a:ext>
            </a:extLst>
          </p:cNvPr>
          <p:cNvSpPr txBox="1"/>
          <p:nvPr/>
        </p:nvSpPr>
        <p:spPr>
          <a:xfrm>
            <a:off x="500034" y="4491072"/>
            <a:ext cx="842765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NL" sz="2000" dirty="0"/>
              <a:t>P</a:t>
            </a:r>
            <a:r>
              <a:rPr lang="en-NL" sz="2000" baseline="-25000" dirty="0"/>
              <a:t>i,k  </a:t>
            </a:r>
            <a:r>
              <a:rPr lang="en-NL" sz="2000" dirty="0"/>
              <a:t>= the value at the i-th row and k-th column. It specifies the probability of taking the transition s</a:t>
            </a:r>
            <a:r>
              <a:rPr lang="en-NL" sz="2000" baseline="-25000" dirty="0"/>
              <a:t>i</a:t>
            </a:r>
            <a:r>
              <a:rPr lang="en-NL" sz="2000" dirty="0"/>
              <a:t> → s</a:t>
            </a:r>
            <a:r>
              <a:rPr lang="en-NL" sz="2000" baseline="-25000" dirty="0"/>
              <a:t>k</a:t>
            </a:r>
            <a:r>
              <a:rPr lang="en-NL" sz="2000" dirty="0"/>
              <a:t>, if we are now at s</a:t>
            </a:r>
            <a:r>
              <a:rPr lang="en-NL" sz="2000" baseline="-25000" dirty="0"/>
              <a:t>i</a:t>
            </a:r>
            <a:r>
              <a:rPr lang="en-NL" sz="2000" dirty="0"/>
              <a:t>.</a:t>
            </a:r>
            <a:br>
              <a:rPr lang="en-NL" sz="2000" dirty="0"/>
            </a:br>
            <a:br>
              <a:rPr lang="en-NL" sz="2000" dirty="0"/>
            </a:br>
            <a:r>
              <a:rPr lang="en-NL" sz="2000" dirty="0"/>
              <a:t>For example the circle red value above is P</a:t>
            </a:r>
            <a:r>
              <a:rPr lang="en-NL" sz="2000" baseline="-25000" dirty="0"/>
              <a:t>1,2</a:t>
            </a:r>
            <a:r>
              <a:rPr lang="en-NL" sz="2000" dirty="0"/>
              <a:t>, specifying the probability of taking the transition from s</a:t>
            </a:r>
            <a:r>
              <a:rPr lang="en-NL" sz="2000" baseline="-25000" dirty="0"/>
              <a:t>1</a:t>
            </a:r>
            <a:r>
              <a:rPr lang="en-NL" sz="2000" dirty="0"/>
              <a:t> to s</a:t>
            </a:r>
            <a:r>
              <a:rPr lang="en-NL" sz="2000" baseline="-25000" dirty="0"/>
              <a:t>2</a:t>
            </a:r>
            <a:r>
              <a:rPr lang="en-NL" sz="2000" dirty="0"/>
              <a:t> (check the picture), which is 0.01. </a:t>
            </a:r>
          </a:p>
        </p:txBody>
      </p:sp>
    </p:spTree>
    <p:extLst>
      <p:ext uri="{BB962C8B-B14F-4D97-AF65-F5344CB8AC3E}">
        <p14:creationId xmlns:p14="http://schemas.microsoft.com/office/powerpoint/2010/main" val="1079001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2A796-0523-08E8-89CA-ADEDCEE25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sz="3600" dirty="0"/>
              <a:t>Basic Operations on Probability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26E20-FFEE-ABE8-AC01-74D1581AC22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NL" sz="2400" dirty="0"/>
              <a:t>Multiplying P with itself: P</a:t>
            </a:r>
            <a:r>
              <a:rPr lang="en-NL" sz="2400" baseline="30000" dirty="0"/>
              <a:t>n</a:t>
            </a:r>
            <a:r>
              <a:rPr lang="en-NL" sz="2400" dirty="0"/>
              <a:t> </a:t>
            </a:r>
          </a:p>
          <a:p>
            <a:r>
              <a:rPr lang="en-GB" sz="2400" dirty="0"/>
              <a:t>Multiplying a vector with P: u </a:t>
            </a:r>
            <a:r>
              <a:rPr lang="en-NL" sz="2400" dirty="0"/>
              <a:t>× P</a:t>
            </a:r>
            <a:endParaRPr lang="en-NL" sz="2400" baseline="30000" dirty="0"/>
          </a:p>
          <a:p>
            <a:r>
              <a:rPr lang="en-NL" sz="2400" dirty="0"/>
              <a:t>Multiplying P with a vector: P ×  v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36D1E8-236A-0284-592E-681339040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D021F5-617A-4386-B224-EDC4A8F1A934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276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2A796-0523-08E8-89CA-ADEDCEE25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sz="3600" dirty="0"/>
              <a:t>P</a:t>
            </a:r>
            <a:r>
              <a:rPr lang="en-NL" sz="3600" baseline="30000" dirty="0"/>
              <a:t>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26E20-FFEE-ABE8-AC01-74D1581AC22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NL" sz="2000" dirty="0"/>
              <a:t>P</a:t>
            </a:r>
            <a:r>
              <a:rPr lang="en-NL" sz="2000" baseline="30000" dirty="0"/>
              <a:t>0</a:t>
            </a:r>
            <a:r>
              <a:rPr lang="en-NL" sz="2000" dirty="0"/>
              <a:t> = I (identity matrix)</a:t>
            </a:r>
            <a:br>
              <a:rPr lang="en-NL" sz="2000" dirty="0"/>
            </a:br>
            <a:r>
              <a:rPr lang="en-NL" sz="2000" dirty="0"/>
              <a:t>P</a:t>
            </a:r>
            <a:r>
              <a:rPr lang="en-NL" sz="2000" baseline="30000" dirty="0"/>
              <a:t>n+1</a:t>
            </a:r>
            <a:r>
              <a:rPr lang="en-NL" sz="2000" dirty="0"/>
              <a:t> = P × P</a:t>
            </a:r>
            <a:r>
              <a:rPr lang="en-NL" sz="2000" baseline="30000" dirty="0"/>
              <a:t>n</a:t>
            </a:r>
          </a:p>
          <a:p>
            <a:r>
              <a:rPr lang="en-NL" sz="2000" dirty="0"/>
              <a:t>P</a:t>
            </a:r>
            <a:r>
              <a:rPr lang="en-NL" sz="2000" baseline="30000" dirty="0"/>
              <a:t>n</a:t>
            </a:r>
            <a:r>
              <a:rPr lang="en-NL" sz="2000" baseline="-25000" dirty="0"/>
              <a:t>i,k</a:t>
            </a:r>
            <a:r>
              <a:rPr lang="en-NL" sz="2000" dirty="0"/>
              <a:t>  is the probability of ending up in state s</a:t>
            </a:r>
            <a:r>
              <a:rPr lang="en-NL" sz="2000" baseline="-25000" dirty="0"/>
              <a:t>k</a:t>
            </a:r>
            <a:r>
              <a:rPr lang="en-NL" sz="2000" dirty="0"/>
              <a:t> in n-steps, given we start in  the state s</a:t>
            </a:r>
            <a:r>
              <a:rPr lang="en-NL" sz="2000" baseline="-25000" dirty="0"/>
              <a:t>i</a:t>
            </a:r>
            <a:r>
              <a:rPr lang="en-NL" sz="2000" dirty="0"/>
              <a:t>.</a:t>
            </a:r>
          </a:p>
          <a:p>
            <a:r>
              <a:rPr lang="en-NL" sz="2000" dirty="0"/>
              <a:t>For example, wirth the previous P, let’s look at P</a:t>
            </a:r>
            <a:r>
              <a:rPr lang="en-NL" sz="2000" baseline="30000" dirty="0"/>
              <a:t>2</a:t>
            </a:r>
            <a:r>
              <a:rPr lang="en-NL" sz="2000" dirty="0"/>
              <a:t>:</a:t>
            </a:r>
            <a:br>
              <a:rPr lang="en-NL" sz="2000" dirty="0"/>
            </a:br>
            <a:br>
              <a:rPr lang="en-NL" sz="2000" dirty="0"/>
            </a:br>
            <a:br>
              <a:rPr lang="en-NL" sz="2000" dirty="0"/>
            </a:br>
            <a:br>
              <a:rPr lang="en-NL" sz="2000" dirty="0"/>
            </a:br>
            <a:br>
              <a:rPr lang="en-NL" sz="2000" dirty="0"/>
            </a:br>
            <a:br>
              <a:rPr lang="en-NL" sz="2000" dirty="0"/>
            </a:br>
            <a:r>
              <a:rPr lang="en-NL" sz="2000" dirty="0"/>
              <a:t>P</a:t>
            </a:r>
            <a:r>
              <a:rPr lang="en-NL" sz="2000" baseline="30000" dirty="0"/>
              <a:t>2</a:t>
            </a:r>
            <a:r>
              <a:rPr lang="en-NL" sz="2000" baseline="-25000" dirty="0"/>
              <a:t>0,2</a:t>
            </a:r>
            <a:r>
              <a:rPr lang="en-NL" sz="2000" dirty="0"/>
              <a:t> = (P×P)</a:t>
            </a:r>
            <a:r>
              <a:rPr lang="en-NL" sz="2000" baseline="-25000" dirty="0"/>
              <a:t>0,2</a:t>
            </a:r>
            <a:br>
              <a:rPr lang="en-NL" sz="2000" dirty="0"/>
            </a:br>
            <a:r>
              <a:rPr lang="en-NL" sz="2000" dirty="0"/>
              <a:t>        =  P</a:t>
            </a:r>
            <a:r>
              <a:rPr lang="en-NL" sz="2000" baseline="-25000" dirty="0"/>
              <a:t>0,0</a:t>
            </a:r>
            <a:r>
              <a:rPr lang="en-NL" sz="2000" dirty="0"/>
              <a:t>* P</a:t>
            </a:r>
            <a:r>
              <a:rPr lang="en-NL" sz="2000" baseline="-25000" dirty="0"/>
              <a:t>0,2</a:t>
            </a:r>
            <a:r>
              <a:rPr lang="en-NL" sz="2000" dirty="0"/>
              <a:t>   +   P</a:t>
            </a:r>
            <a:r>
              <a:rPr lang="en-NL" sz="2000" baseline="-25000" dirty="0"/>
              <a:t>0,1</a:t>
            </a:r>
            <a:r>
              <a:rPr lang="en-NL" sz="2000" dirty="0"/>
              <a:t>* P</a:t>
            </a:r>
            <a:r>
              <a:rPr lang="en-NL" sz="2000" baseline="-25000" dirty="0"/>
              <a:t>1,2</a:t>
            </a:r>
            <a:r>
              <a:rPr lang="en-NL" sz="2000" dirty="0"/>
              <a:t>   +   P</a:t>
            </a:r>
            <a:r>
              <a:rPr lang="en-NL" sz="2000" baseline="-25000" dirty="0"/>
              <a:t>0,2</a:t>
            </a:r>
            <a:r>
              <a:rPr lang="en-NL" sz="2000" dirty="0"/>
              <a:t>* P</a:t>
            </a:r>
            <a:r>
              <a:rPr lang="en-NL" sz="2000" baseline="-25000" dirty="0"/>
              <a:t>2,2</a:t>
            </a:r>
            <a:r>
              <a:rPr lang="en-NL" sz="2000" dirty="0"/>
              <a:t>   +   P</a:t>
            </a:r>
            <a:r>
              <a:rPr lang="en-NL" sz="2000" baseline="-25000" dirty="0"/>
              <a:t>0,3</a:t>
            </a:r>
            <a:r>
              <a:rPr lang="en-NL" sz="2000" dirty="0"/>
              <a:t>* P</a:t>
            </a:r>
            <a:r>
              <a:rPr lang="en-NL" sz="2000" baseline="-25000" dirty="0"/>
              <a:t>3,2</a:t>
            </a:r>
          </a:p>
          <a:p>
            <a:endParaRPr lang="en-NL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36D1E8-236A-0284-592E-681339040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D021F5-617A-4386-B224-EDC4A8F1A934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graphicFrame>
        <p:nvGraphicFramePr>
          <p:cNvPr id="5" name="Table 7">
            <a:extLst>
              <a:ext uri="{FF2B5EF4-FFF2-40B4-BE49-F238E27FC236}">
                <a16:creationId xmlns:a16="http://schemas.microsoft.com/office/drawing/2014/main" id="{716886FF-76BC-0906-014D-945A808F3BB8}"/>
              </a:ext>
            </a:extLst>
          </p:cNvPr>
          <p:cNvGraphicFramePr>
            <a:graphicFrameLocks noGrp="1"/>
          </p:cNvGraphicFramePr>
          <p:nvPr/>
        </p:nvGraphicFramePr>
        <p:xfrm>
          <a:off x="1111040" y="3280398"/>
          <a:ext cx="21139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485">
                  <a:extLst>
                    <a:ext uri="{9D8B030D-6E8A-4147-A177-3AD203B41FA5}">
                      <a16:colId xmlns:a16="http://schemas.microsoft.com/office/drawing/2014/main" val="2729571296"/>
                    </a:ext>
                  </a:extLst>
                </a:gridCol>
                <a:gridCol w="528485">
                  <a:extLst>
                    <a:ext uri="{9D8B030D-6E8A-4147-A177-3AD203B41FA5}">
                      <a16:colId xmlns:a16="http://schemas.microsoft.com/office/drawing/2014/main" val="1271490288"/>
                    </a:ext>
                  </a:extLst>
                </a:gridCol>
                <a:gridCol w="528485">
                  <a:extLst>
                    <a:ext uri="{9D8B030D-6E8A-4147-A177-3AD203B41FA5}">
                      <a16:colId xmlns:a16="http://schemas.microsoft.com/office/drawing/2014/main" val="817790872"/>
                    </a:ext>
                  </a:extLst>
                </a:gridCol>
                <a:gridCol w="528485">
                  <a:extLst>
                    <a:ext uri="{9D8B030D-6E8A-4147-A177-3AD203B41FA5}">
                      <a16:colId xmlns:a16="http://schemas.microsoft.com/office/drawing/2014/main" val="2129977649"/>
                    </a:ext>
                  </a:extLst>
                </a:gridCol>
              </a:tblGrid>
              <a:tr h="156864">
                <a:tc>
                  <a:txBody>
                    <a:bodyPr/>
                    <a:lstStyle/>
                    <a:p>
                      <a:pPr algn="ctr"/>
                      <a:r>
                        <a:rPr lang="en-NL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623907"/>
                  </a:ext>
                </a:extLst>
              </a:tr>
              <a:tr h="250738"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L" sz="1200" dirty="0"/>
                        <a:t>0.01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0.01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0.98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101951"/>
                  </a:ext>
                </a:extLst>
              </a:tr>
              <a:tr h="156864"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732619"/>
                  </a:ext>
                </a:extLst>
              </a:tr>
              <a:tr h="156864"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594105"/>
                  </a:ext>
                </a:extLst>
              </a:tr>
            </a:tbl>
          </a:graphicData>
        </a:graphic>
      </p:graphicFrame>
      <p:graphicFrame>
        <p:nvGraphicFramePr>
          <p:cNvPr id="12" name="Table 7">
            <a:extLst>
              <a:ext uri="{FF2B5EF4-FFF2-40B4-BE49-F238E27FC236}">
                <a16:creationId xmlns:a16="http://schemas.microsoft.com/office/drawing/2014/main" id="{389A805C-207C-1979-5D21-1D28BFF9507A}"/>
              </a:ext>
            </a:extLst>
          </p:cNvPr>
          <p:cNvGraphicFramePr>
            <a:graphicFrameLocks noGrp="1"/>
          </p:cNvGraphicFramePr>
          <p:nvPr/>
        </p:nvGraphicFramePr>
        <p:xfrm>
          <a:off x="3873909" y="3280398"/>
          <a:ext cx="21139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485">
                  <a:extLst>
                    <a:ext uri="{9D8B030D-6E8A-4147-A177-3AD203B41FA5}">
                      <a16:colId xmlns:a16="http://schemas.microsoft.com/office/drawing/2014/main" val="2729571296"/>
                    </a:ext>
                  </a:extLst>
                </a:gridCol>
                <a:gridCol w="528485">
                  <a:extLst>
                    <a:ext uri="{9D8B030D-6E8A-4147-A177-3AD203B41FA5}">
                      <a16:colId xmlns:a16="http://schemas.microsoft.com/office/drawing/2014/main" val="1271490288"/>
                    </a:ext>
                  </a:extLst>
                </a:gridCol>
                <a:gridCol w="528485">
                  <a:extLst>
                    <a:ext uri="{9D8B030D-6E8A-4147-A177-3AD203B41FA5}">
                      <a16:colId xmlns:a16="http://schemas.microsoft.com/office/drawing/2014/main" val="817790872"/>
                    </a:ext>
                  </a:extLst>
                </a:gridCol>
                <a:gridCol w="528485">
                  <a:extLst>
                    <a:ext uri="{9D8B030D-6E8A-4147-A177-3AD203B41FA5}">
                      <a16:colId xmlns:a16="http://schemas.microsoft.com/office/drawing/2014/main" val="2129977649"/>
                    </a:ext>
                  </a:extLst>
                </a:gridCol>
              </a:tblGrid>
              <a:tr h="156864">
                <a:tc>
                  <a:txBody>
                    <a:bodyPr/>
                    <a:lstStyle/>
                    <a:p>
                      <a:pPr algn="ctr"/>
                      <a:r>
                        <a:rPr lang="en-NL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623907"/>
                  </a:ext>
                </a:extLst>
              </a:tr>
              <a:tr h="250738"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L" sz="1200" dirty="0"/>
                        <a:t>0.01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0.01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0.98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101951"/>
                  </a:ext>
                </a:extLst>
              </a:tr>
              <a:tr h="156864"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732619"/>
                  </a:ext>
                </a:extLst>
              </a:tr>
              <a:tr h="156864"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59410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E5B62B4B-77D7-63F9-7D4B-BCC1074343CD}"/>
              </a:ext>
            </a:extLst>
          </p:cNvPr>
          <p:cNvSpPr txBox="1"/>
          <p:nvPr/>
        </p:nvSpPr>
        <p:spPr>
          <a:xfrm>
            <a:off x="3336886" y="3536650"/>
            <a:ext cx="425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3200" dirty="0"/>
              <a:t>×</a:t>
            </a:r>
          </a:p>
        </p:txBody>
      </p:sp>
      <p:graphicFrame>
        <p:nvGraphicFramePr>
          <p:cNvPr id="14" name="Table 7">
            <a:extLst>
              <a:ext uri="{FF2B5EF4-FFF2-40B4-BE49-F238E27FC236}">
                <a16:creationId xmlns:a16="http://schemas.microsoft.com/office/drawing/2014/main" id="{BEEE57B3-572E-52CB-15F1-0FE495E78F3E}"/>
              </a:ext>
            </a:extLst>
          </p:cNvPr>
          <p:cNvGraphicFramePr>
            <a:graphicFrameLocks noGrp="1"/>
          </p:cNvGraphicFramePr>
          <p:nvPr/>
        </p:nvGraphicFramePr>
        <p:xfrm>
          <a:off x="6530026" y="3280398"/>
          <a:ext cx="21139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485">
                  <a:extLst>
                    <a:ext uri="{9D8B030D-6E8A-4147-A177-3AD203B41FA5}">
                      <a16:colId xmlns:a16="http://schemas.microsoft.com/office/drawing/2014/main" val="2729571296"/>
                    </a:ext>
                  </a:extLst>
                </a:gridCol>
                <a:gridCol w="528485">
                  <a:extLst>
                    <a:ext uri="{9D8B030D-6E8A-4147-A177-3AD203B41FA5}">
                      <a16:colId xmlns:a16="http://schemas.microsoft.com/office/drawing/2014/main" val="1271490288"/>
                    </a:ext>
                  </a:extLst>
                </a:gridCol>
                <a:gridCol w="528485">
                  <a:extLst>
                    <a:ext uri="{9D8B030D-6E8A-4147-A177-3AD203B41FA5}">
                      <a16:colId xmlns:a16="http://schemas.microsoft.com/office/drawing/2014/main" val="817790872"/>
                    </a:ext>
                  </a:extLst>
                </a:gridCol>
                <a:gridCol w="528485">
                  <a:extLst>
                    <a:ext uri="{9D8B030D-6E8A-4147-A177-3AD203B41FA5}">
                      <a16:colId xmlns:a16="http://schemas.microsoft.com/office/drawing/2014/main" val="2129977649"/>
                    </a:ext>
                  </a:extLst>
                </a:gridCol>
              </a:tblGrid>
              <a:tr h="156864">
                <a:tc>
                  <a:txBody>
                    <a:bodyPr/>
                    <a:lstStyle/>
                    <a:p>
                      <a:pPr algn="ctr"/>
                      <a:r>
                        <a:rPr lang="en-NL" sz="1200" b="0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b="0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b="0" dirty="0">
                          <a:solidFill>
                            <a:schemeClr val="tx1"/>
                          </a:solidFill>
                        </a:rPr>
                        <a:t>0.01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b="0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623907"/>
                  </a:ext>
                </a:extLst>
              </a:tr>
              <a:tr h="250738"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L" sz="1200" dirty="0"/>
                        <a:t>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101951"/>
                  </a:ext>
                </a:extLst>
              </a:tr>
              <a:tr h="156864"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732619"/>
                  </a:ext>
                </a:extLst>
              </a:tr>
              <a:tr h="156864"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594105"/>
                  </a:ext>
                </a:extLst>
              </a:tr>
            </a:tbl>
          </a:graphicData>
        </a:graphic>
      </p:graphicFrame>
      <p:sp>
        <p:nvSpPr>
          <p:cNvPr id="15" name="Right Arrow 14">
            <a:extLst>
              <a:ext uri="{FF2B5EF4-FFF2-40B4-BE49-F238E27FC236}">
                <a16:creationId xmlns:a16="http://schemas.microsoft.com/office/drawing/2014/main" id="{469A0A8C-7967-2774-F1C1-619BB1BCF4BE}"/>
              </a:ext>
            </a:extLst>
          </p:cNvPr>
          <p:cNvSpPr/>
          <p:nvPr/>
        </p:nvSpPr>
        <p:spPr>
          <a:xfrm>
            <a:off x="6099756" y="3661888"/>
            <a:ext cx="320709" cy="3342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95073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2A796-0523-08E8-89CA-ADEDCEE25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34" y="460392"/>
            <a:ext cx="8358246" cy="796908"/>
          </a:xfrm>
        </p:spPr>
        <p:txBody>
          <a:bodyPr/>
          <a:lstStyle/>
          <a:p>
            <a:r>
              <a:rPr lang="en-NL" sz="3600" baseline="30000" dirty="0"/>
              <a:t>Probabity distribution of the next state, given the current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26E20-FFEE-ABE8-AC01-74D1581AC22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NL" sz="2000" dirty="0"/>
              <a:t>A </a:t>
            </a:r>
            <a:r>
              <a:rPr lang="en-NL" sz="2000" b="1" dirty="0"/>
              <a:t>probability distribution</a:t>
            </a:r>
            <a:r>
              <a:rPr lang="en-NL" sz="2000" dirty="0"/>
              <a:t> of the current state is the probability of currently being in various states. It can be given by a vector of size K, if K is the number of possible states. E.g. if  </a:t>
            </a:r>
            <a:r>
              <a:rPr lang="en-NL" sz="2000" dirty="0">
                <a:highlight>
                  <a:srgbClr val="FFFF00"/>
                </a:highlight>
              </a:rPr>
              <a:t>u =  [ 0 , 0.5 , 0.5, 0 ]</a:t>
            </a:r>
            <a:r>
              <a:rPr lang="en-NL" sz="2000" dirty="0"/>
              <a:t>  is the probability distribution of the current state, it says e.g. that there is 0.5 probability that currently we are in the state s</a:t>
            </a:r>
            <a:r>
              <a:rPr lang="en-NL" sz="2000" baseline="-25000" dirty="0"/>
              <a:t>1</a:t>
            </a:r>
            <a:r>
              <a:rPr lang="en-NL" sz="2000" dirty="0"/>
              <a:t>, but 0 probability that we are in the state s</a:t>
            </a:r>
            <a:r>
              <a:rPr lang="en-NL" sz="2000" baseline="-25000" dirty="0"/>
              <a:t>0</a:t>
            </a:r>
            <a:r>
              <a:rPr lang="en-NL" sz="2000" dirty="0"/>
              <a:t>.</a:t>
            </a:r>
          </a:p>
          <a:p>
            <a:r>
              <a:rPr lang="en-NL" sz="2000" dirty="0"/>
              <a:t>The product u × P (we often simply write it as uP) gives a new vector u’ of size K, that gives us the probability distribution of the next state.</a:t>
            </a:r>
            <a:br>
              <a:rPr lang="en-NL" sz="2000" dirty="0"/>
            </a:br>
            <a:br>
              <a:rPr lang="en-NL" sz="2000" dirty="0"/>
            </a:br>
            <a:endParaRPr lang="en-NL" sz="2000" dirty="0"/>
          </a:p>
          <a:p>
            <a:endParaRPr lang="en-NL" sz="2000" dirty="0"/>
          </a:p>
          <a:p>
            <a:pPr marL="0" indent="0">
              <a:buNone/>
            </a:pPr>
            <a:br>
              <a:rPr lang="en-NL" sz="2000" dirty="0"/>
            </a:br>
            <a:br>
              <a:rPr lang="en-NL" sz="2000" dirty="0"/>
            </a:br>
            <a:r>
              <a:rPr lang="en-NL" sz="2000" dirty="0"/>
              <a:t>	e.g.   u’</a:t>
            </a:r>
            <a:r>
              <a:rPr lang="en-NL" sz="2000" baseline="-25000" dirty="0"/>
              <a:t>1</a:t>
            </a:r>
            <a:r>
              <a:rPr lang="en-NL" sz="2000" dirty="0"/>
              <a:t>   = u •  the green collumn (dot product)</a:t>
            </a:r>
            <a:br>
              <a:rPr lang="en-NL" sz="2000" dirty="0"/>
            </a:br>
            <a:r>
              <a:rPr lang="en-NL" sz="2000" dirty="0"/>
              <a:t>       	                =  u</a:t>
            </a:r>
            <a:r>
              <a:rPr lang="en-NL" sz="2000" baseline="-25000" dirty="0"/>
              <a:t>0</a:t>
            </a:r>
            <a:r>
              <a:rPr lang="en-NL" sz="2000" dirty="0"/>
              <a:t>* P</a:t>
            </a:r>
            <a:r>
              <a:rPr lang="en-NL" sz="2000" baseline="-25000" dirty="0"/>
              <a:t>0,1</a:t>
            </a:r>
            <a:r>
              <a:rPr lang="en-NL" sz="2000" dirty="0"/>
              <a:t>   +   u</a:t>
            </a:r>
            <a:r>
              <a:rPr lang="en-NL" sz="2000" baseline="-25000" dirty="0"/>
              <a:t>1</a:t>
            </a:r>
            <a:r>
              <a:rPr lang="en-NL" sz="2000" dirty="0"/>
              <a:t>* P</a:t>
            </a:r>
            <a:r>
              <a:rPr lang="en-NL" sz="2000" baseline="-25000" dirty="0"/>
              <a:t>1,1</a:t>
            </a:r>
            <a:r>
              <a:rPr lang="en-NL" sz="2000" dirty="0"/>
              <a:t>   +   u</a:t>
            </a:r>
            <a:r>
              <a:rPr lang="en-NL" sz="2000" baseline="-25000" dirty="0"/>
              <a:t>2</a:t>
            </a:r>
            <a:r>
              <a:rPr lang="en-NL" sz="2000" dirty="0"/>
              <a:t>* P</a:t>
            </a:r>
            <a:r>
              <a:rPr lang="en-NL" sz="2000" baseline="-25000" dirty="0"/>
              <a:t>2,1</a:t>
            </a:r>
            <a:r>
              <a:rPr lang="en-NL" sz="2000" dirty="0"/>
              <a:t>   +   u</a:t>
            </a:r>
            <a:r>
              <a:rPr lang="en-NL" sz="2000" baseline="-25000" dirty="0"/>
              <a:t>3</a:t>
            </a:r>
            <a:r>
              <a:rPr lang="en-NL" sz="2000" dirty="0"/>
              <a:t>* P</a:t>
            </a:r>
            <a:r>
              <a:rPr lang="en-NL" sz="2000" baseline="-25000" dirty="0"/>
              <a:t>3,1</a:t>
            </a:r>
          </a:p>
          <a:p>
            <a:endParaRPr lang="en-NL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36D1E8-236A-0284-592E-681339040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D021F5-617A-4386-B224-EDC4A8F1A934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graphicFrame>
        <p:nvGraphicFramePr>
          <p:cNvPr id="5" name="Table 7">
            <a:extLst>
              <a:ext uri="{FF2B5EF4-FFF2-40B4-BE49-F238E27FC236}">
                <a16:creationId xmlns:a16="http://schemas.microsoft.com/office/drawing/2014/main" id="{716886FF-76BC-0906-014D-945A808F3B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9820547"/>
              </p:ext>
            </p:extLst>
          </p:nvPr>
        </p:nvGraphicFramePr>
        <p:xfrm>
          <a:off x="3396053" y="4312920"/>
          <a:ext cx="213185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485">
                  <a:extLst>
                    <a:ext uri="{9D8B030D-6E8A-4147-A177-3AD203B41FA5}">
                      <a16:colId xmlns:a16="http://schemas.microsoft.com/office/drawing/2014/main" val="2729571296"/>
                    </a:ext>
                  </a:extLst>
                </a:gridCol>
                <a:gridCol w="528485">
                  <a:extLst>
                    <a:ext uri="{9D8B030D-6E8A-4147-A177-3AD203B41FA5}">
                      <a16:colId xmlns:a16="http://schemas.microsoft.com/office/drawing/2014/main" val="1271490288"/>
                    </a:ext>
                  </a:extLst>
                </a:gridCol>
                <a:gridCol w="528485">
                  <a:extLst>
                    <a:ext uri="{9D8B030D-6E8A-4147-A177-3AD203B41FA5}">
                      <a16:colId xmlns:a16="http://schemas.microsoft.com/office/drawing/2014/main" val="817790872"/>
                    </a:ext>
                  </a:extLst>
                </a:gridCol>
                <a:gridCol w="546402">
                  <a:extLst>
                    <a:ext uri="{9D8B030D-6E8A-4147-A177-3AD203B41FA5}">
                      <a16:colId xmlns:a16="http://schemas.microsoft.com/office/drawing/2014/main" val="2129977649"/>
                    </a:ext>
                  </a:extLst>
                </a:gridCol>
              </a:tblGrid>
              <a:tr h="156864">
                <a:tc>
                  <a:txBody>
                    <a:bodyPr/>
                    <a:lstStyle/>
                    <a:p>
                      <a:pPr algn="ctr"/>
                      <a:r>
                        <a:rPr lang="en-NL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623907"/>
                  </a:ext>
                </a:extLst>
              </a:tr>
              <a:tr h="250738"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L" sz="1200" dirty="0"/>
                        <a:t>0.01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0.01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0.98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101951"/>
                  </a:ext>
                </a:extLst>
              </a:tr>
              <a:tr h="156864"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732619"/>
                  </a:ext>
                </a:extLst>
              </a:tr>
              <a:tr h="156864"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59410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E5B62B4B-77D7-63F9-7D4B-BCC1074343CD}"/>
              </a:ext>
            </a:extLst>
          </p:cNvPr>
          <p:cNvSpPr txBox="1"/>
          <p:nvPr/>
        </p:nvSpPr>
        <p:spPr>
          <a:xfrm>
            <a:off x="2989771" y="4537203"/>
            <a:ext cx="425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3200" dirty="0"/>
              <a:t>×</a:t>
            </a: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469A0A8C-7967-2774-F1C1-619BB1BCF4BE}"/>
              </a:ext>
            </a:extLst>
          </p:cNvPr>
          <p:cNvSpPr/>
          <p:nvPr/>
        </p:nvSpPr>
        <p:spPr>
          <a:xfrm>
            <a:off x="5744269" y="4694411"/>
            <a:ext cx="320709" cy="3342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graphicFrame>
        <p:nvGraphicFramePr>
          <p:cNvPr id="6" name="Table 7">
            <a:extLst>
              <a:ext uri="{FF2B5EF4-FFF2-40B4-BE49-F238E27FC236}">
                <a16:creationId xmlns:a16="http://schemas.microsoft.com/office/drawing/2014/main" id="{4BAC91DE-9432-8837-D690-0BDE761847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654231"/>
              </p:ext>
            </p:extLst>
          </p:nvPr>
        </p:nvGraphicFramePr>
        <p:xfrm>
          <a:off x="816241" y="4672999"/>
          <a:ext cx="211394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485">
                  <a:extLst>
                    <a:ext uri="{9D8B030D-6E8A-4147-A177-3AD203B41FA5}">
                      <a16:colId xmlns:a16="http://schemas.microsoft.com/office/drawing/2014/main" val="2729571296"/>
                    </a:ext>
                  </a:extLst>
                </a:gridCol>
                <a:gridCol w="528485">
                  <a:extLst>
                    <a:ext uri="{9D8B030D-6E8A-4147-A177-3AD203B41FA5}">
                      <a16:colId xmlns:a16="http://schemas.microsoft.com/office/drawing/2014/main" val="1271490288"/>
                    </a:ext>
                  </a:extLst>
                </a:gridCol>
                <a:gridCol w="528485">
                  <a:extLst>
                    <a:ext uri="{9D8B030D-6E8A-4147-A177-3AD203B41FA5}">
                      <a16:colId xmlns:a16="http://schemas.microsoft.com/office/drawing/2014/main" val="817790872"/>
                    </a:ext>
                  </a:extLst>
                </a:gridCol>
                <a:gridCol w="528485">
                  <a:extLst>
                    <a:ext uri="{9D8B030D-6E8A-4147-A177-3AD203B41FA5}">
                      <a16:colId xmlns:a16="http://schemas.microsoft.com/office/drawing/2014/main" val="2129977649"/>
                    </a:ext>
                  </a:extLst>
                </a:gridCol>
              </a:tblGrid>
              <a:tr h="156864">
                <a:tc>
                  <a:txBody>
                    <a:bodyPr/>
                    <a:lstStyle/>
                    <a:p>
                      <a:pPr algn="ctr"/>
                      <a:r>
                        <a:rPr lang="en-NL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b="0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b="0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623907"/>
                  </a:ext>
                </a:extLst>
              </a:tr>
            </a:tbl>
          </a:graphicData>
        </a:graphic>
      </p:graphicFrame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9FF6B720-0699-A34F-D70E-74DF2509C5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029281"/>
              </p:ext>
            </p:extLst>
          </p:nvPr>
        </p:nvGraphicFramePr>
        <p:xfrm>
          <a:off x="6377498" y="4694411"/>
          <a:ext cx="2266468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617">
                  <a:extLst>
                    <a:ext uri="{9D8B030D-6E8A-4147-A177-3AD203B41FA5}">
                      <a16:colId xmlns:a16="http://schemas.microsoft.com/office/drawing/2014/main" val="2729571296"/>
                    </a:ext>
                  </a:extLst>
                </a:gridCol>
                <a:gridCol w="566617">
                  <a:extLst>
                    <a:ext uri="{9D8B030D-6E8A-4147-A177-3AD203B41FA5}">
                      <a16:colId xmlns:a16="http://schemas.microsoft.com/office/drawing/2014/main" val="1271490288"/>
                    </a:ext>
                  </a:extLst>
                </a:gridCol>
                <a:gridCol w="566617">
                  <a:extLst>
                    <a:ext uri="{9D8B030D-6E8A-4147-A177-3AD203B41FA5}">
                      <a16:colId xmlns:a16="http://schemas.microsoft.com/office/drawing/2014/main" val="817790872"/>
                    </a:ext>
                  </a:extLst>
                </a:gridCol>
                <a:gridCol w="566617">
                  <a:extLst>
                    <a:ext uri="{9D8B030D-6E8A-4147-A177-3AD203B41FA5}">
                      <a16:colId xmlns:a16="http://schemas.microsoft.com/office/drawing/2014/main" val="2129977649"/>
                    </a:ext>
                  </a:extLst>
                </a:gridCol>
              </a:tblGrid>
              <a:tr h="156864">
                <a:tc>
                  <a:txBody>
                    <a:bodyPr/>
                    <a:lstStyle/>
                    <a:p>
                      <a:pPr algn="ctr"/>
                      <a:r>
                        <a:rPr lang="en-NL" sz="1200" b="0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b="0" dirty="0">
                          <a:solidFill>
                            <a:schemeClr val="tx1"/>
                          </a:solidFill>
                        </a:rPr>
                        <a:t>0.005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b="0" dirty="0">
                          <a:solidFill>
                            <a:schemeClr val="tx1"/>
                          </a:solidFill>
                        </a:rPr>
                        <a:t>0.005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b="0" dirty="0">
                          <a:solidFill>
                            <a:schemeClr val="tx1"/>
                          </a:solidFill>
                        </a:rPr>
                        <a:t>0.49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62390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11EAE7E-CD3E-5FEA-C852-2B2C60AA9C3E}"/>
              </a:ext>
            </a:extLst>
          </p:cNvPr>
          <p:cNvSpPr txBox="1"/>
          <p:nvPr/>
        </p:nvSpPr>
        <p:spPr>
          <a:xfrm>
            <a:off x="1716758" y="420841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u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872AF6-6255-3093-1DA7-DB04AC81F506}"/>
              </a:ext>
            </a:extLst>
          </p:cNvPr>
          <p:cNvSpPr txBox="1"/>
          <p:nvPr/>
        </p:nvSpPr>
        <p:spPr>
          <a:xfrm>
            <a:off x="7354279" y="4229829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</a:t>
            </a:r>
            <a:r>
              <a:rPr lang="en-NL" dirty="0"/>
              <a:t>’</a:t>
            </a:r>
          </a:p>
        </p:txBody>
      </p:sp>
    </p:spTree>
    <p:extLst>
      <p:ext uri="{BB962C8B-B14F-4D97-AF65-F5344CB8AC3E}">
        <p14:creationId xmlns:p14="http://schemas.microsoft.com/office/powerpoint/2010/main" val="3419629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2A796-0523-08E8-89CA-ADEDCEE25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sz="3600" baseline="30000" dirty="0"/>
              <a:t>Probabilty vector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26E20-FFEE-ABE8-AC01-74D1581AC22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NL" sz="2000" dirty="0"/>
              <a:t>Sometimes we also want to know what the probability to end up in state, say, s</a:t>
            </a:r>
            <a:r>
              <a:rPr lang="en-NL" sz="2000" baseline="-25000" dirty="0"/>
              <a:t>1</a:t>
            </a:r>
            <a:r>
              <a:rPr lang="en-NL" sz="2000" dirty="0"/>
              <a:t> or s</a:t>
            </a:r>
            <a:r>
              <a:rPr lang="en-NL" sz="2000" baseline="-25000" dirty="0"/>
              <a:t>2</a:t>
            </a:r>
            <a:r>
              <a:rPr lang="en-NL" sz="2000" dirty="0"/>
              <a:t> as the </a:t>
            </a:r>
            <a:r>
              <a:rPr lang="en-NL" sz="2000" b="1" dirty="0"/>
              <a:t>next</a:t>
            </a:r>
            <a:r>
              <a:rPr lang="en-NL" sz="2000" dirty="0"/>
              <a:t> state, if we start in the state s1.</a:t>
            </a:r>
          </a:p>
          <a:p>
            <a:r>
              <a:rPr lang="en-NL" sz="2000" dirty="0"/>
              <a:t>We can represent “end up in either s</a:t>
            </a:r>
            <a:r>
              <a:rPr lang="en-NL" sz="2000" baseline="-25000" dirty="0"/>
              <a:t>1</a:t>
            </a:r>
            <a:r>
              <a:rPr lang="en-NL" sz="2000" dirty="0"/>
              <a:t> or s</a:t>
            </a:r>
            <a:r>
              <a:rPr lang="en-NL" sz="2000" baseline="-25000" dirty="0"/>
              <a:t>2</a:t>
            </a:r>
            <a:r>
              <a:rPr lang="en-NL" sz="2000" dirty="0"/>
              <a:t>” with a vector </a:t>
            </a:r>
            <a:r>
              <a:rPr lang="en-NL" sz="2000" dirty="0">
                <a:highlight>
                  <a:srgbClr val="00FFFF"/>
                </a:highlight>
              </a:rPr>
              <a:t>v = [0,1,1,0]</a:t>
            </a:r>
            <a:r>
              <a:rPr lang="en-NL" sz="2000" dirty="0"/>
              <a:t>.  </a:t>
            </a:r>
          </a:p>
          <a:p>
            <a:r>
              <a:rPr lang="en-NL" sz="2000" dirty="0"/>
              <a:t>Let </a:t>
            </a:r>
            <a:r>
              <a:rPr lang="en-GB" sz="2000" dirty="0"/>
              <a:t>v</a:t>
            </a:r>
            <a:r>
              <a:rPr lang="en-NL" sz="2000" baseline="30000" dirty="0"/>
              <a:t>t</a:t>
            </a:r>
            <a:r>
              <a:rPr lang="en-NL" sz="2000" dirty="0"/>
              <a:t> is the </a:t>
            </a:r>
            <a:r>
              <a:rPr lang="en-NL" sz="2000" i="1" dirty="0"/>
              <a:t>transpose</a:t>
            </a:r>
            <a:r>
              <a:rPr lang="en-NL" sz="2000" dirty="0"/>
              <a:t> of v. The product P × v</a:t>
            </a:r>
            <a:r>
              <a:rPr lang="en-NL" sz="2000" baseline="30000" dirty="0"/>
              <a:t>t</a:t>
            </a:r>
            <a:r>
              <a:rPr lang="en-NL" sz="2000" dirty="0"/>
              <a:t> gives a w such that w is a (transposed) vector, where w</a:t>
            </a:r>
            <a:r>
              <a:rPr lang="en-NL" sz="2000" baseline="-25000" dirty="0"/>
              <a:t>i</a:t>
            </a:r>
            <a:r>
              <a:rPr lang="en-NL" sz="2000" dirty="0"/>
              <a:t> is the probabilty to end up in one of the states specified in v, if we start in s</a:t>
            </a:r>
            <a:r>
              <a:rPr lang="en-NL" sz="2000" baseline="-25000" dirty="0"/>
              <a:t>i</a:t>
            </a:r>
            <a:r>
              <a:rPr lang="en-NL" sz="2000" dirty="0"/>
              <a:t>.</a:t>
            </a:r>
          </a:p>
          <a:p>
            <a:endParaRPr lang="en-NL" sz="2000" dirty="0"/>
          </a:p>
          <a:p>
            <a:endParaRPr lang="en-NL" sz="2000" dirty="0"/>
          </a:p>
          <a:p>
            <a:endParaRPr lang="en-NL" sz="2000" dirty="0"/>
          </a:p>
          <a:p>
            <a:pPr marL="0" indent="0">
              <a:buNone/>
            </a:pPr>
            <a:br>
              <a:rPr lang="en-NL" sz="2000" dirty="0"/>
            </a:br>
            <a:br>
              <a:rPr lang="en-NL" sz="2000" dirty="0"/>
            </a:br>
            <a:r>
              <a:rPr lang="en-NL" sz="2000" dirty="0"/>
              <a:t>	e.g.   w</a:t>
            </a:r>
            <a:r>
              <a:rPr lang="en-NL" sz="2000" baseline="-25000" dirty="0"/>
              <a:t>1</a:t>
            </a:r>
            <a:r>
              <a:rPr lang="en-NL" sz="2000" dirty="0"/>
              <a:t>   = the green row • v</a:t>
            </a:r>
            <a:r>
              <a:rPr lang="en-NL" sz="2000" baseline="30000" dirty="0"/>
              <a:t>t</a:t>
            </a:r>
            <a:r>
              <a:rPr lang="en-NL" sz="2000" dirty="0"/>
              <a:t>  (dot product)</a:t>
            </a:r>
            <a:br>
              <a:rPr lang="en-NL" sz="2000" dirty="0"/>
            </a:br>
            <a:r>
              <a:rPr lang="en-NL" sz="2000" dirty="0"/>
              <a:t>       	                =  P</a:t>
            </a:r>
            <a:r>
              <a:rPr lang="en-NL" sz="2000" baseline="-25000" dirty="0"/>
              <a:t>1,0</a:t>
            </a:r>
            <a:r>
              <a:rPr lang="en-NL" sz="2000" dirty="0"/>
              <a:t>* v</a:t>
            </a:r>
            <a:r>
              <a:rPr lang="en-NL" sz="2000" baseline="-25000" dirty="0"/>
              <a:t>0 </a:t>
            </a:r>
            <a:r>
              <a:rPr lang="en-NL" sz="2000" dirty="0"/>
              <a:t>+   P</a:t>
            </a:r>
            <a:r>
              <a:rPr lang="en-NL" sz="2000" baseline="-25000" dirty="0"/>
              <a:t>1,1</a:t>
            </a:r>
            <a:r>
              <a:rPr lang="en-NL" sz="2000" dirty="0"/>
              <a:t>* v</a:t>
            </a:r>
            <a:r>
              <a:rPr lang="en-NL" sz="2000" baseline="-25000" dirty="0"/>
              <a:t>1  </a:t>
            </a:r>
            <a:r>
              <a:rPr lang="en-NL" sz="2000" dirty="0"/>
              <a:t>+  P</a:t>
            </a:r>
            <a:r>
              <a:rPr lang="en-NL" sz="2000" baseline="-25000" dirty="0"/>
              <a:t>1,2</a:t>
            </a:r>
            <a:r>
              <a:rPr lang="en-NL" sz="2000" dirty="0"/>
              <a:t>* v</a:t>
            </a:r>
            <a:r>
              <a:rPr lang="en-NL" sz="2000" baseline="-25000" dirty="0"/>
              <a:t>2</a:t>
            </a:r>
            <a:r>
              <a:rPr lang="en-NL" sz="2000" dirty="0"/>
              <a:t>  +  P</a:t>
            </a:r>
            <a:r>
              <a:rPr lang="en-NL" sz="2000" baseline="-25000" dirty="0"/>
              <a:t>1,3</a:t>
            </a:r>
            <a:r>
              <a:rPr lang="en-NL" sz="2000" dirty="0"/>
              <a:t>* v</a:t>
            </a:r>
            <a:r>
              <a:rPr lang="en-NL" sz="2000" baseline="-25000" dirty="0"/>
              <a:t>3 </a:t>
            </a:r>
            <a:endParaRPr lang="en-NL" sz="2000" dirty="0"/>
          </a:p>
          <a:p>
            <a:pPr marL="0" indent="0">
              <a:buNone/>
            </a:pPr>
            <a:br>
              <a:rPr lang="en-NL" sz="2000" dirty="0"/>
            </a:br>
            <a:endParaRPr lang="en-NL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36D1E8-236A-0284-592E-681339040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D021F5-617A-4386-B224-EDC4A8F1A934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graphicFrame>
        <p:nvGraphicFramePr>
          <p:cNvPr id="5" name="Table 7">
            <a:extLst>
              <a:ext uri="{FF2B5EF4-FFF2-40B4-BE49-F238E27FC236}">
                <a16:creationId xmlns:a16="http://schemas.microsoft.com/office/drawing/2014/main" id="{716886FF-76BC-0906-014D-945A808F3B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7883273"/>
              </p:ext>
            </p:extLst>
          </p:nvPr>
        </p:nvGraphicFramePr>
        <p:xfrm>
          <a:off x="2182562" y="3712879"/>
          <a:ext cx="213185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485">
                  <a:extLst>
                    <a:ext uri="{9D8B030D-6E8A-4147-A177-3AD203B41FA5}">
                      <a16:colId xmlns:a16="http://schemas.microsoft.com/office/drawing/2014/main" val="2729571296"/>
                    </a:ext>
                  </a:extLst>
                </a:gridCol>
                <a:gridCol w="528485">
                  <a:extLst>
                    <a:ext uri="{9D8B030D-6E8A-4147-A177-3AD203B41FA5}">
                      <a16:colId xmlns:a16="http://schemas.microsoft.com/office/drawing/2014/main" val="1271490288"/>
                    </a:ext>
                  </a:extLst>
                </a:gridCol>
                <a:gridCol w="528485">
                  <a:extLst>
                    <a:ext uri="{9D8B030D-6E8A-4147-A177-3AD203B41FA5}">
                      <a16:colId xmlns:a16="http://schemas.microsoft.com/office/drawing/2014/main" val="817790872"/>
                    </a:ext>
                  </a:extLst>
                </a:gridCol>
                <a:gridCol w="546402">
                  <a:extLst>
                    <a:ext uri="{9D8B030D-6E8A-4147-A177-3AD203B41FA5}">
                      <a16:colId xmlns:a16="http://schemas.microsoft.com/office/drawing/2014/main" val="2129977649"/>
                    </a:ext>
                  </a:extLst>
                </a:gridCol>
              </a:tblGrid>
              <a:tr h="156864">
                <a:tc>
                  <a:txBody>
                    <a:bodyPr/>
                    <a:lstStyle/>
                    <a:p>
                      <a:pPr algn="ctr"/>
                      <a:r>
                        <a:rPr lang="en-NL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623907"/>
                  </a:ext>
                </a:extLst>
              </a:tr>
              <a:tr h="250738"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L" sz="1200" dirty="0"/>
                        <a:t>0.01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0.01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0.98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101951"/>
                  </a:ext>
                </a:extLst>
              </a:tr>
              <a:tr h="156864"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732619"/>
                  </a:ext>
                </a:extLst>
              </a:tr>
              <a:tr h="156864"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59410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E5B62B4B-77D7-63F9-7D4B-BCC1074343CD}"/>
              </a:ext>
            </a:extLst>
          </p:cNvPr>
          <p:cNvSpPr txBox="1"/>
          <p:nvPr/>
        </p:nvSpPr>
        <p:spPr>
          <a:xfrm>
            <a:off x="4396464" y="3969131"/>
            <a:ext cx="425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3200" dirty="0"/>
              <a:t>×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E0906DC-40B7-4DA4-EB5A-107016A612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3328861"/>
              </p:ext>
            </p:extLst>
          </p:nvPr>
        </p:nvGraphicFramePr>
        <p:xfrm>
          <a:off x="4903625" y="3703319"/>
          <a:ext cx="528485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485">
                  <a:extLst>
                    <a:ext uri="{9D8B030D-6E8A-4147-A177-3AD203B41FA5}">
                      <a16:colId xmlns:a16="http://schemas.microsoft.com/office/drawing/2014/main" val="2729571296"/>
                    </a:ext>
                  </a:extLst>
                </a:gridCol>
              </a:tblGrid>
              <a:tr h="156864">
                <a:tc>
                  <a:txBody>
                    <a:bodyPr/>
                    <a:lstStyle/>
                    <a:p>
                      <a:pPr algn="ctr"/>
                      <a:r>
                        <a:rPr lang="en-NL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623907"/>
                  </a:ext>
                </a:extLst>
              </a:tr>
              <a:tr h="250738"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101951"/>
                  </a:ext>
                </a:extLst>
              </a:tr>
              <a:tr h="156864"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732619"/>
                  </a:ext>
                </a:extLst>
              </a:tr>
              <a:tr h="156864"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59410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0549DB0-99D8-B53D-F4D4-BEB3685A2C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9911620"/>
              </p:ext>
            </p:extLst>
          </p:nvPr>
        </p:nvGraphicFramePr>
        <p:xfrm>
          <a:off x="6329481" y="3703319"/>
          <a:ext cx="528485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485">
                  <a:extLst>
                    <a:ext uri="{9D8B030D-6E8A-4147-A177-3AD203B41FA5}">
                      <a16:colId xmlns:a16="http://schemas.microsoft.com/office/drawing/2014/main" val="2729571296"/>
                    </a:ext>
                  </a:extLst>
                </a:gridCol>
              </a:tblGrid>
              <a:tr h="156864">
                <a:tc>
                  <a:txBody>
                    <a:bodyPr/>
                    <a:lstStyle/>
                    <a:p>
                      <a:pPr algn="ctr"/>
                      <a:r>
                        <a:rPr lang="en-NL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623907"/>
                  </a:ext>
                </a:extLst>
              </a:tr>
              <a:tr h="250738"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0.02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101951"/>
                  </a:ext>
                </a:extLst>
              </a:tr>
              <a:tr h="156864"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732619"/>
                  </a:ext>
                </a:extLst>
              </a:tr>
              <a:tr h="156864"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594105"/>
                  </a:ext>
                </a:extLst>
              </a:tr>
            </a:tbl>
          </a:graphicData>
        </a:graphic>
      </p:graphicFrame>
      <p:sp>
        <p:nvSpPr>
          <p:cNvPr id="10" name="Right Arrow 9">
            <a:extLst>
              <a:ext uri="{FF2B5EF4-FFF2-40B4-BE49-F238E27FC236}">
                <a16:creationId xmlns:a16="http://schemas.microsoft.com/office/drawing/2014/main" id="{B5218807-CC64-DA94-FF01-56236CC8D25A}"/>
              </a:ext>
            </a:extLst>
          </p:cNvPr>
          <p:cNvSpPr/>
          <p:nvPr/>
        </p:nvSpPr>
        <p:spPr>
          <a:xfrm>
            <a:off x="5687364" y="4094369"/>
            <a:ext cx="320709" cy="3342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4C14DB-80AC-B63B-723C-D5330BBF5CD3}"/>
              </a:ext>
            </a:extLst>
          </p:cNvPr>
          <p:cNvSpPr txBox="1"/>
          <p:nvPr/>
        </p:nvSpPr>
        <p:spPr>
          <a:xfrm>
            <a:off x="4996185" y="4856201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v</a:t>
            </a:r>
            <a:r>
              <a:rPr lang="en-NL" baseline="30000" dirty="0"/>
              <a:t>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90CF35-7D69-229E-958C-D69DF61B5B22}"/>
              </a:ext>
            </a:extLst>
          </p:cNvPr>
          <p:cNvSpPr txBox="1"/>
          <p:nvPr/>
        </p:nvSpPr>
        <p:spPr>
          <a:xfrm>
            <a:off x="6410660" y="4807521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w</a:t>
            </a:r>
          </a:p>
        </p:txBody>
      </p:sp>
    </p:spTree>
    <p:extLst>
      <p:ext uri="{BB962C8B-B14F-4D97-AF65-F5344CB8AC3E}">
        <p14:creationId xmlns:p14="http://schemas.microsoft.com/office/powerpoint/2010/main" val="3249020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EA54B-F46F-230C-43A4-77E74FDF9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Probability vector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4B3A9-A215-F501-FCE9-CAF2E4C158E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NL" sz="2000" u="sng" dirty="0">
                <a:highlight>
                  <a:srgbClr val="FFFF00"/>
                </a:highlight>
              </a:rPr>
              <a:t>Prob</a:t>
            </a:r>
            <a:r>
              <a:rPr lang="en-NL" sz="2000" dirty="0"/>
              <a:t>(𝜑)   (notice the underscore) is a probility vector e.g. w =</a:t>
            </a:r>
            <a:br>
              <a:rPr lang="en-NL" sz="2000" dirty="0"/>
            </a:br>
            <a:br>
              <a:rPr lang="en-NL" sz="2000" dirty="0"/>
            </a:br>
            <a:br>
              <a:rPr lang="en-NL" sz="2000" dirty="0"/>
            </a:br>
            <a:br>
              <a:rPr lang="en-NL" sz="2000" dirty="0"/>
            </a:br>
            <a:br>
              <a:rPr lang="en-NL" sz="2000" dirty="0"/>
            </a:br>
            <a:br>
              <a:rPr lang="en-NL" sz="2000" dirty="0"/>
            </a:br>
            <a:r>
              <a:rPr lang="en-NL" sz="2000" dirty="0"/>
              <a:t>such that the i-th element tells us what the probability that the system would behave as 𝜑 if executed in state s</a:t>
            </a:r>
            <a:r>
              <a:rPr lang="en-NL" sz="2000" baseline="-25000" dirty="0"/>
              <a:t>i</a:t>
            </a:r>
            <a:r>
              <a:rPr lang="en-NL" sz="2000" dirty="0"/>
              <a:t>.</a:t>
            </a:r>
          </a:p>
          <a:p>
            <a:endParaRPr lang="en-NL" sz="2000" dirty="0"/>
          </a:p>
          <a:p>
            <a:r>
              <a:rPr lang="en-NL" sz="2000" dirty="0"/>
              <a:t>Example: the above w (blue) happens to be equal to </a:t>
            </a:r>
            <a:r>
              <a:rPr lang="en-NL" sz="2000" u="sng" dirty="0"/>
              <a:t>Prob</a:t>
            </a:r>
            <a:r>
              <a:rPr lang="en-NL" sz="2000" dirty="0"/>
              <a:t>(</a:t>
            </a:r>
            <a:r>
              <a:rPr lang="en-NL" sz="2000" b="1" dirty="0"/>
              <a:t>X</a:t>
            </a:r>
            <a:r>
              <a:rPr lang="en-NL" sz="2000" dirty="0"/>
              <a:t>(try ∨ fail)).</a:t>
            </a:r>
          </a:p>
          <a:p>
            <a:endParaRPr lang="en-NL" sz="2000" dirty="0"/>
          </a:p>
          <a:p>
            <a:r>
              <a:rPr lang="en-NL" sz="2000" dirty="0"/>
              <a:t>This notation </a:t>
            </a:r>
            <a:r>
              <a:rPr lang="en-NL" sz="2000" u="sng" dirty="0">
                <a:highlight>
                  <a:srgbClr val="FFFF00"/>
                </a:highlight>
              </a:rPr>
              <a:t>Prob</a:t>
            </a:r>
            <a:r>
              <a:rPr lang="en-NL" sz="2000" dirty="0"/>
              <a:t> will be used later when we discuss model checking of probabilistic-CTL.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841D29-10F1-09D1-2609-0D4FF5AFE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D021F5-617A-4386-B224-EDC4A8F1A934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7FB5555-3CE0-A6B4-95DC-38C032BDD7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1138841"/>
              </p:ext>
            </p:extLst>
          </p:nvPr>
        </p:nvGraphicFramePr>
        <p:xfrm>
          <a:off x="1551003" y="2046585"/>
          <a:ext cx="528485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485">
                  <a:extLst>
                    <a:ext uri="{9D8B030D-6E8A-4147-A177-3AD203B41FA5}">
                      <a16:colId xmlns:a16="http://schemas.microsoft.com/office/drawing/2014/main" val="2729571296"/>
                    </a:ext>
                  </a:extLst>
                </a:gridCol>
              </a:tblGrid>
              <a:tr h="156864">
                <a:tc>
                  <a:txBody>
                    <a:bodyPr/>
                    <a:lstStyle/>
                    <a:p>
                      <a:pPr algn="ctr"/>
                      <a:r>
                        <a:rPr lang="en-NL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623907"/>
                  </a:ext>
                </a:extLst>
              </a:tr>
              <a:tr h="250738"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0.02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101951"/>
                  </a:ext>
                </a:extLst>
              </a:tr>
              <a:tr h="156864"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732619"/>
                  </a:ext>
                </a:extLst>
              </a:tr>
              <a:tr h="156864"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5941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1870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3AED7-D6B7-533C-52B1-B76777148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sz="3200" dirty="0"/>
              <a:t>The construction of P’ for bounded Until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53B64-995A-006F-0CA4-2BD20132497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00034" y="3765754"/>
            <a:ext cx="8358246" cy="2254045"/>
          </a:xfrm>
        </p:spPr>
        <p:txBody>
          <a:bodyPr/>
          <a:lstStyle/>
          <a:p>
            <a:r>
              <a:rPr lang="en-NL" sz="2000" dirty="0"/>
              <a:t>Consider as an example to check whether the DTMC satisfies P</a:t>
            </a:r>
            <a:r>
              <a:rPr lang="en-NL" sz="2000" baseline="-25000" dirty="0"/>
              <a:t>&gt;0.99</a:t>
            </a:r>
            <a:r>
              <a:rPr lang="en-NL" sz="2000" dirty="0"/>
              <a:t>[ try ∨ ¬fail  </a:t>
            </a:r>
            <a:r>
              <a:rPr lang="en-NL" sz="2000" b="1" dirty="0"/>
              <a:t>U</a:t>
            </a:r>
            <a:r>
              <a:rPr lang="en-NL" sz="2000" baseline="30000" dirty="0"/>
              <a:t>≤2</a:t>
            </a:r>
            <a:r>
              <a:rPr lang="en-NL" sz="2000" dirty="0"/>
              <a:t>  succ].</a:t>
            </a:r>
          </a:p>
          <a:p>
            <a:pPr marL="661988" lvl="1" indent="-342900">
              <a:buFont typeface="+mj-lt"/>
              <a:buAutoNum type="arabicPeriod"/>
            </a:pPr>
            <a:r>
              <a:rPr lang="en-NL" sz="1800" dirty="0"/>
              <a:t>Calculate first the probability vector </a:t>
            </a:r>
            <a:r>
              <a:rPr lang="en-NL" sz="1800" u="sng" dirty="0">
                <a:highlight>
                  <a:srgbClr val="FFFF00"/>
                </a:highlight>
              </a:rPr>
              <a:t>Prob</a:t>
            </a:r>
            <a:r>
              <a:rPr lang="en-NL" sz="1800" dirty="0"/>
              <a:t>[ try ∨ ¬fail  </a:t>
            </a:r>
            <a:r>
              <a:rPr lang="en-NL" sz="1800" b="1" dirty="0"/>
              <a:t>U</a:t>
            </a:r>
            <a:r>
              <a:rPr lang="en-NL" sz="1800" baseline="30000" dirty="0"/>
              <a:t>≤2</a:t>
            </a:r>
            <a:r>
              <a:rPr lang="en-NL" sz="1800" dirty="0"/>
              <a:t>  succ].</a:t>
            </a:r>
          </a:p>
          <a:p>
            <a:pPr marL="661988" lvl="1" indent="-342900">
              <a:buFont typeface="+mj-lt"/>
              <a:buAutoNum type="arabicPeriod"/>
            </a:pPr>
            <a:r>
              <a:rPr lang="en-NL" sz="1800" dirty="0"/>
              <a:t>From there you can calculate the set </a:t>
            </a:r>
            <a:r>
              <a:rPr lang="en-NL" sz="1800" dirty="0">
                <a:highlight>
                  <a:srgbClr val="00FFFF"/>
                </a:highlight>
              </a:rPr>
              <a:t>Sat</a:t>
            </a:r>
            <a:r>
              <a:rPr lang="en-NL" sz="1800" dirty="0"/>
              <a:t>(P</a:t>
            </a:r>
            <a:r>
              <a:rPr lang="en-NL" sz="1800" baseline="-25000" dirty="0"/>
              <a:t>&gt;0.99</a:t>
            </a:r>
            <a:r>
              <a:rPr lang="en-NL" sz="1800" dirty="0"/>
              <a:t>[ try ∨ ¬fail  </a:t>
            </a:r>
            <a:r>
              <a:rPr lang="en-NL" sz="1800" b="1" dirty="0"/>
              <a:t>U</a:t>
            </a:r>
            <a:r>
              <a:rPr lang="en-NL" sz="1800" baseline="30000" dirty="0"/>
              <a:t>≤2</a:t>
            </a:r>
            <a:r>
              <a:rPr lang="en-NL" sz="1800" dirty="0"/>
              <a:t>  succ]).</a:t>
            </a:r>
          </a:p>
          <a:p>
            <a:pPr marL="661988" lvl="1" indent="-342900">
              <a:buFont typeface="+mj-lt"/>
              <a:buAutoNum type="arabicPeriod"/>
            </a:pPr>
            <a:r>
              <a:rPr lang="en-NL" sz="1800" b="1" dirty="0"/>
              <a:t>If the initial state s</a:t>
            </a:r>
            <a:r>
              <a:rPr lang="en-NL" sz="1800" b="1" baseline="-25000" dirty="0"/>
              <a:t>0</a:t>
            </a:r>
            <a:r>
              <a:rPr lang="en-NL" sz="1800" b="1" dirty="0"/>
              <a:t> is in</a:t>
            </a:r>
            <a:r>
              <a:rPr lang="en-NL" sz="1800" dirty="0"/>
              <a:t> the blue Sat-set then the property P</a:t>
            </a:r>
            <a:r>
              <a:rPr lang="en-NL" sz="1800" baseline="-25000" dirty="0"/>
              <a:t>&gt;0.99</a:t>
            </a:r>
            <a:r>
              <a:rPr lang="en-NL" sz="1800" dirty="0"/>
              <a:t>[ try ∨ ¬fail  </a:t>
            </a:r>
            <a:r>
              <a:rPr lang="en-NL" sz="1800" b="1" dirty="0"/>
              <a:t>U</a:t>
            </a:r>
            <a:r>
              <a:rPr lang="en-NL" sz="1800" baseline="30000" dirty="0"/>
              <a:t>≤2</a:t>
            </a:r>
            <a:r>
              <a:rPr lang="en-NL" sz="1800" dirty="0"/>
              <a:t>  succ  holds on the DTMC.</a:t>
            </a:r>
          </a:p>
          <a:p>
            <a:pPr marL="661988" lvl="1" indent="-342900">
              <a:buFont typeface="+mj-lt"/>
              <a:buAutoNum type="arabicPeriod"/>
            </a:pPr>
            <a:endParaRPr lang="en-NL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B0AC1F-4BBC-703A-AAB7-D5518B4E3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D021F5-617A-4386-B224-EDC4A8F1A934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pic>
        <p:nvPicPr>
          <p:cNvPr id="5" name="Picture 4" descr="A diagram of a diagram&#10;&#10;Description automatically generated">
            <a:extLst>
              <a:ext uri="{FF2B5EF4-FFF2-40B4-BE49-F238E27FC236}">
                <a16:creationId xmlns:a16="http://schemas.microsoft.com/office/drawing/2014/main" id="{864FF137-9801-0A53-79C4-96A5400D4F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211" y="1462265"/>
            <a:ext cx="2859368" cy="1850179"/>
          </a:xfrm>
          <a:prstGeom prst="rect">
            <a:avLst/>
          </a:prstGeom>
        </p:spPr>
      </p:pic>
      <p:graphicFrame>
        <p:nvGraphicFramePr>
          <p:cNvPr id="6" name="Table 7">
            <a:extLst>
              <a:ext uri="{FF2B5EF4-FFF2-40B4-BE49-F238E27FC236}">
                <a16:creationId xmlns:a16="http://schemas.microsoft.com/office/drawing/2014/main" id="{05337CE6-70DF-1E34-7C5F-BED2516E50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304736"/>
              </p:ext>
            </p:extLst>
          </p:nvPr>
        </p:nvGraphicFramePr>
        <p:xfrm>
          <a:off x="4679157" y="1742190"/>
          <a:ext cx="21139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485">
                  <a:extLst>
                    <a:ext uri="{9D8B030D-6E8A-4147-A177-3AD203B41FA5}">
                      <a16:colId xmlns:a16="http://schemas.microsoft.com/office/drawing/2014/main" val="2729571296"/>
                    </a:ext>
                  </a:extLst>
                </a:gridCol>
                <a:gridCol w="528485">
                  <a:extLst>
                    <a:ext uri="{9D8B030D-6E8A-4147-A177-3AD203B41FA5}">
                      <a16:colId xmlns:a16="http://schemas.microsoft.com/office/drawing/2014/main" val="1271490288"/>
                    </a:ext>
                  </a:extLst>
                </a:gridCol>
                <a:gridCol w="528485">
                  <a:extLst>
                    <a:ext uri="{9D8B030D-6E8A-4147-A177-3AD203B41FA5}">
                      <a16:colId xmlns:a16="http://schemas.microsoft.com/office/drawing/2014/main" val="817790872"/>
                    </a:ext>
                  </a:extLst>
                </a:gridCol>
                <a:gridCol w="528485">
                  <a:extLst>
                    <a:ext uri="{9D8B030D-6E8A-4147-A177-3AD203B41FA5}">
                      <a16:colId xmlns:a16="http://schemas.microsoft.com/office/drawing/2014/main" val="2129977649"/>
                    </a:ext>
                  </a:extLst>
                </a:gridCol>
              </a:tblGrid>
              <a:tr h="156864">
                <a:tc>
                  <a:txBody>
                    <a:bodyPr/>
                    <a:lstStyle/>
                    <a:p>
                      <a:pPr algn="ctr"/>
                      <a:r>
                        <a:rPr lang="en-NL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623907"/>
                  </a:ext>
                </a:extLst>
              </a:tr>
              <a:tr h="250738"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L" sz="1200" dirty="0"/>
                        <a:t>0.01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0.01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0.98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101951"/>
                  </a:ext>
                </a:extLst>
              </a:tr>
              <a:tr h="156864"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732619"/>
                  </a:ext>
                </a:extLst>
              </a:tr>
              <a:tr h="156864"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59410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4DC2A0D-C91E-7275-0C79-84448E1314E9}"/>
              </a:ext>
            </a:extLst>
          </p:cNvPr>
          <p:cNvSpPr txBox="1"/>
          <p:nvPr/>
        </p:nvSpPr>
        <p:spPr>
          <a:xfrm>
            <a:off x="4679157" y="2905780"/>
            <a:ext cx="2859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sz="1400" dirty="0"/>
              <a:t>The probability matric P of the DTMC on the left.</a:t>
            </a:r>
          </a:p>
        </p:txBody>
      </p:sp>
    </p:spTree>
    <p:extLst>
      <p:ext uri="{BB962C8B-B14F-4D97-AF65-F5344CB8AC3E}">
        <p14:creationId xmlns:p14="http://schemas.microsoft.com/office/powerpoint/2010/main" val="422109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3AED7-D6B7-533C-52B1-B76777148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sz="3200" dirty="0"/>
              <a:t>The construction of P’ for bounded Until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53B64-995A-006F-0CA4-2BD20132497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00034" y="3765754"/>
            <a:ext cx="8358246" cy="2254045"/>
          </a:xfrm>
        </p:spPr>
        <p:txBody>
          <a:bodyPr/>
          <a:lstStyle/>
          <a:p>
            <a:r>
              <a:rPr lang="en-NL" sz="2000" dirty="0"/>
              <a:t>To calculate the probability vector </a:t>
            </a:r>
            <a:r>
              <a:rPr lang="en-NL" sz="2000" u="sng" dirty="0">
                <a:highlight>
                  <a:srgbClr val="FFFF00"/>
                </a:highlight>
              </a:rPr>
              <a:t>Prob</a:t>
            </a:r>
            <a:r>
              <a:rPr lang="en-NL" sz="2000" dirty="0"/>
              <a:t>[ </a:t>
            </a:r>
            <a:r>
              <a:rPr lang="en-NL" sz="2000" dirty="0">
                <a:highlight>
                  <a:srgbClr val="00FF00"/>
                </a:highlight>
              </a:rPr>
              <a:t>try ∨ ¬fail  </a:t>
            </a:r>
            <a:r>
              <a:rPr lang="en-NL" sz="2000" b="1" dirty="0">
                <a:highlight>
                  <a:srgbClr val="00FF00"/>
                </a:highlight>
              </a:rPr>
              <a:t>U</a:t>
            </a:r>
            <a:r>
              <a:rPr lang="en-NL" sz="2000" baseline="30000" dirty="0">
                <a:highlight>
                  <a:srgbClr val="00FF00"/>
                </a:highlight>
              </a:rPr>
              <a:t>≤2</a:t>
            </a:r>
            <a:r>
              <a:rPr lang="en-NL" sz="2000" dirty="0">
                <a:highlight>
                  <a:srgbClr val="00FF00"/>
                </a:highlight>
              </a:rPr>
              <a:t>  succ</a:t>
            </a:r>
            <a:r>
              <a:rPr lang="en-NL" sz="2000" dirty="0"/>
              <a:t>], we would like to use the matrix P above, however it will also ”contain” transitions that cause you to break the green-property. So the idea is to use a “modified” matrix P’.</a:t>
            </a:r>
          </a:p>
          <a:p>
            <a:r>
              <a:rPr lang="en-NL" sz="1800" dirty="0"/>
              <a:t>We pre-calculate first the S</a:t>
            </a:r>
            <a:r>
              <a:rPr lang="en-NL" sz="1800" baseline="30000" dirty="0"/>
              <a:t>yes</a:t>
            </a:r>
            <a:r>
              <a:rPr lang="en-NL" sz="1800" dirty="0"/>
              <a:t> = Sat(succ) = {s3}. On all states in S</a:t>
            </a:r>
            <a:r>
              <a:rPr lang="en-NL" sz="1800" baseline="30000" dirty="0"/>
              <a:t>yes</a:t>
            </a:r>
            <a:r>
              <a:rPr lang="en-NL" sz="1800" dirty="0"/>
              <a:t>, you have the green property immediately (in 0 step).</a:t>
            </a:r>
          </a:p>
          <a:p>
            <a:r>
              <a:rPr lang="en-NL" sz="1800" dirty="0"/>
              <a:t>We pre-calculate S</a:t>
            </a:r>
            <a:r>
              <a:rPr lang="en-GB" sz="1800" baseline="30000" dirty="0"/>
              <a:t>n</a:t>
            </a:r>
            <a:r>
              <a:rPr lang="en-NL" sz="1800" baseline="30000" dirty="0"/>
              <a:t>o</a:t>
            </a:r>
            <a:r>
              <a:rPr lang="en-NL" sz="1800" dirty="0"/>
              <a:t>, we take S</a:t>
            </a:r>
            <a:r>
              <a:rPr lang="en-NL" sz="1800" baseline="30000" dirty="0"/>
              <a:t>no</a:t>
            </a:r>
            <a:r>
              <a:rPr lang="en-NL" sz="1800" dirty="0"/>
              <a:t> = Sat(</a:t>
            </a:r>
            <a:r>
              <a:rPr lang="en-NL" sz="1800" dirty="0">
                <a:highlight>
                  <a:srgbClr val="00FFFF"/>
                </a:highlight>
              </a:rPr>
              <a:t>¬</a:t>
            </a:r>
            <a:r>
              <a:rPr lang="en-NL" sz="1800" dirty="0"/>
              <a:t> (try ∨ ¬fail) </a:t>
            </a:r>
            <a:r>
              <a:rPr lang="en-NL" sz="1800" dirty="0">
                <a:highlight>
                  <a:srgbClr val="FFFF00"/>
                </a:highlight>
              </a:rPr>
              <a:t>∧</a:t>
            </a:r>
            <a:r>
              <a:rPr lang="en-NL" sz="1800" dirty="0"/>
              <a:t>  </a:t>
            </a:r>
            <a:r>
              <a:rPr lang="en-NL" sz="1800" dirty="0">
                <a:highlight>
                  <a:srgbClr val="00FFFF"/>
                </a:highlight>
              </a:rPr>
              <a:t>¬</a:t>
            </a:r>
            <a:r>
              <a:rPr lang="en-NL" sz="1800" dirty="0"/>
              <a:t> succ) = { s2 }. Executions starting from S</a:t>
            </a:r>
            <a:r>
              <a:rPr lang="en-NL" sz="1800" baseline="30000" dirty="0"/>
              <a:t>no</a:t>
            </a:r>
            <a:r>
              <a:rPr lang="en-NL" sz="1800" dirty="0"/>
              <a:t> won’t satisfy your green-property above,</a:t>
            </a:r>
          </a:p>
          <a:p>
            <a:pPr marL="661988" lvl="1" indent="-342900">
              <a:buFont typeface="+mj-lt"/>
              <a:buAutoNum type="arabicPeriod"/>
            </a:pPr>
            <a:endParaRPr lang="en-NL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B0AC1F-4BBC-703A-AAB7-D5518B4E3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D021F5-617A-4386-B224-EDC4A8F1A934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pic>
        <p:nvPicPr>
          <p:cNvPr id="5" name="Picture 4" descr="A diagram of a diagram&#10;&#10;Description automatically generated">
            <a:extLst>
              <a:ext uri="{FF2B5EF4-FFF2-40B4-BE49-F238E27FC236}">
                <a16:creationId xmlns:a16="http://schemas.microsoft.com/office/drawing/2014/main" id="{864FF137-9801-0A53-79C4-96A5400D4F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211" y="1462265"/>
            <a:ext cx="2859368" cy="1850179"/>
          </a:xfrm>
          <a:prstGeom prst="rect">
            <a:avLst/>
          </a:prstGeom>
        </p:spPr>
      </p:pic>
      <p:graphicFrame>
        <p:nvGraphicFramePr>
          <p:cNvPr id="6" name="Table 7">
            <a:extLst>
              <a:ext uri="{FF2B5EF4-FFF2-40B4-BE49-F238E27FC236}">
                <a16:creationId xmlns:a16="http://schemas.microsoft.com/office/drawing/2014/main" id="{05337CE6-70DF-1E34-7C5F-BED2516E50FD}"/>
              </a:ext>
            </a:extLst>
          </p:cNvPr>
          <p:cNvGraphicFramePr>
            <a:graphicFrameLocks noGrp="1"/>
          </p:cNvGraphicFramePr>
          <p:nvPr/>
        </p:nvGraphicFramePr>
        <p:xfrm>
          <a:off x="4679157" y="1742190"/>
          <a:ext cx="21139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485">
                  <a:extLst>
                    <a:ext uri="{9D8B030D-6E8A-4147-A177-3AD203B41FA5}">
                      <a16:colId xmlns:a16="http://schemas.microsoft.com/office/drawing/2014/main" val="2729571296"/>
                    </a:ext>
                  </a:extLst>
                </a:gridCol>
                <a:gridCol w="528485">
                  <a:extLst>
                    <a:ext uri="{9D8B030D-6E8A-4147-A177-3AD203B41FA5}">
                      <a16:colId xmlns:a16="http://schemas.microsoft.com/office/drawing/2014/main" val="1271490288"/>
                    </a:ext>
                  </a:extLst>
                </a:gridCol>
                <a:gridCol w="528485">
                  <a:extLst>
                    <a:ext uri="{9D8B030D-6E8A-4147-A177-3AD203B41FA5}">
                      <a16:colId xmlns:a16="http://schemas.microsoft.com/office/drawing/2014/main" val="817790872"/>
                    </a:ext>
                  </a:extLst>
                </a:gridCol>
                <a:gridCol w="528485">
                  <a:extLst>
                    <a:ext uri="{9D8B030D-6E8A-4147-A177-3AD203B41FA5}">
                      <a16:colId xmlns:a16="http://schemas.microsoft.com/office/drawing/2014/main" val="2129977649"/>
                    </a:ext>
                  </a:extLst>
                </a:gridCol>
              </a:tblGrid>
              <a:tr h="156864">
                <a:tc>
                  <a:txBody>
                    <a:bodyPr/>
                    <a:lstStyle/>
                    <a:p>
                      <a:pPr algn="ctr"/>
                      <a:r>
                        <a:rPr lang="en-NL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623907"/>
                  </a:ext>
                </a:extLst>
              </a:tr>
              <a:tr h="250738"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L" sz="1200" dirty="0"/>
                        <a:t>0.01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0.01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0.98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101951"/>
                  </a:ext>
                </a:extLst>
              </a:tr>
              <a:tr h="156864"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732619"/>
                  </a:ext>
                </a:extLst>
              </a:tr>
              <a:tr h="156864"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59410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4DC2A0D-C91E-7275-0C79-84448E1314E9}"/>
              </a:ext>
            </a:extLst>
          </p:cNvPr>
          <p:cNvSpPr txBox="1"/>
          <p:nvPr/>
        </p:nvSpPr>
        <p:spPr>
          <a:xfrm>
            <a:off x="4679157" y="2905780"/>
            <a:ext cx="2859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sz="1400" dirty="0"/>
              <a:t>The probability matric P of the DTMC on the left.</a:t>
            </a:r>
          </a:p>
        </p:txBody>
      </p:sp>
    </p:spTree>
    <p:extLst>
      <p:ext uri="{BB962C8B-B14F-4D97-AF65-F5344CB8AC3E}">
        <p14:creationId xmlns:p14="http://schemas.microsoft.com/office/powerpoint/2010/main" val="26196900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3AED7-D6B7-533C-52B1-B76777148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sz="3200" dirty="0"/>
              <a:t>The construction of P’ for bounded Until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53B64-995A-006F-0CA4-2BD20132497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90200" y="4284188"/>
            <a:ext cx="4801232" cy="1447799"/>
          </a:xfrm>
        </p:spPr>
        <p:txBody>
          <a:bodyPr/>
          <a:lstStyle/>
          <a:p>
            <a:pPr marL="387350" indent="-342900">
              <a:buFont typeface="+mj-lt"/>
              <a:buAutoNum type="arabicPeriod"/>
            </a:pPr>
            <a:r>
              <a:rPr lang="en-NL" sz="2000" dirty="0"/>
              <a:t>We remove outgoing arrows from the states in S</a:t>
            </a:r>
            <a:r>
              <a:rPr lang="en-NL" sz="2000" baseline="30000" dirty="0"/>
              <a:t>no</a:t>
            </a:r>
            <a:r>
              <a:rPr lang="en-NL" sz="2000" dirty="0"/>
              <a:t> and S</a:t>
            </a:r>
            <a:r>
              <a:rPr lang="en-NL" sz="2000" baseline="30000" dirty="0"/>
              <a:t>yes</a:t>
            </a:r>
            <a:r>
              <a:rPr lang="en-NL" sz="2000" dirty="0"/>
              <a:t>.</a:t>
            </a:r>
          </a:p>
          <a:p>
            <a:pPr marL="387350" indent="-342900">
              <a:buFont typeface="+mj-lt"/>
              <a:buAutoNum type="arabicPeriod"/>
            </a:pPr>
            <a:r>
              <a:rPr lang="en-NL" sz="2000" dirty="0"/>
              <a:t>We keep all arrows that go out from states which are </a:t>
            </a:r>
            <a:r>
              <a:rPr lang="en-NL" sz="2000" b="1" dirty="0"/>
              <a:t>not</a:t>
            </a:r>
            <a:r>
              <a:rPr lang="en-NL" sz="2000" dirty="0"/>
              <a:t> in S</a:t>
            </a:r>
            <a:r>
              <a:rPr lang="en-NL" sz="2000" baseline="30000" dirty="0"/>
              <a:t>no</a:t>
            </a:r>
            <a:r>
              <a:rPr lang="en-NL" sz="2000" dirty="0"/>
              <a:t> nor S</a:t>
            </a:r>
            <a:r>
              <a:rPr lang="en-NL" sz="2000" baseline="30000" dirty="0"/>
              <a:t>yes</a:t>
            </a:r>
            <a:r>
              <a:rPr lang="en-NL" sz="2000" dirty="0"/>
              <a:t>.</a:t>
            </a:r>
          </a:p>
          <a:p>
            <a:pPr marL="387350" indent="-342900">
              <a:buFont typeface="+mj-lt"/>
              <a:buAutoNum type="arabicPeriod"/>
            </a:pPr>
            <a:r>
              <a:rPr lang="en-NL" sz="2000" dirty="0"/>
              <a:t>We add a self-loop s → s with probability 1 for any state s in S</a:t>
            </a:r>
            <a:r>
              <a:rPr lang="en-NL" sz="2000" baseline="30000" dirty="0"/>
              <a:t>yes</a:t>
            </a:r>
            <a:r>
              <a:rPr lang="en-NL" sz="2000" dirty="0"/>
              <a:t>.</a:t>
            </a:r>
          </a:p>
          <a:p>
            <a:pPr marL="387350" indent="-342900">
              <a:buFont typeface="+mj-lt"/>
              <a:buAutoNum type="arabicPeriod"/>
            </a:pPr>
            <a:endParaRPr lang="en-NL" sz="2000" dirty="0"/>
          </a:p>
          <a:p>
            <a:pPr marL="387350" indent="-342900">
              <a:buFont typeface="+mj-lt"/>
              <a:buAutoNum type="arabicPeriod"/>
            </a:pPr>
            <a:endParaRPr lang="en-NL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B0AC1F-4BBC-703A-AAB7-D5518B4E3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D021F5-617A-4386-B224-EDC4A8F1A934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pic>
        <p:nvPicPr>
          <p:cNvPr id="5" name="Picture 4" descr="A diagram of a diagram&#10;&#10;Description automatically generated">
            <a:extLst>
              <a:ext uri="{FF2B5EF4-FFF2-40B4-BE49-F238E27FC236}">
                <a16:creationId xmlns:a16="http://schemas.microsoft.com/office/drawing/2014/main" id="{864FF137-9801-0A53-79C4-96A5400D4F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712" y="1082111"/>
            <a:ext cx="2113940" cy="1367843"/>
          </a:xfrm>
          <a:prstGeom prst="rect">
            <a:avLst/>
          </a:prstGeom>
        </p:spPr>
      </p:pic>
      <p:graphicFrame>
        <p:nvGraphicFramePr>
          <p:cNvPr id="6" name="Table 7">
            <a:extLst>
              <a:ext uri="{FF2B5EF4-FFF2-40B4-BE49-F238E27FC236}">
                <a16:creationId xmlns:a16="http://schemas.microsoft.com/office/drawing/2014/main" id="{05337CE6-70DF-1E34-7C5F-BED2516E50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340736"/>
              </p:ext>
            </p:extLst>
          </p:nvPr>
        </p:nvGraphicFramePr>
        <p:xfrm>
          <a:off x="5859028" y="1352674"/>
          <a:ext cx="21139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485">
                  <a:extLst>
                    <a:ext uri="{9D8B030D-6E8A-4147-A177-3AD203B41FA5}">
                      <a16:colId xmlns:a16="http://schemas.microsoft.com/office/drawing/2014/main" val="2729571296"/>
                    </a:ext>
                  </a:extLst>
                </a:gridCol>
                <a:gridCol w="528485">
                  <a:extLst>
                    <a:ext uri="{9D8B030D-6E8A-4147-A177-3AD203B41FA5}">
                      <a16:colId xmlns:a16="http://schemas.microsoft.com/office/drawing/2014/main" val="1271490288"/>
                    </a:ext>
                  </a:extLst>
                </a:gridCol>
                <a:gridCol w="528485">
                  <a:extLst>
                    <a:ext uri="{9D8B030D-6E8A-4147-A177-3AD203B41FA5}">
                      <a16:colId xmlns:a16="http://schemas.microsoft.com/office/drawing/2014/main" val="817790872"/>
                    </a:ext>
                  </a:extLst>
                </a:gridCol>
                <a:gridCol w="528485">
                  <a:extLst>
                    <a:ext uri="{9D8B030D-6E8A-4147-A177-3AD203B41FA5}">
                      <a16:colId xmlns:a16="http://schemas.microsoft.com/office/drawing/2014/main" val="2129977649"/>
                    </a:ext>
                  </a:extLst>
                </a:gridCol>
              </a:tblGrid>
              <a:tr h="156864">
                <a:tc>
                  <a:txBody>
                    <a:bodyPr/>
                    <a:lstStyle/>
                    <a:p>
                      <a:pPr algn="ctr"/>
                      <a:r>
                        <a:rPr lang="en-NL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623907"/>
                  </a:ext>
                </a:extLst>
              </a:tr>
              <a:tr h="250738"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L" sz="1200" dirty="0"/>
                        <a:t>0.01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0.01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0.98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101951"/>
                  </a:ext>
                </a:extLst>
              </a:tr>
              <a:tr h="156864"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732619"/>
                  </a:ext>
                </a:extLst>
              </a:tr>
              <a:tr h="156864"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594105"/>
                  </a:ext>
                </a:extLst>
              </a:tr>
            </a:tbl>
          </a:graphicData>
        </a:graphic>
      </p:graphicFrame>
      <p:pic>
        <p:nvPicPr>
          <p:cNvPr id="9" name="Picture 8" descr="A diagram of a diagram&#10;&#10;Description automatically generated">
            <a:extLst>
              <a:ext uri="{FF2B5EF4-FFF2-40B4-BE49-F238E27FC236}">
                <a16:creationId xmlns:a16="http://schemas.microsoft.com/office/drawing/2014/main" id="{9025DDD2-9929-9562-2875-462F15A207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712" y="2745078"/>
            <a:ext cx="2113940" cy="13678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E115C2E-1FDB-F953-B9BB-39D3C349A5BF}"/>
              </a:ext>
            </a:extLst>
          </p:cNvPr>
          <p:cNvSpPr txBox="1"/>
          <p:nvPr/>
        </p:nvSpPr>
        <p:spPr>
          <a:xfrm>
            <a:off x="1962337" y="2726147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2800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F28338-C2CC-AFDD-4428-1BBA254DF217}"/>
              </a:ext>
            </a:extLst>
          </p:cNvPr>
          <p:cNvSpPr/>
          <p:nvPr/>
        </p:nvSpPr>
        <p:spPr>
          <a:xfrm>
            <a:off x="2649910" y="1061163"/>
            <a:ext cx="835742" cy="651098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25B6B8-0BAB-3101-12FA-ED9A8329B40B}"/>
              </a:ext>
            </a:extLst>
          </p:cNvPr>
          <p:cNvSpPr/>
          <p:nvPr/>
        </p:nvSpPr>
        <p:spPr>
          <a:xfrm>
            <a:off x="2664775" y="1798856"/>
            <a:ext cx="835742" cy="651098"/>
          </a:xfrm>
          <a:prstGeom prst="rect">
            <a:avLst/>
          </a:prstGeom>
          <a:noFill/>
          <a:ln w="38100">
            <a:solidFill>
              <a:schemeClr val="bg2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FCE3B7-D0ED-ACBA-ACF3-950002AEC1A2}"/>
              </a:ext>
            </a:extLst>
          </p:cNvPr>
          <p:cNvSpPr txBox="1"/>
          <p:nvPr/>
        </p:nvSpPr>
        <p:spPr>
          <a:xfrm>
            <a:off x="3573931" y="1037536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S</a:t>
            </a:r>
            <a:r>
              <a:rPr lang="en-NL" baseline="30000" dirty="0"/>
              <a:t>no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030AB6-6FF5-11BD-0A45-9C07A2370890}"/>
              </a:ext>
            </a:extLst>
          </p:cNvPr>
          <p:cNvSpPr txBox="1"/>
          <p:nvPr/>
        </p:nvSpPr>
        <p:spPr>
          <a:xfrm>
            <a:off x="3485652" y="1706415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S</a:t>
            </a:r>
            <a:r>
              <a:rPr lang="en-NL" baseline="30000" dirty="0"/>
              <a:t>yes</a:t>
            </a:r>
          </a:p>
        </p:txBody>
      </p:sp>
      <p:graphicFrame>
        <p:nvGraphicFramePr>
          <p:cNvPr id="15" name="Table 7">
            <a:extLst>
              <a:ext uri="{FF2B5EF4-FFF2-40B4-BE49-F238E27FC236}">
                <a16:creationId xmlns:a16="http://schemas.microsoft.com/office/drawing/2014/main" id="{1A0CA1CE-D42D-DD77-A52B-81B8ADA38E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407583"/>
              </p:ext>
            </p:extLst>
          </p:nvPr>
        </p:nvGraphicFramePr>
        <p:xfrm>
          <a:off x="5859028" y="2880359"/>
          <a:ext cx="21139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485">
                  <a:extLst>
                    <a:ext uri="{9D8B030D-6E8A-4147-A177-3AD203B41FA5}">
                      <a16:colId xmlns:a16="http://schemas.microsoft.com/office/drawing/2014/main" val="2729571296"/>
                    </a:ext>
                  </a:extLst>
                </a:gridCol>
                <a:gridCol w="528485">
                  <a:extLst>
                    <a:ext uri="{9D8B030D-6E8A-4147-A177-3AD203B41FA5}">
                      <a16:colId xmlns:a16="http://schemas.microsoft.com/office/drawing/2014/main" val="1271490288"/>
                    </a:ext>
                  </a:extLst>
                </a:gridCol>
                <a:gridCol w="528485">
                  <a:extLst>
                    <a:ext uri="{9D8B030D-6E8A-4147-A177-3AD203B41FA5}">
                      <a16:colId xmlns:a16="http://schemas.microsoft.com/office/drawing/2014/main" val="817790872"/>
                    </a:ext>
                  </a:extLst>
                </a:gridCol>
                <a:gridCol w="528485">
                  <a:extLst>
                    <a:ext uri="{9D8B030D-6E8A-4147-A177-3AD203B41FA5}">
                      <a16:colId xmlns:a16="http://schemas.microsoft.com/office/drawing/2014/main" val="2129977649"/>
                    </a:ext>
                  </a:extLst>
                </a:gridCol>
              </a:tblGrid>
              <a:tr h="156864">
                <a:tc>
                  <a:txBody>
                    <a:bodyPr/>
                    <a:lstStyle/>
                    <a:p>
                      <a:pPr algn="ctr"/>
                      <a:r>
                        <a:rPr lang="en-NL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623907"/>
                  </a:ext>
                </a:extLst>
              </a:tr>
              <a:tr h="250738"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L" sz="1200" dirty="0"/>
                        <a:t>0.01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0.01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0.98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101951"/>
                  </a:ext>
                </a:extLst>
              </a:tr>
              <a:tr h="156864"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732619"/>
                  </a:ext>
                </a:extLst>
              </a:tr>
              <a:tr h="156864"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594105"/>
                  </a:ext>
                </a:extLst>
              </a:tr>
            </a:tbl>
          </a:graphicData>
        </a:graphic>
      </p:graphicFrame>
      <p:sp>
        <p:nvSpPr>
          <p:cNvPr id="16" name="Down Arrow 15">
            <a:extLst>
              <a:ext uri="{FF2B5EF4-FFF2-40B4-BE49-F238E27FC236}">
                <a16:creationId xmlns:a16="http://schemas.microsoft.com/office/drawing/2014/main" id="{6873007A-A4BB-D466-F126-AB9FE5D95D78}"/>
              </a:ext>
            </a:extLst>
          </p:cNvPr>
          <p:cNvSpPr/>
          <p:nvPr/>
        </p:nvSpPr>
        <p:spPr>
          <a:xfrm>
            <a:off x="6758267" y="2449954"/>
            <a:ext cx="175983" cy="36379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7" name="Down Arrow 16">
            <a:extLst>
              <a:ext uri="{FF2B5EF4-FFF2-40B4-BE49-F238E27FC236}">
                <a16:creationId xmlns:a16="http://schemas.microsoft.com/office/drawing/2014/main" id="{3560AA39-E82B-EB79-52D8-4A05C9B49FB5}"/>
              </a:ext>
            </a:extLst>
          </p:cNvPr>
          <p:cNvSpPr/>
          <p:nvPr/>
        </p:nvSpPr>
        <p:spPr>
          <a:xfrm>
            <a:off x="2362364" y="2495970"/>
            <a:ext cx="175983" cy="36379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5CFFF3-F17C-2A2C-3F4E-0FAE68432AF5}"/>
              </a:ext>
            </a:extLst>
          </p:cNvPr>
          <p:cNvSpPr txBox="1"/>
          <p:nvPr/>
        </p:nvSpPr>
        <p:spPr>
          <a:xfrm>
            <a:off x="5264213" y="1755073"/>
            <a:ext cx="462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P 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38A619-1374-5258-4F74-75E62753CDA6}"/>
              </a:ext>
            </a:extLst>
          </p:cNvPr>
          <p:cNvSpPr txBox="1"/>
          <p:nvPr/>
        </p:nvSpPr>
        <p:spPr>
          <a:xfrm>
            <a:off x="5264213" y="3064701"/>
            <a:ext cx="510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P’ :</a:t>
            </a:r>
          </a:p>
        </p:txBody>
      </p:sp>
    </p:spTree>
    <p:extLst>
      <p:ext uri="{BB962C8B-B14F-4D97-AF65-F5344CB8AC3E}">
        <p14:creationId xmlns:p14="http://schemas.microsoft.com/office/powerpoint/2010/main" val="29678092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3AED7-D6B7-533C-52B1-B76777148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sz="3200" dirty="0"/>
              <a:t>Using P’ for bounded Until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53B64-995A-006F-0CA4-2BD20132497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00035" y="2731603"/>
            <a:ext cx="8358245" cy="3698376"/>
          </a:xfrm>
        </p:spPr>
        <p:txBody>
          <a:bodyPr/>
          <a:lstStyle/>
          <a:p>
            <a:pPr marL="387350" indent="-342900"/>
            <a:r>
              <a:rPr lang="en-NL" sz="2000" dirty="0"/>
              <a:t>We now use P’ to iteratively calcualte </a:t>
            </a:r>
            <a:r>
              <a:rPr lang="en-NL" sz="2000" u="sng" dirty="0">
                <a:highlight>
                  <a:srgbClr val="FFFF00"/>
                </a:highlight>
              </a:rPr>
              <a:t>Prob</a:t>
            </a:r>
            <a:r>
              <a:rPr lang="en-NL" sz="2000" dirty="0"/>
              <a:t>[ </a:t>
            </a:r>
            <a:r>
              <a:rPr lang="en-NL" sz="2000" dirty="0">
                <a:highlight>
                  <a:srgbClr val="00FF00"/>
                </a:highlight>
              </a:rPr>
              <a:t>try ∨ ¬fail  </a:t>
            </a:r>
            <a:r>
              <a:rPr lang="en-NL" sz="2000" b="1" dirty="0">
                <a:highlight>
                  <a:srgbClr val="00FF00"/>
                </a:highlight>
              </a:rPr>
              <a:t>U</a:t>
            </a:r>
            <a:r>
              <a:rPr lang="en-NL" sz="2000" baseline="30000" dirty="0">
                <a:highlight>
                  <a:srgbClr val="00FF00"/>
                </a:highlight>
              </a:rPr>
              <a:t>≤2</a:t>
            </a:r>
            <a:r>
              <a:rPr lang="en-NL" sz="2000" dirty="0">
                <a:highlight>
                  <a:srgbClr val="00FF00"/>
                </a:highlight>
              </a:rPr>
              <a:t>  succ</a:t>
            </a:r>
            <a:r>
              <a:rPr lang="en-NL" sz="2000" dirty="0"/>
              <a:t>]</a:t>
            </a:r>
          </a:p>
          <a:p>
            <a:pPr marL="387350" indent="-342900"/>
            <a:endParaRPr lang="en-NL" sz="2000" dirty="0"/>
          </a:p>
          <a:p>
            <a:pPr marL="387350" indent="-342900"/>
            <a:r>
              <a:rPr lang="en-NL" sz="2000" dirty="0"/>
              <a:t>From S</a:t>
            </a:r>
            <a:r>
              <a:rPr lang="en-NL" sz="2000" baseline="30000" dirty="0"/>
              <a:t>yes</a:t>
            </a:r>
            <a:r>
              <a:rPr lang="en-NL" sz="2000" dirty="0"/>
              <a:t> you know that  </a:t>
            </a:r>
            <a:r>
              <a:rPr lang="en-NL" sz="2000" u="sng" dirty="0"/>
              <a:t>Prob</a:t>
            </a:r>
            <a:r>
              <a:rPr lang="en-NL" sz="2000" dirty="0"/>
              <a:t>[ try ∨ ¬fail  </a:t>
            </a:r>
            <a:r>
              <a:rPr lang="en-NL" sz="2000" b="1" dirty="0"/>
              <a:t>U</a:t>
            </a:r>
            <a:r>
              <a:rPr lang="en-NL" sz="2000" baseline="30000" dirty="0"/>
              <a:t>≤0</a:t>
            </a:r>
            <a:r>
              <a:rPr lang="en-NL" sz="2000" dirty="0"/>
              <a:t>  succ] =</a:t>
            </a:r>
          </a:p>
          <a:p>
            <a:pPr marL="387350" indent="-342900"/>
            <a:endParaRPr lang="en-NL" sz="2000" dirty="0"/>
          </a:p>
          <a:p>
            <a:pPr marL="387350" indent="-342900"/>
            <a:r>
              <a:rPr lang="en-NL" sz="2000" dirty="0"/>
              <a:t> </a:t>
            </a:r>
            <a:r>
              <a:rPr lang="en-NL" sz="2000" u="sng" dirty="0"/>
              <a:t>Prob</a:t>
            </a:r>
            <a:r>
              <a:rPr lang="en-NL" sz="2000" dirty="0"/>
              <a:t>[ try ∨ ¬fail  </a:t>
            </a:r>
            <a:r>
              <a:rPr lang="en-NL" sz="2000" b="1" dirty="0"/>
              <a:t>U</a:t>
            </a:r>
            <a:r>
              <a:rPr lang="en-NL" sz="2000" baseline="30000" dirty="0"/>
              <a:t>≤1</a:t>
            </a:r>
            <a:r>
              <a:rPr lang="en-NL" sz="2000" dirty="0"/>
              <a:t>  succ] = P’ ×       =</a:t>
            </a:r>
          </a:p>
          <a:p>
            <a:pPr marL="387350" indent="-342900"/>
            <a:endParaRPr lang="en-NL" sz="2000" dirty="0"/>
          </a:p>
          <a:p>
            <a:pPr marL="44450" indent="0">
              <a:buNone/>
            </a:pPr>
            <a:endParaRPr lang="en-NL" sz="2000" dirty="0"/>
          </a:p>
          <a:p>
            <a:pPr marL="44450" indent="0">
              <a:buNone/>
            </a:pPr>
            <a:endParaRPr lang="en-NL" sz="2000" dirty="0"/>
          </a:p>
          <a:p>
            <a:pPr marL="387350" indent="-342900"/>
            <a:r>
              <a:rPr lang="en-NL" sz="2000" u="sng" dirty="0"/>
              <a:t>Prob</a:t>
            </a:r>
            <a:r>
              <a:rPr lang="en-NL" sz="2000" dirty="0"/>
              <a:t>[ try ∨ ¬fail  </a:t>
            </a:r>
            <a:r>
              <a:rPr lang="en-NL" sz="2000" b="1" dirty="0"/>
              <a:t>U</a:t>
            </a:r>
            <a:r>
              <a:rPr lang="en-NL" sz="2000" baseline="30000" dirty="0"/>
              <a:t>≤2</a:t>
            </a:r>
            <a:r>
              <a:rPr lang="en-NL" sz="2000" dirty="0"/>
              <a:t>  succ] = P’ ×           =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B0AC1F-4BBC-703A-AAB7-D5518B4E3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1" y="5972779"/>
            <a:ext cx="457200" cy="457200"/>
          </a:xfrm>
        </p:spPr>
        <p:txBody>
          <a:bodyPr/>
          <a:lstStyle/>
          <a:p>
            <a:pPr>
              <a:defRPr/>
            </a:pPr>
            <a:fld id="{FED021F5-617A-4386-B224-EDC4A8F1A934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pic>
        <p:nvPicPr>
          <p:cNvPr id="9" name="Picture 8" descr="A diagram of a diagram&#10;&#10;Description automatically generated">
            <a:extLst>
              <a:ext uri="{FF2B5EF4-FFF2-40B4-BE49-F238E27FC236}">
                <a16:creationId xmlns:a16="http://schemas.microsoft.com/office/drawing/2014/main" id="{9025DDD2-9929-9562-2875-462F15A207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4466" y="1160962"/>
            <a:ext cx="2113940" cy="13678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E115C2E-1FDB-F953-B9BB-39D3C349A5BF}"/>
              </a:ext>
            </a:extLst>
          </p:cNvPr>
          <p:cNvSpPr txBox="1"/>
          <p:nvPr/>
        </p:nvSpPr>
        <p:spPr>
          <a:xfrm>
            <a:off x="2385091" y="1142031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2800" dirty="0">
                <a:solidFill>
                  <a:srgbClr val="FF0000"/>
                </a:solidFill>
              </a:rPr>
              <a:t>X</a:t>
            </a:r>
          </a:p>
        </p:txBody>
      </p:sp>
      <p:graphicFrame>
        <p:nvGraphicFramePr>
          <p:cNvPr id="15" name="Table 7">
            <a:extLst>
              <a:ext uri="{FF2B5EF4-FFF2-40B4-BE49-F238E27FC236}">
                <a16:creationId xmlns:a16="http://schemas.microsoft.com/office/drawing/2014/main" id="{1A0CA1CE-D42D-DD77-A52B-81B8ADA38E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469500"/>
              </p:ext>
            </p:extLst>
          </p:nvPr>
        </p:nvGraphicFramePr>
        <p:xfrm>
          <a:off x="5007745" y="1291210"/>
          <a:ext cx="21139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485">
                  <a:extLst>
                    <a:ext uri="{9D8B030D-6E8A-4147-A177-3AD203B41FA5}">
                      <a16:colId xmlns:a16="http://schemas.microsoft.com/office/drawing/2014/main" val="2729571296"/>
                    </a:ext>
                  </a:extLst>
                </a:gridCol>
                <a:gridCol w="528485">
                  <a:extLst>
                    <a:ext uri="{9D8B030D-6E8A-4147-A177-3AD203B41FA5}">
                      <a16:colId xmlns:a16="http://schemas.microsoft.com/office/drawing/2014/main" val="1271490288"/>
                    </a:ext>
                  </a:extLst>
                </a:gridCol>
                <a:gridCol w="528485">
                  <a:extLst>
                    <a:ext uri="{9D8B030D-6E8A-4147-A177-3AD203B41FA5}">
                      <a16:colId xmlns:a16="http://schemas.microsoft.com/office/drawing/2014/main" val="817790872"/>
                    </a:ext>
                  </a:extLst>
                </a:gridCol>
                <a:gridCol w="528485">
                  <a:extLst>
                    <a:ext uri="{9D8B030D-6E8A-4147-A177-3AD203B41FA5}">
                      <a16:colId xmlns:a16="http://schemas.microsoft.com/office/drawing/2014/main" val="2129977649"/>
                    </a:ext>
                  </a:extLst>
                </a:gridCol>
              </a:tblGrid>
              <a:tr h="156864">
                <a:tc>
                  <a:txBody>
                    <a:bodyPr/>
                    <a:lstStyle/>
                    <a:p>
                      <a:pPr algn="ctr"/>
                      <a:r>
                        <a:rPr lang="en-NL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623907"/>
                  </a:ext>
                </a:extLst>
              </a:tr>
              <a:tr h="250738"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L" sz="1200" dirty="0"/>
                        <a:t>0.01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0.01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0.98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101951"/>
                  </a:ext>
                </a:extLst>
              </a:tr>
              <a:tr h="156864"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732619"/>
                  </a:ext>
                </a:extLst>
              </a:tr>
              <a:tr h="156864"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594105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5C38A619-1374-5258-4F74-75E62753CDA6}"/>
              </a:ext>
            </a:extLst>
          </p:cNvPr>
          <p:cNvSpPr txBox="1"/>
          <p:nvPr/>
        </p:nvSpPr>
        <p:spPr>
          <a:xfrm>
            <a:off x="4412930" y="1475552"/>
            <a:ext cx="510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P’ :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87BA8907-9422-DA35-6094-0E2EFB8A92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1123103"/>
              </p:ext>
            </p:extLst>
          </p:nvPr>
        </p:nvGraphicFramePr>
        <p:xfrm>
          <a:off x="7121686" y="3162324"/>
          <a:ext cx="31813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139">
                  <a:extLst>
                    <a:ext uri="{9D8B030D-6E8A-4147-A177-3AD203B41FA5}">
                      <a16:colId xmlns:a16="http://schemas.microsoft.com/office/drawing/2014/main" val="2129977649"/>
                    </a:ext>
                  </a:extLst>
                </a:gridCol>
              </a:tblGrid>
              <a:tr h="240644">
                <a:tc>
                  <a:txBody>
                    <a:bodyPr/>
                    <a:lstStyle/>
                    <a:p>
                      <a:pPr algn="ctr"/>
                      <a:r>
                        <a:rPr lang="en-NL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623907"/>
                  </a:ext>
                </a:extLst>
              </a:tr>
              <a:tr h="240644"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101951"/>
                  </a:ext>
                </a:extLst>
              </a:tr>
              <a:tr h="240644"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732619"/>
                  </a:ext>
                </a:extLst>
              </a:tr>
              <a:tr h="240644"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59410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F4A9A14-0E29-105E-1961-D0EA6A9C3D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6809183"/>
              </p:ext>
            </p:extLst>
          </p:nvPr>
        </p:nvGraphicFramePr>
        <p:xfrm>
          <a:off x="4803266" y="3978810"/>
          <a:ext cx="31813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139">
                  <a:extLst>
                    <a:ext uri="{9D8B030D-6E8A-4147-A177-3AD203B41FA5}">
                      <a16:colId xmlns:a16="http://schemas.microsoft.com/office/drawing/2014/main" val="2129977649"/>
                    </a:ext>
                  </a:extLst>
                </a:gridCol>
              </a:tblGrid>
              <a:tr h="240644">
                <a:tc>
                  <a:txBody>
                    <a:bodyPr/>
                    <a:lstStyle/>
                    <a:p>
                      <a:pPr algn="ctr"/>
                      <a:r>
                        <a:rPr lang="en-NL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623907"/>
                  </a:ext>
                </a:extLst>
              </a:tr>
              <a:tr h="240644"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101951"/>
                  </a:ext>
                </a:extLst>
              </a:tr>
              <a:tr h="240644"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732619"/>
                  </a:ext>
                </a:extLst>
              </a:tr>
              <a:tr h="240644"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594105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8F464BFE-6ABD-A842-3068-559E9BDE4F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6616841"/>
              </p:ext>
            </p:extLst>
          </p:nvPr>
        </p:nvGraphicFramePr>
        <p:xfrm>
          <a:off x="5512493" y="3978810"/>
          <a:ext cx="622836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836">
                  <a:extLst>
                    <a:ext uri="{9D8B030D-6E8A-4147-A177-3AD203B41FA5}">
                      <a16:colId xmlns:a16="http://schemas.microsoft.com/office/drawing/2014/main" val="2129977649"/>
                    </a:ext>
                  </a:extLst>
                </a:gridCol>
              </a:tblGrid>
              <a:tr h="240644">
                <a:tc>
                  <a:txBody>
                    <a:bodyPr/>
                    <a:lstStyle/>
                    <a:p>
                      <a:pPr algn="ctr"/>
                      <a:r>
                        <a:rPr lang="en-NL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623907"/>
                  </a:ext>
                </a:extLst>
              </a:tr>
              <a:tr h="240644"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0.98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101951"/>
                  </a:ext>
                </a:extLst>
              </a:tr>
              <a:tr h="240644"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732619"/>
                  </a:ext>
                </a:extLst>
              </a:tr>
              <a:tr h="240644"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594105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EDB6D2CF-F698-EFAB-D46C-C0C569053A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430602"/>
              </p:ext>
            </p:extLst>
          </p:nvPr>
        </p:nvGraphicFramePr>
        <p:xfrm>
          <a:off x="4729574" y="5382448"/>
          <a:ext cx="55034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349">
                  <a:extLst>
                    <a:ext uri="{9D8B030D-6E8A-4147-A177-3AD203B41FA5}">
                      <a16:colId xmlns:a16="http://schemas.microsoft.com/office/drawing/2014/main" val="2129977649"/>
                    </a:ext>
                  </a:extLst>
                </a:gridCol>
              </a:tblGrid>
              <a:tr h="240644">
                <a:tc>
                  <a:txBody>
                    <a:bodyPr/>
                    <a:lstStyle/>
                    <a:p>
                      <a:pPr algn="ctr"/>
                      <a:r>
                        <a:rPr lang="en-NL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623907"/>
                  </a:ext>
                </a:extLst>
              </a:tr>
              <a:tr h="240644"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0.98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101951"/>
                  </a:ext>
                </a:extLst>
              </a:tr>
              <a:tr h="240644"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732619"/>
                  </a:ext>
                </a:extLst>
              </a:tr>
              <a:tr h="240644"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594105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CE722D04-AA81-A1D1-651A-F0A9761863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4791070"/>
              </p:ext>
            </p:extLst>
          </p:nvPr>
        </p:nvGraphicFramePr>
        <p:xfrm>
          <a:off x="5709587" y="5373760"/>
          <a:ext cx="730542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542">
                  <a:extLst>
                    <a:ext uri="{9D8B030D-6E8A-4147-A177-3AD203B41FA5}">
                      <a16:colId xmlns:a16="http://schemas.microsoft.com/office/drawing/2014/main" val="2129977649"/>
                    </a:ext>
                  </a:extLst>
                </a:gridCol>
              </a:tblGrid>
              <a:tr h="240644">
                <a:tc>
                  <a:txBody>
                    <a:bodyPr/>
                    <a:lstStyle/>
                    <a:p>
                      <a:pPr algn="ctr"/>
                      <a:r>
                        <a:rPr lang="en-NL" sz="1200" b="0" dirty="0">
                          <a:solidFill>
                            <a:schemeClr val="tx1"/>
                          </a:solidFill>
                        </a:rPr>
                        <a:t>0.98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623907"/>
                  </a:ext>
                </a:extLst>
              </a:tr>
              <a:tr h="240644"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0.9898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101951"/>
                  </a:ext>
                </a:extLst>
              </a:tr>
              <a:tr h="240644"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732619"/>
                  </a:ext>
                </a:extLst>
              </a:tr>
              <a:tr h="240644"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5941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74149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3AED7-D6B7-533C-52B1-B76777148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sz="3200" dirty="0"/>
              <a:t>So, does the property hold?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53B64-995A-006F-0CA4-2BD20132497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00035" y="3323303"/>
            <a:ext cx="8358245" cy="3106676"/>
          </a:xfrm>
        </p:spPr>
        <p:txBody>
          <a:bodyPr/>
          <a:lstStyle/>
          <a:p>
            <a:pPr marL="387350" indent="-342900"/>
            <a:r>
              <a:rPr lang="en-NL" sz="2000" dirty="0"/>
              <a:t>We have calculated  </a:t>
            </a:r>
            <a:r>
              <a:rPr lang="en-NL" sz="2000" u="sng" dirty="0"/>
              <a:t>Prob</a:t>
            </a:r>
            <a:r>
              <a:rPr lang="en-NL" sz="2000" dirty="0"/>
              <a:t>[ try ∨ ¬fail  </a:t>
            </a:r>
            <a:r>
              <a:rPr lang="en-NL" sz="2000" b="1" dirty="0"/>
              <a:t>U</a:t>
            </a:r>
            <a:r>
              <a:rPr lang="en-NL" sz="2000" baseline="30000" dirty="0"/>
              <a:t>≤2</a:t>
            </a:r>
            <a:r>
              <a:rPr lang="en-NL" sz="2000" dirty="0"/>
              <a:t>  succ] = [0.98, 0.9898, 0, 1]</a:t>
            </a:r>
          </a:p>
          <a:p>
            <a:pPr marL="387350" indent="-342900"/>
            <a:r>
              <a:rPr lang="en-NL" sz="2000" dirty="0"/>
              <a:t>So, the set </a:t>
            </a:r>
            <a:r>
              <a:rPr lang="en-NL" sz="2000" dirty="0">
                <a:highlight>
                  <a:srgbClr val="00FFFF"/>
                </a:highlight>
              </a:rPr>
              <a:t>Sat</a:t>
            </a:r>
            <a:r>
              <a:rPr lang="en-NL" sz="2000" dirty="0"/>
              <a:t>(P</a:t>
            </a:r>
            <a:r>
              <a:rPr lang="en-NL" sz="2000" baseline="-25000" dirty="0"/>
              <a:t>&gt;0.99</a:t>
            </a:r>
            <a:r>
              <a:rPr lang="en-NL" sz="2000" dirty="0"/>
              <a:t>[ try ∨ ¬fail  </a:t>
            </a:r>
            <a:r>
              <a:rPr lang="en-NL" sz="2000" b="1" dirty="0"/>
              <a:t>U</a:t>
            </a:r>
            <a:r>
              <a:rPr lang="en-NL" sz="2000" baseline="30000" dirty="0"/>
              <a:t>≤2</a:t>
            </a:r>
            <a:r>
              <a:rPr lang="en-NL" sz="2000" dirty="0"/>
              <a:t>  succ]) =  {s</a:t>
            </a:r>
            <a:r>
              <a:rPr lang="en-NL" sz="2000" baseline="-25000" dirty="0"/>
              <a:t>3</a:t>
            </a:r>
            <a:r>
              <a:rPr lang="en-NL" sz="2000" dirty="0"/>
              <a:t>}</a:t>
            </a:r>
          </a:p>
          <a:p>
            <a:pPr marL="387350" indent="-342900"/>
            <a:r>
              <a:rPr lang="en-NL" sz="2000" dirty="0"/>
              <a:t>So we conclude that the DTMC does </a:t>
            </a:r>
            <a:r>
              <a:rPr lang="en-NL" sz="2000" b="1" dirty="0">
                <a:highlight>
                  <a:srgbClr val="FFFF00"/>
                </a:highlight>
              </a:rPr>
              <a:t>not</a:t>
            </a:r>
            <a:r>
              <a:rPr lang="en-NL" sz="2000" dirty="0"/>
              <a:t> satisfy the claimed property P</a:t>
            </a:r>
            <a:r>
              <a:rPr lang="en-NL" sz="2000" baseline="-25000" dirty="0"/>
              <a:t>&gt;0.99</a:t>
            </a:r>
            <a:r>
              <a:rPr lang="en-NL" sz="2000" dirty="0"/>
              <a:t>[ try ∨ ¬fail  </a:t>
            </a:r>
            <a:r>
              <a:rPr lang="en-NL" sz="2000" b="1" dirty="0"/>
              <a:t>U</a:t>
            </a:r>
            <a:r>
              <a:rPr lang="en-NL" sz="2000" baseline="30000" dirty="0"/>
              <a:t>≤2</a:t>
            </a:r>
            <a:r>
              <a:rPr lang="en-NL" sz="2000" dirty="0"/>
              <a:t>  succ].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B0AC1F-4BBC-703A-AAB7-D5518B4E3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1" y="5972779"/>
            <a:ext cx="457200" cy="457200"/>
          </a:xfrm>
        </p:spPr>
        <p:txBody>
          <a:bodyPr/>
          <a:lstStyle/>
          <a:p>
            <a:pPr>
              <a:defRPr/>
            </a:pPr>
            <a:fld id="{FED021F5-617A-4386-B224-EDC4A8F1A934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pic>
        <p:nvPicPr>
          <p:cNvPr id="5" name="Picture 4" descr="A diagram of a diagram&#10;&#10;Description automatically generated">
            <a:extLst>
              <a:ext uri="{FF2B5EF4-FFF2-40B4-BE49-F238E27FC236}">
                <a16:creationId xmlns:a16="http://schemas.microsoft.com/office/drawing/2014/main" id="{8795429A-0C20-A682-02CE-B0197D2EE3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056" y="1044324"/>
            <a:ext cx="2859368" cy="1850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3515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6AB54-F283-B781-5869-6CB2AC42C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Buchi vs Rabin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F928A-990C-7E82-7FB9-E7A9356C08D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00034" y="1363662"/>
            <a:ext cx="8358246" cy="4572000"/>
          </a:xfrm>
        </p:spPr>
        <p:txBody>
          <a:bodyPr/>
          <a:lstStyle/>
          <a:p>
            <a:r>
              <a:rPr lang="en-NL" sz="2000" dirty="0"/>
              <a:t>Consider the LTL property </a:t>
            </a:r>
            <a:r>
              <a:rPr lang="en-NL" sz="2000" dirty="0">
                <a:highlight>
                  <a:srgbClr val="FFFF00"/>
                </a:highlight>
              </a:rPr>
              <a:t>♢◻︎a</a:t>
            </a:r>
            <a:r>
              <a:rPr lang="en-NL" sz="2000" dirty="0"/>
              <a:t>. This can be described by this Buchi automaton, wirth {1} as the accepting state:</a:t>
            </a:r>
            <a:br>
              <a:rPr lang="en-NL" sz="2000" dirty="0"/>
            </a:br>
            <a:br>
              <a:rPr lang="en-NL" sz="2000" dirty="0"/>
            </a:br>
            <a:br>
              <a:rPr lang="en-NL" sz="2000" dirty="0"/>
            </a:br>
            <a:br>
              <a:rPr lang="en-NL" sz="2000" dirty="0"/>
            </a:br>
            <a:r>
              <a:rPr lang="en-NL" sz="2000" dirty="0"/>
              <a:t>Notice that this Buchi is </a:t>
            </a:r>
            <a:r>
              <a:rPr lang="en-NL" sz="2000" dirty="0">
                <a:highlight>
                  <a:srgbClr val="FFCC00"/>
                </a:highlight>
              </a:rPr>
              <a:t>non-deterministic</a:t>
            </a:r>
            <a:r>
              <a:rPr lang="en-NL" sz="2000" dirty="0"/>
              <a:t>. As such, we can use it for model checking on a probabilistic model such as DTMC.</a:t>
            </a:r>
          </a:p>
          <a:p>
            <a:endParaRPr lang="en-NL" sz="2000" dirty="0"/>
          </a:p>
          <a:p>
            <a:r>
              <a:rPr lang="en-NL" sz="2000" dirty="0"/>
              <a:t>We can however represent the property with a </a:t>
            </a:r>
            <a:r>
              <a:rPr lang="en-NL" sz="2000" dirty="0">
                <a:highlight>
                  <a:srgbClr val="FFFF00"/>
                </a:highlight>
              </a:rPr>
              <a:t>deterministic</a:t>
            </a:r>
            <a:r>
              <a:rPr lang="en-NL" sz="2000" dirty="0"/>
              <a:t> Rabin automaton, with the pair ({0}, {1}) as its accepting condition.</a:t>
            </a:r>
          </a:p>
          <a:p>
            <a:endParaRPr lang="en-NL" sz="2000" dirty="0"/>
          </a:p>
          <a:p>
            <a:endParaRPr lang="en-NL" sz="2000" dirty="0"/>
          </a:p>
          <a:p>
            <a:endParaRPr lang="en-NL" sz="2000" dirty="0"/>
          </a:p>
          <a:p>
            <a:r>
              <a:rPr lang="en-NL" sz="2000" dirty="0"/>
              <a:t>Note that every determistic Buchi automaton is also a Rabin automaton.</a:t>
            </a:r>
          </a:p>
          <a:p>
            <a:endParaRPr lang="en-NL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3DB7C0-7DA8-1352-1B38-C7CCEB8A1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0" y="6126162"/>
            <a:ext cx="457200" cy="457200"/>
          </a:xfrm>
        </p:spPr>
        <p:txBody>
          <a:bodyPr/>
          <a:lstStyle/>
          <a:p>
            <a:pPr>
              <a:defRPr/>
            </a:pPr>
            <a:fld id="{FED021F5-617A-4386-B224-EDC4A8F1A934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EDF720E-5218-F182-D4B1-3173C9AB3240}"/>
              </a:ext>
            </a:extLst>
          </p:cNvPr>
          <p:cNvSpPr/>
          <p:nvPr/>
        </p:nvSpPr>
        <p:spPr>
          <a:xfrm>
            <a:off x="3948474" y="2329453"/>
            <a:ext cx="329611" cy="308345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80F80B5-B6D9-D027-C2EE-90FBBDFF3853}"/>
              </a:ext>
            </a:extLst>
          </p:cNvPr>
          <p:cNvSpPr/>
          <p:nvPr/>
        </p:nvSpPr>
        <p:spPr>
          <a:xfrm>
            <a:off x="4869712" y="2329453"/>
            <a:ext cx="329611" cy="308345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50800" cmpd="dbl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8" name="Curved Connector 7">
            <a:extLst>
              <a:ext uri="{FF2B5EF4-FFF2-40B4-BE49-F238E27FC236}">
                <a16:creationId xmlns:a16="http://schemas.microsoft.com/office/drawing/2014/main" id="{02BB2AD1-F76B-4122-F855-9E2A8D5AFC8C}"/>
              </a:ext>
            </a:extLst>
          </p:cNvPr>
          <p:cNvCxnSpPr>
            <a:stCxn id="5" idx="4"/>
            <a:endCxn id="5" idx="2"/>
          </p:cNvCxnSpPr>
          <p:nvPr/>
        </p:nvCxnSpPr>
        <p:spPr>
          <a:xfrm rot="5400000" flipH="1">
            <a:off x="3953791" y="2478309"/>
            <a:ext cx="154172" cy="164806"/>
          </a:xfrm>
          <a:prstGeom prst="curvedConnector4">
            <a:avLst>
              <a:gd name="adj1" fmla="val -148276"/>
              <a:gd name="adj2" fmla="val 23870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A36240B-78E4-8F99-F83C-172404429BB2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3845984" y="2256972"/>
            <a:ext cx="150760" cy="1176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C3BD34D-4A2C-4EFB-A59B-1A8A608D46EE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4278085" y="2483626"/>
            <a:ext cx="59162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1592EAAC-EF58-5D86-918F-2F444540AD4C}"/>
              </a:ext>
            </a:extLst>
          </p:cNvPr>
          <p:cNvCxnSpPr>
            <a:cxnSpLocks/>
            <a:stCxn id="6" idx="6"/>
            <a:endCxn id="6" idx="4"/>
          </p:cNvCxnSpPr>
          <p:nvPr/>
        </p:nvCxnSpPr>
        <p:spPr>
          <a:xfrm flipH="1">
            <a:off x="5034518" y="2483626"/>
            <a:ext cx="164805" cy="154172"/>
          </a:xfrm>
          <a:prstGeom prst="curvedConnector4">
            <a:avLst>
              <a:gd name="adj1" fmla="val -138709"/>
              <a:gd name="adj2" fmla="val 24827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33C63B1-009A-63B3-D5A4-1F7A446909F6}"/>
              </a:ext>
            </a:extLst>
          </p:cNvPr>
          <p:cNvSpPr txBox="1"/>
          <p:nvPr/>
        </p:nvSpPr>
        <p:spPr>
          <a:xfrm>
            <a:off x="4380575" y="214478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0291D6-0896-7C16-E7BF-127BA8C4F63E}"/>
              </a:ext>
            </a:extLst>
          </p:cNvPr>
          <p:cNvSpPr txBox="1"/>
          <p:nvPr/>
        </p:nvSpPr>
        <p:spPr>
          <a:xfrm>
            <a:off x="3090700" y="2374609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¬a, 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BEF0FD-7A40-DC53-C154-B9EC7ACDB39F}"/>
              </a:ext>
            </a:extLst>
          </p:cNvPr>
          <p:cNvSpPr txBox="1"/>
          <p:nvPr/>
        </p:nvSpPr>
        <p:spPr>
          <a:xfrm>
            <a:off x="5398505" y="229895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a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B1F7C23-5AB7-3D34-72A1-164157189B6C}"/>
              </a:ext>
            </a:extLst>
          </p:cNvPr>
          <p:cNvSpPr/>
          <p:nvPr/>
        </p:nvSpPr>
        <p:spPr>
          <a:xfrm>
            <a:off x="3804142" y="4968652"/>
            <a:ext cx="329611" cy="308345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7717C9C-95F2-C232-7945-576FCC81BA50}"/>
              </a:ext>
            </a:extLst>
          </p:cNvPr>
          <p:cNvSpPr/>
          <p:nvPr/>
        </p:nvSpPr>
        <p:spPr>
          <a:xfrm>
            <a:off x="4725380" y="4968652"/>
            <a:ext cx="329611" cy="308345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26" name="Curved Connector 25">
            <a:extLst>
              <a:ext uri="{FF2B5EF4-FFF2-40B4-BE49-F238E27FC236}">
                <a16:creationId xmlns:a16="http://schemas.microsoft.com/office/drawing/2014/main" id="{10C8ABAA-2544-91F0-DB80-EAB01E5226BD}"/>
              </a:ext>
            </a:extLst>
          </p:cNvPr>
          <p:cNvCxnSpPr>
            <a:stCxn id="24" idx="4"/>
            <a:endCxn id="24" idx="2"/>
          </p:cNvCxnSpPr>
          <p:nvPr/>
        </p:nvCxnSpPr>
        <p:spPr>
          <a:xfrm rot="5400000" flipH="1">
            <a:off x="3809459" y="5117508"/>
            <a:ext cx="154172" cy="164806"/>
          </a:xfrm>
          <a:prstGeom prst="curvedConnector4">
            <a:avLst>
              <a:gd name="adj1" fmla="val -148276"/>
              <a:gd name="adj2" fmla="val 23870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935062E-7924-D43F-146B-98A058EA1C3D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3701652" y="4896171"/>
            <a:ext cx="150760" cy="1176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8859C17-ED86-6388-12EF-701EC15619F1}"/>
              </a:ext>
            </a:extLst>
          </p:cNvPr>
          <p:cNvCxnSpPr>
            <a:cxnSpLocks/>
            <a:stCxn id="24" idx="6"/>
            <a:endCxn id="25" idx="2"/>
          </p:cNvCxnSpPr>
          <p:nvPr/>
        </p:nvCxnSpPr>
        <p:spPr>
          <a:xfrm>
            <a:off x="4133753" y="5122825"/>
            <a:ext cx="59162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89DB8996-49A0-9E4E-01AF-501446D6463C}"/>
              </a:ext>
            </a:extLst>
          </p:cNvPr>
          <p:cNvCxnSpPr>
            <a:cxnSpLocks/>
            <a:stCxn id="25" idx="6"/>
            <a:endCxn id="25" idx="4"/>
          </p:cNvCxnSpPr>
          <p:nvPr/>
        </p:nvCxnSpPr>
        <p:spPr>
          <a:xfrm flipH="1">
            <a:off x="4890186" y="5122825"/>
            <a:ext cx="164805" cy="154172"/>
          </a:xfrm>
          <a:prstGeom prst="curvedConnector4">
            <a:avLst>
              <a:gd name="adj1" fmla="val -138709"/>
              <a:gd name="adj2" fmla="val 24827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3659172-BA15-5ED9-E0A2-DAD2971E51E8}"/>
              </a:ext>
            </a:extLst>
          </p:cNvPr>
          <p:cNvSpPr txBox="1"/>
          <p:nvPr/>
        </p:nvSpPr>
        <p:spPr>
          <a:xfrm>
            <a:off x="4213292" y="480482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B922BF4-37DD-1E79-8468-F8705069648B}"/>
              </a:ext>
            </a:extLst>
          </p:cNvPr>
          <p:cNvSpPr txBox="1"/>
          <p:nvPr/>
        </p:nvSpPr>
        <p:spPr>
          <a:xfrm>
            <a:off x="3175801" y="5199911"/>
            <a:ext cx="447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dirty="0"/>
              <a:t>¬a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331362C-EE52-4592-16D3-97614DFA6750}"/>
              </a:ext>
            </a:extLst>
          </p:cNvPr>
          <p:cNvSpPr txBox="1"/>
          <p:nvPr/>
        </p:nvSpPr>
        <p:spPr>
          <a:xfrm>
            <a:off x="5254173" y="511714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a</a:t>
            </a:r>
          </a:p>
        </p:txBody>
      </p:sp>
      <p:cxnSp>
        <p:nvCxnSpPr>
          <p:cNvPr id="33" name="Curved Connector 32">
            <a:extLst>
              <a:ext uri="{FF2B5EF4-FFF2-40B4-BE49-F238E27FC236}">
                <a16:creationId xmlns:a16="http://schemas.microsoft.com/office/drawing/2014/main" id="{E17CF0FC-DCF8-DB52-B1F5-59419A9C0DB8}"/>
              </a:ext>
            </a:extLst>
          </p:cNvPr>
          <p:cNvCxnSpPr>
            <a:cxnSpLocks/>
            <a:stCxn id="25" idx="3"/>
            <a:endCxn id="24" idx="5"/>
          </p:cNvCxnSpPr>
          <p:nvPr/>
        </p:nvCxnSpPr>
        <p:spPr>
          <a:xfrm rot="5400000">
            <a:off x="4429567" y="4887758"/>
            <a:ext cx="12700" cy="688167"/>
          </a:xfrm>
          <a:prstGeom prst="curvedConnector3">
            <a:avLst>
              <a:gd name="adj1" fmla="val 215555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627E6D7-FC31-B82A-D9AB-CC9E5A67E2C9}"/>
              </a:ext>
            </a:extLst>
          </p:cNvPr>
          <p:cNvSpPr txBox="1"/>
          <p:nvPr/>
        </p:nvSpPr>
        <p:spPr>
          <a:xfrm>
            <a:off x="4265971" y="5455425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¬a</a:t>
            </a:r>
          </a:p>
        </p:txBody>
      </p:sp>
    </p:spTree>
    <p:extLst>
      <p:ext uri="{BB962C8B-B14F-4D97-AF65-F5344CB8AC3E}">
        <p14:creationId xmlns:p14="http://schemas.microsoft.com/office/powerpoint/2010/main" val="22870325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3C70B-C0A7-7712-5717-B8D571620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B6BF1-A4F9-9E6C-D9EA-1C392D23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D021F5-617A-4386-B224-EDC4A8F1A934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pic>
        <p:nvPicPr>
          <p:cNvPr id="5" name="Picture 4" descr="A diagram of a diagram&#10;&#10;Description automatically generated">
            <a:extLst>
              <a:ext uri="{FF2B5EF4-FFF2-40B4-BE49-F238E27FC236}">
                <a16:creationId xmlns:a16="http://schemas.microsoft.com/office/drawing/2014/main" id="{3A5D20F1-DC5C-87C4-D926-F4ABAEF6D4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686" y="2503910"/>
            <a:ext cx="2859368" cy="18501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3A01D0-A108-2B94-53F7-F35AB6DBABFD}"/>
              </a:ext>
            </a:extLst>
          </p:cNvPr>
          <p:cNvSpPr txBox="1"/>
          <p:nvPr/>
        </p:nvSpPr>
        <p:spPr>
          <a:xfrm>
            <a:off x="374650" y="1556480"/>
            <a:ext cx="81661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dirty="0"/>
              <a:t>Consider the DTMC M below. We want to check if the property P</a:t>
            </a:r>
            <a:r>
              <a:rPr lang="en-NL" baseline="-25000" dirty="0"/>
              <a:t>&gt;0.99</a:t>
            </a:r>
            <a:r>
              <a:rPr lang="en-NL" dirty="0"/>
              <a:t>[𝜑] holds on M, where  LTL 𝜑 = </a:t>
            </a:r>
            <a:r>
              <a:rPr lang="en-NL" b="1" dirty="0"/>
              <a:t>X</a:t>
            </a:r>
            <a:r>
              <a:rPr lang="en-NL" dirty="0"/>
              <a:t>(try </a:t>
            </a:r>
            <a:r>
              <a:rPr lang="en-NL" b="1" dirty="0"/>
              <a:t>W</a:t>
            </a:r>
            <a:r>
              <a:rPr lang="en-NL" dirty="0"/>
              <a:t> succ)</a:t>
            </a:r>
            <a:br>
              <a:rPr lang="en-NL" dirty="0"/>
            </a:br>
            <a:br>
              <a:rPr lang="en-NL" dirty="0"/>
            </a:br>
            <a:endParaRPr lang="en-NL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AAC852E-620E-D89E-5DBA-D02E4826B96E}"/>
              </a:ext>
            </a:extLst>
          </p:cNvPr>
          <p:cNvSpPr txBox="1"/>
          <p:nvPr/>
        </p:nvSpPr>
        <p:spPr>
          <a:xfrm>
            <a:off x="4234090" y="4839855"/>
            <a:ext cx="46241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dirty="0"/>
              <a:t>As a Buchi, it is also a Rabin, with accepting condition: { (L,K) } with L=∅ and K={v,w}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C654C37-8A48-F220-CFD7-BE0D7F3CA937}"/>
              </a:ext>
            </a:extLst>
          </p:cNvPr>
          <p:cNvSpPr txBox="1"/>
          <p:nvPr/>
        </p:nvSpPr>
        <p:spPr>
          <a:xfrm>
            <a:off x="382089" y="331451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M: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1A30A5-ACBB-7BFB-BAEC-E6DA3DB13955}"/>
              </a:ext>
            </a:extLst>
          </p:cNvPr>
          <p:cNvSpPr txBox="1"/>
          <p:nvPr/>
        </p:nvSpPr>
        <p:spPr>
          <a:xfrm>
            <a:off x="4234090" y="2524609"/>
            <a:ext cx="45278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dirty="0"/>
              <a:t>First, we construct a deterministic Rabin automaton that equivalently describes 𝜑. </a:t>
            </a:r>
          </a:p>
          <a:p>
            <a:r>
              <a:rPr lang="en-NL" dirty="0"/>
              <a:t>I give a deterministic Buchi: 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818E8560-E702-9CF0-957A-7B66B592FCB9}"/>
              </a:ext>
            </a:extLst>
          </p:cNvPr>
          <p:cNvSpPr/>
          <p:nvPr/>
        </p:nvSpPr>
        <p:spPr>
          <a:xfrm>
            <a:off x="4990962" y="3838371"/>
            <a:ext cx="355600" cy="338666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dirty="0">
                <a:solidFill>
                  <a:schemeClr val="tx1"/>
                </a:solidFill>
              </a:rPr>
              <a:t>u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DCF9C6F1-756F-B9B2-944A-D0035F1000A7}"/>
              </a:ext>
            </a:extLst>
          </p:cNvPr>
          <p:cNvSpPr/>
          <p:nvPr/>
        </p:nvSpPr>
        <p:spPr>
          <a:xfrm>
            <a:off x="5937298" y="3838371"/>
            <a:ext cx="355600" cy="338666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34925" cmpd="dbl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dirty="0">
                <a:solidFill>
                  <a:schemeClr val="tx1"/>
                </a:solidFill>
              </a:rPr>
              <a:t>v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58CB8BC1-3E36-B23B-6436-A2044C581FA7}"/>
              </a:ext>
            </a:extLst>
          </p:cNvPr>
          <p:cNvSpPr/>
          <p:nvPr/>
        </p:nvSpPr>
        <p:spPr>
          <a:xfrm>
            <a:off x="7215944" y="3840865"/>
            <a:ext cx="355600" cy="338666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34925" cmpd="dbl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dirty="0">
                <a:solidFill>
                  <a:schemeClr val="tx1"/>
                </a:solidFill>
              </a:rPr>
              <a:t>w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1B6AF6DE-BC66-CEDD-1E35-BDF9DC841CD5}"/>
              </a:ext>
            </a:extLst>
          </p:cNvPr>
          <p:cNvCxnSpPr>
            <a:cxnSpLocks/>
            <a:stCxn id="72" idx="6"/>
            <a:endCxn id="73" idx="2"/>
          </p:cNvCxnSpPr>
          <p:nvPr/>
        </p:nvCxnSpPr>
        <p:spPr>
          <a:xfrm>
            <a:off x="5346562" y="4007704"/>
            <a:ext cx="59073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AC00D733-06F6-92E0-A61A-7568A1F26DDE}"/>
              </a:ext>
            </a:extLst>
          </p:cNvPr>
          <p:cNvCxnSpPr>
            <a:cxnSpLocks/>
            <a:stCxn id="73" idx="6"/>
            <a:endCxn id="74" idx="2"/>
          </p:cNvCxnSpPr>
          <p:nvPr/>
        </p:nvCxnSpPr>
        <p:spPr>
          <a:xfrm>
            <a:off x="6292898" y="4007704"/>
            <a:ext cx="923046" cy="249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urved Connector 76">
            <a:extLst>
              <a:ext uri="{FF2B5EF4-FFF2-40B4-BE49-F238E27FC236}">
                <a16:creationId xmlns:a16="http://schemas.microsoft.com/office/drawing/2014/main" id="{E65773B0-FE64-89A9-68B3-C1125735A895}"/>
              </a:ext>
            </a:extLst>
          </p:cNvPr>
          <p:cNvCxnSpPr>
            <a:cxnSpLocks/>
            <a:stCxn id="73" idx="5"/>
            <a:endCxn id="73" idx="3"/>
          </p:cNvCxnSpPr>
          <p:nvPr/>
        </p:nvCxnSpPr>
        <p:spPr>
          <a:xfrm rot="5400000">
            <a:off x="6115098" y="4001717"/>
            <a:ext cx="12700" cy="251448"/>
          </a:xfrm>
          <a:prstGeom prst="curvedConnector3">
            <a:avLst>
              <a:gd name="adj1" fmla="val 219052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urved Connector 77">
            <a:extLst>
              <a:ext uri="{FF2B5EF4-FFF2-40B4-BE49-F238E27FC236}">
                <a16:creationId xmlns:a16="http://schemas.microsoft.com/office/drawing/2014/main" id="{577E1E81-6086-18B3-61B7-735F24B27081}"/>
              </a:ext>
            </a:extLst>
          </p:cNvPr>
          <p:cNvCxnSpPr>
            <a:cxnSpLocks/>
            <a:stCxn id="74" idx="5"/>
            <a:endCxn id="74" idx="7"/>
          </p:cNvCxnSpPr>
          <p:nvPr/>
        </p:nvCxnSpPr>
        <p:spPr>
          <a:xfrm rot="5400000" flipH="1">
            <a:off x="7399731" y="4010198"/>
            <a:ext cx="239474" cy="12700"/>
          </a:xfrm>
          <a:prstGeom prst="curvedConnector5">
            <a:avLst>
              <a:gd name="adj1" fmla="val -28284"/>
              <a:gd name="adj2" fmla="val -2723283"/>
              <a:gd name="adj3" fmla="val 15303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0A62EE46-DCE2-27AB-F57D-DA81275B76E2}"/>
              </a:ext>
            </a:extLst>
          </p:cNvPr>
          <p:cNvCxnSpPr>
            <a:cxnSpLocks/>
          </p:cNvCxnSpPr>
          <p:nvPr/>
        </p:nvCxnSpPr>
        <p:spPr>
          <a:xfrm>
            <a:off x="4781942" y="4018064"/>
            <a:ext cx="18772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31FF1885-708B-091E-AECB-EFB94E6CBEA8}"/>
              </a:ext>
            </a:extLst>
          </p:cNvPr>
          <p:cNvSpPr txBox="1"/>
          <p:nvPr/>
        </p:nvSpPr>
        <p:spPr>
          <a:xfrm>
            <a:off x="5427728" y="3746745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*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C07BD6C-F585-8E82-2305-DDF4D2C687C5}"/>
              </a:ext>
            </a:extLst>
          </p:cNvPr>
          <p:cNvSpPr txBox="1"/>
          <p:nvPr/>
        </p:nvSpPr>
        <p:spPr>
          <a:xfrm>
            <a:off x="5427728" y="4403653"/>
            <a:ext cx="14269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1400" dirty="0"/>
              <a:t>try∈ and succ∉ 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F00B19D-9816-DE06-2863-87BADE3C23CD}"/>
              </a:ext>
            </a:extLst>
          </p:cNvPr>
          <p:cNvSpPr txBox="1"/>
          <p:nvPr/>
        </p:nvSpPr>
        <p:spPr>
          <a:xfrm>
            <a:off x="4357070" y="382470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R: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BFF8981-38BD-A690-4DFD-04B78C85C9E1}"/>
              </a:ext>
            </a:extLst>
          </p:cNvPr>
          <p:cNvSpPr txBox="1"/>
          <p:nvPr/>
        </p:nvSpPr>
        <p:spPr>
          <a:xfrm>
            <a:off x="6417956" y="3740835"/>
            <a:ext cx="6655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1400" dirty="0"/>
              <a:t>succ∈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2E6013E-A605-41F6-62E7-C5514176BA2B}"/>
              </a:ext>
            </a:extLst>
          </p:cNvPr>
          <p:cNvSpPr txBox="1"/>
          <p:nvPr/>
        </p:nvSpPr>
        <p:spPr>
          <a:xfrm>
            <a:off x="7861356" y="3876558"/>
            <a:ext cx="2551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1400" dirty="0"/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16924330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3C70B-C0A7-7712-5717-B8D571620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Intersection DTMC and Rabin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B6BF1-A4F9-9E6C-D9EA-1C392D23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834" y="6383532"/>
            <a:ext cx="457200" cy="457200"/>
          </a:xfrm>
        </p:spPr>
        <p:txBody>
          <a:bodyPr/>
          <a:lstStyle/>
          <a:p>
            <a:pPr>
              <a:defRPr/>
            </a:pPr>
            <a:fld id="{FED021F5-617A-4386-B224-EDC4A8F1A934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pic>
        <p:nvPicPr>
          <p:cNvPr id="5" name="Picture 4" descr="A diagram of a diagram&#10;&#10;Description automatically generated">
            <a:extLst>
              <a:ext uri="{FF2B5EF4-FFF2-40B4-BE49-F238E27FC236}">
                <a16:creationId xmlns:a16="http://schemas.microsoft.com/office/drawing/2014/main" id="{3A5D20F1-DC5C-87C4-D926-F4ABAEF6D4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577" y="3023223"/>
            <a:ext cx="2859368" cy="18501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3A01D0-A108-2B94-53F7-F35AB6DBABFD}"/>
              </a:ext>
            </a:extLst>
          </p:cNvPr>
          <p:cNvSpPr txBox="1"/>
          <p:nvPr/>
        </p:nvSpPr>
        <p:spPr>
          <a:xfrm>
            <a:off x="374650" y="1556480"/>
            <a:ext cx="81661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NL" dirty="0"/>
              <a:t>Before we construct the intersection M∩R (or product M⊗R, in Kwiatkowska’s notation), I prefer to first transform M so that we have labels on the arrows, by moving them to incoming arrows. The probabilities of the transitions remain the same, of course.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C654C37-8A48-F220-CFD7-BE0D7F3CA937}"/>
              </a:ext>
            </a:extLst>
          </p:cNvPr>
          <p:cNvSpPr txBox="1"/>
          <p:nvPr/>
        </p:nvSpPr>
        <p:spPr>
          <a:xfrm>
            <a:off x="128980" y="383382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M: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9E4B710-F163-CFC9-BB7D-AC589319308A}"/>
              </a:ext>
            </a:extLst>
          </p:cNvPr>
          <p:cNvSpPr/>
          <p:nvPr/>
        </p:nvSpPr>
        <p:spPr>
          <a:xfrm>
            <a:off x="5626363" y="3815726"/>
            <a:ext cx="508000" cy="369332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1400" dirty="0">
                <a:solidFill>
                  <a:schemeClr val="tx1"/>
                </a:solidFill>
              </a:rPr>
              <a:t>s</a:t>
            </a:r>
            <a:r>
              <a:rPr lang="en-NL" sz="1400" baseline="-25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8F6EBD8-26ED-09FA-15C8-01BF31640CC9}"/>
              </a:ext>
            </a:extLst>
          </p:cNvPr>
          <p:cNvSpPr/>
          <p:nvPr/>
        </p:nvSpPr>
        <p:spPr>
          <a:xfrm>
            <a:off x="6711532" y="3815726"/>
            <a:ext cx="508000" cy="369332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1400" dirty="0">
                <a:solidFill>
                  <a:schemeClr val="tx1"/>
                </a:solidFill>
              </a:rPr>
              <a:t>s</a:t>
            </a:r>
            <a:r>
              <a:rPr lang="en-NL" sz="1400" baseline="-25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99065D1-B8FA-DF63-1F7B-D881D0BFB15B}"/>
              </a:ext>
            </a:extLst>
          </p:cNvPr>
          <p:cNvSpPr/>
          <p:nvPr/>
        </p:nvSpPr>
        <p:spPr>
          <a:xfrm>
            <a:off x="7728120" y="4495603"/>
            <a:ext cx="508000" cy="369332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1400" dirty="0">
                <a:solidFill>
                  <a:schemeClr val="tx1"/>
                </a:solidFill>
              </a:rPr>
              <a:t>s</a:t>
            </a:r>
            <a:r>
              <a:rPr lang="en-NL" sz="1400" baseline="-25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B150C8D-5600-045A-E628-86F7C54BD658}"/>
              </a:ext>
            </a:extLst>
          </p:cNvPr>
          <p:cNvSpPr/>
          <p:nvPr/>
        </p:nvSpPr>
        <p:spPr>
          <a:xfrm>
            <a:off x="7463629" y="3155302"/>
            <a:ext cx="508000" cy="369332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1400" dirty="0">
                <a:solidFill>
                  <a:schemeClr val="tx1"/>
                </a:solidFill>
              </a:rPr>
              <a:t>s</a:t>
            </a:r>
            <a:r>
              <a:rPr lang="en-NL" sz="1400" baseline="-25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F4B95BE-E372-E8B5-4736-7AC4B5C8680D}"/>
              </a:ext>
            </a:extLst>
          </p:cNvPr>
          <p:cNvSpPr/>
          <p:nvPr/>
        </p:nvSpPr>
        <p:spPr>
          <a:xfrm>
            <a:off x="4789251" y="3815726"/>
            <a:ext cx="508000" cy="369332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1400" dirty="0">
                <a:solidFill>
                  <a:schemeClr val="tx1"/>
                </a:solidFill>
              </a:rPr>
              <a:t>z</a:t>
            </a:r>
            <a:endParaRPr lang="en-NL" sz="1400" baseline="-25000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E596A34-97B8-0867-9BAD-D49756EEC2CE}"/>
              </a:ext>
            </a:extLst>
          </p:cNvPr>
          <p:cNvCxnSpPr>
            <a:cxnSpLocks/>
            <a:stCxn id="3" idx="6"/>
            <a:endCxn id="6" idx="2"/>
          </p:cNvCxnSpPr>
          <p:nvPr/>
        </p:nvCxnSpPr>
        <p:spPr>
          <a:xfrm>
            <a:off x="6134363" y="4000392"/>
            <a:ext cx="57716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1202243-91C9-8986-37E6-74D96E232168}"/>
              </a:ext>
            </a:extLst>
          </p:cNvPr>
          <p:cNvCxnSpPr>
            <a:cxnSpLocks/>
            <a:stCxn id="6" idx="5"/>
            <a:endCxn id="11" idx="1"/>
          </p:cNvCxnSpPr>
          <p:nvPr/>
        </p:nvCxnSpPr>
        <p:spPr>
          <a:xfrm>
            <a:off x="7145137" y="4130971"/>
            <a:ext cx="657378" cy="41871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84F82F8-8701-4B37-FCDA-9CAD523EC2D2}"/>
              </a:ext>
            </a:extLst>
          </p:cNvPr>
          <p:cNvCxnSpPr>
            <a:cxnSpLocks/>
            <a:stCxn id="6" idx="7"/>
            <a:endCxn id="13" idx="3"/>
          </p:cNvCxnSpPr>
          <p:nvPr/>
        </p:nvCxnSpPr>
        <p:spPr>
          <a:xfrm flipV="1">
            <a:off x="7145137" y="3470547"/>
            <a:ext cx="392887" cy="39926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urved Connector 29">
            <a:extLst>
              <a:ext uri="{FF2B5EF4-FFF2-40B4-BE49-F238E27FC236}">
                <a16:creationId xmlns:a16="http://schemas.microsoft.com/office/drawing/2014/main" id="{3D801B23-A5CB-B773-A615-F64AFAC0EDE4}"/>
              </a:ext>
            </a:extLst>
          </p:cNvPr>
          <p:cNvCxnSpPr>
            <a:cxnSpLocks/>
            <a:stCxn id="11" idx="7"/>
            <a:endCxn id="11" idx="5"/>
          </p:cNvCxnSpPr>
          <p:nvPr/>
        </p:nvCxnSpPr>
        <p:spPr>
          <a:xfrm rot="16200000" flipH="1">
            <a:off x="8031146" y="4680269"/>
            <a:ext cx="261158" cy="12700"/>
          </a:xfrm>
          <a:prstGeom prst="curvedConnector5">
            <a:avLst>
              <a:gd name="adj1" fmla="val -22694"/>
              <a:gd name="adj2" fmla="val 1947551"/>
              <a:gd name="adj3" fmla="val 12917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urved Connector 45">
            <a:extLst>
              <a:ext uri="{FF2B5EF4-FFF2-40B4-BE49-F238E27FC236}">
                <a16:creationId xmlns:a16="http://schemas.microsoft.com/office/drawing/2014/main" id="{C705EE0E-13B5-0A4C-0CA1-9F729238BFCB}"/>
              </a:ext>
            </a:extLst>
          </p:cNvPr>
          <p:cNvCxnSpPr>
            <a:cxnSpLocks/>
            <a:stCxn id="6" idx="5"/>
            <a:endCxn id="6" idx="3"/>
          </p:cNvCxnSpPr>
          <p:nvPr/>
        </p:nvCxnSpPr>
        <p:spPr>
          <a:xfrm rot="5400000">
            <a:off x="6965532" y="3951366"/>
            <a:ext cx="12700" cy="359210"/>
          </a:xfrm>
          <a:prstGeom prst="curvedConnector3">
            <a:avLst>
              <a:gd name="adj1" fmla="val 222588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urved Connector 48">
            <a:extLst>
              <a:ext uri="{FF2B5EF4-FFF2-40B4-BE49-F238E27FC236}">
                <a16:creationId xmlns:a16="http://schemas.microsoft.com/office/drawing/2014/main" id="{2FF401D4-A674-453C-C7D2-0F2461324111}"/>
              </a:ext>
            </a:extLst>
          </p:cNvPr>
          <p:cNvCxnSpPr>
            <a:cxnSpLocks/>
            <a:stCxn id="13" idx="2"/>
            <a:endCxn id="3" idx="7"/>
          </p:cNvCxnSpPr>
          <p:nvPr/>
        </p:nvCxnSpPr>
        <p:spPr>
          <a:xfrm rot="10800000" flipV="1">
            <a:off x="6059969" y="3339967"/>
            <a:ext cx="1403661" cy="529845"/>
          </a:xfrm>
          <a:prstGeom prst="curved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F93EF2F-3222-B218-6912-696BF23292AA}"/>
              </a:ext>
            </a:extLst>
          </p:cNvPr>
          <p:cNvCxnSpPr>
            <a:cxnSpLocks/>
            <a:stCxn id="15" idx="6"/>
            <a:endCxn id="3" idx="2"/>
          </p:cNvCxnSpPr>
          <p:nvPr/>
        </p:nvCxnSpPr>
        <p:spPr>
          <a:xfrm>
            <a:off x="5297251" y="4000392"/>
            <a:ext cx="32911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C4B2B50-73A1-B690-7F61-8BD435DD4C9C}"/>
              </a:ext>
            </a:extLst>
          </p:cNvPr>
          <p:cNvCxnSpPr>
            <a:cxnSpLocks/>
          </p:cNvCxnSpPr>
          <p:nvPr/>
        </p:nvCxnSpPr>
        <p:spPr>
          <a:xfrm>
            <a:off x="4576496" y="4000392"/>
            <a:ext cx="21275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38A1D511-0F78-E963-789D-95AD0EDC4758}"/>
              </a:ext>
            </a:extLst>
          </p:cNvPr>
          <p:cNvSpPr txBox="1"/>
          <p:nvPr/>
        </p:nvSpPr>
        <p:spPr>
          <a:xfrm>
            <a:off x="4404548" y="4236266"/>
            <a:ext cx="13716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L" sz="1000" dirty="0"/>
              <a:t>adding a fake initial state z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8C61734-6C5F-0716-287A-2AD054444357}"/>
              </a:ext>
            </a:extLst>
          </p:cNvPr>
          <p:cNvSpPr txBox="1"/>
          <p:nvPr/>
        </p:nvSpPr>
        <p:spPr>
          <a:xfrm>
            <a:off x="6141127" y="3947972"/>
            <a:ext cx="5517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1400" dirty="0"/>
              <a:t>{try}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2615BAA-41AF-DD95-E2D7-75D8FA6DFF4B}"/>
              </a:ext>
            </a:extLst>
          </p:cNvPr>
          <p:cNvSpPr txBox="1"/>
          <p:nvPr/>
        </p:nvSpPr>
        <p:spPr>
          <a:xfrm>
            <a:off x="7403632" y="4047136"/>
            <a:ext cx="1069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1400" dirty="0"/>
              <a:t>0.98 {succ}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377AD07-ACE9-A564-5E59-003476BF1093}"/>
              </a:ext>
            </a:extLst>
          </p:cNvPr>
          <p:cNvSpPr txBox="1"/>
          <p:nvPr/>
        </p:nvSpPr>
        <p:spPr>
          <a:xfrm>
            <a:off x="6415181" y="4400188"/>
            <a:ext cx="9492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1400" dirty="0"/>
              <a:t>0.01 {try}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36046D2-DBE9-E428-4B82-D98201F335C6}"/>
              </a:ext>
            </a:extLst>
          </p:cNvPr>
          <p:cNvSpPr txBox="1"/>
          <p:nvPr/>
        </p:nvSpPr>
        <p:spPr>
          <a:xfrm>
            <a:off x="8327385" y="4491784"/>
            <a:ext cx="6719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1400" dirty="0"/>
              <a:t>{succ}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4F6885B-79A5-6C17-693A-1781C95816E8}"/>
              </a:ext>
            </a:extLst>
          </p:cNvPr>
          <p:cNvSpPr txBox="1"/>
          <p:nvPr/>
        </p:nvSpPr>
        <p:spPr>
          <a:xfrm>
            <a:off x="7255900" y="3604953"/>
            <a:ext cx="9300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1400" dirty="0"/>
              <a:t>0.01 {fail}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D19F096-F7EC-15C3-DAF8-7043EBA9E658}"/>
              </a:ext>
            </a:extLst>
          </p:cNvPr>
          <p:cNvSpPr txBox="1"/>
          <p:nvPr/>
        </p:nvSpPr>
        <p:spPr>
          <a:xfrm>
            <a:off x="6336060" y="3206745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∅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D267DB7-F892-B4B9-CA54-842E6AE43D2A}"/>
              </a:ext>
            </a:extLst>
          </p:cNvPr>
          <p:cNvSpPr txBox="1"/>
          <p:nvPr/>
        </p:nvSpPr>
        <p:spPr>
          <a:xfrm>
            <a:off x="5253415" y="3694410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∅</a:t>
            </a:r>
          </a:p>
        </p:txBody>
      </p:sp>
      <p:sp>
        <p:nvSpPr>
          <p:cNvPr id="75" name="Right Arrow 74">
            <a:extLst>
              <a:ext uri="{FF2B5EF4-FFF2-40B4-BE49-F238E27FC236}">
                <a16:creationId xmlns:a16="http://schemas.microsoft.com/office/drawing/2014/main" id="{ADCB45D6-C093-9D00-BCB7-7FF01ABB089F}"/>
              </a:ext>
            </a:extLst>
          </p:cNvPr>
          <p:cNvSpPr/>
          <p:nvPr/>
        </p:nvSpPr>
        <p:spPr>
          <a:xfrm>
            <a:off x="3588847" y="3758841"/>
            <a:ext cx="778934" cy="4774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305078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3C70B-C0A7-7712-5717-B8D571620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Intersection DTMC and Rabin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B6BF1-A4F9-9E6C-D9EA-1C392D23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834" y="6383532"/>
            <a:ext cx="457200" cy="457200"/>
          </a:xfrm>
        </p:spPr>
        <p:txBody>
          <a:bodyPr/>
          <a:lstStyle/>
          <a:p>
            <a:pPr>
              <a:defRPr/>
            </a:pPr>
            <a:fld id="{FED021F5-617A-4386-B224-EDC4A8F1A934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3A01D0-A108-2B94-53F7-F35AB6DBABFD}"/>
              </a:ext>
            </a:extLst>
          </p:cNvPr>
          <p:cNvSpPr txBox="1"/>
          <p:nvPr/>
        </p:nvSpPr>
        <p:spPr>
          <a:xfrm>
            <a:off x="261399" y="1453776"/>
            <a:ext cx="86920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NL" dirty="0"/>
              <a:t>Now we can construct the intersection. This is done as we did with standard LTL, with as addition that probabilities are kept as in M: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C654C37-8A48-F220-CFD7-BE0D7F3CA937}"/>
              </a:ext>
            </a:extLst>
          </p:cNvPr>
          <p:cNvSpPr txBox="1"/>
          <p:nvPr/>
        </p:nvSpPr>
        <p:spPr>
          <a:xfrm>
            <a:off x="171379" y="273668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M: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9E4B710-F163-CFC9-BB7D-AC589319308A}"/>
              </a:ext>
            </a:extLst>
          </p:cNvPr>
          <p:cNvSpPr/>
          <p:nvPr/>
        </p:nvSpPr>
        <p:spPr>
          <a:xfrm>
            <a:off x="1748630" y="2736681"/>
            <a:ext cx="508000" cy="369332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1400" dirty="0">
                <a:solidFill>
                  <a:schemeClr val="tx1"/>
                </a:solidFill>
              </a:rPr>
              <a:t>s</a:t>
            </a:r>
            <a:r>
              <a:rPr lang="en-NL" sz="1400" baseline="-25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8F6EBD8-26ED-09FA-15C8-01BF31640CC9}"/>
              </a:ext>
            </a:extLst>
          </p:cNvPr>
          <p:cNvSpPr/>
          <p:nvPr/>
        </p:nvSpPr>
        <p:spPr>
          <a:xfrm>
            <a:off x="2833799" y="2736681"/>
            <a:ext cx="508000" cy="369332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1400" dirty="0">
                <a:solidFill>
                  <a:schemeClr val="tx1"/>
                </a:solidFill>
              </a:rPr>
              <a:t>s</a:t>
            </a:r>
            <a:r>
              <a:rPr lang="en-NL" sz="1400" baseline="-25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99065D1-B8FA-DF63-1F7B-D881D0BFB15B}"/>
              </a:ext>
            </a:extLst>
          </p:cNvPr>
          <p:cNvSpPr/>
          <p:nvPr/>
        </p:nvSpPr>
        <p:spPr>
          <a:xfrm>
            <a:off x="3850387" y="3416558"/>
            <a:ext cx="508000" cy="369332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1400" dirty="0">
                <a:solidFill>
                  <a:schemeClr val="tx1"/>
                </a:solidFill>
              </a:rPr>
              <a:t>s</a:t>
            </a:r>
            <a:r>
              <a:rPr lang="en-NL" sz="1400" baseline="-25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B150C8D-5600-045A-E628-86F7C54BD658}"/>
              </a:ext>
            </a:extLst>
          </p:cNvPr>
          <p:cNvSpPr/>
          <p:nvPr/>
        </p:nvSpPr>
        <p:spPr>
          <a:xfrm>
            <a:off x="3585896" y="2076257"/>
            <a:ext cx="508000" cy="369332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1400" dirty="0">
                <a:solidFill>
                  <a:schemeClr val="tx1"/>
                </a:solidFill>
              </a:rPr>
              <a:t>s</a:t>
            </a:r>
            <a:r>
              <a:rPr lang="en-NL" sz="1400" baseline="-25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F4B95BE-E372-E8B5-4736-7AC4B5C8680D}"/>
              </a:ext>
            </a:extLst>
          </p:cNvPr>
          <p:cNvSpPr/>
          <p:nvPr/>
        </p:nvSpPr>
        <p:spPr>
          <a:xfrm>
            <a:off x="911518" y="2736681"/>
            <a:ext cx="508000" cy="369332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1400" dirty="0">
                <a:solidFill>
                  <a:schemeClr val="tx1"/>
                </a:solidFill>
              </a:rPr>
              <a:t>z</a:t>
            </a:r>
            <a:endParaRPr lang="en-NL" sz="1400" baseline="-25000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E596A34-97B8-0867-9BAD-D49756EEC2CE}"/>
              </a:ext>
            </a:extLst>
          </p:cNvPr>
          <p:cNvCxnSpPr>
            <a:cxnSpLocks/>
            <a:stCxn id="3" idx="6"/>
            <a:endCxn id="6" idx="2"/>
          </p:cNvCxnSpPr>
          <p:nvPr/>
        </p:nvCxnSpPr>
        <p:spPr>
          <a:xfrm>
            <a:off x="2256630" y="2921347"/>
            <a:ext cx="57716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1202243-91C9-8986-37E6-74D96E232168}"/>
              </a:ext>
            </a:extLst>
          </p:cNvPr>
          <p:cNvCxnSpPr>
            <a:cxnSpLocks/>
            <a:stCxn id="6" idx="5"/>
            <a:endCxn id="11" idx="1"/>
          </p:cNvCxnSpPr>
          <p:nvPr/>
        </p:nvCxnSpPr>
        <p:spPr>
          <a:xfrm>
            <a:off x="3267404" y="3051926"/>
            <a:ext cx="657378" cy="41871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84F82F8-8701-4B37-FCDA-9CAD523EC2D2}"/>
              </a:ext>
            </a:extLst>
          </p:cNvPr>
          <p:cNvCxnSpPr>
            <a:cxnSpLocks/>
            <a:stCxn id="6" idx="7"/>
            <a:endCxn id="13" idx="3"/>
          </p:cNvCxnSpPr>
          <p:nvPr/>
        </p:nvCxnSpPr>
        <p:spPr>
          <a:xfrm flipV="1">
            <a:off x="3267404" y="2391502"/>
            <a:ext cx="392887" cy="39926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urved Connector 29">
            <a:extLst>
              <a:ext uri="{FF2B5EF4-FFF2-40B4-BE49-F238E27FC236}">
                <a16:creationId xmlns:a16="http://schemas.microsoft.com/office/drawing/2014/main" id="{3D801B23-A5CB-B773-A615-F64AFAC0EDE4}"/>
              </a:ext>
            </a:extLst>
          </p:cNvPr>
          <p:cNvCxnSpPr>
            <a:cxnSpLocks/>
            <a:stCxn id="11" idx="7"/>
            <a:endCxn id="11" idx="5"/>
          </p:cNvCxnSpPr>
          <p:nvPr/>
        </p:nvCxnSpPr>
        <p:spPr>
          <a:xfrm rot="16200000" flipH="1">
            <a:off x="4153413" y="3601224"/>
            <a:ext cx="261158" cy="12700"/>
          </a:xfrm>
          <a:prstGeom prst="curvedConnector5">
            <a:avLst>
              <a:gd name="adj1" fmla="val -22694"/>
              <a:gd name="adj2" fmla="val 1947551"/>
              <a:gd name="adj3" fmla="val 12917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urved Connector 45">
            <a:extLst>
              <a:ext uri="{FF2B5EF4-FFF2-40B4-BE49-F238E27FC236}">
                <a16:creationId xmlns:a16="http://schemas.microsoft.com/office/drawing/2014/main" id="{C705EE0E-13B5-0A4C-0CA1-9F729238BFCB}"/>
              </a:ext>
            </a:extLst>
          </p:cNvPr>
          <p:cNvCxnSpPr>
            <a:cxnSpLocks/>
            <a:stCxn id="6" idx="5"/>
            <a:endCxn id="6" idx="3"/>
          </p:cNvCxnSpPr>
          <p:nvPr/>
        </p:nvCxnSpPr>
        <p:spPr>
          <a:xfrm rot="5400000">
            <a:off x="3087799" y="2872321"/>
            <a:ext cx="12700" cy="359210"/>
          </a:xfrm>
          <a:prstGeom prst="curvedConnector3">
            <a:avLst>
              <a:gd name="adj1" fmla="val 222588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urved Connector 48">
            <a:extLst>
              <a:ext uri="{FF2B5EF4-FFF2-40B4-BE49-F238E27FC236}">
                <a16:creationId xmlns:a16="http://schemas.microsoft.com/office/drawing/2014/main" id="{2FF401D4-A674-453C-C7D2-0F2461324111}"/>
              </a:ext>
            </a:extLst>
          </p:cNvPr>
          <p:cNvCxnSpPr>
            <a:cxnSpLocks/>
            <a:stCxn id="13" idx="2"/>
            <a:endCxn id="3" idx="7"/>
          </p:cNvCxnSpPr>
          <p:nvPr/>
        </p:nvCxnSpPr>
        <p:spPr>
          <a:xfrm rot="10800000" flipV="1">
            <a:off x="2182236" y="2260922"/>
            <a:ext cx="1403661" cy="529845"/>
          </a:xfrm>
          <a:prstGeom prst="curved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F93EF2F-3222-B218-6912-696BF23292AA}"/>
              </a:ext>
            </a:extLst>
          </p:cNvPr>
          <p:cNvCxnSpPr>
            <a:cxnSpLocks/>
            <a:stCxn id="15" idx="6"/>
            <a:endCxn id="3" idx="2"/>
          </p:cNvCxnSpPr>
          <p:nvPr/>
        </p:nvCxnSpPr>
        <p:spPr>
          <a:xfrm>
            <a:off x="1419518" y="2921347"/>
            <a:ext cx="32911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C4B2B50-73A1-B690-7F61-8BD435DD4C9C}"/>
              </a:ext>
            </a:extLst>
          </p:cNvPr>
          <p:cNvCxnSpPr>
            <a:cxnSpLocks/>
          </p:cNvCxnSpPr>
          <p:nvPr/>
        </p:nvCxnSpPr>
        <p:spPr>
          <a:xfrm>
            <a:off x="698763" y="2921347"/>
            <a:ext cx="21275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A8C61734-6C5F-0716-287A-2AD054444357}"/>
              </a:ext>
            </a:extLst>
          </p:cNvPr>
          <p:cNvSpPr txBox="1"/>
          <p:nvPr/>
        </p:nvSpPr>
        <p:spPr>
          <a:xfrm>
            <a:off x="2263394" y="2868927"/>
            <a:ext cx="5517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1400" dirty="0"/>
              <a:t>{try}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2615BAA-41AF-DD95-E2D7-75D8FA6DFF4B}"/>
              </a:ext>
            </a:extLst>
          </p:cNvPr>
          <p:cNvSpPr txBox="1"/>
          <p:nvPr/>
        </p:nvSpPr>
        <p:spPr>
          <a:xfrm>
            <a:off x="3525899" y="2968091"/>
            <a:ext cx="1069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1400" dirty="0"/>
              <a:t>0.98 {succ}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377AD07-ACE9-A564-5E59-003476BF1093}"/>
              </a:ext>
            </a:extLst>
          </p:cNvPr>
          <p:cNvSpPr txBox="1"/>
          <p:nvPr/>
        </p:nvSpPr>
        <p:spPr>
          <a:xfrm>
            <a:off x="2537448" y="3321143"/>
            <a:ext cx="9492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1400" dirty="0">
                <a:highlight>
                  <a:srgbClr val="00FF00"/>
                </a:highlight>
              </a:rPr>
              <a:t>0.01</a:t>
            </a:r>
            <a:r>
              <a:rPr lang="en-NL" sz="1400" dirty="0"/>
              <a:t> {try}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36046D2-DBE9-E428-4B82-D98201F335C6}"/>
              </a:ext>
            </a:extLst>
          </p:cNvPr>
          <p:cNvSpPr txBox="1"/>
          <p:nvPr/>
        </p:nvSpPr>
        <p:spPr>
          <a:xfrm>
            <a:off x="4449652" y="3412739"/>
            <a:ext cx="6719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1400" dirty="0"/>
              <a:t>{succ}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4F6885B-79A5-6C17-693A-1781C95816E8}"/>
              </a:ext>
            </a:extLst>
          </p:cNvPr>
          <p:cNvSpPr txBox="1"/>
          <p:nvPr/>
        </p:nvSpPr>
        <p:spPr>
          <a:xfrm>
            <a:off x="3378167" y="2525908"/>
            <a:ext cx="9300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1400" dirty="0">
                <a:highlight>
                  <a:srgbClr val="00FF00"/>
                </a:highlight>
              </a:rPr>
              <a:t>0.01</a:t>
            </a:r>
            <a:r>
              <a:rPr lang="en-NL" sz="1400" dirty="0"/>
              <a:t> {fail}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D19F096-F7EC-15C3-DAF8-7043EBA9E658}"/>
              </a:ext>
            </a:extLst>
          </p:cNvPr>
          <p:cNvSpPr txBox="1"/>
          <p:nvPr/>
        </p:nvSpPr>
        <p:spPr>
          <a:xfrm>
            <a:off x="2458327" y="2127700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∅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D267DB7-F892-B4B9-CA54-842E6AE43D2A}"/>
              </a:ext>
            </a:extLst>
          </p:cNvPr>
          <p:cNvSpPr txBox="1"/>
          <p:nvPr/>
        </p:nvSpPr>
        <p:spPr>
          <a:xfrm>
            <a:off x="1375682" y="2615365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∅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E36819D-B6F9-9650-7DC0-9011C552CD87}"/>
              </a:ext>
            </a:extLst>
          </p:cNvPr>
          <p:cNvSpPr txBox="1"/>
          <p:nvPr/>
        </p:nvSpPr>
        <p:spPr>
          <a:xfrm>
            <a:off x="4524059" y="2465896"/>
            <a:ext cx="5164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3600" dirty="0">
                <a:highlight>
                  <a:srgbClr val="FFFF00"/>
                </a:highlight>
              </a:rPr>
              <a:t>∩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0B843F8-0C03-8A2B-3F3D-BC2A64E089FA}"/>
              </a:ext>
            </a:extLst>
          </p:cNvPr>
          <p:cNvSpPr/>
          <p:nvPr/>
        </p:nvSpPr>
        <p:spPr>
          <a:xfrm>
            <a:off x="2874692" y="4772235"/>
            <a:ext cx="788818" cy="3693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1400" dirty="0">
                <a:solidFill>
                  <a:schemeClr val="tx1"/>
                </a:solidFill>
              </a:rPr>
              <a:t>s</a:t>
            </a:r>
            <a:r>
              <a:rPr lang="en-NL" sz="1400" baseline="-25000" dirty="0">
                <a:solidFill>
                  <a:schemeClr val="tx1"/>
                </a:solidFill>
              </a:rPr>
              <a:t>0</a:t>
            </a:r>
            <a:r>
              <a:rPr lang="en-NL" sz="1400" dirty="0">
                <a:solidFill>
                  <a:schemeClr val="tx1"/>
                </a:solidFill>
              </a:rPr>
              <a:t>,v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E9F84B9-3E45-86D7-6739-C54BA94D6D5B}"/>
              </a:ext>
            </a:extLst>
          </p:cNvPr>
          <p:cNvSpPr/>
          <p:nvPr/>
        </p:nvSpPr>
        <p:spPr>
          <a:xfrm>
            <a:off x="4277642" y="4773830"/>
            <a:ext cx="935843" cy="3693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1400" dirty="0">
                <a:solidFill>
                  <a:schemeClr val="tx1"/>
                </a:solidFill>
              </a:rPr>
              <a:t>s</a:t>
            </a:r>
            <a:r>
              <a:rPr lang="en-NL" sz="1400" baseline="-25000" dirty="0">
                <a:solidFill>
                  <a:schemeClr val="tx1"/>
                </a:solidFill>
              </a:rPr>
              <a:t>1</a:t>
            </a:r>
            <a:r>
              <a:rPr lang="en-NL" sz="1400" dirty="0">
                <a:solidFill>
                  <a:schemeClr val="tx1"/>
                </a:solidFill>
              </a:rPr>
              <a:t>,v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1C71BC6-2D25-AD8F-75ED-D730A3E0D4B7}"/>
              </a:ext>
            </a:extLst>
          </p:cNvPr>
          <p:cNvSpPr/>
          <p:nvPr/>
        </p:nvSpPr>
        <p:spPr>
          <a:xfrm>
            <a:off x="6557594" y="4774369"/>
            <a:ext cx="790868" cy="3693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1400" dirty="0">
                <a:solidFill>
                  <a:schemeClr val="tx1"/>
                </a:solidFill>
              </a:rPr>
              <a:t>s</a:t>
            </a:r>
            <a:r>
              <a:rPr lang="en-NL" sz="1400" baseline="-25000" dirty="0">
                <a:solidFill>
                  <a:schemeClr val="tx1"/>
                </a:solidFill>
              </a:rPr>
              <a:t>3</a:t>
            </a:r>
            <a:r>
              <a:rPr lang="en-NL" sz="1400" dirty="0">
                <a:solidFill>
                  <a:schemeClr val="tx1"/>
                </a:solidFill>
              </a:rPr>
              <a:t>,w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B9AB1BA-85F6-7B3E-736C-F11F9B8F1766}"/>
              </a:ext>
            </a:extLst>
          </p:cNvPr>
          <p:cNvSpPr/>
          <p:nvPr/>
        </p:nvSpPr>
        <p:spPr>
          <a:xfrm>
            <a:off x="1730055" y="4765161"/>
            <a:ext cx="714477" cy="369332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1400" dirty="0">
                <a:solidFill>
                  <a:schemeClr val="tx1"/>
                </a:solidFill>
              </a:rPr>
              <a:t>z,u</a:t>
            </a:r>
            <a:endParaRPr lang="en-NL" sz="1400" baseline="-25000" dirty="0">
              <a:solidFill>
                <a:schemeClr val="tx1"/>
              </a:solidFill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B5F7377-8503-F27D-3417-15817C695EB9}"/>
              </a:ext>
            </a:extLst>
          </p:cNvPr>
          <p:cNvCxnSpPr>
            <a:cxnSpLocks/>
            <a:stCxn id="34" idx="6"/>
            <a:endCxn id="35" idx="2"/>
          </p:cNvCxnSpPr>
          <p:nvPr/>
        </p:nvCxnSpPr>
        <p:spPr>
          <a:xfrm>
            <a:off x="3663510" y="4956901"/>
            <a:ext cx="614132" cy="159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9257BBC-8F7D-167C-9FC6-9CAC3BDA1309}"/>
              </a:ext>
            </a:extLst>
          </p:cNvPr>
          <p:cNvCxnSpPr>
            <a:cxnSpLocks/>
            <a:stCxn id="35" idx="6"/>
            <a:endCxn id="36" idx="2"/>
          </p:cNvCxnSpPr>
          <p:nvPr/>
        </p:nvCxnSpPr>
        <p:spPr>
          <a:xfrm>
            <a:off x="5213485" y="4958496"/>
            <a:ext cx="1344109" cy="53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urved Connector 42">
            <a:extLst>
              <a:ext uri="{FF2B5EF4-FFF2-40B4-BE49-F238E27FC236}">
                <a16:creationId xmlns:a16="http://schemas.microsoft.com/office/drawing/2014/main" id="{FB5AF0F2-E3F1-E467-D180-C7B41E7E5FCA}"/>
              </a:ext>
            </a:extLst>
          </p:cNvPr>
          <p:cNvCxnSpPr>
            <a:cxnSpLocks/>
            <a:stCxn id="36" idx="7"/>
            <a:endCxn id="36" idx="5"/>
          </p:cNvCxnSpPr>
          <p:nvPr/>
        </p:nvCxnSpPr>
        <p:spPr>
          <a:xfrm rot="16200000" flipH="1">
            <a:off x="7102063" y="4959035"/>
            <a:ext cx="261158" cy="12700"/>
          </a:xfrm>
          <a:prstGeom prst="curvedConnector5">
            <a:avLst>
              <a:gd name="adj1" fmla="val -29177"/>
              <a:gd name="adj2" fmla="val 2715339"/>
              <a:gd name="adj3" fmla="val 125936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urved Connector 43">
            <a:extLst>
              <a:ext uri="{FF2B5EF4-FFF2-40B4-BE49-F238E27FC236}">
                <a16:creationId xmlns:a16="http://schemas.microsoft.com/office/drawing/2014/main" id="{80653195-6699-A897-3C31-9336367D696A}"/>
              </a:ext>
            </a:extLst>
          </p:cNvPr>
          <p:cNvCxnSpPr>
            <a:cxnSpLocks/>
            <a:stCxn id="35" idx="5"/>
            <a:endCxn id="35" idx="3"/>
          </p:cNvCxnSpPr>
          <p:nvPr/>
        </p:nvCxnSpPr>
        <p:spPr>
          <a:xfrm rot="5400000">
            <a:off x="4745564" y="4758205"/>
            <a:ext cx="12700" cy="661741"/>
          </a:xfrm>
          <a:prstGeom prst="curvedConnector3">
            <a:avLst>
              <a:gd name="adj1" fmla="val 222588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9200936-42E3-14C9-5E1A-58641D5BDC66}"/>
              </a:ext>
            </a:extLst>
          </p:cNvPr>
          <p:cNvCxnSpPr>
            <a:cxnSpLocks/>
            <a:stCxn id="39" idx="6"/>
            <a:endCxn id="34" idx="2"/>
          </p:cNvCxnSpPr>
          <p:nvPr/>
        </p:nvCxnSpPr>
        <p:spPr>
          <a:xfrm>
            <a:off x="2444532" y="4949827"/>
            <a:ext cx="430160" cy="707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83CFE18-8305-F606-6A3B-A8C1042B0811}"/>
              </a:ext>
            </a:extLst>
          </p:cNvPr>
          <p:cNvCxnSpPr>
            <a:cxnSpLocks/>
          </p:cNvCxnSpPr>
          <p:nvPr/>
        </p:nvCxnSpPr>
        <p:spPr>
          <a:xfrm>
            <a:off x="1529580" y="4960888"/>
            <a:ext cx="21275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B5B06DD6-4BA1-F27D-333C-50B83DC3B0FE}"/>
              </a:ext>
            </a:extLst>
          </p:cNvPr>
          <p:cNvSpPr txBox="1"/>
          <p:nvPr/>
        </p:nvSpPr>
        <p:spPr>
          <a:xfrm>
            <a:off x="3694699" y="4935186"/>
            <a:ext cx="5517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1400" dirty="0"/>
              <a:t>{try}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7F0842E-5F85-707E-5728-905813706C93}"/>
              </a:ext>
            </a:extLst>
          </p:cNvPr>
          <p:cNvSpPr txBox="1"/>
          <p:nvPr/>
        </p:nvSpPr>
        <p:spPr>
          <a:xfrm>
            <a:off x="5275769" y="4649124"/>
            <a:ext cx="1069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1400" dirty="0">
                <a:highlight>
                  <a:srgbClr val="00FF00"/>
                </a:highlight>
              </a:rPr>
              <a:t>0.98</a:t>
            </a:r>
            <a:r>
              <a:rPr lang="en-NL" sz="1400" dirty="0"/>
              <a:t> {succ}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B99DB0F-1B25-D50C-882E-B1B1378B0D1D}"/>
              </a:ext>
            </a:extLst>
          </p:cNvPr>
          <p:cNvSpPr txBox="1"/>
          <p:nvPr/>
        </p:nvSpPr>
        <p:spPr>
          <a:xfrm>
            <a:off x="4383762" y="5403351"/>
            <a:ext cx="9492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1400" dirty="0">
                <a:highlight>
                  <a:srgbClr val="00FF00"/>
                </a:highlight>
              </a:rPr>
              <a:t>0.01</a:t>
            </a:r>
            <a:r>
              <a:rPr lang="en-NL" sz="1400" dirty="0"/>
              <a:t> {try}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36EF116-4B78-B29C-F634-970290E3C65C}"/>
              </a:ext>
            </a:extLst>
          </p:cNvPr>
          <p:cNvSpPr txBox="1"/>
          <p:nvPr/>
        </p:nvSpPr>
        <p:spPr>
          <a:xfrm>
            <a:off x="7558270" y="4787649"/>
            <a:ext cx="6719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1400" dirty="0"/>
              <a:t>{succ}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A09CAEB-092D-E57F-5D25-218423B39560}"/>
              </a:ext>
            </a:extLst>
          </p:cNvPr>
          <p:cNvSpPr txBox="1"/>
          <p:nvPr/>
        </p:nvSpPr>
        <p:spPr>
          <a:xfrm>
            <a:off x="2501744" y="4650919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∅</a:t>
            </a:r>
          </a:p>
        </p:txBody>
      </p:sp>
      <p:sp>
        <p:nvSpPr>
          <p:cNvPr id="98" name="Right Arrow 97">
            <a:extLst>
              <a:ext uri="{FF2B5EF4-FFF2-40B4-BE49-F238E27FC236}">
                <a16:creationId xmlns:a16="http://schemas.microsoft.com/office/drawing/2014/main" id="{2754196E-3B34-93E7-4BB0-3CA93E19F417}"/>
              </a:ext>
            </a:extLst>
          </p:cNvPr>
          <p:cNvSpPr/>
          <p:nvPr/>
        </p:nvSpPr>
        <p:spPr>
          <a:xfrm rot="5400000">
            <a:off x="4483677" y="3849636"/>
            <a:ext cx="565897" cy="8471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3AD982A-CBC5-626D-8790-3BC2EF98644C}"/>
              </a:ext>
            </a:extLst>
          </p:cNvPr>
          <p:cNvSpPr txBox="1"/>
          <p:nvPr/>
        </p:nvSpPr>
        <p:spPr>
          <a:xfrm flipH="1">
            <a:off x="937215" y="5804672"/>
            <a:ext cx="75473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sz="1400" dirty="0"/>
              <a:t>This results in a new Rabin R2. Any state (s,t) in R2 with t in R’s L is marked as L in R2.  If t was in R’s K, we mark (s,t) as K in R2. So, for above example we get L is empty, and all the blue states are K.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0231500-17AF-D833-1CB7-9451348A38BC}"/>
              </a:ext>
            </a:extLst>
          </p:cNvPr>
          <p:cNvSpPr txBox="1"/>
          <p:nvPr/>
        </p:nvSpPr>
        <p:spPr>
          <a:xfrm>
            <a:off x="937215" y="4756871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R2:</a:t>
            </a: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030BE598-A711-7788-BA0F-7DACA59AA136}"/>
              </a:ext>
            </a:extLst>
          </p:cNvPr>
          <p:cNvSpPr/>
          <p:nvPr/>
        </p:nvSpPr>
        <p:spPr>
          <a:xfrm>
            <a:off x="5659829" y="2682595"/>
            <a:ext cx="355600" cy="338666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dirty="0">
                <a:solidFill>
                  <a:schemeClr val="tx1"/>
                </a:solidFill>
              </a:rPr>
              <a:t>u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5C7C29BA-A82F-A3F5-D4EA-0BA6A19148E2}"/>
              </a:ext>
            </a:extLst>
          </p:cNvPr>
          <p:cNvSpPr/>
          <p:nvPr/>
        </p:nvSpPr>
        <p:spPr>
          <a:xfrm>
            <a:off x="6606165" y="2682595"/>
            <a:ext cx="355600" cy="338666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34925" cmpd="dbl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dirty="0">
                <a:solidFill>
                  <a:schemeClr val="tx1"/>
                </a:solidFill>
              </a:rPr>
              <a:t>v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3FF467F4-2E79-E7A4-D47F-65338FD87566}"/>
              </a:ext>
            </a:extLst>
          </p:cNvPr>
          <p:cNvSpPr/>
          <p:nvPr/>
        </p:nvSpPr>
        <p:spPr>
          <a:xfrm>
            <a:off x="7884811" y="2685089"/>
            <a:ext cx="355600" cy="338666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34925" cmpd="dbl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dirty="0">
                <a:solidFill>
                  <a:schemeClr val="tx1"/>
                </a:solidFill>
              </a:rPr>
              <a:t>w</a:t>
            </a: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62F50790-786E-96BE-2D32-002A79E1C382}"/>
              </a:ext>
            </a:extLst>
          </p:cNvPr>
          <p:cNvCxnSpPr>
            <a:cxnSpLocks/>
            <a:stCxn id="101" idx="6"/>
            <a:endCxn id="102" idx="2"/>
          </p:cNvCxnSpPr>
          <p:nvPr/>
        </p:nvCxnSpPr>
        <p:spPr>
          <a:xfrm>
            <a:off x="6015429" y="2851928"/>
            <a:ext cx="59073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3CE849C9-2FCB-C0F4-1E62-20D60C5B2371}"/>
              </a:ext>
            </a:extLst>
          </p:cNvPr>
          <p:cNvCxnSpPr>
            <a:cxnSpLocks/>
            <a:stCxn id="102" idx="6"/>
            <a:endCxn id="103" idx="2"/>
          </p:cNvCxnSpPr>
          <p:nvPr/>
        </p:nvCxnSpPr>
        <p:spPr>
          <a:xfrm>
            <a:off x="6961765" y="2851928"/>
            <a:ext cx="923046" cy="249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urved Connector 105">
            <a:extLst>
              <a:ext uri="{FF2B5EF4-FFF2-40B4-BE49-F238E27FC236}">
                <a16:creationId xmlns:a16="http://schemas.microsoft.com/office/drawing/2014/main" id="{381C7812-7B3D-E583-59A9-239C4B862ED1}"/>
              </a:ext>
            </a:extLst>
          </p:cNvPr>
          <p:cNvCxnSpPr>
            <a:cxnSpLocks/>
            <a:stCxn id="102" idx="5"/>
            <a:endCxn id="102" idx="3"/>
          </p:cNvCxnSpPr>
          <p:nvPr/>
        </p:nvCxnSpPr>
        <p:spPr>
          <a:xfrm rot="5400000">
            <a:off x="6783965" y="2845941"/>
            <a:ext cx="12700" cy="251448"/>
          </a:xfrm>
          <a:prstGeom prst="curvedConnector3">
            <a:avLst>
              <a:gd name="adj1" fmla="val 219052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urved Connector 106">
            <a:extLst>
              <a:ext uri="{FF2B5EF4-FFF2-40B4-BE49-F238E27FC236}">
                <a16:creationId xmlns:a16="http://schemas.microsoft.com/office/drawing/2014/main" id="{76695BA0-7202-AE09-AD97-3882BADDB95B}"/>
              </a:ext>
            </a:extLst>
          </p:cNvPr>
          <p:cNvCxnSpPr>
            <a:cxnSpLocks/>
            <a:stCxn id="103" idx="5"/>
            <a:endCxn id="103" idx="7"/>
          </p:cNvCxnSpPr>
          <p:nvPr/>
        </p:nvCxnSpPr>
        <p:spPr>
          <a:xfrm rot="5400000" flipH="1">
            <a:off x="8068598" y="2854422"/>
            <a:ext cx="239474" cy="12700"/>
          </a:xfrm>
          <a:prstGeom prst="curvedConnector5">
            <a:avLst>
              <a:gd name="adj1" fmla="val -28284"/>
              <a:gd name="adj2" fmla="val -2723283"/>
              <a:gd name="adj3" fmla="val 15303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BD50A127-3AF7-F9EB-9DC0-F1976A3FFB12}"/>
              </a:ext>
            </a:extLst>
          </p:cNvPr>
          <p:cNvCxnSpPr>
            <a:cxnSpLocks/>
          </p:cNvCxnSpPr>
          <p:nvPr/>
        </p:nvCxnSpPr>
        <p:spPr>
          <a:xfrm>
            <a:off x="5450809" y="2862288"/>
            <a:ext cx="18772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48473050-A614-A7AE-6840-0339BEE630C1}"/>
              </a:ext>
            </a:extLst>
          </p:cNvPr>
          <p:cNvSpPr txBox="1"/>
          <p:nvPr/>
        </p:nvSpPr>
        <p:spPr>
          <a:xfrm>
            <a:off x="6096595" y="2590969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*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4D2C331E-968D-3A3A-3998-BED7365D18FB}"/>
              </a:ext>
            </a:extLst>
          </p:cNvPr>
          <p:cNvSpPr txBox="1"/>
          <p:nvPr/>
        </p:nvSpPr>
        <p:spPr>
          <a:xfrm>
            <a:off x="5659829" y="3188681"/>
            <a:ext cx="14269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1400" dirty="0"/>
              <a:t>try∈ and succ∉ 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EF1872DE-8FD9-C8FA-0E31-965FDDC58980}"/>
              </a:ext>
            </a:extLst>
          </p:cNvPr>
          <p:cNvSpPr txBox="1"/>
          <p:nvPr/>
        </p:nvSpPr>
        <p:spPr>
          <a:xfrm>
            <a:off x="5380316" y="3471727"/>
            <a:ext cx="34130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sz="1100" dirty="0"/>
              <a:t>accepting condition: { (L,K) } with L=∅ and K={v,w}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F185175-2CCB-3400-E610-A602D8296A77}"/>
              </a:ext>
            </a:extLst>
          </p:cNvPr>
          <p:cNvSpPr txBox="1"/>
          <p:nvPr/>
        </p:nvSpPr>
        <p:spPr>
          <a:xfrm>
            <a:off x="5025937" y="266892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R: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3DDBAF63-4E0D-77EC-EEFA-A306D2D0E262}"/>
              </a:ext>
            </a:extLst>
          </p:cNvPr>
          <p:cNvSpPr txBox="1"/>
          <p:nvPr/>
        </p:nvSpPr>
        <p:spPr>
          <a:xfrm>
            <a:off x="7058139" y="2548079"/>
            <a:ext cx="6655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1400" dirty="0"/>
              <a:t>succ∈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60A6590-CE94-4DCF-15C9-CBB98A76E3F9}"/>
              </a:ext>
            </a:extLst>
          </p:cNvPr>
          <p:cNvSpPr txBox="1"/>
          <p:nvPr/>
        </p:nvSpPr>
        <p:spPr>
          <a:xfrm>
            <a:off x="8143020" y="2334066"/>
            <a:ext cx="2551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1400" dirty="0"/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6443347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5450E8F7-83E7-2F5C-4335-C30C8056E30C}"/>
              </a:ext>
            </a:extLst>
          </p:cNvPr>
          <p:cNvSpPr/>
          <p:nvPr/>
        </p:nvSpPr>
        <p:spPr>
          <a:xfrm>
            <a:off x="2290882" y="2748396"/>
            <a:ext cx="986567" cy="92279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DD507A2-1775-A4DA-1731-0C1BC8881CC6}"/>
              </a:ext>
            </a:extLst>
          </p:cNvPr>
          <p:cNvSpPr/>
          <p:nvPr/>
        </p:nvSpPr>
        <p:spPr>
          <a:xfrm>
            <a:off x="1127605" y="2748396"/>
            <a:ext cx="938825" cy="92279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6D0E91-458C-3469-BBEB-E0CE329BFAAC}"/>
              </a:ext>
            </a:extLst>
          </p:cNvPr>
          <p:cNvSpPr/>
          <p:nvPr/>
        </p:nvSpPr>
        <p:spPr>
          <a:xfrm>
            <a:off x="3629985" y="2739999"/>
            <a:ext cx="1182098" cy="92279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01ECCF-CCFD-21CF-098E-9B4E99128DD5}"/>
              </a:ext>
            </a:extLst>
          </p:cNvPr>
          <p:cNvSpPr/>
          <p:nvPr/>
        </p:nvSpPr>
        <p:spPr>
          <a:xfrm>
            <a:off x="5881608" y="2739999"/>
            <a:ext cx="1884956" cy="9227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43C70B-C0A7-7712-5717-B8D571620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Calculating Prob(𝜑)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B6BF1-A4F9-9E6C-D9EA-1C392D23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834" y="6383532"/>
            <a:ext cx="457200" cy="457200"/>
          </a:xfrm>
        </p:spPr>
        <p:txBody>
          <a:bodyPr/>
          <a:lstStyle/>
          <a:p>
            <a:pPr>
              <a:defRPr/>
            </a:pPr>
            <a:fld id="{FED021F5-617A-4386-B224-EDC4A8F1A934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3A01D0-A108-2B94-53F7-F35AB6DBABFD}"/>
              </a:ext>
            </a:extLst>
          </p:cNvPr>
          <p:cNvSpPr txBox="1"/>
          <p:nvPr/>
        </p:nvSpPr>
        <p:spPr>
          <a:xfrm>
            <a:off x="374650" y="1556480"/>
            <a:ext cx="81661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NL" dirty="0"/>
              <a:t>So we have this R2 = M∩R, with L=∅  and K = { the blue states }. Any execution satisfying 𝜑  can only pass L finitely many often and should pass one of K inifnitely many often.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0B843F8-0C03-8A2B-3F3D-BC2A64E089FA}"/>
              </a:ext>
            </a:extLst>
          </p:cNvPr>
          <p:cNvSpPr/>
          <p:nvPr/>
        </p:nvSpPr>
        <p:spPr>
          <a:xfrm>
            <a:off x="2411007" y="2961776"/>
            <a:ext cx="788818" cy="3693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1400" dirty="0">
                <a:solidFill>
                  <a:schemeClr val="tx1"/>
                </a:solidFill>
              </a:rPr>
              <a:t>s</a:t>
            </a:r>
            <a:r>
              <a:rPr lang="en-NL" sz="1400" baseline="-25000" dirty="0">
                <a:solidFill>
                  <a:schemeClr val="tx1"/>
                </a:solidFill>
              </a:rPr>
              <a:t>0</a:t>
            </a:r>
            <a:r>
              <a:rPr lang="en-NL" sz="1400" dirty="0">
                <a:solidFill>
                  <a:schemeClr val="tx1"/>
                </a:solidFill>
              </a:rPr>
              <a:t>,v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E9F84B9-3E45-86D7-6739-C54BA94D6D5B}"/>
              </a:ext>
            </a:extLst>
          </p:cNvPr>
          <p:cNvSpPr/>
          <p:nvPr/>
        </p:nvSpPr>
        <p:spPr>
          <a:xfrm>
            <a:off x="3813957" y="2963371"/>
            <a:ext cx="935843" cy="3693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1400" dirty="0">
                <a:solidFill>
                  <a:schemeClr val="tx1"/>
                </a:solidFill>
              </a:rPr>
              <a:t>s</a:t>
            </a:r>
            <a:r>
              <a:rPr lang="en-NL" sz="1400" baseline="-25000" dirty="0">
                <a:solidFill>
                  <a:schemeClr val="tx1"/>
                </a:solidFill>
              </a:rPr>
              <a:t>1</a:t>
            </a:r>
            <a:r>
              <a:rPr lang="en-NL" sz="1400" dirty="0">
                <a:solidFill>
                  <a:schemeClr val="tx1"/>
                </a:solidFill>
              </a:rPr>
              <a:t>,v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1C71BC6-2D25-AD8F-75ED-D730A3E0D4B7}"/>
              </a:ext>
            </a:extLst>
          </p:cNvPr>
          <p:cNvSpPr/>
          <p:nvPr/>
        </p:nvSpPr>
        <p:spPr>
          <a:xfrm>
            <a:off x="6093909" y="2963910"/>
            <a:ext cx="790868" cy="3693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1400" dirty="0">
                <a:solidFill>
                  <a:schemeClr val="tx1"/>
                </a:solidFill>
              </a:rPr>
              <a:t>s</a:t>
            </a:r>
            <a:r>
              <a:rPr lang="en-NL" sz="1400" baseline="-25000" dirty="0">
                <a:solidFill>
                  <a:schemeClr val="tx1"/>
                </a:solidFill>
              </a:rPr>
              <a:t>3</a:t>
            </a:r>
            <a:r>
              <a:rPr lang="en-NL" sz="1400" dirty="0">
                <a:solidFill>
                  <a:schemeClr val="tx1"/>
                </a:solidFill>
              </a:rPr>
              <a:t>,w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B9AB1BA-85F6-7B3E-736C-F11F9B8F1766}"/>
              </a:ext>
            </a:extLst>
          </p:cNvPr>
          <p:cNvSpPr/>
          <p:nvPr/>
        </p:nvSpPr>
        <p:spPr>
          <a:xfrm>
            <a:off x="1266370" y="2954702"/>
            <a:ext cx="714477" cy="369332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1400" dirty="0">
                <a:solidFill>
                  <a:schemeClr val="tx1"/>
                </a:solidFill>
              </a:rPr>
              <a:t>z,u</a:t>
            </a:r>
            <a:endParaRPr lang="en-NL" sz="1400" baseline="-25000" dirty="0">
              <a:solidFill>
                <a:schemeClr val="tx1"/>
              </a:solidFill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B5F7377-8503-F27D-3417-15817C695EB9}"/>
              </a:ext>
            </a:extLst>
          </p:cNvPr>
          <p:cNvCxnSpPr>
            <a:cxnSpLocks/>
            <a:stCxn id="34" idx="6"/>
            <a:endCxn id="35" idx="2"/>
          </p:cNvCxnSpPr>
          <p:nvPr/>
        </p:nvCxnSpPr>
        <p:spPr>
          <a:xfrm>
            <a:off x="3199825" y="3146442"/>
            <a:ext cx="614132" cy="159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9257BBC-8F7D-167C-9FC6-9CAC3BDA1309}"/>
              </a:ext>
            </a:extLst>
          </p:cNvPr>
          <p:cNvCxnSpPr>
            <a:cxnSpLocks/>
            <a:stCxn id="35" idx="6"/>
            <a:endCxn id="36" idx="2"/>
          </p:cNvCxnSpPr>
          <p:nvPr/>
        </p:nvCxnSpPr>
        <p:spPr>
          <a:xfrm>
            <a:off x="4749800" y="3148037"/>
            <a:ext cx="1344109" cy="53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urved Connector 42">
            <a:extLst>
              <a:ext uri="{FF2B5EF4-FFF2-40B4-BE49-F238E27FC236}">
                <a16:creationId xmlns:a16="http://schemas.microsoft.com/office/drawing/2014/main" id="{FB5AF0F2-E3F1-E467-D180-C7B41E7E5FCA}"/>
              </a:ext>
            </a:extLst>
          </p:cNvPr>
          <p:cNvCxnSpPr>
            <a:cxnSpLocks/>
            <a:stCxn id="36" idx="7"/>
            <a:endCxn id="36" idx="5"/>
          </p:cNvCxnSpPr>
          <p:nvPr/>
        </p:nvCxnSpPr>
        <p:spPr>
          <a:xfrm rot="16200000" flipH="1">
            <a:off x="6638378" y="3148576"/>
            <a:ext cx="261158" cy="12700"/>
          </a:xfrm>
          <a:prstGeom prst="curvedConnector5">
            <a:avLst>
              <a:gd name="adj1" fmla="val -29177"/>
              <a:gd name="adj2" fmla="val 2715339"/>
              <a:gd name="adj3" fmla="val 125936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urved Connector 43">
            <a:extLst>
              <a:ext uri="{FF2B5EF4-FFF2-40B4-BE49-F238E27FC236}">
                <a16:creationId xmlns:a16="http://schemas.microsoft.com/office/drawing/2014/main" id="{80653195-6699-A897-3C31-9336367D696A}"/>
              </a:ext>
            </a:extLst>
          </p:cNvPr>
          <p:cNvCxnSpPr>
            <a:cxnSpLocks/>
            <a:stCxn id="35" idx="5"/>
            <a:endCxn id="35" idx="3"/>
          </p:cNvCxnSpPr>
          <p:nvPr/>
        </p:nvCxnSpPr>
        <p:spPr>
          <a:xfrm rot="5400000">
            <a:off x="4281879" y="2947746"/>
            <a:ext cx="12700" cy="661741"/>
          </a:xfrm>
          <a:prstGeom prst="curvedConnector3">
            <a:avLst>
              <a:gd name="adj1" fmla="val 222588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9200936-42E3-14C9-5E1A-58641D5BDC66}"/>
              </a:ext>
            </a:extLst>
          </p:cNvPr>
          <p:cNvCxnSpPr>
            <a:cxnSpLocks/>
            <a:stCxn id="39" idx="6"/>
            <a:endCxn id="34" idx="2"/>
          </p:cNvCxnSpPr>
          <p:nvPr/>
        </p:nvCxnSpPr>
        <p:spPr>
          <a:xfrm>
            <a:off x="1980847" y="3139368"/>
            <a:ext cx="430160" cy="707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83CFE18-8305-F606-6A3B-A8C1042B0811}"/>
              </a:ext>
            </a:extLst>
          </p:cNvPr>
          <p:cNvCxnSpPr>
            <a:cxnSpLocks/>
          </p:cNvCxnSpPr>
          <p:nvPr/>
        </p:nvCxnSpPr>
        <p:spPr>
          <a:xfrm>
            <a:off x="1065895" y="3150429"/>
            <a:ext cx="21275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B5B06DD6-4BA1-F27D-333C-50B83DC3B0FE}"/>
              </a:ext>
            </a:extLst>
          </p:cNvPr>
          <p:cNvSpPr txBox="1"/>
          <p:nvPr/>
        </p:nvSpPr>
        <p:spPr>
          <a:xfrm>
            <a:off x="3231014" y="3124727"/>
            <a:ext cx="5517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1400" dirty="0"/>
              <a:t>{try}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7F0842E-5F85-707E-5728-905813706C93}"/>
              </a:ext>
            </a:extLst>
          </p:cNvPr>
          <p:cNvSpPr txBox="1"/>
          <p:nvPr/>
        </p:nvSpPr>
        <p:spPr>
          <a:xfrm>
            <a:off x="4812084" y="2838665"/>
            <a:ext cx="1069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1400" dirty="0"/>
              <a:t>0.98 {succ}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B99DB0F-1B25-D50C-882E-B1B1378B0D1D}"/>
              </a:ext>
            </a:extLst>
          </p:cNvPr>
          <p:cNvSpPr txBox="1"/>
          <p:nvPr/>
        </p:nvSpPr>
        <p:spPr>
          <a:xfrm>
            <a:off x="3920077" y="3592892"/>
            <a:ext cx="9492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1400" dirty="0"/>
              <a:t>0.01 {try}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36EF116-4B78-B29C-F634-970290E3C65C}"/>
              </a:ext>
            </a:extLst>
          </p:cNvPr>
          <p:cNvSpPr txBox="1"/>
          <p:nvPr/>
        </p:nvSpPr>
        <p:spPr>
          <a:xfrm>
            <a:off x="7094585" y="2977190"/>
            <a:ext cx="6719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1400" dirty="0"/>
              <a:t>{succ}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A09CAEB-092D-E57F-5D25-218423B39560}"/>
              </a:ext>
            </a:extLst>
          </p:cNvPr>
          <p:cNvSpPr txBox="1"/>
          <p:nvPr/>
        </p:nvSpPr>
        <p:spPr>
          <a:xfrm>
            <a:off x="2038059" y="2840460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∅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D7F566E-42FD-227C-5042-D4FBB2584C70}"/>
              </a:ext>
            </a:extLst>
          </p:cNvPr>
          <p:cNvSpPr txBox="1"/>
          <p:nvPr/>
        </p:nvSpPr>
        <p:spPr>
          <a:xfrm>
            <a:off x="265226" y="2954702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R2: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2BE4EA9-A330-D6DB-342D-D2A25E02F398}"/>
              </a:ext>
            </a:extLst>
          </p:cNvPr>
          <p:cNvSpPr txBox="1"/>
          <p:nvPr/>
        </p:nvSpPr>
        <p:spPr>
          <a:xfrm>
            <a:off x="473044" y="4052628"/>
            <a:ext cx="796663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dirty="0"/>
              <a:t>The colored boxes are the SCCs of R2. Only the blue one, let’s call it Z, is a bottom SCC.  Z contains a member of K, and no member of Z is in L. So, any execution satisfying 𝜑 will end up in Z. </a:t>
            </a:r>
            <a:br>
              <a:rPr lang="en-NL" dirty="0"/>
            </a:br>
            <a:r>
              <a:rPr lang="en-NL" dirty="0"/>
              <a:t>We know: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dirty="0"/>
              <a:t>Prob((s</a:t>
            </a:r>
            <a:r>
              <a:rPr lang="en-NL" baseline="-25000" dirty="0"/>
              <a:t>3</a:t>
            </a:r>
            <a:r>
              <a:rPr lang="en-NL" dirty="0"/>
              <a:t>,w), 𝜑) =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dirty="0"/>
              <a:t>Prob((z,u), 𝜑) = Prob((s</a:t>
            </a:r>
            <a:r>
              <a:rPr lang="en-NL" baseline="-25000" dirty="0"/>
              <a:t>0</a:t>
            </a:r>
            <a:r>
              <a:rPr lang="en-NL" dirty="0"/>
              <a:t>,v), 𝜑) = Prob((s</a:t>
            </a:r>
            <a:r>
              <a:rPr lang="en-NL" baseline="-25000" dirty="0"/>
              <a:t>1</a:t>
            </a:r>
            <a:r>
              <a:rPr lang="en-NL" dirty="0"/>
              <a:t>,v), 𝜑)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dirty="0"/>
              <a:t>Prob((s</a:t>
            </a:r>
            <a:r>
              <a:rPr lang="en-NL" baseline="-25000" dirty="0"/>
              <a:t>1</a:t>
            </a:r>
            <a:r>
              <a:rPr lang="en-NL" dirty="0"/>
              <a:t>,v), 𝜑) = 0.01* Prob((s</a:t>
            </a:r>
            <a:r>
              <a:rPr lang="en-NL" baseline="-25000" dirty="0"/>
              <a:t>1</a:t>
            </a:r>
            <a:r>
              <a:rPr lang="en-NL" dirty="0"/>
              <a:t>,v), 𝜑) + 0.98* </a:t>
            </a:r>
            <a:r>
              <a:rPr lang="en-NL" dirty="0">
                <a:highlight>
                  <a:srgbClr val="FFFF00"/>
                </a:highlight>
              </a:rPr>
              <a:t>Prob((s</a:t>
            </a:r>
            <a:r>
              <a:rPr lang="en-NL" baseline="-25000" dirty="0">
                <a:highlight>
                  <a:srgbClr val="FFFF00"/>
                </a:highlight>
              </a:rPr>
              <a:t>3</a:t>
            </a:r>
            <a:r>
              <a:rPr lang="en-NL" dirty="0">
                <a:highlight>
                  <a:srgbClr val="FFFF00"/>
                </a:highlight>
              </a:rPr>
              <a:t>,w), 𝜑) </a:t>
            </a:r>
          </a:p>
          <a:p>
            <a:r>
              <a:rPr lang="en-NL" dirty="0"/>
              <a:t>Solving the equations gives Prob((z,u), 𝜑) = Prob((s</a:t>
            </a:r>
            <a:r>
              <a:rPr lang="en-NL" baseline="-25000" dirty="0"/>
              <a:t>1</a:t>
            </a:r>
            <a:r>
              <a:rPr lang="en-NL" dirty="0"/>
              <a:t>,v), 𝜑) = 98/99 &lt; 0.99.</a:t>
            </a:r>
            <a:br>
              <a:rPr lang="en-NL" dirty="0"/>
            </a:br>
            <a:r>
              <a:rPr lang="en-NL" dirty="0"/>
              <a:t>So, the answer to the original question if P</a:t>
            </a:r>
            <a:r>
              <a:rPr lang="en-NL" baseline="-25000" dirty="0"/>
              <a:t>&gt;0.99</a:t>
            </a:r>
            <a:r>
              <a:rPr lang="en-NL" dirty="0"/>
              <a:t>[𝜑] holds is a “no”.</a:t>
            </a:r>
            <a:br>
              <a:rPr lang="en-NL" dirty="0"/>
            </a:br>
            <a:endParaRPr lang="en-NL" dirty="0"/>
          </a:p>
          <a:p>
            <a:endParaRPr lang="en-NL" dirty="0"/>
          </a:p>
          <a:p>
            <a:endParaRPr lang="en-NL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BBCB089-E283-CCDE-F963-458ED6EE8EE8}"/>
              </a:ext>
            </a:extLst>
          </p:cNvPr>
          <p:cNvSpPr txBox="1"/>
          <p:nvPr/>
        </p:nvSpPr>
        <p:spPr>
          <a:xfrm>
            <a:off x="6661221" y="3692577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Z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BAA0F0A-DA10-32AF-2D45-577C3085B741}"/>
              </a:ext>
            </a:extLst>
          </p:cNvPr>
          <p:cNvSpPr txBox="1"/>
          <p:nvPr/>
        </p:nvSpPr>
        <p:spPr>
          <a:xfrm>
            <a:off x="7174734" y="5284487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1400" dirty="0">
                <a:highlight>
                  <a:srgbClr val="FFFF00"/>
                </a:highlight>
              </a:rPr>
              <a:t>= 1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CE515AC-2BF3-E202-FE2C-C4061C67C86A}"/>
              </a:ext>
            </a:extLst>
          </p:cNvPr>
          <p:cNvCxnSpPr/>
          <p:nvPr/>
        </p:nvCxnSpPr>
        <p:spPr>
          <a:xfrm flipV="1">
            <a:off x="6986951" y="5483789"/>
            <a:ext cx="294382" cy="2396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17347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DFD13-4340-1B3E-EBC5-D2B75ECD2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412720"/>
            <a:ext cx="7772400" cy="1143000"/>
          </a:xfrm>
        </p:spPr>
        <p:txBody>
          <a:bodyPr/>
          <a:lstStyle/>
          <a:p>
            <a:pPr algn="ctr"/>
            <a:r>
              <a:rPr lang="en-GB" sz="5400" b="1" dirty="0"/>
              <a:t>a</a:t>
            </a:r>
            <a:r>
              <a:rPr lang="en-NL" sz="5400" b="1" dirty="0"/>
              <a:t>dditional slides MDP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0BC11E-6703-A4C6-3287-D71BB3673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0B26D1-C0C0-422C-94F4-A11F546AC086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062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64C19-1977-C724-56CD-AA6D23FD4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394" y="357295"/>
            <a:ext cx="8105245" cy="796908"/>
          </a:xfrm>
        </p:spPr>
        <p:txBody>
          <a:bodyPr/>
          <a:lstStyle/>
          <a:p>
            <a:r>
              <a:rPr lang="en-NL" sz="3600" dirty="0"/>
              <a:t>Calculating pmin(s, 𝜑</a:t>
            </a:r>
            <a:r>
              <a:rPr lang="en-NL" sz="3600" baseline="-25000" dirty="0"/>
              <a:t>1</a:t>
            </a:r>
            <a:r>
              <a:rPr lang="en-NL" sz="3600" dirty="0"/>
              <a:t> </a:t>
            </a:r>
            <a:r>
              <a:rPr lang="en-NL" sz="3600" b="1" dirty="0"/>
              <a:t>U</a:t>
            </a:r>
            <a:r>
              <a:rPr lang="en-NL" sz="3600" dirty="0"/>
              <a:t> 𝜑</a:t>
            </a:r>
            <a:r>
              <a:rPr lang="en-NL" sz="3600" baseline="-25000" dirty="0"/>
              <a:t>2</a:t>
            </a:r>
            <a:r>
              <a:rPr lang="en-NL" sz="3600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98207-8EBB-439E-87B2-D1625A62A33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769393" y="1452281"/>
            <a:ext cx="8105245" cy="4758019"/>
          </a:xfrm>
        </p:spPr>
        <p:txBody>
          <a:bodyPr/>
          <a:lstStyle/>
          <a:p>
            <a:pPr marL="0" indent="0">
              <a:buNone/>
            </a:pPr>
            <a:r>
              <a:rPr lang="en-NL" sz="2000" dirty="0"/>
              <a:t>pmin(s, 𝜑) = the </a:t>
            </a:r>
            <a:r>
              <a:rPr lang="en-NL" sz="2000" b="1" dirty="0"/>
              <a:t>minimum</a:t>
            </a:r>
            <a:r>
              <a:rPr lang="en-NL" sz="2000" dirty="0"/>
              <a:t> probability for having executions starting from 2 satisfying 𝜑, regardless the adversary. </a:t>
            </a:r>
          </a:p>
          <a:p>
            <a:pPr marL="0" indent="0">
              <a:buNone/>
            </a:pPr>
            <a:endParaRPr lang="en-NL" sz="2000" dirty="0"/>
          </a:p>
          <a:p>
            <a:pPr marL="0" indent="0">
              <a:buNone/>
            </a:pPr>
            <a:r>
              <a:rPr lang="en-NL" sz="2000" dirty="0"/>
              <a:t>To calculate pmin(s, 𝜑</a:t>
            </a:r>
            <a:r>
              <a:rPr lang="en-NL" sz="2000" baseline="-25000" dirty="0"/>
              <a:t>1</a:t>
            </a:r>
            <a:r>
              <a:rPr lang="en-NL" sz="2000" dirty="0"/>
              <a:t> </a:t>
            </a:r>
            <a:r>
              <a:rPr lang="en-NL" sz="2000" b="1" dirty="0"/>
              <a:t>U</a:t>
            </a:r>
            <a:r>
              <a:rPr lang="en-NL" sz="2000" dirty="0"/>
              <a:t> 𝜑</a:t>
            </a:r>
            <a:r>
              <a:rPr lang="en-NL" sz="2000" baseline="-25000" dirty="0"/>
              <a:t>2</a:t>
            </a:r>
            <a:r>
              <a:rPr lang="en-NL" sz="2000" dirty="0"/>
              <a:t>) :</a:t>
            </a:r>
          </a:p>
          <a:p>
            <a:pPr marL="514350" indent="-514350">
              <a:buFont typeface="+mj-lt"/>
              <a:buAutoNum type="arabicPeriod"/>
            </a:pPr>
            <a:r>
              <a:rPr lang="en-NL" sz="2000" dirty="0"/>
              <a:t>Calculate first the sets S</a:t>
            </a:r>
            <a:r>
              <a:rPr lang="en-NL" sz="2000" baseline="30000" dirty="0"/>
              <a:t>yes</a:t>
            </a:r>
            <a:r>
              <a:rPr lang="en-NL" sz="2000" dirty="0"/>
              <a:t> and S</a:t>
            </a:r>
            <a:r>
              <a:rPr lang="en-NL" sz="2000" baseline="30000" dirty="0"/>
              <a:t>no</a:t>
            </a:r>
            <a:r>
              <a:rPr lang="en-NL" sz="2000" dirty="0"/>
              <a:t>.</a:t>
            </a:r>
          </a:p>
          <a:p>
            <a:pPr marL="788988" lvl="1" indent="-514350"/>
            <a:r>
              <a:rPr lang="en-NL" sz="2000" dirty="0"/>
              <a:t>S</a:t>
            </a:r>
            <a:r>
              <a:rPr lang="en-NL" sz="2000" baseline="30000" dirty="0"/>
              <a:t>yes</a:t>
            </a:r>
            <a:r>
              <a:rPr lang="en-NL" sz="2000" dirty="0"/>
              <a:t> = { s | P(s, 𝜑</a:t>
            </a:r>
            <a:r>
              <a:rPr lang="en-NL" sz="2000" baseline="-25000" dirty="0"/>
              <a:t>1</a:t>
            </a:r>
            <a:r>
              <a:rPr lang="en-NL" sz="2000" dirty="0"/>
              <a:t> U 𝜑</a:t>
            </a:r>
            <a:r>
              <a:rPr lang="en-NL" sz="2000" baseline="-25000" dirty="0"/>
              <a:t>2</a:t>
            </a:r>
            <a:r>
              <a:rPr lang="en-NL" sz="2000" dirty="0"/>
              <a:t>) ≥ 1, for </a:t>
            </a:r>
            <a:r>
              <a:rPr lang="en-NL" sz="2000" b="1" dirty="0"/>
              <a:t>all</a:t>
            </a:r>
            <a:r>
              <a:rPr lang="en-NL" sz="2000" dirty="0"/>
              <a:t> adversaries }   </a:t>
            </a:r>
            <a:r>
              <a:rPr lang="en-NL" sz="2000" dirty="0">
                <a:sym typeface="Wingdings" pitchFamily="2" charset="2"/>
              </a:rPr>
              <a:t> with algorithm </a:t>
            </a:r>
            <a:r>
              <a:rPr lang="en-NL" sz="2000" b="1" dirty="0">
                <a:sym typeface="Wingdings" pitchFamily="2" charset="2"/>
              </a:rPr>
              <a:t>Prob1A</a:t>
            </a:r>
            <a:r>
              <a:rPr lang="en-NL" sz="2000" dirty="0">
                <a:sym typeface="Wingdings" pitchFamily="2" charset="2"/>
              </a:rPr>
              <a:t>.</a:t>
            </a:r>
          </a:p>
          <a:p>
            <a:pPr marL="788988" lvl="1" indent="-514350"/>
            <a:r>
              <a:rPr lang="en-NL" sz="2000" dirty="0"/>
              <a:t>S</a:t>
            </a:r>
            <a:r>
              <a:rPr lang="en-NL" sz="2000" baseline="30000" dirty="0"/>
              <a:t>no</a:t>
            </a:r>
            <a:r>
              <a:rPr lang="en-NL" sz="2000" dirty="0"/>
              <a:t> = { s | P(s, 𝜑</a:t>
            </a:r>
            <a:r>
              <a:rPr lang="en-NL" sz="2000" baseline="-25000" dirty="0"/>
              <a:t>1</a:t>
            </a:r>
            <a:r>
              <a:rPr lang="en-NL" sz="2000" dirty="0"/>
              <a:t> U 𝜑</a:t>
            </a:r>
            <a:r>
              <a:rPr lang="en-NL" sz="2000" baseline="-25000" dirty="0"/>
              <a:t>2</a:t>
            </a:r>
            <a:r>
              <a:rPr lang="en-NL" sz="2000" dirty="0"/>
              <a:t>) ≤ 0, for </a:t>
            </a:r>
            <a:r>
              <a:rPr lang="en-NL" sz="2000" b="1" dirty="0"/>
              <a:t>some</a:t>
            </a:r>
            <a:r>
              <a:rPr lang="en-NL" sz="2000" dirty="0"/>
              <a:t> adversary }   </a:t>
            </a:r>
            <a:r>
              <a:rPr lang="en-NL" sz="2000" dirty="0">
                <a:sym typeface="Wingdings" pitchFamily="2" charset="2"/>
              </a:rPr>
              <a:t> with algorithm </a:t>
            </a:r>
            <a:r>
              <a:rPr lang="en-NL" sz="2000" b="1" dirty="0">
                <a:sym typeface="Wingdings" pitchFamily="2" charset="2"/>
              </a:rPr>
              <a:t>Prob0E</a:t>
            </a:r>
            <a:r>
              <a:rPr lang="en-NL" sz="2000" dirty="0">
                <a:sym typeface="Wingdings" pitchFamily="2" charset="2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NL" sz="2000" dirty="0">
                <a:sym typeface="Wingdings" pitchFamily="2" charset="2"/>
              </a:rPr>
              <a:t>For any state s in </a:t>
            </a:r>
            <a:r>
              <a:rPr lang="en-NL" sz="2000" dirty="0"/>
              <a:t>S</a:t>
            </a:r>
            <a:r>
              <a:rPr lang="en-NL" sz="2000" baseline="30000" dirty="0"/>
              <a:t>yes</a:t>
            </a:r>
            <a:r>
              <a:rPr lang="en-NL" sz="2000" dirty="0">
                <a:sym typeface="Wingdings" pitchFamily="2" charset="2"/>
              </a:rPr>
              <a:t>, we then know that </a:t>
            </a:r>
            <a:r>
              <a:rPr lang="en-NL" sz="2000" dirty="0"/>
              <a:t>pmin(s, 𝜑</a:t>
            </a:r>
            <a:r>
              <a:rPr lang="en-NL" sz="2000" baseline="-25000" dirty="0"/>
              <a:t>1</a:t>
            </a:r>
            <a:r>
              <a:rPr lang="en-NL" sz="2000" dirty="0"/>
              <a:t> </a:t>
            </a:r>
            <a:r>
              <a:rPr lang="en-NL" sz="2000" b="1" dirty="0"/>
              <a:t>U</a:t>
            </a:r>
            <a:r>
              <a:rPr lang="en-NL" sz="2000" dirty="0"/>
              <a:t> 𝜑</a:t>
            </a:r>
            <a:r>
              <a:rPr lang="en-NL" sz="2000" baseline="-25000" dirty="0"/>
              <a:t>2</a:t>
            </a:r>
            <a:r>
              <a:rPr lang="en-NL" sz="2000" dirty="0"/>
              <a:t>)</a:t>
            </a:r>
            <a:r>
              <a:rPr lang="en-NL" sz="2000" dirty="0">
                <a:sym typeface="Wingdings" pitchFamily="2" charset="2"/>
              </a:rPr>
              <a:t> </a:t>
            </a:r>
            <a:r>
              <a:rPr lang="en-NL" sz="2000" dirty="0"/>
              <a:t>≥</a:t>
            </a:r>
            <a:r>
              <a:rPr lang="en-NL" sz="2000" dirty="0">
                <a:sym typeface="Wingdings" pitchFamily="2" charset="2"/>
              </a:rPr>
              <a:t> 1.</a:t>
            </a:r>
          </a:p>
          <a:p>
            <a:pPr marL="514350" indent="-514350">
              <a:buFont typeface="+mj-lt"/>
              <a:buAutoNum type="arabicPeriod"/>
            </a:pPr>
            <a:r>
              <a:rPr lang="en-NL" sz="2000" dirty="0">
                <a:sym typeface="Wingdings" pitchFamily="2" charset="2"/>
              </a:rPr>
              <a:t>For any state s in </a:t>
            </a:r>
            <a:r>
              <a:rPr lang="en-NL" sz="2000" dirty="0"/>
              <a:t>S</a:t>
            </a:r>
            <a:r>
              <a:rPr lang="en-NL" sz="2000" baseline="30000" dirty="0"/>
              <a:t>no</a:t>
            </a:r>
            <a:r>
              <a:rPr lang="en-NL" sz="2000" dirty="0">
                <a:sym typeface="Wingdings" pitchFamily="2" charset="2"/>
              </a:rPr>
              <a:t> we have </a:t>
            </a:r>
            <a:r>
              <a:rPr lang="en-NL" sz="2000" dirty="0"/>
              <a:t>pmin(s, 𝜑</a:t>
            </a:r>
            <a:r>
              <a:rPr lang="en-NL" sz="2000" baseline="-25000" dirty="0"/>
              <a:t>1</a:t>
            </a:r>
            <a:r>
              <a:rPr lang="en-NL" sz="2000" dirty="0"/>
              <a:t> </a:t>
            </a:r>
            <a:r>
              <a:rPr lang="en-NL" sz="2000" b="1" dirty="0"/>
              <a:t>U</a:t>
            </a:r>
            <a:r>
              <a:rPr lang="en-NL" sz="2000" dirty="0"/>
              <a:t> 𝜑</a:t>
            </a:r>
            <a:r>
              <a:rPr lang="en-NL" sz="2000" baseline="-25000" dirty="0"/>
              <a:t>2</a:t>
            </a:r>
            <a:r>
              <a:rPr lang="en-NL" sz="2000" dirty="0"/>
              <a:t>)</a:t>
            </a:r>
            <a:r>
              <a:rPr lang="en-NL" sz="2000" dirty="0">
                <a:sym typeface="Wingdings" pitchFamily="2" charset="2"/>
              </a:rPr>
              <a:t> </a:t>
            </a:r>
            <a:r>
              <a:rPr lang="en-NL" sz="2000" dirty="0"/>
              <a:t>≤</a:t>
            </a:r>
            <a:r>
              <a:rPr lang="en-NL" sz="2000" dirty="0">
                <a:sym typeface="Wingdings" pitchFamily="2" charset="2"/>
              </a:rPr>
              <a:t> 0.</a:t>
            </a:r>
          </a:p>
          <a:p>
            <a:pPr marL="514350" indent="-514350">
              <a:buFont typeface="+mj-lt"/>
              <a:buAutoNum type="arabicPeriod"/>
            </a:pPr>
            <a:r>
              <a:rPr lang="en-NL" sz="2000" dirty="0">
                <a:sym typeface="Wingdings" pitchFamily="2" charset="2"/>
              </a:rPr>
              <a:t>We then proceed with calculating the pmin for the remaining states (which are not in </a:t>
            </a:r>
            <a:r>
              <a:rPr lang="en-NL" sz="2000" dirty="0"/>
              <a:t>S</a:t>
            </a:r>
            <a:r>
              <a:rPr lang="en-NL" sz="2000" baseline="30000" dirty="0"/>
              <a:t>yes  </a:t>
            </a:r>
            <a:r>
              <a:rPr lang="en-NL" sz="2000" dirty="0">
                <a:sym typeface="Wingdings" pitchFamily="2" charset="2"/>
              </a:rPr>
              <a:t>nor </a:t>
            </a:r>
            <a:r>
              <a:rPr lang="en-NL" sz="2000" dirty="0"/>
              <a:t>S</a:t>
            </a:r>
            <a:r>
              <a:rPr lang="en-NL" sz="2000" baseline="30000" dirty="0"/>
              <a:t>no</a:t>
            </a:r>
            <a:r>
              <a:rPr lang="en-NL" sz="2000" dirty="0">
                <a:sym typeface="Wingdings" pitchFamily="2" charset="2"/>
              </a:rPr>
              <a:t>).</a:t>
            </a:r>
          </a:p>
          <a:p>
            <a:endParaRPr lang="en-NL" sz="2000" dirty="0">
              <a:sym typeface="Wingdings" pitchFamily="2" charset="2"/>
            </a:endParaRPr>
          </a:p>
          <a:p>
            <a:endParaRPr lang="en-NL" sz="2000" dirty="0">
              <a:sym typeface="Wingdings" pitchFamily="2" charset="2"/>
            </a:endParaRPr>
          </a:p>
          <a:p>
            <a:pPr marL="0" indent="0">
              <a:buNone/>
            </a:pPr>
            <a:endParaRPr lang="en-NL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1645DB-C8D4-2B26-B6A0-3FC3D7035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D021F5-617A-4386-B224-EDC4A8F1A934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716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C7DC4-FAA6-96E2-E577-93752D274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Algorithm </a:t>
            </a:r>
            <a:r>
              <a:rPr lang="en-NL" b="1" dirty="0"/>
              <a:t>Prob0E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217A1-9D4B-F3A8-4570-09BA483CEF5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3250" y="1108393"/>
            <a:ext cx="8643966" cy="2532529"/>
          </a:xfrm>
        </p:spPr>
        <p:txBody>
          <a:bodyPr/>
          <a:lstStyle/>
          <a:p>
            <a:r>
              <a:rPr lang="en-NL" sz="2000" dirty="0"/>
              <a:t>The algorithm below first calculates the set R of all states s satisfying E[s, 𝜑</a:t>
            </a:r>
            <a:r>
              <a:rPr lang="en-NL" sz="2000" baseline="-25000" dirty="0"/>
              <a:t>1</a:t>
            </a:r>
            <a:r>
              <a:rPr lang="en-NL" sz="2000" dirty="0"/>
              <a:t> U 𝜑</a:t>
            </a:r>
            <a:r>
              <a:rPr lang="en-NL" sz="2000" baseline="-25000" dirty="0"/>
              <a:t>2</a:t>
            </a:r>
            <a:r>
              <a:rPr lang="en-NL" sz="2000" dirty="0"/>
              <a:t>], regardless the adversary. So, for any state in R, and for any adversary Prob(s, 𝜑</a:t>
            </a:r>
            <a:r>
              <a:rPr lang="en-NL" sz="2000" baseline="-25000" dirty="0"/>
              <a:t>1</a:t>
            </a:r>
            <a:r>
              <a:rPr lang="en-NL" sz="2000" dirty="0"/>
              <a:t> U 𝜑</a:t>
            </a:r>
            <a:r>
              <a:rPr lang="en-NL" sz="2000" baseline="-25000" dirty="0"/>
              <a:t>2</a:t>
            </a:r>
            <a:r>
              <a:rPr lang="en-NL" sz="2000" dirty="0"/>
              <a:t>) &gt; 0.</a:t>
            </a:r>
          </a:p>
          <a:p>
            <a:r>
              <a:rPr lang="en-NL" sz="2000" dirty="0"/>
              <a:t>S</a:t>
            </a:r>
            <a:r>
              <a:rPr lang="en-NL" sz="2000" baseline="30000" dirty="0"/>
              <a:t>no</a:t>
            </a:r>
            <a:r>
              <a:rPr lang="en-NL" sz="2000" dirty="0"/>
              <a:t> is just complement S/R.</a:t>
            </a:r>
          </a:p>
          <a:p>
            <a:r>
              <a:rPr lang="en-GB" sz="2000" dirty="0"/>
              <a:t>S</a:t>
            </a:r>
            <a:r>
              <a:rPr lang="en-NL" sz="2000" dirty="0"/>
              <a:t>at(𝜑</a:t>
            </a:r>
            <a:r>
              <a:rPr lang="en-NL" sz="2000" baseline="-25000" dirty="0"/>
              <a:t>1</a:t>
            </a:r>
            <a:r>
              <a:rPr lang="en-NL" sz="2000" dirty="0"/>
              <a:t>) and Sat(𝜑</a:t>
            </a:r>
            <a:r>
              <a:rPr lang="en-NL" sz="2000" baseline="-25000" dirty="0"/>
              <a:t>2</a:t>
            </a:r>
            <a:r>
              <a:rPr lang="en-NL" sz="2000" dirty="0"/>
              <a:t>) in the paremeters are the set of states on which 𝜑</a:t>
            </a:r>
            <a:r>
              <a:rPr lang="en-NL" sz="2000" baseline="-25000" dirty="0"/>
              <a:t>1 </a:t>
            </a:r>
            <a:r>
              <a:rPr lang="en-NL" sz="2000" dirty="0"/>
              <a:t>and 𝜑</a:t>
            </a:r>
            <a:r>
              <a:rPr lang="en-NL" sz="2000" baseline="-25000" dirty="0"/>
              <a:t>2 </a:t>
            </a:r>
            <a:r>
              <a:rPr lang="en-NL" sz="2000" dirty="0"/>
              <a:t>respectively hold.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36B372-0528-1939-1506-3C983F48F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D021F5-617A-4386-B224-EDC4A8F1A934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99928C41-08A3-3D2A-5A26-7524AA753C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957" y="3292858"/>
            <a:ext cx="7772400" cy="3290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0907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54452-C02F-9256-8E1F-790D8E121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b="1" dirty="0"/>
              <a:t>Prob1A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EF3A0-94EF-4D66-C069-A812797F036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NL" sz="2000" dirty="0"/>
              <a:t>Calculate first the set F of states from where we have a path passing exclusively through states satisfying 𝜑</a:t>
            </a:r>
            <a:r>
              <a:rPr lang="en-NL" sz="2000" baseline="-25000" dirty="0"/>
              <a:t>1</a:t>
            </a:r>
            <a:r>
              <a:rPr lang="en-NL" sz="2000" dirty="0"/>
              <a:t> ∧ ¬𝜑</a:t>
            </a:r>
            <a:r>
              <a:rPr lang="en-NL" sz="2000" baseline="-25000" dirty="0"/>
              <a:t>2</a:t>
            </a:r>
            <a:r>
              <a:rPr lang="en-NL" sz="2000" dirty="0"/>
              <a:t> and ends in S</a:t>
            </a:r>
            <a:r>
              <a:rPr lang="en-NL" sz="2000" baseline="30000" dirty="0"/>
              <a:t>no</a:t>
            </a:r>
            <a:r>
              <a:rPr lang="en-NL" sz="2000" dirty="0"/>
              <a:t>, under </a:t>
            </a:r>
            <a:r>
              <a:rPr lang="en-NL" sz="2000" b="1" dirty="0"/>
              <a:t>some</a:t>
            </a:r>
            <a:r>
              <a:rPr lang="en-NL" sz="2000" dirty="0"/>
              <a:t> adversary.</a:t>
            </a:r>
            <a:br>
              <a:rPr lang="en-NL" sz="2000" dirty="0"/>
            </a:br>
            <a:r>
              <a:rPr lang="en-NL" sz="2000" dirty="0"/>
              <a:t>By definition this F also includes S</a:t>
            </a:r>
            <a:r>
              <a:rPr lang="en-NL" sz="2000" baseline="30000" dirty="0"/>
              <a:t>no</a:t>
            </a:r>
            <a:r>
              <a:rPr lang="en-NL" sz="2000" dirty="0"/>
              <a:t>. </a:t>
            </a:r>
          </a:p>
          <a:p>
            <a:r>
              <a:rPr lang="en-NL" sz="2000" dirty="0"/>
              <a:t>So any state s in F has Prob(s, 𝜑</a:t>
            </a:r>
            <a:r>
              <a:rPr lang="en-NL" sz="2000" baseline="-25000" dirty="0"/>
              <a:t>1</a:t>
            </a:r>
            <a:r>
              <a:rPr lang="en-NL" sz="2000" dirty="0"/>
              <a:t> U 𝜑</a:t>
            </a:r>
            <a:r>
              <a:rPr lang="en-NL" sz="2000" baseline="-25000" dirty="0"/>
              <a:t>2</a:t>
            </a:r>
            <a:r>
              <a:rPr lang="en-NL" sz="2000" dirty="0"/>
              <a:t>) &lt; 1, for some adversary. In other words </a:t>
            </a:r>
            <a:r>
              <a:rPr lang="en-NL" sz="1800" dirty="0"/>
              <a:t>pmin(s, 𝜑</a:t>
            </a:r>
            <a:r>
              <a:rPr lang="en-NL" sz="1800" baseline="-25000" dirty="0"/>
              <a:t>1</a:t>
            </a:r>
            <a:r>
              <a:rPr lang="en-NL" sz="1800" dirty="0"/>
              <a:t> U 𝜑</a:t>
            </a:r>
            <a:r>
              <a:rPr lang="en-NL" sz="1800" baseline="-25000" dirty="0"/>
              <a:t>2</a:t>
            </a:r>
            <a:r>
              <a:rPr lang="en-NL" sz="1800" dirty="0"/>
              <a:t>) &lt; 1.</a:t>
            </a:r>
          </a:p>
          <a:p>
            <a:r>
              <a:rPr lang="en-NL" sz="1800" dirty="0"/>
              <a:t>P</a:t>
            </a:r>
            <a:r>
              <a:rPr lang="en-NL" sz="1800" baseline="30000" dirty="0"/>
              <a:t>yes</a:t>
            </a:r>
            <a:r>
              <a:rPr lang="en-NL" sz="1800" dirty="0"/>
              <a:t> in the the complement S/F.</a:t>
            </a:r>
          </a:p>
          <a:p>
            <a:endParaRPr lang="en-NL" sz="1800" dirty="0"/>
          </a:p>
          <a:p>
            <a:r>
              <a:rPr lang="en-NL" sz="1800" b="1" dirty="0"/>
              <a:t>Note</a:t>
            </a:r>
            <a:r>
              <a:rPr lang="en-NL" sz="1800" dirty="0"/>
              <a:t>: for the calculation of pmin(s, 𝜑</a:t>
            </a:r>
            <a:r>
              <a:rPr lang="en-NL" sz="1800" baseline="-25000" dirty="0"/>
              <a:t>1</a:t>
            </a:r>
            <a:r>
              <a:rPr lang="en-NL" sz="1800" dirty="0"/>
              <a:t> </a:t>
            </a:r>
            <a:r>
              <a:rPr lang="en-NL" sz="1800" b="1" dirty="0"/>
              <a:t>U</a:t>
            </a:r>
            <a:r>
              <a:rPr lang="en-NL" sz="1800" dirty="0"/>
              <a:t> 𝜑</a:t>
            </a:r>
            <a:r>
              <a:rPr lang="en-NL" sz="1800" baseline="-25000" dirty="0"/>
              <a:t>2</a:t>
            </a:r>
            <a:r>
              <a:rPr lang="en-NL" sz="1800" dirty="0"/>
              <a:t>), we can also just take S</a:t>
            </a:r>
            <a:r>
              <a:rPr lang="en-NL" sz="1800" baseline="30000" dirty="0"/>
              <a:t>yes</a:t>
            </a:r>
            <a:r>
              <a:rPr lang="en-NL" sz="1800" dirty="0"/>
              <a:t> = Sat(𝜑</a:t>
            </a:r>
            <a:r>
              <a:rPr lang="en-NL" sz="1800" baseline="-25000" dirty="0"/>
              <a:t>2</a:t>
            </a:r>
            <a:r>
              <a:rPr lang="en-NL" sz="1800" dirty="0"/>
              <a:t>). The calculation would still works, though it would take more steps to get its final results.</a:t>
            </a:r>
          </a:p>
          <a:p>
            <a:r>
              <a:rPr lang="en-NL" sz="1800" dirty="0"/>
              <a:t> </a:t>
            </a:r>
            <a:endParaRPr lang="en-NL" sz="2000" dirty="0"/>
          </a:p>
          <a:p>
            <a:endParaRPr lang="en-NL" sz="2000" dirty="0"/>
          </a:p>
          <a:p>
            <a:endParaRPr lang="en-NL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1B8C5B-5A3C-7532-1CDB-7261D82F8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D021F5-617A-4386-B224-EDC4A8F1A934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5217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64C19-1977-C724-56CD-AA6D23FD4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394" y="357295"/>
            <a:ext cx="8105245" cy="796908"/>
          </a:xfrm>
        </p:spPr>
        <p:txBody>
          <a:bodyPr/>
          <a:lstStyle/>
          <a:p>
            <a:r>
              <a:rPr lang="en-NL" sz="3600" dirty="0"/>
              <a:t>Calculating pmax(s, 𝜑</a:t>
            </a:r>
            <a:r>
              <a:rPr lang="en-NL" sz="3600" baseline="-25000" dirty="0"/>
              <a:t>1</a:t>
            </a:r>
            <a:r>
              <a:rPr lang="en-NL" sz="3600" dirty="0"/>
              <a:t> </a:t>
            </a:r>
            <a:r>
              <a:rPr lang="en-NL" sz="3600" b="1" dirty="0"/>
              <a:t>U</a:t>
            </a:r>
            <a:r>
              <a:rPr lang="en-NL" sz="3600" dirty="0"/>
              <a:t> 𝜑</a:t>
            </a:r>
            <a:r>
              <a:rPr lang="en-NL" sz="3600" baseline="-25000" dirty="0"/>
              <a:t>2</a:t>
            </a:r>
            <a:r>
              <a:rPr lang="en-NL" sz="3600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98207-8EBB-439E-87B2-D1625A62A33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769393" y="1452281"/>
            <a:ext cx="8105245" cy="4758019"/>
          </a:xfrm>
        </p:spPr>
        <p:txBody>
          <a:bodyPr/>
          <a:lstStyle/>
          <a:p>
            <a:pPr marL="0" indent="0">
              <a:buNone/>
            </a:pPr>
            <a:r>
              <a:rPr lang="en-NL" sz="2000" dirty="0"/>
              <a:t>pmax(s, 𝜑) = the </a:t>
            </a:r>
            <a:r>
              <a:rPr lang="en-NL" sz="2000" b="1" dirty="0"/>
              <a:t>maximum</a:t>
            </a:r>
            <a:r>
              <a:rPr lang="en-NL" sz="2000" dirty="0"/>
              <a:t> probability for having executions starting from 2 satisfying 𝜑, regardless the adversary. </a:t>
            </a:r>
          </a:p>
          <a:p>
            <a:pPr marL="0" indent="0">
              <a:buNone/>
            </a:pPr>
            <a:endParaRPr lang="en-NL" sz="2000" dirty="0"/>
          </a:p>
          <a:p>
            <a:pPr marL="0" indent="0">
              <a:buNone/>
            </a:pPr>
            <a:r>
              <a:rPr lang="en-NL" sz="2000" dirty="0"/>
              <a:t>To calculate pmax(s, 𝜑</a:t>
            </a:r>
            <a:r>
              <a:rPr lang="en-NL" sz="2000" baseline="-25000" dirty="0"/>
              <a:t>1</a:t>
            </a:r>
            <a:r>
              <a:rPr lang="en-NL" sz="2000" dirty="0"/>
              <a:t> </a:t>
            </a:r>
            <a:r>
              <a:rPr lang="en-NL" sz="2000" b="1" dirty="0"/>
              <a:t>U</a:t>
            </a:r>
            <a:r>
              <a:rPr lang="en-NL" sz="2000" dirty="0"/>
              <a:t> 𝜑</a:t>
            </a:r>
            <a:r>
              <a:rPr lang="en-NL" sz="2000" baseline="-25000" dirty="0"/>
              <a:t>2</a:t>
            </a:r>
            <a:r>
              <a:rPr lang="en-NL" sz="2000" dirty="0"/>
              <a:t>) :</a:t>
            </a:r>
          </a:p>
          <a:p>
            <a:pPr marL="514350" indent="-514350">
              <a:buFont typeface="+mj-lt"/>
              <a:buAutoNum type="arabicPeriod"/>
            </a:pPr>
            <a:r>
              <a:rPr lang="en-NL" sz="2000" dirty="0"/>
              <a:t>Calculate first the sets S</a:t>
            </a:r>
            <a:r>
              <a:rPr lang="en-NL" sz="2000" baseline="30000" dirty="0"/>
              <a:t>yes</a:t>
            </a:r>
            <a:r>
              <a:rPr lang="en-NL" sz="2000" dirty="0"/>
              <a:t> and S</a:t>
            </a:r>
            <a:r>
              <a:rPr lang="en-NL" sz="2000" baseline="30000" dirty="0"/>
              <a:t>no</a:t>
            </a:r>
            <a:r>
              <a:rPr lang="en-NL" sz="2000" dirty="0"/>
              <a:t>.</a:t>
            </a:r>
          </a:p>
          <a:p>
            <a:pPr marL="788988" lvl="1" indent="-514350"/>
            <a:r>
              <a:rPr lang="en-NL" sz="2000" dirty="0"/>
              <a:t>S</a:t>
            </a:r>
            <a:r>
              <a:rPr lang="en-NL" sz="2000" baseline="30000" dirty="0"/>
              <a:t>yes</a:t>
            </a:r>
            <a:r>
              <a:rPr lang="en-NL" sz="2000" dirty="0"/>
              <a:t> = { s | P(s, 𝜑</a:t>
            </a:r>
            <a:r>
              <a:rPr lang="en-NL" sz="2000" baseline="-25000" dirty="0"/>
              <a:t>1</a:t>
            </a:r>
            <a:r>
              <a:rPr lang="en-NL" sz="2000" dirty="0"/>
              <a:t> U 𝜑</a:t>
            </a:r>
            <a:r>
              <a:rPr lang="en-NL" sz="2000" baseline="-25000" dirty="0"/>
              <a:t>2</a:t>
            </a:r>
            <a:r>
              <a:rPr lang="en-NL" sz="2000" dirty="0"/>
              <a:t>) ≥ 1, for </a:t>
            </a:r>
            <a:r>
              <a:rPr lang="en-NL" sz="2000" b="1" dirty="0"/>
              <a:t>some</a:t>
            </a:r>
            <a:r>
              <a:rPr lang="en-NL" sz="2000" dirty="0"/>
              <a:t> adversaries }   </a:t>
            </a:r>
            <a:r>
              <a:rPr lang="en-NL" sz="2000" dirty="0">
                <a:sym typeface="Wingdings" pitchFamily="2" charset="2"/>
              </a:rPr>
              <a:t> with algorithm prob1E.</a:t>
            </a:r>
          </a:p>
          <a:p>
            <a:pPr marL="788988" lvl="1" indent="-514350"/>
            <a:r>
              <a:rPr lang="en-NL" sz="2000" dirty="0"/>
              <a:t>S</a:t>
            </a:r>
            <a:r>
              <a:rPr lang="en-NL" sz="2000" baseline="30000" dirty="0"/>
              <a:t>no</a:t>
            </a:r>
            <a:r>
              <a:rPr lang="en-NL" sz="2000" dirty="0"/>
              <a:t> = { s | P(s, 𝜑</a:t>
            </a:r>
            <a:r>
              <a:rPr lang="en-NL" sz="2000" baseline="-25000" dirty="0"/>
              <a:t>1</a:t>
            </a:r>
            <a:r>
              <a:rPr lang="en-NL" sz="2000" dirty="0"/>
              <a:t> U 𝜑</a:t>
            </a:r>
            <a:r>
              <a:rPr lang="en-NL" sz="2000" baseline="-25000" dirty="0"/>
              <a:t>2</a:t>
            </a:r>
            <a:r>
              <a:rPr lang="en-NL" sz="2000" dirty="0"/>
              <a:t>) ≤ 0, for </a:t>
            </a:r>
            <a:r>
              <a:rPr lang="en-NL" sz="2000" b="1" dirty="0"/>
              <a:t>all</a:t>
            </a:r>
            <a:r>
              <a:rPr lang="en-NL" sz="2000" dirty="0"/>
              <a:t> adversary }   </a:t>
            </a:r>
            <a:r>
              <a:rPr lang="en-NL" sz="2000" dirty="0">
                <a:sym typeface="Wingdings" pitchFamily="2" charset="2"/>
              </a:rPr>
              <a:t> with algorithm prob0A.</a:t>
            </a:r>
          </a:p>
          <a:p>
            <a:pPr marL="514350" indent="-514350">
              <a:buFont typeface="+mj-lt"/>
              <a:buAutoNum type="arabicPeriod"/>
            </a:pPr>
            <a:r>
              <a:rPr lang="en-NL" sz="2000" dirty="0">
                <a:sym typeface="Wingdings" pitchFamily="2" charset="2"/>
              </a:rPr>
              <a:t>For any state s in </a:t>
            </a:r>
            <a:r>
              <a:rPr lang="en-NL" sz="2000" dirty="0"/>
              <a:t>S</a:t>
            </a:r>
            <a:r>
              <a:rPr lang="en-NL" sz="2000" baseline="30000" dirty="0"/>
              <a:t>yes</a:t>
            </a:r>
            <a:r>
              <a:rPr lang="en-NL" sz="2000" dirty="0">
                <a:sym typeface="Wingdings" pitchFamily="2" charset="2"/>
              </a:rPr>
              <a:t>, we then know that </a:t>
            </a:r>
            <a:r>
              <a:rPr lang="en-NL" sz="2000" dirty="0"/>
              <a:t>pmax(s, 𝜑</a:t>
            </a:r>
            <a:r>
              <a:rPr lang="en-NL" sz="2000" baseline="-25000" dirty="0"/>
              <a:t>1</a:t>
            </a:r>
            <a:r>
              <a:rPr lang="en-NL" sz="2000" dirty="0"/>
              <a:t> </a:t>
            </a:r>
            <a:r>
              <a:rPr lang="en-NL" sz="2000" b="1" dirty="0"/>
              <a:t>U</a:t>
            </a:r>
            <a:r>
              <a:rPr lang="en-NL" sz="2000" dirty="0"/>
              <a:t> 𝜑</a:t>
            </a:r>
            <a:r>
              <a:rPr lang="en-NL" sz="2000" baseline="-25000" dirty="0"/>
              <a:t>2</a:t>
            </a:r>
            <a:r>
              <a:rPr lang="en-NL" sz="2000" dirty="0"/>
              <a:t>)</a:t>
            </a:r>
            <a:r>
              <a:rPr lang="en-NL" sz="2000" dirty="0">
                <a:sym typeface="Wingdings" pitchFamily="2" charset="2"/>
              </a:rPr>
              <a:t> </a:t>
            </a:r>
            <a:r>
              <a:rPr lang="en-NL" sz="2000" dirty="0"/>
              <a:t>≥</a:t>
            </a:r>
            <a:r>
              <a:rPr lang="en-NL" sz="2000" dirty="0">
                <a:sym typeface="Wingdings" pitchFamily="2" charset="2"/>
              </a:rPr>
              <a:t> 1.</a:t>
            </a:r>
          </a:p>
          <a:p>
            <a:pPr marL="514350" indent="-514350">
              <a:buFont typeface="+mj-lt"/>
              <a:buAutoNum type="arabicPeriod"/>
            </a:pPr>
            <a:r>
              <a:rPr lang="en-NL" sz="2000" dirty="0">
                <a:sym typeface="Wingdings" pitchFamily="2" charset="2"/>
              </a:rPr>
              <a:t>For any state s in </a:t>
            </a:r>
            <a:r>
              <a:rPr lang="en-NL" sz="2000" dirty="0"/>
              <a:t>S</a:t>
            </a:r>
            <a:r>
              <a:rPr lang="en-NL" sz="2000" baseline="30000" dirty="0"/>
              <a:t>no</a:t>
            </a:r>
            <a:r>
              <a:rPr lang="en-NL" sz="2000" dirty="0">
                <a:sym typeface="Wingdings" pitchFamily="2" charset="2"/>
              </a:rPr>
              <a:t> we have </a:t>
            </a:r>
            <a:r>
              <a:rPr lang="en-NL" sz="2000" dirty="0"/>
              <a:t>pmax(s, 𝜑</a:t>
            </a:r>
            <a:r>
              <a:rPr lang="en-NL" sz="2000" baseline="-25000" dirty="0"/>
              <a:t>1</a:t>
            </a:r>
            <a:r>
              <a:rPr lang="en-NL" sz="2000" dirty="0"/>
              <a:t> </a:t>
            </a:r>
            <a:r>
              <a:rPr lang="en-NL" sz="2000" b="1" dirty="0"/>
              <a:t>U</a:t>
            </a:r>
            <a:r>
              <a:rPr lang="en-NL" sz="2000" dirty="0"/>
              <a:t> 𝜑</a:t>
            </a:r>
            <a:r>
              <a:rPr lang="en-NL" sz="2000" baseline="-25000" dirty="0"/>
              <a:t>2</a:t>
            </a:r>
            <a:r>
              <a:rPr lang="en-NL" sz="2000" dirty="0"/>
              <a:t>)</a:t>
            </a:r>
            <a:r>
              <a:rPr lang="en-NL" sz="2000" dirty="0">
                <a:sym typeface="Wingdings" pitchFamily="2" charset="2"/>
              </a:rPr>
              <a:t> </a:t>
            </a:r>
            <a:r>
              <a:rPr lang="en-NL" sz="2000" dirty="0"/>
              <a:t>≤</a:t>
            </a:r>
            <a:r>
              <a:rPr lang="en-NL" sz="2000" dirty="0">
                <a:sym typeface="Wingdings" pitchFamily="2" charset="2"/>
              </a:rPr>
              <a:t> 0.</a:t>
            </a:r>
          </a:p>
          <a:p>
            <a:pPr marL="514350" indent="-514350">
              <a:buFont typeface="+mj-lt"/>
              <a:buAutoNum type="arabicPeriod"/>
            </a:pPr>
            <a:r>
              <a:rPr lang="en-NL" sz="2000" dirty="0">
                <a:sym typeface="Wingdings" pitchFamily="2" charset="2"/>
              </a:rPr>
              <a:t>We then proceed with calculating the pmin for the remaining states (which are not in </a:t>
            </a:r>
            <a:r>
              <a:rPr lang="en-NL" sz="2000" dirty="0"/>
              <a:t>S</a:t>
            </a:r>
            <a:r>
              <a:rPr lang="en-NL" sz="2000" baseline="30000" dirty="0"/>
              <a:t>yes  </a:t>
            </a:r>
            <a:r>
              <a:rPr lang="en-NL" sz="2000" dirty="0">
                <a:sym typeface="Wingdings" pitchFamily="2" charset="2"/>
              </a:rPr>
              <a:t>nor </a:t>
            </a:r>
            <a:r>
              <a:rPr lang="en-NL" sz="2000" dirty="0"/>
              <a:t>S</a:t>
            </a:r>
            <a:r>
              <a:rPr lang="en-NL" sz="2000" baseline="30000" dirty="0"/>
              <a:t>no</a:t>
            </a:r>
            <a:r>
              <a:rPr lang="en-NL" sz="2000" dirty="0">
                <a:sym typeface="Wingdings" pitchFamily="2" charset="2"/>
              </a:rPr>
              <a:t>).</a:t>
            </a:r>
          </a:p>
          <a:p>
            <a:endParaRPr lang="en-NL" sz="2000" dirty="0">
              <a:sym typeface="Wingdings" pitchFamily="2" charset="2"/>
            </a:endParaRPr>
          </a:p>
          <a:p>
            <a:endParaRPr lang="en-NL" sz="2000" dirty="0">
              <a:sym typeface="Wingdings" pitchFamily="2" charset="2"/>
            </a:endParaRPr>
          </a:p>
          <a:p>
            <a:pPr marL="0" indent="0">
              <a:buNone/>
            </a:pPr>
            <a:endParaRPr lang="en-NL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1645DB-C8D4-2B26-B6A0-3FC3D7035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D021F5-617A-4386-B224-EDC4A8F1A934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2977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C7DC4-FAA6-96E2-E577-93752D274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Algorithm </a:t>
            </a:r>
            <a:r>
              <a:rPr lang="en-NL" b="1" dirty="0"/>
              <a:t>Prob0A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217A1-9D4B-F3A8-4570-09BA483CEF5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3250" y="1108393"/>
            <a:ext cx="8643966" cy="2532529"/>
          </a:xfrm>
        </p:spPr>
        <p:txBody>
          <a:bodyPr/>
          <a:lstStyle/>
          <a:p>
            <a:r>
              <a:rPr lang="en-NL" sz="2000" dirty="0"/>
              <a:t>The algorithm below first calculates the set R of all states s satisfying E[s, 𝜑</a:t>
            </a:r>
            <a:r>
              <a:rPr lang="en-NL" sz="2000" baseline="-25000" dirty="0"/>
              <a:t>1</a:t>
            </a:r>
            <a:r>
              <a:rPr lang="en-NL" sz="2000" dirty="0"/>
              <a:t> U 𝜑</a:t>
            </a:r>
            <a:r>
              <a:rPr lang="en-NL" sz="2000" baseline="-25000" dirty="0"/>
              <a:t>2</a:t>
            </a:r>
            <a:r>
              <a:rPr lang="en-NL" sz="2000" dirty="0"/>
              <a:t>], for some adversary. So, for any state in R, there is an adversary such that Prob(s, 𝜑</a:t>
            </a:r>
            <a:r>
              <a:rPr lang="en-NL" sz="2000" baseline="-25000" dirty="0"/>
              <a:t>1</a:t>
            </a:r>
            <a:r>
              <a:rPr lang="en-NL" sz="2000" dirty="0"/>
              <a:t> U 𝜑</a:t>
            </a:r>
            <a:r>
              <a:rPr lang="en-NL" sz="2000" baseline="-25000" dirty="0"/>
              <a:t>2</a:t>
            </a:r>
            <a:r>
              <a:rPr lang="en-NL" sz="2000" dirty="0"/>
              <a:t>) &gt; 0.</a:t>
            </a:r>
          </a:p>
          <a:p>
            <a:r>
              <a:rPr lang="en-NL" sz="2000" dirty="0"/>
              <a:t>S</a:t>
            </a:r>
            <a:r>
              <a:rPr lang="en-NL" sz="2000" baseline="30000" dirty="0"/>
              <a:t>no</a:t>
            </a:r>
            <a:r>
              <a:rPr lang="en-NL" sz="2000" dirty="0"/>
              <a:t> is just complement S/R.</a:t>
            </a:r>
          </a:p>
          <a:p>
            <a:r>
              <a:rPr lang="en-GB" sz="2000" dirty="0"/>
              <a:t>S</a:t>
            </a:r>
            <a:r>
              <a:rPr lang="en-NL" sz="2000" dirty="0"/>
              <a:t>at(𝜑</a:t>
            </a:r>
            <a:r>
              <a:rPr lang="en-NL" sz="2000" baseline="-25000" dirty="0"/>
              <a:t>1</a:t>
            </a:r>
            <a:r>
              <a:rPr lang="en-NL" sz="2000" dirty="0"/>
              <a:t>) and Sat(𝜑</a:t>
            </a:r>
            <a:r>
              <a:rPr lang="en-NL" sz="2000" baseline="-25000" dirty="0"/>
              <a:t>2</a:t>
            </a:r>
            <a:r>
              <a:rPr lang="en-NL" sz="2000" dirty="0"/>
              <a:t>) in the paremeters are the set of states on which 𝜑</a:t>
            </a:r>
            <a:r>
              <a:rPr lang="en-NL" sz="2000" baseline="-25000" dirty="0"/>
              <a:t>1 </a:t>
            </a:r>
            <a:r>
              <a:rPr lang="en-NL" sz="2000" dirty="0"/>
              <a:t>and 𝜑</a:t>
            </a:r>
            <a:r>
              <a:rPr lang="en-NL" sz="2000" baseline="-25000" dirty="0"/>
              <a:t>2 </a:t>
            </a:r>
            <a:r>
              <a:rPr lang="en-NL" sz="2000" dirty="0"/>
              <a:t>respectively hold.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36B372-0528-1939-1506-3C983F48F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D021F5-617A-4386-B224-EDC4A8F1A934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pic>
        <p:nvPicPr>
          <p:cNvPr id="7" name="Picture 6" descr="A screenshot of a math problem&#10;&#10;Description automatically generated">
            <a:extLst>
              <a:ext uri="{FF2B5EF4-FFF2-40B4-BE49-F238E27FC236}">
                <a16:creationId xmlns:a16="http://schemas.microsoft.com/office/drawing/2014/main" id="{CA42452E-6633-27DC-ADF7-6B82F0A76A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950" y="3300011"/>
            <a:ext cx="7670800" cy="325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0062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54452-C02F-9256-8E1F-790D8E121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b="1" dirty="0"/>
              <a:t>Prob1E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EF3A0-94EF-4D66-C069-A812797F036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NL" sz="2000" dirty="0"/>
              <a:t>More complicated. See Dave’s slides on MDP.</a:t>
            </a:r>
          </a:p>
          <a:p>
            <a:endParaRPr lang="en-NL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1B8C5B-5A3C-7532-1CDB-7261D82F8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D021F5-617A-4386-B224-EDC4A8F1A934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4061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8BD28-32FD-55F1-B38A-B29453EC8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Prob1E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85299-C8B1-6EDC-FA90-2858EA73FC4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A93E22-F0FE-B16A-A0C5-DB74369CA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D021F5-617A-4386-B224-EDC4A8F1A934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9557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ermogen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Kantoor - klassiek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Vermogen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PV_spin1_0910</Template>
  <TotalTime>34592</TotalTime>
  <Words>3023</Words>
  <Application>Microsoft Macintosh PowerPoint</Application>
  <PresentationFormat>On-screen Show (4:3)</PresentationFormat>
  <Paragraphs>495</Paragraphs>
  <Slides>28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Cambria Math</vt:lpstr>
      <vt:lpstr>Wingdings 2</vt:lpstr>
      <vt:lpstr>Vermogen</vt:lpstr>
      <vt:lpstr>Probabilistic Model Checking</vt:lpstr>
      <vt:lpstr>additional slides DTMC</vt:lpstr>
      <vt:lpstr>Probability of taking a path or a set of paths</vt:lpstr>
      <vt:lpstr>Probability of taking a path or a set of paths</vt:lpstr>
      <vt:lpstr>Probability Matrix Representation</vt:lpstr>
      <vt:lpstr>Basic Operations on Probability Matrix</vt:lpstr>
      <vt:lpstr>Pn</vt:lpstr>
      <vt:lpstr>Probabity distribution of the next state, given the current distribution</vt:lpstr>
      <vt:lpstr>Probabilty vector</vt:lpstr>
      <vt:lpstr>Probability vector</vt:lpstr>
      <vt:lpstr>The construction of P’ for bounded Until</vt:lpstr>
      <vt:lpstr>The construction of P’ for bounded Until</vt:lpstr>
      <vt:lpstr>The construction of P’ for bounded Until</vt:lpstr>
      <vt:lpstr>Using P’ for bounded Until</vt:lpstr>
      <vt:lpstr>So, does the property hold?</vt:lpstr>
      <vt:lpstr>Buchi vs Rabin</vt:lpstr>
      <vt:lpstr>Example</vt:lpstr>
      <vt:lpstr>Intersection DTMC and Rabin</vt:lpstr>
      <vt:lpstr>Intersection DTMC and Rabin</vt:lpstr>
      <vt:lpstr>Calculating Prob(𝜑)</vt:lpstr>
      <vt:lpstr>additional slides MDP</vt:lpstr>
      <vt:lpstr>Calculating pmin(s, 𝜑1 U 𝜑2)</vt:lpstr>
      <vt:lpstr>Algorithm Prob0E</vt:lpstr>
      <vt:lpstr>Prob1A</vt:lpstr>
      <vt:lpstr>Calculating pmax(s, 𝜑1 U 𝜑2)</vt:lpstr>
      <vt:lpstr>Algorithm Prob0A</vt:lpstr>
      <vt:lpstr>Prob1E</vt:lpstr>
      <vt:lpstr>Prob1E</vt:lpstr>
    </vt:vector>
  </TitlesOfParts>
  <Company>U.U.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Alternating Bit Protocol</dc:title>
  <dc:creator>wishnu</dc:creator>
  <cp:lastModifiedBy>Prasetya, S.W.B. (Wishnu)</cp:lastModifiedBy>
  <cp:revision>648</cp:revision>
  <cp:lastPrinted>2018-11-01T08:45:00Z</cp:lastPrinted>
  <dcterms:created xsi:type="dcterms:W3CDTF">2007-01-29T13:01:43Z</dcterms:created>
  <dcterms:modified xsi:type="dcterms:W3CDTF">2025-10-24T19:10:05Z</dcterms:modified>
</cp:coreProperties>
</file>