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94" r:id="rId1"/>
  </p:sldMasterIdLst>
  <p:notesMasterIdLst>
    <p:notesMasterId r:id="rId62"/>
  </p:notesMasterIdLst>
  <p:sldIdLst>
    <p:sldId id="256" r:id="rId2"/>
    <p:sldId id="257" r:id="rId3"/>
    <p:sldId id="267" r:id="rId4"/>
    <p:sldId id="394" r:id="rId5"/>
    <p:sldId id="395" r:id="rId6"/>
    <p:sldId id="396" r:id="rId7"/>
    <p:sldId id="399" r:id="rId8"/>
    <p:sldId id="397" r:id="rId9"/>
    <p:sldId id="398" r:id="rId10"/>
    <p:sldId id="372" r:id="rId11"/>
    <p:sldId id="316" r:id="rId12"/>
    <p:sldId id="384" r:id="rId13"/>
    <p:sldId id="318" r:id="rId14"/>
    <p:sldId id="400" r:id="rId15"/>
    <p:sldId id="324" r:id="rId16"/>
    <p:sldId id="274" r:id="rId17"/>
    <p:sldId id="271" r:id="rId18"/>
    <p:sldId id="326" r:id="rId19"/>
    <p:sldId id="323" r:id="rId20"/>
    <p:sldId id="376" r:id="rId21"/>
    <p:sldId id="327" r:id="rId22"/>
    <p:sldId id="328" r:id="rId23"/>
    <p:sldId id="375" r:id="rId24"/>
    <p:sldId id="329" r:id="rId25"/>
    <p:sldId id="336" r:id="rId26"/>
    <p:sldId id="338" r:id="rId27"/>
    <p:sldId id="280" r:id="rId28"/>
    <p:sldId id="341" r:id="rId29"/>
    <p:sldId id="345" r:id="rId30"/>
    <p:sldId id="346" r:id="rId31"/>
    <p:sldId id="362" r:id="rId32"/>
    <p:sldId id="348" r:id="rId33"/>
    <p:sldId id="363" r:id="rId34"/>
    <p:sldId id="347" r:id="rId35"/>
    <p:sldId id="377" r:id="rId36"/>
    <p:sldId id="364" r:id="rId37"/>
    <p:sldId id="349" r:id="rId38"/>
    <p:sldId id="383" r:id="rId39"/>
    <p:sldId id="351" r:id="rId40"/>
    <p:sldId id="408" r:id="rId41"/>
    <p:sldId id="353" r:id="rId42"/>
    <p:sldId id="385" r:id="rId43"/>
    <p:sldId id="354" r:id="rId44"/>
    <p:sldId id="356" r:id="rId45"/>
    <p:sldId id="357" r:id="rId46"/>
    <p:sldId id="378" r:id="rId47"/>
    <p:sldId id="382" r:id="rId48"/>
    <p:sldId id="386" r:id="rId49"/>
    <p:sldId id="379" r:id="rId50"/>
    <p:sldId id="360" r:id="rId51"/>
    <p:sldId id="365" r:id="rId52"/>
    <p:sldId id="391" r:id="rId53"/>
    <p:sldId id="406" r:id="rId54"/>
    <p:sldId id="404" r:id="rId55"/>
    <p:sldId id="403" r:id="rId56"/>
    <p:sldId id="407" r:id="rId57"/>
    <p:sldId id="405" r:id="rId58"/>
    <p:sldId id="266" r:id="rId59"/>
    <p:sldId id="402" r:id="rId60"/>
    <p:sldId id="370" r:id="rId6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00"/>
    <a:srgbClr val="CCECFF"/>
    <a:srgbClr val="0000CC"/>
    <a:srgbClr val="66CCFF"/>
    <a:srgbClr val="6699FF"/>
    <a:srgbClr val="3399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97" autoAdjust="0"/>
    <p:restoredTop sz="79489" autoAdjust="0"/>
  </p:normalViewPr>
  <p:slideViewPr>
    <p:cSldViewPr snapToGrid="0">
      <p:cViewPr>
        <p:scale>
          <a:sx n="120" d="100"/>
          <a:sy n="120" d="100"/>
        </p:scale>
        <p:origin x="1424" y="-48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7024"/>
    </p:cViewPr>
  </p:sorterViewPr>
  <p:notesViewPr>
    <p:cSldViewPr snapToGrid="0">
      <p:cViewPr varScale="1">
        <p:scale>
          <a:sx n="68" d="100"/>
          <a:sy n="68" d="100"/>
        </p:scale>
        <p:origin x="-138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665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4FD2488-61E9-4305-95A4-37BD235A24E9}" type="slidenum">
              <a:rPr lang="en-US"/>
              <a:pPr>
                <a:defRPr/>
              </a:pPr>
              <a:t>‹#›</a:t>
            </a:fld>
            <a:endParaRPr lang="en-US"/>
          </a:p>
        </p:txBody>
      </p:sp>
    </p:spTree>
    <p:extLst>
      <p:ext uri="{BB962C8B-B14F-4D97-AF65-F5344CB8AC3E}">
        <p14:creationId xmlns:p14="http://schemas.microsoft.com/office/powerpoint/2010/main" val="9998084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9FE51044-F1CF-401C-B2E3-F7F6E297A5EE}" type="slidenum">
              <a:rPr lang="en-US" smtClean="0"/>
              <a:pPr/>
              <a:t>1</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1868632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78558C02-FF98-43E4-BE66-30995B13006A}" type="slidenum">
              <a:rPr lang="en-US" smtClean="0"/>
              <a:pPr/>
              <a:t>2</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130137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C05AC476-526F-426F-8C72-9702DE6B1F52}" type="slidenum">
              <a:rPr lang="en-US" smtClean="0"/>
              <a:pPr/>
              <a:t>3</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548428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jdelijke aanduiding voor dia-afbeelding 1"/>
          <p:cNvSpPr>
            <a:spLocks noGrp="1" noRot="1" noChangeAspect="1" noTextEdit="1"/>
          </p:cNvSpPr>
          <p:nvPr>
            <p:ph type="sldImg"/>
          </p:nvPr>
        </p:nvSpPr>
        <p:spPr>
          <a:ln/>
        </p:spPr>
      </p:sp>
      <p:sp>
        <p:nvSpPr>
          <p:cNvPr id="71683" name="Tijdelijke aanduiding voor notities 2"/>
          <p:cNvSpPr>
            <a:spLocks noGrp="1"/>
          </p:cNvSpPr>
          <p:nvPr>
            <p:ph type="body" idx="1"/>
          </p:nvPr>
        </p:nvSpPr>
        <p:spPr>
          <a:noFill/>
          <a:ln/>
        </p:spPr>
        <p:txBody>
          <a:bodyPr/>
          <a:lstStyle/>
          <a:p>
            <a:endParaRPr lang="nl-NL"/>
          </a:p>
        </p:txBody>
      </p:sp>
      <p:sp>
        <p:nvSpPr>
          <p:cNvPr id="71684" name="Tijdelijke aanduiding voor dianummer 3"/>
          <p:cNvSpPr>
            <a:spLocks noGrp="1"/>
          </p:cNvSpPr>
          <p:nvPr>
            <p:ph type="sldNum" sz="quarter" idx="5"/>
          </p:nvPr>
        </p:nvSpPr>
        <p:spPr>
          <a:noFill/>
        </p:spPr>
        <p:txBody>
          <a:bodyPr/>
          <a:lstStyle/>
          <a:p>
            <a:fld id="{4301D911-53A3-45F9-AB46-EE2081ECF8FF}" type="slidenum">
              <a:rPr lang="en-US" smtClean="0"/>
              <a:pPr/>
              <a:t>4</a:t>
            </a:fld>
            <a:endParaRPr lang="en-US"/>
          </a:p>
        </p:txBody>
      </p:sp>
    </p:spTree>
    <p:extLst>
      <p:ext uri="{BB962C8B-B14F-4D97-AF65-F5344CB8AC3E}">
        <p14:creationId xmlns:p14="http://schemas.microsoft.com/office/powerpoint/2010/main" val="38629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jdelijke aanduiding voor dia-afbeelding 1"/>
          <p:cNvSpPr>
            <a:spLocks noGrp="1" noRot="1" noChangeAspect="1" noTextEdit="1"/>
          </p:cNvSpPr>
          <p:nvPr>
            <p:ph type="sldImg"/>
          </p:nvPr>
        </p:nvSpPr>
        <p:spPr>
          <a:ln/>
        </p:spPr>
      </p:sp>
      <p:sp>
        <p:nvSpPr>
          <p:cNvPr id="74755" name="Tijdelijke aanduiding voor notities 2"/>
          <p:cNvSpPr>
            <a:spLocks noGrp="1"/>
          </p:cNvSpPr>
          <p:nvPr>
            <p:ph type="body" idx="1"/>
          </p:nvPr>
        </p:nvSpPr>
        <p:spPr>
          <a:noFill/>
          <a:ln/>
        </p:spPr>
        <p:txBody>
          <a:bodyPr/>
          <a:lstStyle/>
          <a:p>
            <a:r>
              <a:rPr lang="nl-NL"/>
              <a:t>Single </a:t>
            </a:r>
            <a:r>
              <a:rPr lang="nl-NL" err="1"/>
              <a:t>initial</a:t>
            </a:r>
            <a:r>
              <a:rPr lang="nl-NL"/>
              <a:t> state </a:t>
            </a:r>
            <a:r>
              <a:rPr lang="nl-NL" err="1"/>
              <a:t>to</a:t>
            </a:r>
            <a:r>
              <a:rPr lang="nl-NL"/>
              <a:t> make </a:t>
            </a:r>
            <a:r>
              <a:rPr lang="nl-NL" err="1"/>
              <a:t>the</a:t>
            </a:r>
            <a:r>
              <a:rPr lang="nl-NL"/>
              <a:t> </a:t>
            </a:r>
            <a:r>
              <a:rPr lang="nl-NL" err="1"/>
              <a:t>discussion</a:t>
            </a:r>
            <a:r>
              <a:rPr lang="nl-NL"/>
              <a:t> </a:t>
            </a:r>
            <a:r>
              <a:rPr lang="nl-NL" err="1"/>
              <a:t>simpler</a:t>
            </a:r>
            <a:r>
              <a:rPr lang="nl-NL"/>
              <a:t>; more </a:t>
            </a:r>
            <a:r>
              <a:rPr lang="nl-NL" err="1"/>
              <a:t>generally</a:t>
            </a:r>
            <a:r>
              <a:rPr lang="nl-NL"/>
              <a:t> we </a:t>
            </a:r>
            <a:r>
              <a:rPr lang="nl-NL" err="1"/>
              <a:t>may</a:t>
            </a:r>
            <a:r>
              <a:rPr lang="nl-NL"/>
              <a:t> want </a:t>
            </a:r>
            <a:r>
              <a:rPr lang="nl-NL" err="1"/>
              <a:t>to</a:t>
            </a:r>
            <a:r>
              <a:rPr lang="nl-NL"/>
              <a:t> </a:t>
            </a:r>
            <a:r>
              <a:rPr lang="nl-NL" err="1"/>
              <a:t>allow</a:t>
            </a:r>
            <a:r>
              <a:rPr lang="nl-NL"/>
              <a:t> multiple </a:t>
            </a:r>
            <a:r>
              <a:rPr lang="nl-NL" err="1"/>
              <a:t>initial</a:t>
            </a:r>
            <a:r>
              <a:rPr lang="nl-NL"/>
              <a:t> </a:t>
            </a:r>
            <a:r>
              <a:rPr lang="nl-NL" err="1"/>
              <a:t>states</a:t>
            </a:r>
            <a:r>
              <a:rPr lang="nl-NL"/>
              <a:t>.</a:t>
            </a:r>
          </a:p>
          <a:p>
            <a:endParaRPr lang="nl-NL"/>
          </a:p>
          <a:p>
            <a:endParaRPr lang="nl-NL"/>
          </a:p>
        </p:txBody>
      </p:sp>
      <p:sp>
        <p:nvSpPr>
          <p:cNvPr id="74756" name="Tijdelijke aanduiding voor dianummer 3"/>
          <p:cNvSpPr>
            <a:spLocks noGrp="1"/>
          </p:cNvSpPr>
          <p:nvPr>
            <p:ph type="sldNum" sz="quarter" idx="5"/>
          </p:nvPr>
        </p:nvSpPr>
        <p:spPr>
          <a:noFill/>
        </p:spPr>
        <p:txBody>
          <a:bodyPr/>
          <a:lstStyle/>
          <a:p>
            <a:fld id="{B77C0B06-DFA4-484A-8B70-E8DD1C4AA51F}" type="slidenum">
              <a:rPr lang="en-US" smtClean="0"/>
              <a:pPr/>
              <a:t>5</a:t>
            </a:fld>
            <a:endParaRPr lang="en-US"/>
          </a:p>
        </p:txBody>
      </p:sp>
    </p:spTree>
    <p:extLst>
      <p:ext uri="{BB962C8B-B14F-4D97-AF65-F5344CB8AC3E}">
        <p14:creationId xmlns:p14="http://schemas.microsoft.com/office/powerpoint/2010/main" val="698533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pPr>
              <a:defRPr/>
            </a:pPr>
            <a:fld id="{E4FD2488-61E9-4305-95A4-37BD235A24E9}" type="slidenum">
              <a:rPr lang="en-US" smtClean="0"/>
              <a:pPr>
                <a:defRPr/>
              </a:pPr>
              <a:t>8</a:t>
            </a:fld>
            <a:endParaRPr lang="en-US"/>
          </a:p>
        </p:txBody>
      </p:sp>
    </p:spTree>
    <p:extLst>
      <p:ext uri="{BB962C8B-B14F-4D97-AF65-F5344CB8AC3E}">
        <p14:creationId xmlns:p14="http://schemas.microsoft.com/office/powerpoint/2010/main" val="1512662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jdelijke aanduiding voor dia-afbeelding 1"/>
          <p:cNvSpPr>
            <a:spLocks noGrp="1" noRot="1" noChangeAspect="1" noTextEdit="1"/>
          </p:cNvSpPr>
          <p:nvPr>
            <p:ph type="sldImg"/>
          </p:nvPr>
        </p:nvSpPr>
        <p:spPr>
          <a:ln/>
        </p:spPr>
      </p:sp>
      <p:sp>
        <p:nvSpPr>
          <p:cNvPr id="73731" name="Tijdelijke aanduiding voor notities 2"/>
          <p:cNvSpPr>
            <a:spLocks noGrp="1"/>
          </p:cNvSpPr>
          <p:nvPr>
            <p:ph type="body" idx="1"/>
          </p:nvPr>
        </p:nvSpPr>
        <p:spPr>
          <a:noFill/>
          <a:ln/>
        </p:spPr>
        <p:txBody>
          <a:bodyPr/>
          <a:lstStyle/>
          <a:p>
            <a:endParaRPr lang="nl-NL"/>
          </a:p>
        </p:txBody>
      </p:sp>
      <p:sp>
        <p:nvSpPr>
          <p:cNvPr id="73732" name="Tijdelijke aanduiding voor dianummer 3"/>
          <p:cNvSpPr>
            <a:spLocks noGrp="1"/>
          </p:cNvSpPr>
          <p:nvPr>
            <p:ph type="sldNum" sz="quarter" idx="5"/>
          </p:nvPr>
        </p:nvSpPr>
        <p:spPr>
          <a:noFill/>
        </p:spPr>
        <p:txBody>
          <a:bodyPr/>
          <a:lstStyle/>
          <a:p>
            <a:fld id="{0D6AA3CB-8A9D-49CB-91DE-D5685D84EAF4}" type="slidenum">
              <a:rPr lang="en-US" smtClean="0"/>
              <a:pPr/>
              <a:t>10</a:t>
            </a:fld>
            <a:endParaRPr lang="en-US"/>
          </a:p>
        </p:txBody>
      </p:sp>
    </p:spTree>
    <p:extLst>
      <p:ext uri="{BB962C8B-B14F-4D97-AF65-F5344CB8AC3E}">
        <p14:creationId xmlns:p14="http://schemas.microsoft.com/office/powerpoint/2010/main" val="1227900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jdelijke aanduiding voor dia-afbeelding 1"/>
          <p:cNvSpPr>
            <a:spLocks noGrp="1" noRot="1" noChangeAspect="1" noTextEdit="1"/>
          </p:cNvSpPr>
          <p:nvPr>
            <p:ph type="sldImg"/>
          </p:nvPr>
        </p:nvSpPr>
        <p:spPr>
          <a:ln/>
        </p:spPr>
      </p:sp>
      <p:sp>
        <p:nvSpPr>
          <p:cNvPr id="74755" name="Tijdelijke aanduiding voor notities 2"/>
          <p:cNvSpPr>
            <a:spLocks noGrp="1"/>
          </p:cNvSpPr>
          <p:nvPr>
            <p:ph type="body" idx="1"/>
          </p:nvPr>
        </p:nvSpPr>
        <p:spPr>
          <a:noFill/>
          <a:ln/>
        </p:spPr>
        <p:txBody>
          <a:bodyPr/>
          <a:lstStyle/>
          <a:p>
            <a:r>
              <a:rPr lang="nl-NL"/>
              <a:t>Single initial state to make the discussion simpler; more generally we may want to allow multiple initial states.</a:t>
            </a:r>
          </a:p>
          <a:p>
            <a:endParaRPr lang="nl-NL"/>
          </a:p>
          <a:p>
            <a:endParaRPr lang="nl-NL"/>
          </a:p>
        </p:txBody>
      </p:sp>
      <p:sp>
        <p:nvSpPr>
          <p:cNvPr id="74756" name="Tijdelijke aanduiding voor dianummer 3"/>
          <p:cNvSpPr>
            <a:spLocks noGrp="1"/>
          </p:cNvSpPr>
          <p:nvPr>
            <p:ph type="sldNum" sz="quarter" idx="5"/>
          </p:nvPr>
        </p:nvSpPr>
        <p:spPr>
          <a:noFill/>
        </p:spPr>
        <p:txBody>
          <a:bodyPr/>
          <a:lstStyle/>
          <a:p>
            <a:fld id="{B77C0B06-DFA4-484A-8B70-E8DD1C4AA51F}" type="slidenum">
              <a:rPr lang="en-US" smtClean="0"/>
              <a:pPr/>
              <a:t>11</a:t>
            </a:fld>
            <a:endParaRPr lang="en-US"/>
          </a:p>
        </p:txBody>
      </p:sp>
    </p:spTree>
    <p:extLst>
      <p:ext uri="{BB962C8B-B14F-4D97-AF65-F5344CB8AC3E}">
        <p14:creationId xmlns:p14="http://schemas.microsoft.com/office/powerpoint/2010/main" val="2102197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p:spPr>
        <p:txBody>
          <a:bodyPr/>
          <a:lstStyle/>
          <a:p>
            <a:endParaRPr lang="nl-NL"/>
          </a:p>
        </p:txBody>
      </p:sp>
      <p:sp>
        <p:nvSpPr>
          <p:cNvPr id="75780" name="Slide Number Placeholder 3"/>
          <p:cNvSpPr>
            <a:spLocks noGrp="1"/>
          </p:cNvSpPr>
          <p:nvPr>
            <p:ph type="sldNum" sz="quarter" idx="5"/>
          </p:nvPr>
        </p:nvSpPr>
        <p:spPr>
          <a:noFill/>
        </p:spPr>
        <p:txBody>
          <a:bodyPr/>
          <a:lstStyle/>
          <a:p>
            <a:fld id="{C75C1CB5-14E7-447F-9883-B7519C145FBF}" type="slidenum">
              <a:rPr lang="en-US" smtClean="0"/>
              <a:pPr/>
              <a:t>13</a:t>
            </a:fld>
            <a:endParaRPr lang="en-US"/>
          </a:p>
        </p:txBody>
      </p:sp>
    </p:spTree>
    <p:extLst>
      <p:ext uri="{BB962C8B-B14F-4D97-AF65-F5344CB8AC3E}">
        <p14:creationId xmlns:p14="http://schemas.microsoft.com/office/powerpoint/2010/main" val="101493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jdelijke aanduiding voor dia-afbeelding 1"/>
          <p:cNvSpPr>
            <a:spLocks noGrp="1" noRot="1" noChangeAspect="1" noTextEdit="1"/>
          </p:cNvSpPr>
          <p:nvPr>
            <p:ph type="sldImg"/>
          </p:nvPr>
        </p:nvSpPr>
        <p:spPr>
          <a:ln/>
        </p:spPr>
      </p:sp>
      <p:sp>
        <p:nvSpPr>
          <p:cNvPr id="73731" name="Tijdelijke aanduiding voor notities 2"/>
          <p:cNvSpPr>
            <a:spLocks noGrp="1"/>
          </p:cNvSpPr>
          <p:nvPr>
            <p:ph type="body" idx="1"/>
          </p:nvPr>
        </p:nvSpPr>
        <p:spPr>
          <a:noFill/>
          <a:ln/>
        </p:spPr>
        <p:txBody>
          <a:bodyPr/>
          <a:lstStyle/>
          <a:p>
            <a:endParaRPr lang="nl-NL"/>
          </a:p>
        </p:txBody>
      </p:sp>
      <p:sp>
        <p:nvSpPr>
          <p:cNvPr id="73732" name="Tijdelijke aanduiding voor dianummer 3"/>
          <p:cNvSpPr>
            <a:spLocks noGrp="1"/>
          </p:cNvSpPr>
          <p:nvPr>
            <p:ph type="sldNum" sz="quarter" idx="5"/>
          </p:nvPr>
        </p:nvSpPr>
        <p:spPr>
          <a:noFill/>
        </p:spPr>
        <p:txBody>
          <a:bodyPr/>
          <a:lstStyle/>
          <a:p>
            <a:fld id="{0D6AA3CB-8A9D-49CB-91DE-D5685D84EAF4}" type="slidenum">
              <a:rPr lang="en-US" smtClean="0"/>
              <a:pPr/>
              <a:t>14</a:t>
            </a:fld>
            <a:endParaRPr lang="en-US"/>
          </a:p>
        </p:txBody>
      </p:sp>
    </p:spTree>
    <p:extLst>
      <p:ext uri="{BB962C8B-B14F-4D97-AF65-F5344CB8AC3E}">
        <p14:creationId xmlns:p14="http://schemas.microsoft.com/office/powerpoint/2010/main" val="702785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jdelijke aanduiding voor dia-afbeelding 1"/>
          <p:cNvSpPr>
            <a:spLocks noGrp="1" noRot="1" noChangeAspect="1" noTextEdit="1"/>
          </p:cNvSpPr>
          <p:nvPr>
            <p:ph type="sldImg"/>
          </p:nvPr>
        </p:nvSpPr>
        <p:spPr>
          <a:ln/>
        </p:spPr>
      </p:sp>
      <p:sp>
        <p:nvSpPr>
          <p:cNvPr id="78851" name="Tijdelijke aanduiding voor notities 2"/>
          <p:cNvSpPr>
            <a:spLocks noGrp="1"/>
          </p:cNvSpPr>
          <p:nvPr>
            <p:ph type="body" idx="1"/>
          </p:nvPr>
        </p:nvSpPr>
        <p:spPr>
          <a:noFill/>
          <a:ln/>
        </p:spPr>
        <p:txBody>
          <a:bodyPr/>
          <a:lstStyle/>
          <a:p>
            <a:pPr lvl="3"/>
            <a:endParaRPr lang="nl-NL"/>
          </a:p>
        </p:txBody>
      </p:sp>
      <p:sp>
        <p:nvSpPr>
          <p:cNvPr id="78852" name="Tijdelijke aanduiding voor dianummer 3"/>
          <p:cNvSpPr>
            <a:spLocks noGrp="1"/>
          </p:cNvSpPr>
          <p:nvPr>
            <p:ph type="sldNum" sz="quarter" idx="5"/>
          </p:nvPr>
        </p:nvSpPr>
        <p:spPr>
          <a:noFill/>
        </p:spPr>
        <p:txBody>
          <a:bodyPr/>
          <a:lstStyle/>
          <a:p>
            <a:fld id="{A207973D-9A8D-405D-BDB0-672357A4B81A}" type="slidenum">
              <a:rPr lang="en-US" smtClean="0"/>
              <a:pPr/>
              <a:t>15</a:t>
            </a:fld>
            <a:endParaRPr lang="en-US"/>
          </a:p>
        </p:txBody>
      </p:sp>
    </p:spTree>
    <p:extLst>
      <p:ext uri="{BB962C8B-B14F-4D97-AF65-F5344CB8AC3E}">
        <p14:creationId xmlns:p14="http://schemas.microsoft.com/office/powerpoint/2010/main" val="431482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2C1A91C0-64C8-4BEA-B5B1-F992256B9E1E}" type="slidenum">
              <a:rPr lang="en-US" smtClean="0"/>
              <a:pPr/>
              <a:t>16</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2017669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4CDB0C43-A9C1-45E5-9F7C-5BB7E185D10B}" type="slidenum">
              <a:rPr lang="en-US" smtClean="0"/>
              <a:pPr/>
              <a:t>17</a:t>
            </a:fld>
            <a:endParaRPr 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685800" y="4343400"/>
            <a:ext cx="5486400" cy="4114800"/>
          </a:xfrm>
          <a:noFill/>
          <a:ln/>
        </p:spPr>
        <p:txBody>
          <a:bodyPr/>
          <a:lstStyle/>
          <a:p>
            <a:pPr eaLnBrk="1" hangingPunct="1"/>
            <a:endParaRPr lang="nl-NL"/>
          </a:p>
        </p:txBody>
      </p:sp>
    </p:spTree>
    <p:extLst>
      <p:ext uri="{BB962C8B-B14F-4D97-AF65-F5344CB8AC3E}">
        <p14:creationId xmlns:p14="http://schemas.microsoft.com/office/powerpoint/2010/main" val="51924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p:spPr>
        <p:txBody>
          <a:bodyPr/>
          <a:lstStyle/>
          <a:p>
            <a:endParaRPr lang="nl-NL"/>
          </a:p>
        </p:txBody>
      </p:sp>
      <p:sp>
        <p:nvSpPr>
          <p:cNvPr id="82948" name="Slide Number Placeholder 3"/>
          <p:cNvSpPr>
            <a:spLocks noGrp="1"/>
          </p:cNvSpPr>
          <p:nvPr>
            <p:ph type="sldNum" sz="quarter" idx="5"/>
          </p:nvPr>
        </p:nvSpPr>
        <p:spPr>
          <a:noFill/>
        </p:spPr>
        <p:txBody>
          <a:bodyPr/>
          <a:lstStyle/>
          <a:p>
            <a:fld id="{EA47B6D4-58F2-4A3C-AE3F-EC86997EBECA}" type="slidenum">
              <a:rPr lang="en-US" smtClean="0"/>
              <a:pPr/>
              <a:t>18</a:t>
            </a:fld>
            <a:endParaRPr lang="en-US"/>
          </a:p>
        </p:txBody>
      </p:sp>
    </p:spTree>
    <p:extLst>
      <p:ext uri="{BB962C8B-B14F-4D97-AF65-F5344CB8AC3E}">
        <p14:creationId xmlns:p14="http://schemas.microsoft.com/office/powerpoint/2010/main" val="811702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jdelijke aanduiding voor dia-afbeelding 1"/>
          <p:cNvSpPr>
            <a:spLocks noGrp="1" noRot="1" noChangeAspect="1" noTextEdit="1"/>
          </p:cNvSpPr>
          <p:nvPr>
            <p:ph type="sldImg"/>
          </p:nvPr>
        </p:nvSpPr>
        <p:spPr>
          <a:ln/>
        </p:spPr>
      </p:sp>
      <p:sp>
        <p:nvSpPr>
          <p:cNvPr id="83971" name="Tijdelijke aanduiding voor notities 2"/>
          <p:cNvSpPr>
            <a:spLocks noGrp="1"/>
          </p:cNvSpPr>
          <p:nvPr>
            <p:ph type="body" idx="1"/>
          </p:nvPr>
        </p:nvSpPr>
        <p:spPr>
          <a:noFill/>
          <a:ln/>
        </p:spPr>
        <p:txBody>
          <a:bodyPr/>
          <a:lstStyle/>
          <a:p>
            <a:endParaRPr lang="nl-NL"/>
          </a:p>
        </p:txBody>
      </p:sp>
      <p:sp>
        <p:nvSpPr>
          <p:cNvPr id="83972" name="Tijdelijke aanduiding voor dianummer 3"/>
          <p:cNvSpPr>
            <a:spLocks noGrp="1"/>
          </p:cNvSpPr>
          <p:nvPr>
            <p:ph type="sldNum" sz="quarter" idx="5"/>
          </p:nvPr>
        </p:nvSpPr>
        <p:spPr>
          <a:noFill/>
        </p:spPr>
        <p:txBody>
          <a:bodyPr/>
          <a:lstStyle/>
          <a:p>
            <a:fld id="{2439C13D-1199-4BF1-AA12-CCD94936A740}" type="slidenum">
              <a:rPr lang="en-US" smtClean="0"/>
              <a:pPr/>
              <a:t>19</a:t>
            </a:fld>
            <a:endParaRPr lang="en-US"/>
          </a:p>
        </p:txBody>
      </p:sp>
    </p:spTree>
    <p:extLst>
      <p:ext uri="{BB962C8B-B14F-4D97-AF65-F5344CB8AC3E}">
        <p14:creationId xmlns:p14="http://schemas.microsoft.com/office/powerpoint/2010/main" val="1464968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jdelijke aanduiding voor dia-afbeelding 1"/>
          <p:cNvSpPr>
            <a:spLocks noGrp="1" noRot="1" noChangeAspect="1" noTextEdit="1"/>
          </p:cNvSpPr>
          <p:nvPr>
            <p:ph type="sldImg"/>
          </p:nvPr>
        </p:nvSpPr>
        <p:spPr>
          <a:ln/>
        </p:spPr>
      </p:sp>
      <p:sp>
        <p:nvSpPr>
          <p:cNvPr id="84995" name="Tijdelijke aanduiding voor notities 2"/>
          <p:cNvSpPr>
            <a:spLocks noGrp="1"/>
          </p:cNvSpPr>
          <p:nvPr>
            <p:ph type="body" idx="1"/>
          </p:nvPr>
        </p:nvSpPr>
        <p:spPr>
          <a:noFill/>
          <a:ln/>
        </p:spPr>
        <p:txBody>
          <a:bodyPr/>
          <a:lstStyle/>
          <a:p>
            <a:endParaRPr lang="nl-NL"/>
          </a:p>
        </p:txBody>
      </p:sp>
      <p:sp>
        <p:nvSpPr>
          <p:cNvPr id="84996" name="Tijdelijke aanduiding voor dianummer 3"/>
          <p:cNvSpPr>
            <a:spLocks noGrp="1"/>
          </p:cNvSpPr>
          <p:nvPr>
            <p:ph type="sldNum" sz="quarter" idx="5"/>
          </p:nvPr>
        </p:nvSpPr>
        <p:spPr>
          <a:noFill/>
        </p:spPr>
        <p:txBody>
          <a:bodyPr/>
          <a:lstStyle/>
          <a:p>
            <a:fld id="{B3966D7C-C46D-4E58-8AA2-F31A60335376}" type="slidenum">
              <a:rPr lang="en-US" smtClean="0"/>
              <a:pPr/>
              <a:t>20</a:t>
            </a:fld>
            <a:endParaRPr lang="en-US"/>
          </a:p>
        </p:txBody>
      </p:sp>
    </p:spTree>
    <p:extLst>
      <p:ext uri="{BB962C8B-B14F-4D97-AF65-F5344CB8AC3E}">
        <p14:creationId xmlns:p14="http://schemas.microsoft.com/office/powerpoint/2010/main" val="820188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jdelijke aanduiding voor dia-afbeelding 1"/>
          <p:cNvSpPr>
            <a:spLocks noGrp="1" noRot="1" noChangeAspect="1" noTextEdit="1"/>
          </p:cNvSpPr>
          <p:nvPr>
            <p:ph type="sldImg"/>
          </p:nvPr>
        </p:nvSpPr>
        <p:spPr>
          <a:ln/>
        </p:spPr>
      </p:sp>
      <p:sp>
        <p:nvSpPr>
          <p:cNvPr id="86019" name="Tijdelijke aanduiding voor notities 2"/>
          <p:cNvSpPr>
            <a:spLocks noGrp="1"/>
          </p:cNvSpPr>
          <p:nvPr>
            <p:ph type="body" idx="1"/>
          </p:nvPr>
        </p:nvSpPr>
        <p:spPr>
          <a:noFill/>
          <a:ln/>
        </p:spPr>
        <p:txBody>
          <a:bodyPr/>
          <a:lstStyle/>
          <a:p>
            <a:endParaRPr lang="nl-NL"/>
          </a:p>
        </p:txBody>
      </p:sp>
      <p:sp>
        <p:nvSpPr>
          <p:cNvPr id="86020" name="Tijdelijke aanduiding voor dianummer 3"/>
          <p:cNvSpPr>
            <a:spLocks noGrp="1"/>
          </p:cNvSpPr>
          <p:nvPr>
            <p:ph type="sldNum" sz="quarter" idx="5"/>
          </p:nvPr>
        </p:nvSpPr>
        <p:spPr>
          <a:noFill/>
        </p:spPr>
        <p:txBody>
          <a:bodyPr/>
          <a:lstStyle/>
          <a:p>
            <a:fld id="{E16135D9-A281-4DB0-AA58-FFBB233A22F3}" type="slidenum">
              <a:rPr lang="en-US" smtClean="0"/>
              <a:pPr/>
              <a:t>21</a:t>
            </a:fld>
            <a:endParaRPr lang="en-US"/>
          </a:p>
        </p:txBody>
      </p:sp>
    </p:spTree>
    <p:extLst>
      <p:ext uri="{BB962C8B-B14F-4D97-AF65-F5344CB8AC3E}">
        <p14:creationId xmlns:p14="http://schemas.microsoft.com/office/powerpoint/2010/main" val="208992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jdelijke aanduiding voor dia-afbeelding 1"/>
          <p:cNvSpPr>
            <a:spLocks noGrp="1" noRot="1" noChangeAspect="1" noTextEdit="1"/>
          </p:cNvSpPr>
          <p:nvPr>
            <p:ph type="sldImg"/>
          </p:nvPr>
        </p:nvSpPr>
        <p:spPr>
          <a:ln/>
        </p:spPr>
      </p:sp>
      <p:sp>
        <p:nvSpPr>
          <p:cNvPr id="88067" name="Tijdelijke aanduiding voor notities 2"/>
          <p:cNvSpPr>
            <a:spLocks noGrp="1"/>
          </p:cNvSpPr>
          <p:nvPr>
            <p:ph type="body" idx="1"/>
          </p:nvPr>
        </p:nvSpPr>
        <p:spPr>
          <a:noFill/>
          <a:ln/>
        </p:spPr>
        <p:txBody>
          <a:bodyPr/>
          <a:lstStyle/>
          <a:p>
            <a:pPr>
              <a:buFontTx/>
              <a:buChar char="•"/>
            </a:pPr>
            <a:r>
              <a:rPr lang="en-US"/>
              <a:t>“Weak until” aka “W” aka “unless” :</a:t>
            </a:r>
            <a:br>
              <a:rPr lang="en-US"/>
            </a:br>
            <a:br>
              <a:rPr lang="en-US"/>
            </a:br>
            <a:r>
              <a:rPr lang="en-US"/>
              <a:t>   f </a:t>
            </a:r>
            <a:r>
              <a:rPr lang="en-US" u="sng"/>
              <a:t>unless</a:t>
            </a:r>
            <a:r>
              <a:rPr lang="en-US"/>
              <a:t> g    =     f  </a:t>
            </a:r>
            <a:r>
              <a:rPr lang="en-US" u="sng"/>
              <a:t>until</a:t>
            </a:r>
            <a:r>
              <a:rPr lang="en-US"/>
              <a:t> g  \/   [] g </a:t>
            </a:r>
          </a:p>
          <a:p>
            <a:pPr>
              <a:buFontTx/>
              <a:buChar char="•"/>
            </a:pPr>
            <a:endParaRPr lang="en-US"/>
          </a:p>
          <a:p>
            <a:pPr>
              <a:buFontTx/>
              <a:buChar char="•"/>
            </a:pPr>
            <a:r>
              <a:rPr lang="en-US"/>
              <a:t> until and release (aka “R”) can also be defined in terms of unless:</a:t>
            </a:r>
            <a:br>
              <a:rPr lang="nl-NL"/>
            </a:br>
            <a:br>
              <a:rPr lang="nl-NL"/>
            </a:br>
            <a:r>
              <a:rPr lang="nl-NL"/>
              <a:t>    f  releases  g   =    g </a:t>
            </a:r>
            <a:r>
              <a:rPr lang="nl-NL" err="1"/>
              <a:t>unless</a:t>
            </a:r>
            <a:r>
              <a:rPr lang="nl-NL"/>
              <a:t> f /</a:t>
            </a:r>
            <a:r>
              <a:rPr lang="en-US"/>
              <a:t>\ g     (g holds forever, or it is released by f; at the point of release both must hold)</a:t>
            </a:r>
            <a:br>
              <a:rPr lang="en-US"/>
            </a:br>
            <a:r>
              <a:rPr lang="en-US"/>
              <a:t>    f  until g         =    f  unless g  /\  &lt;&gt;g</a:t>
            </a:r>
            <a:endParaRPr lang="nl-NL"/>
          </a:p>
          <a:p>
            <a:endParaRPr lang="nl-NL"/>
          </a:p>
        </p:txBody>
      </p:sp>
      <p:sp>
        <p:nvSpPr>
          <p:cNvPr id="88068" name="Tijdelijke aanduiding voor dianummer 3"/>
          <p:cNvSpPr>
            <a:spLocks noGrp="1"/>
          </p:cNvSpPr>
          <p:nvPr>
            <p:ph type="sldNum" sz="quarter" idx="5"/>
          </p:nvPr>
        </p:nvSpPr>
        <p:spPr>
          <a:noFill/>
        </p:spPr>
        <p:txBody>
          <a:bodyPr/>
          <a:lstStyle/>
          <a:p>
            <a:fld id="{8079A49F-6E31-4B13-BF0C-525958E1C82E}" type="slidenum">
              <a:rPr lang="en-US" smtClean="0"/>
              <a:pPr/>
              <a:t>22</a:t>
            </a:fld>
            <a:endParaRPr lang="en-US"/>
          </a:p>
        </p:txBody>
      </p:sp>
    </p:spTree>
    <p:extLst>
      <p:ext uri="{BB962C8B-B14F-4D97-AF65-F5344CB8AC3E}">
        <p14:creationId xmlns:p14="http://schemas.microsoft.com/office/powerpoint/2010/main" val="14052519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jdelijke aanduiding voor dia-afbeelding 1"/>
          <p:cNvSpPr>
            <a:spLocks noGrp="1" noRot="1" noChangeAspect="1" noTextEdit="1"/>
          </p:cNvSpPr>
          <p:nvPr>
            <p:ph type="sldImg"/>
          </p:nvPr>
        </p:nvSpPr>
        <p:spPr>
          <a:ln/>
        </p:spPr>
      </p:sp>
      <p:sp>
        <p:nvSpPr>
          <p:cNvPr id="87043" name="Tijdelijke aanduiding voor notities 2"/>
          <p:cNvSpPr>
            <a:spLocks noGrp="1"/>
          </p:cNvSpPr>
          <p:nvPr>
            <p:ph type="body" idx="1"/>
          </p:nvPr>
        </p:nvSpPr>
        <p:spPr>
          <a:noFill/>
          <a:ln/>
        </p:spPr>
        <p:txBody>
          <a:bodyPr/>
          <a:lstStyle/>
          <a:p>
            <a:pPr>
              <a:buFontTx/>
              <a:buChar char="•"/>
            </a:pPr>
            <a:endParaRPr lang="nl-NL"/>
          </a:p>
        </p:txBody>
      </p:sp>
      <p:sp>
        <p:nvSpPr>
          <p:cNvPr id="87044" name="Tijdelijke aanduiding voor dianummer 3"/>
          <p:cNvSpPr>
            <a:spLocks noGrp="1"/>
          </p:cNvSpPr>
          <p:nvPr>
            <p:ph type="sldNum" sz="quarter" idx="5"/>
          </p:nvPr>
        </p:nvSpPr>
        <p:spPr>
          <a:noFill/>
        </p:spPr>
        <p:txBody>
          <a:bodyPr/>
          <a:lstStyle/>
          <a:p>
            <a:fld id="{19FDDC4F-1414-42AB-9905-FD1E937D6BD7}" type="slidenum">
              <a:rPr lang="en-US" smtClean="0"/>
              <a:pPr/>
              <a:t>23</a:t>
            </a:fld>
            <a:endParaRPr lang="en-US"/>
          </a:p>
        </p:txBody>
      </p:sp>
    </p:spTree>
    <p:extLst>
      <p:ext uri="{BB962C8B-B14F-4D97-AF65-F5344CB8AC3E}">
        <p14:creationId xmlns:p14="http://schemas.microsoft.com/office/powerpoint/2010/main" val="44357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jdelijke aanduiding voor dia-afbeelding 1"/>
          <p:cNvSpPr>
            <a:spLocks noGrp="1" noRot="1" noChangeAspect="1" noTextEdit="1"/>
          </p:cNvSpPr>
          <p:nvPr>
            <p:ph type="sldImg"/>
          </p:nvPr>
        </p:nvSpPr>
        <p:spPr>
          <a:ln/>
        </p:spPr>
      </p:sp>
      <p:sp>
        <p:nvSpPr>
          <p:cNvPr id="89091" name="Tijdelijke aanduiding voor notities 2"/>
          <p:cNvSpPr>
            <a:spLocks noGrp="1"/>
          </p:cNvSpPr>
          <p:nvPr>
            <p:ph type="body" idx="1"/>
          </p:nvPr>
        </p:nvSpPr>
        <p:spPr>
          <a:noFill/>
          <a:ln/>
        </p:spPr>
        <p:txBody>
          <a:bodyPr/>
          <a:lstStyle/>
          <a:p>
            <a:pPr marL="171450" indent="-171450">
              <a:buFont typeface="Arial" charset="0"/>
              <a:buChar char="•"/>
            </a:pPr>
            <a:r>
              <a:rPr lang="nl-NL" err="1"/>
              <a:t>Can</a:t>
            </a:r>
            <a:r>
              <a:rPr lang="nl-NL"/>
              <a:t> </a:t>
            </a:r>
            <a:r>
              <a:rPr lang="nl-NL" err="1"/>
              <a:t>simplify</a:t>
            </a:r>
            <a:r>
              <a:rPr lang="nl-NL"/>
              <a:t> </a:t>
            </a:r>
            <a:r>
              <a:rPr lang="nl-NL" err="1"/>
              <a:t>expressing</a:t>
            </a:r>
            <a:r>
              <a:rPr lang="nl-NL"/>
              <a:t> </a:t>
            </a:r>
            <a:r>
              <a:rPr lang="nl-NL" err="1"/>
              <a:t>certain</a:t>
            </a:r>
            <a:r>
              <a:rPr lang="nl-NL" baseline="0"/>
              <a:t> </a:t>
            </a:r>
            <a:r>
              <a:rPr lang="nl-NL" baseline="0" err="1"/>
              <a:t>properties</a:t>
            </a:r>
            <a:br>
              <a:rPr lang="nl-NL" baseline="0"/>
            </a:br>
            <a:r>
              <a:rPr lang="nl-NL" baseline="0"/>
              <a:t>* </a:t>
            </a:r>
            <a:r>
              <a:rPr lang="nl-NL"/>
              <a:t>LTL </a:t>
            </a:r>
            <a:r>
              <a:rPr lang="nl-NL" err="1"/>
              <a:t>with</a:t>
            </a:r>
            <a:r>
              <a:rPr lang="nl-NL" baseline="0"/>
              <a:t> past </a:t>
            </a:r>
            <a:r>
              <a:rPr lang="nl-NL" baseline="0" err="1"/>
              <a:t>formulas</a:t>
            </a:r>
            <a:r>
              <a:rPr lang="nl-NL" baseline="0"/>
              <a:t> </a:t>
            </a:r>
            <a:r>
              <a:rPr lang="nl-NL" baseline="0" err="1"/>
              <a:t>can</a:t>
            </a:r>
            <a:r>
              <a:rPr lang="nl-NL" baseline="0"/>
              <a:t> </a:t>
            </a:r>
            <a:r>
              <a:rPr lang="nl-NL" baseline="0" err="1"/>
              <a:t>be</a:t>
            </a:r>
            <a:r>
              <a:rPr lang="nl-NL" baseline="0"/>
              <a:t> </a:t>
            </a:r>
            <a:r>
              <a:rPr lang="nl-NL" baseline="0" err="1"/>
              <a:t>expressed</a:t>
            </a:r>
            <a:r>
              <a:rPr lang="nl-NL" baseline="0"/>
              <a:t> </a:t>
            </a:r>
            <a:r>
              <a:rPr lang="nl-NL" baseline="0" err="1"/>
              <a:t>with</a:t>
            </a:r>
            <a:r>
              <a:rPr lang="nl-NL" baseline="0"/>
              <a:t> standard LTL [</a:t>
            </a:r>
            <a:r>
              <a:rPr lang="nl-NL" baseline="0" err="1"/>
              <a:t>Princp</a:t>
            </a:r>
            <a:r>
              <a:rPr lang="nl-NL" baseline="0"/>
              <a:t>. of MC, </a:t>
            </a:r>
            <a:r>
              <a:rPr lang="nl-NL" baseline="0" err="1"/>
              <a:t>Baier</a:t>
            </a:r>
            <a:r>
              <a:rPr lang="nl-NL" baseline="0"/>
              <a:t> – Katoen]</a:t>
            </a:r>
          </a:p>
          <a:p>
            <a:pPr marL="171450" indent="-171450">
              <a:buFont typeface="Arial" charset="0"/>
              <a:buChar char="•"/>
            </a:pPr>
            <a:endParaRPr lang="nl-NL" baseline="0"/>
          </a:p>
          <a:p>
            <a:pPr marL="171450" indent="-171450">
              <a:buFont typeface="Arial" charset="0"/>
              <a:buChar char="•"/>
            </a:pPr>
            <a:endParaRPr lang="nl-NL"/>
          </a:p>
        </p:txBody>
      </p:sp>
      <p:sp>
        <p:nvSpPr>
          <p:cNvPr id="89092" name="Tijdelijke aanduiding voor dianummer 3"/>
          <p:cNvSpPr>
            <a:spLocks noGrp="1"/>
          </p:cNvSpPr>
          <p:nvPr>
            <p:ph type="sldNum" sz="quarter" idx="5"/>
          </p:nvPr>
        </p:nvSpPr>
        <p:spPr>
          <a:noFill/>
        </p:spPr>
        <p:txBody>
          <a:bodyPr/>
          <a:lstStyle/>
          <a:p>
            <a:fld id="{14A94E9D-BF03-4354-ABDA-24E32E6484DA}" type="slidenum">
              <a:rPr lang="en-US" smtClean="0"/>
              <a:pPr/>
              <a:t>24</a:t>
            </a:fld>
            <a:endParaRPr lang="en-US"/>
          </a:p>
        </p:txBody>
      </p:sp>
    </p:spTree>
    <p:extLst>
      <p:ext uri="{BB962C8B-B14F-4D97-AF65-F5344CB8AC3E}">
        <p14:creationId xmlns:p14="http://schemas.microsoft.com/office/powerpoint/2010/main" val="3335760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jdelijke aanduiding voor dia-afbeelding 1"/>
          <p:cNvSpPr>
            <a:spLocks noGrp="1" noRot="1" noChangeAspect="1" noTextEdit="1"/>
          </p:cNvSpPr>
          <p:nvPr>
            <p:ph type="sldImg"/>
          </p:nvPr>
        </p:nvSpPr>
        <p:spPr>
          <a:ln/>
        </p:spPr>
      </p:sp>
      <p:sp>
        <p:nvSpPr>
          <p:cNvPr id="90115" name="Tijdelijke aanduiding voor notities 2"/>
          <p:cNvSpPr>
            <a:spLocks noGrp="1"/>
          </p:cNvSpPr>
          <p:nvPr>
            <p:ph type="body" idx="1"/>
          </p:nvPr>
        </p:nvSpPr>
        <p:spPr>
          <a:noFill/>
          <a:ln/>
        </p:spPr>
        <p:txBody>
          <a:bodyPr/>
          <a:lstStyle/>
          <a:p>
            <a:r>
              <a:rPr lang="en-US">
                <a:latin typeface="Arial" charset="0"/>
                <a:cs typeface="Arial" charset="0"/>
              </a:rPr>
              <a:t>But temporal property must hold on </a:t>
            </a:r>
            <a:r>
              <a:rPr lang="en-US" u="sng">
                <a:latin typeface="Arial" charset="0"/>
                <a:cs typeface="Arial" charset="0"/>
              </a:rPr>
              <a:t>all</a:t>
            </a:r>
            <a:r>
              <a:rPr lang="en-US">
                <a:latin typeface="Arial" charset="0"/>
                <a:cs typeface="Arial" charset="0"/>
              </a:rPr>
              <a:t> executions of M !</a:t>
            </a:r>
          </a:p>
          <a:p>
            <a:pPr lvl="1"/>
            <a:endParaRPr lang="en-US">
              <a:latin typeface="Arial" charset="0"/>
              <a:cs typeface="Arial" charset="0"/>
            </a:endParaRPr>
          </a:p>
          <a:p>
            <a:pPr lvl="1"/>
            <a:r>
              <a:rPr lang="en-US">
                <a:latin typeface="Arial" charset="0"/>
                <a:cs typeface="Arial" charset="0"/>
              </a:rPr>
              <a:t>** </a:t>
            </a:r>
            <a:r>
              <a:rPr lang="en-US" sz="2000">
                <a:latin typeface="Arial" charset="0"/>
                <a:cs typeface="Arial" charset="0"/>
              </a:rPr>
              <a:t>perhaps infinitely many executions.</a:t>
            </a:r>
          </a:p>
          <a:p>
            <a:pPr lvl="1"/>
            <a:endParaRPr lang="en-US" sz="2000">
              <a:latin typeface="Arial" charset="0"/>
              <a:cs typeface="Arial" charset="0"/>
            </a:endParaRPr>
          </a:p>
          <a:p>
            <a:pPr lvl="1"/>
            <a:r>
              <a:rPr lang="en-US" sz="2000">
                <a:latin typeface="Arial" charset="0"/>
                <a:cs typeface="Arial" charset="0"/>
                <a:sym typeface="Symbol" pitchFamily="18" charset="2"/>
              </a:rPr>
              <a:t>** some executions may be infinite.</a:t>
            </a:r>
            <a:endParaRPr lang="en-US" sz="2000">
              <a:latin typeface="Arial" charset="0"/>
              <a:cs typeface="Arial" charset="0"/>
            </a:endParaRPr>
          </a:p>
          <a:p>
            <a:endParaRPr lang="nl-NL"/>
          </a:p>
        </p:txBody>
      </p:sp>
      <p:sp>
        <p:nvSpPr>
          <p:cNvPr id="90116" name="Tijdelijke aanduiding voor dianummer 3"/>
          <p:cNvSpPr>
            <a:spLocks noGrp="1"/>
          </p:cNvSpPr>
          <p:nvPr>
            <p:ph type="sldNum" sz="quarter" idx="5"/>
          </p:nvPr>
        </p:nvSpPr>
        <p:spPr>
          <a:noFill/>
        </p:spPr>
        <p:txBody>
          <a:bodyPr/>
          <a:lstStyle/>
          <a:p>
            <a:fld id="{C4585348-7A3F-4C4B-8204-7561305CE502}" type="slidenum">
              <a:rPr lang="en-US" smtClean="0"/>
              <a:pPr/>
              <a:t>25</a:t>
            </a:fld>
            <a:endParaRPr lang="en-US"/>
          </a:p>
        </p:txBody>
      </p:sp>
    </p:spTree>
    <p:extLst>
      <p:ext uri="{BB962C8B-B14F-4D97-AF65-F5344CB8AC3E}">
        <p14:creationId xmlns:p14="http://schemas.microsoft.com/office/powerpoint/2010/main" val="14803536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jdelijke aanduiding voor dia-afbeelding 1"/>
          <p:cNvSpPr>
            <a:spLocks noGrp="1" noRot="1" noChangeAspect="1" noTextEdit="1"/>
          </p:cNvSpPr>
          <p:nvPr>
            <p:ph type="sldImg"/>
          </p:nvPr>
        </p:nvSpPr>
        <p:spPr>
          <a:ln/>
        </p:spPr>
      </p:sp>
      <p:sp>
        <p:nvSpPr>
          <p:cNvPr id="91139" name="Tijdelijke aanduiding voor notities 2"/>
          <p:cNvSpPr>
            <a:spLocks noGrp="1"/>
          </p:cNvSpPr>
          <p:nvPr>
            <p:ph type="body" idx="1"/>
          </p:nvPr>
        </p:nvSpPr>
        <p:spPr>
          <a:noFill/>
          <a:ln/>
        </p:spPr>
        <p:txBody>
          <a:bodyPr/>
          <a:lstStyle/>
          <a:p>
            <a:endParaRPr lang="nl-NL"/>
          </a:p>
        </p:txBody>
      </p:sp>
      <p:sp>
        <p:nvSpPr>
          <p:cNvPr id="91140" name="Tijdelijke aanduiding voor dianummer 3"/>
          <p:cNvSpPr>
            <a:spLocks noGrp="1"/>
          </p:cNvSpPr>
          <p:nvPr>
            <p:ph type="sldNum" sz="quarter" idx="5"/>
          </p:nvPr>
        </p:nvSpPr>
        <p:spPr>
          <a:noFill/>
        </p:spPr>
        <p:txBody>
          <a:bodyPr/>
          <a:lstStyle/>
          <a:p>
            <a:fld id="{FF2BF3A5-1D96-4D4F-9500-7E3FBF2FD087}" type="slidenum">
              <a:rPr lang="en-US" smtClean="0"/>
              <a:pPr/>
              <a:t>26</a:t>
            </a:fld>
            <a:endParaRPr lang="en-US"/>
          </a:p>
        </p:txBody>
      </p:sp>
    </p:spTree>
    <p:extLst>
      <p:ext uri="{BB962C8B-B14F-4D97-AF65-F5344CB8AC3E}">
        <p14:creationId xmlns:p14="http://schemas.microsoft.com/office/powerpoint/2010/main" val="1706249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57851DF5-B5B6-4B58-AF40-2876301197B4}" type="slidenum">
              <a:rPr lang="en-US" smtClean="0"/>
              <a:pPr/>
              <a:t>27</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15822584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jdelijke aanduiding voor dia-afbeelding 1"/>
          <p:cNvSpPr>
            <a:spLocks noGrp="1" noRot="1" noChangeAspect="1" noTextEdit="1"/>
          </p:cNvSpPr>
          <p:nvPr>
            <p:ph type="sldImg"/>
          </p:nvPr>
        </p:nvSpPr>
        <p:spPr>
          <a:ln/>
        </p:spPr>
      </p:sp>
      <p:sp>
        <p:nvSpPr>
          <p:cNvPr id="93187" name="Tijdelijke aanduiding voor notities 2"/>
          <p:cNvSpPr>
            <a:spLocks noGrp="1"/>
          </p:cNvSpPr>
          <p:nvPr>
            <p:ph type="body" idx="1"/>
          </p:nvPr>
        </p:nvSpPr>
        <p:spPr>
          <a:noFill/>
          <a:ln/>
        </p:spPr>
        <p:txBody>
          <a:bodyPr/>
          <a:lstStyle/>
          <a:p>
            <a:endParaRPr lang="nl-NL"/>
          </a:p>
        </p:txBody>
      </p:sp>
      <p:sp>
        <p:nvSpPr>
          <p:cNvPr id="93188" name="Tijdelijke aanduiding voor dianummer 3"/>
          <p:cNvSpPr>
            <a:spLocks noGrp="1"/>
          </p:cNvSpPr>
          <p:nvPr>
            <p:ph type="sldNum" sz="quarter" idx="5"/>
          </p:nvPr>
        </p:nvSpPr>
        <p:spPr>
          <a:noFill/>
        </p:spPr>
        <p:txBody>
          <a:bodyPr/>
          <a:lstStyle/>
          <a:p>
            <a:fld id="{70ABDE57-088E-484E-A5AE-5BABD419A942}" type="slidenum">
              <a:rPr lang="en-US" smtClean="0"/>
              <a:pPr/>
              <a:t>29</a:t>
            </a:fld>
            <a:endParaRPr lang="en-US"/>
          </a:p>
        </p:txBody>
      </p:sp>
    </p:spTree>
    <p:extLst>
      <p:ext uri="{BB962C8B-B14F-4D97-AF65-F5344CB8AC3E}">
        <p14:creationId xmlns:p14="http://schemas.microsoft.com/office/powerpoint/2010/main" val="7280036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jdelijke aanduiding voor dia-afbeelding 1"/>
          <p:cNvSpPr>
            <a:spLocks noGrp="1" noRot="1" noChangeAspect="1" noTextEdit="1"/>
          </p:cNvSpPr>
          <p:nvPr>
            <p:ph type="sldImg"/>
          </p:nvPr>
        </p:nvSpPr>
        <p:spPr>
          <a:ln/>
        </p:spPr>
      </p:sp>
      <p:sp>
        <p:nvSpPr>
          <p:cNvPr id="94211" name="Tijdelijke aanduiding voor notities 2"/>
          <p:cNvSpPr>
            <a:spLocks noGrp="1"/>
          </p:cNvSpPr>
          <p:nvPr>
            <p:ph type="body" idx="1"/>
          </p:nvPr>
        </p:nvSpPr>
        <p:spPr>
          <a:noFill/>
          <a:ln/>
        </p:spPr>
        <p:txBody>
          <a:bodyPr/>
          <a:lstStyle/>
          <a:p>
            <a:endParaRPr lang="nl-NL"/>
          </a:p>
        </p:txBody>
      </p:sp>
      <p:sp>
        <p:nvSpPr>
          <p:cNvPr id="94212" name="Tijdelijke aanduiding voor dianummer 3"/>
          <p:cNvSpPr>
            <a:spLocks noGrp="1"/>
          </p:cNvSpPr>
          <p:nvPr>
            <p:ph type="sldNum" sz="quarter" idx="5"/>
          </p:nvPr>
        </p:nvSpPr>
        <p:spPr>
          <a:noFill/>
        </p:spPr>
        <p:txBody>
          <a:bodyPr/>
          <a:lstStyle/>
          <a:p>
            <a:fld id="{15887A10-9D43-45AB-87BB-F50E2DF1AF9B}" type="slidenum">
              <a:rPr lang="en-US" smtClean="0"/>
              <a:pPr/>
              <a:t>30</a:t>
            </a:fld>
            <a:endParaRPr lang="en-US"/>
          </a:p>
        </p:txBody>
      </p:sp>
    </p:spTree>
    <p:extLst>
      <p:ext uri="{BB962C8B-B14F-4D97-AF65-F5344CB8AC3E}">
        <p14:creationId xmlns:p14="http://schemas.microsoft.com/office/powerpoint/2010/main" val="13429581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jdelijke aanduiding voor dia-afbeelding 1"/>
          <p:cNvSpPr>
            <a:spLocks noGrp="1" noRot="1" noChangeAspect="1" noTextEdit="1"/>
          </p:cNvSpPr>
          <p:nvPr>
            <p:ph type="sldImg"/>
          </p:nvPr>
        </p:nvSpPr>
        <p:spPr>
          <a:ln/>
        </p:spPr>
      </p:sp>
      <p:sp>
        <p:nvSpPr>
          <p:cNvPr id="95235" name="Tijdelijke aanduiding voor notities 2"/>
          <p:cNvSpPr>
            <a:spLocks noGrp="1"/>
          </p:cNvSpPr>
          <p:nvPr>
            <p:ph type="body" idx="1"/>
          </p:nvPr>
        </p:nvSpPr>
        <p:spPr>
          <a:noFill/>
          <a:ln/>
        </p:spPr>
        <p:txBody>
          <a:bodyPr/>
          <a:lstStyle/>
          <a:p>
            <a:r>
              <a:rPr lang="en-US" dirty="0"/>
              <a:t>We will also write </a:t>
            </a:r>
            <a:r>
              <a:rPr lang="en-US" dirty="0" err="1"/>
              <a:t>p,q</a:t>
            </a:r>
            <a:r>
              <a:rPr lang="en-US" dirty="0"/>
              <a:t> </a:t>
            </a:r>
            <a:r>
              <a:rPr lang="en-US" dirty="0">
                <a:sym typeface="Symbol" pitchFamily="18" charset="2"/>
              </a:rPr>
              <a:t>  to mean all subsets of  that do </a:t>
            </a:r>
            <a:r>
              <a:rPr lang="en-US" u="sng" dirty="0">
                <a:sym typeface="Symbol" pitchFamily="18" charset="2"/>
              </a:rPr>
              <a:t>not</a:t>
            </a:r>
            <a:r>
              <a:rPr lang="en-US" dirty="0">
                <a:sym typeface="Symbol" pitchFamily="18" charset="2"/>
              </a:rPr>
              <a:t> contain both p and q.  Similarly we define </a:t>
            </a:r>
            <a:r>
              <a:rPr lang="en-US" dirty="0" err="1">
                <a:sym typeface="Symbol" pitchFamily="18" charset="2"/>
              </a:rPr>
              <a:t>p,q</a:t>
            </a:r>
            <a:r>
              <a:rPr lang="en-US" dirty="0">
                <a:sym typeface="Symbol" pitchFamily="18" charset="2"/>
              </a:rPr>
              <a:t>  .</a:t>
            </a:r>
            <a:endParaRPr lang="nl-NL" dirty="0"/>
          </a:p>
        </p:txBody>
      </p:sp>
      <p:sp>
        <p:nvSpPr>
          <p:cNvPr id="95236" name="Tijdelijke aanduiding voor dianummer 3"/>
          <p:cNvSpPr>
            <a:spLocks noGrp="1"/>
          </p:cNvSpPr>
          <p:nvPr>
            <p:ph type="sldNum" sz="quarter" idx="5"/>
          </p:nvPr>
        </p:nvSpPr>
        <p:spPr>
          <a:noFill/>
        </p:spPr>
        <p:txBody>
          <a:bodyPr/>
          <a:lstStyle/>
          <a:p>
            <a:fld id="{CE9A4E9E-D1F3-4B67-86F8-09D73FBDAC66}" type="slidenum">
              <a:rPr lang="en-US" smtClean="0"/>
              <a:pPr/>
              <a:t>31</a:t>
            </a:fld>
            <a:endParaRPr lang="en-US"/>
          </a:p>
        </p:txBody>
      </p:sp>
    </p:spTree>
    <p:extLst>
      <p:ext uri="{BB962C8B-B14F-4D97-AF65-F5344CB8AC3E}">
        <p14:creationId xmlns:p14="http://schemas.microsoft.com/office/powerpoint/2010/main" val="10448332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jdelijke aanduiding voor dia-afbeelding 1"/>
          <p:cNvSpPr>
            <a:spLocks noGrp="1" noRot="1" noChangeAspect="1" noTextEdit="1"/>
          </p:cNvSpPr>
          <p:nvPr>
            <p:ph type="sldImg"/>
          </p:nvPr>
        </p:nvSpPr>
        <p:spPr>
          <a:ln/>
        </p:spPr>
      </p:sp>
      <p:sp>
        <p:nvSpPr>
          <p:cNvPr id="96259" name="Tijdelijke aanduiding voor notities 2"/>
          <p:cNvSpPr>
            <a:spLocks noGrp="1"/>
          </p:cNvSpPr>
          <p:nvPr>
            <p:ph type="body" idx="1"/>
          </p:nvPr>
        </p:nvSpPr>
        <p:spPr>
          <a:noFill/>
          <a:ln/>
        </p:spPr>
        <p:txBody>
          <a:bodyPr/>
          <a:lstStyle/>
          <a:p>
            <a:endParaRPr lang="nl-NL"/>
          </a:p>
        </p:txBody>
      </p:sp>
      <p:sp>
        <p:nvSpPr>
          <p:cNvPr id="96260" name="Tijdelijke aanduiding voor dianummer 3"/>
          <p:cNvSpPr>
            <a:spLocks noGrp="1"/>
          </p:cNvSpPr>
          <p:nvPr>
            <p:ph type="sldNum" sz="quarter" idx="5"/>
          </p:nvPr>
        </p:nvSpPr>
        <p:spPr>
          <a:noFill/>
        </p:spPr>
        <p:txBody>
          <a:bodyPr/>
          <a:lstStyle/>
          <a:p>
            <a:fld id="{98D1FDD3-9BC7-40AB-A70E-098DDEC92EE8}" type="slidenum">
              <a:rPr lang="en-US" smtClean="0"/>
              <a:pPr/>
              <a:t>32</a:t>
            </a:fld>
            <a:endParaRPr lang="en-US"/>
          </a:p>
        </p:txBody>
      </p:sp>
    </p:spTree>
    <p:extLst>
      <p:ext uri="{BB962C8B-B14F-4D97-AF65-F5344CB8AC3E}">
        <p14:creationId xmlns:p14="http://schemas.microsoft.com/office/powerpoint/2010/main" val="5381470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jdelijke aanduiding voor dia-afbeelding 1"/>
          <p:cNvSpPr>
            <a:spLocks noGrp="1" noRot="1" noChangeAspect="1" noTextEdit="1"/>
          </p:cNvSpPr>
          <p:nvPr>
            <p:ph type="sldImg"/>
          </p:nvPr>
        </p:nvSpPr>
        <p:spPr>
          <a:ln/>
        </p:spPr>
      </p:sp>
      <p:sp>
        <p:nvSpPr>
          <p:cNvPr id="97283" name="Tijdelijke aanduiding voor notities 2"/>
          <p:cNvSpPr>
            <a:spLocks noGrp="1"/>
          </p:cNvSpPr>
          <p:nvPr>
            <p:ph type="body" idx="1"/>
          </p:nvPr>
        </p:nvSpPr>
        <p:spPr>
          <a:noFill/>
          <a:ln/>
        </p:spPr>
        <p:txBody>
          <a:bodyPr/>
          <a:lstStyle/>
          <a:p>
            <a:endParaRPr lang="nl-NL"/>
          </a:p>
        </p:txBody>
      </p:sp>
      <p:sp>
        <p:nvSpPr>
          <p:cNvPr id="97284" name="Tijdelijke aanduiding voor dianummer 3"/>
          <p:cNvSpPr>
            <a:spLocks noGrp="1"/>
          </p:cNvSpPr>
          <p:nvPr>
            <p:ph type="sldNum" sz="quarter" idx="5"/>
          </p:nvPr>
        </p:nvSpPr>
        <p:spPr>
          <a:noFill/>
        </p:spPr>
        <p:txBody>
          <a:bodyPr/>
          <a:lstStyle/>
          <a:p>
            <a:fld id="{62A68318-C132-4604-A687-6DD865616B72}" type="slidenum">
              <a:rPr lang="en-US" smtClean="0"/>
              <a:pPr/>
              <a:t>33</a:t>
            </a:fld>
            <a:endParaRPr lang="en-US"/>
          </a:p>
        </p:txBody>
      </p:sp>
    </p:spTree>
    <p:extLst>
      <p:ext uri="{BB962C8B-B14F-4D97-AF65-F5344CB8AC3E}">
        <p14:creationId xmlns:p14="http://schemas.microsoft.com/office/powerpoint/2010/main" val="15833444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jdelijke aanduiding voor dia-afbeelding 1"/>
          <p:cNvSpPr>
            <a:spLocks noGrp="1" noRot="1" noChangeAspect="1" noTextEdit="1"/>
          </p:cNvSpPr>
          <p:nvPr>
            <p:ph type="sldImg"/>
          </p:nvPr>
        </p:nvSpPr>
        <p:spPr>
          <a:ln/>
        </p:spPr>
      </p:sp>
      <p:sp>
        <p:nvSpPr>
          <p:cNvPr id="98307" name="Tijdelijke aanduiding voor notities 2"/>
          <p:cNvSpPr>
            <a:spLocks noGrp="1"/>
          </p:cNvSpPr>
          <p:nvPr>
            <p:ph type="body" idx="1"/>
          </p:nvPr>
        </p:nvSpPr>
        <p:spPr>
          <a:noFill/>
          <a:ln/>
        </p:spPr>
        <p:txBody>
          <a:bodyPr/>
          <a:lstStyle/>
          <a:p>
            <a:r>
              <a:rPr lang="en-US" dirty="0">
                <a:latin typeface="Arial" charset="0"/>
                <a:cs typeface="Arial" charset="0"/>
                <a:sym typeface="Symbol" pitchFamily="18" charset="2"/>
              </a:rPr>
              <a:t>(p U q)          =   p/\q  </a:t>
            </a:r>
            <a:r>
              <a:rPr lang="en-US" b="1" dirty="0">
                <a:latin typeface="Arial" charset="0"/>
                <a:cs typeface="Arial" charset="0"/>
                <a:sym typeface="Symbol" pitchFamily="18" charset="2"/>
              </a:rPr>
              <a:t>W</a:t>
            </a:r>
            <a:r>
              <a:rPr lang="en-US" dirty="0">
                <a:latin typeface="Arial" charset="0"/>
                <a:cs typeface="Arial" charset="0"/>
                <a:sym typeface="Symbol" pitchFamily="18" charset="2"/>
              </a:rPr>
              <a:t>  p /\ q</a:t>
            </a:r>
          </a:p>
          <a:p>
            <a:endParaRPr lang="nl-NL" dirty="0"/>
          </a:p>
          <a:p>
            <a:r>
              <a:rPr lang="nl-NL" dirty="0" err="1"/>
              <a:t>which</a:t>
            </a:r>
            <a:r>
              <a:rPr lang="nl-NL" dirty="0"/>
              <a:t> </a:t>
            </a:r>
            <a:r>
              <a:rPr lang="nl-NL" dirty="0" err="1"/>
              <a:t>should</a:t>
            </a:r>
            <a:r>
              <a:rPr lang="nl-NL" dirty="0"/>
              <a:t> </a:t>
            </a:r>
            <a:r>
              <a:rPr lang="nl-NL" dirty="0" err="1"/>
              <a:t>also</a:t>
            </a:r>
            <a:r>
              <a:rPr lang="nl-NL" dirty="0"/>
              <a:t> </a:t>
            </a:r>
            <a:r>
              <a:rPr lang="nl-NL" dirty="0" err="1"/>
              <a:t>be</a:t>
            </a:r>
            <a:r>
              <a:rPr lang="nl-NL" dirty="0"/>
              <a:t> equivalent </a:t>
            </a:r>
            <a:r>
              <a:rPr lang="nl-NL" dirty="0" err="1"/>
              <a:t>to</a:t>
            </a:r>
            <a:r>
              <a:rPr lang="nl-NL" dirty="0"/>
              <a:t> </a:t>
            </a:r>
            <a:r>
              <a:rPr lang="nl-NL" dirty="0" err="1"/>
              <a:t>just</a:t>
            </a:r>
            <a:r>
              <a:rPr lang="nl-NL" dirty="0"/>
              <a:t> </a:t>
            </a:r>
            <a:r>
              <a:rPr lang="en-US" dirty="0">
                <a:latin typeface="Arial" charset="0"/>
                <a:cs typeface="Arial" charset="0"/>
                <a:sym typeface="Symbol" pitchFamily="18" charset="2"/>
              </a:rPr>
              <a:t>q  </a:t>
            </a:r>
            <a:r>
              <a:rPr lang="en-US" b="1" dirty="0">
                <a:latin typeface="Arial" charset="0"/>
                <a:cs typeface="Arial" charset="0"/>
                <a:sym typeface="Symbol" pitchFamily="18" charset="2"/>
              </a:rPr>
              <a:t>W</a:t>
            </a:r>
            <a:r>
              <a:rPr lang="en-US" dirty="0">
                <a:latin typeface="Arial" charset="0"/>
                <a:cs typeface="Arial" charset="0"/>
                <a:sym typeface="Symbol" pitchFamily="18" charset="2"/>
              </a:rPr>
              <a:t>  p /\ q</a:t>
            </a:r>
          </a:p>
          <a:p>
            <a:br>
              <a:rPr lang="nl-NL" dirty="0"/>
            </a:br>
            <a:r>
              <a:rPr lang="nl-NL" dirty="0" err="1"/>
              <a:t>Either</a:t>
            </a:r>
            <a:r>
              <a:rPr lang="nl-NL" dirty="0"/>
              <a:t> q never </a:t>
            </a:r>
            <a:r>
              <a:rPr lang="nl-NL" dirty="0" err="1"/>
              <a:t>holds</a:t>
            </a:r>
            <a:r>
              <a:rPr lang="nl-NL" dirty="0"/>
              <a:t>; or p </a:t>
            </a:r>
            <a:r>
              <a:rPr lang="nl-NL" dirty="0" err="1"/>
              <a:t>becomes</a:t>
            </a:r>
            <a:r>
              <a:rPr lang="nl-NL" dirty="0"/>
              <a:t> </a:t>
            </a:r>
            <a:r>
              <a:rPr lang="nl-NL" dirty="0" err="1"/>
              <a:t>false</a:t>
            </a:r>
            <a:r>
              <a:rPr lang="nl-NL" dirty="0"/>
              <a:t> </a:t>
            </a:r>
            <a:r>
              <a:rPr lang="nl-NL" dirty="0" err="1"/>
              <a:t>too</a:t>
            </a:r>
            <a:r>
              <a:rPr lang="nl-NL" dirty="0"/>
              <a:t> </a:t>
            </a:r>
            <a:r>
              <a:rPr lang="nl-NL" dirty="0" err="1"/>
              <a:t>early</a:t>
            </a:r>
            <a:r>
              <a:rPr lang="nl-NL" dirty="0"/>
              <a:t> (without setting q </a:t>
            </a:r>
            <a:r>
              <a:rPr lang="nl-NL" dirty="0" err="1"/>
              <a:t>to</a:t>
            </a:r>
            <a:r>
              <a:rPr lang="nl-NL" dirty="0"/>
              <a:t> </a:t>
            </a:r>
            <a:r>
              <a:rPr lang="nl-NL" dirty="0" err="1"/>
              <a:t>true</a:t>
            </a:r>
            <a:r>
              <a:rPr lang="nl-NL" dirty="0"/>
              <a:t>)</a:t>
            </a:r>
          </a:p>
        </p:txBody>
      </p:sp>
      <p:sp>
        <p:nvSpPr>
          <p:cNvPr id="98308" name="Tijdelijke aanduiding voor dianummer 3"/>
          <p:cNvSpPr>
            <a:spLocks noGrp="1"/>
          </p:cNvSpPr>
          <p:nvPr>
            <p:ph type="sldNum" sz="quarter" idx="5"/>
          </p:nvPr>
        </p:nvSpPr>
        <p:spPr>
          <a:noFill/>
        </p:spPr>
        <p:txBody>
          <a:bodyPr/>
          <a:lstStyle/>
          <a:p>
            <a:fld id="{9BC36AAB-8E9D-4BF2-AEA8-9992888C1827}" type="slidenum">
              <a:rPr lang="en-US" smtClean="0"/>
              <a:pPr/>
              <a:t>34</a:t>
            </a:fld>
            <a:endParaRPr lang="en-US"/>
          </a:p>
        </p:txBody>
      </p:sp>
    </p:spTree>
    <p:extLst>
      <p:ext uri="{BB962C8B-B14F-4D97-AF65-F5344CB8AC3E}">
        <p14:creationId xmlns:p14="http://schemas.microsoft.com/office/powerpoint/2010/main" val="17999650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jdelijke aanduiding voor dia-afbeelding 1"/>
          <p:cNvSpPr>
            <a:spLocks noGrp="1" noRot="1" noChangeAspect="1" noTextEdit="1"/>
          </p:cNvSpPr>
          <p:nvPr>
            <p:ph type="sldImg"/>
          </p:nvPr>
        </p:nvSpPr>
        <p:spPr>
          <a:ln/>
        </p:spPr>
      </p:sp>
      <p:sp>
        <p:nvSpPr>
          <p:cNvPr id="99331" name="Tijdelijke aanduiding voor notities 2"/>
          <p:cNvSpPr>
            <a:spLocks noGrp="1"/>
          </p:cNvSpPr>
          <p:nvPr>
            <p:ph type="body" idx="1"/>
          </p:nvPr>
        </p:nvSpPr>
        <p:spPr>
          <a:noFill/>
          <a:ln/>
        </p:spPr>
        <p:txBody>
          <a:bodyPr/>
          <a:lstStyle/>
          <a:p>
            <a:endParaRPr lang="nl-NL"/>
          </a:p>
        </p:txBody>
      </p:sp>
      <p:sp>
        <p:nvSpPr>
          <p:cNvPr id="99332" name="Tijdelijke aanduiding voor dianummer 3"/>
          <p:cNvSpPr>
            <a:spLocks noGrp="1"/>
          </p:cNvSpPr>
          <p:nvPr>
            <p:ph type="sldNum" sz="quarter" idx="5"/>
          </p:nvPr>
        </p:nvSpPr>
        <p:spPr>
          <a:noFill/>
        </p:spPr>
        <p:txBody>
          <a:bodyPr/>
          <a:lstStyle/>
          <a:p>
            <a:fld id="{9B28A700-4857-448C-B8A1-7D72A2A13606}" type="slidenum">
              <a:rPr lang="en-US" smtClean="0"/>
              <a:pPr/>
              <a:t>35</a:t>
            </a:fld>
            <a:endParaRPr lang="en-US"/>
          </a:p>
        </p:txBody>
      </p:sp>
    </p:spTree>
    <p:extLst>
      <p:ext uri="{BB962C8B-B14F-4D97-AF65-F5344CB8AC3E}">
        <p14:creationId xmlns:p14="http://schemas.microsoft.com/office/powerpoint/2010/main" val="4101743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jdelijke aanduiding voor dia-afbeelding 1"/>
          <p:cNvSpPr>
            <a:spLocks noGrp="1" noRot="1" noChangeAspect="1" noTextEdit="1"/>
          </p:cNvSpPr>
          <p:nvPr>
            <p:ph type="sldImg"/>
          </p:nvPr>
        </p:nvSpPr>
        <p:spPr>
          <a:ln/>
        </p:spPr>
      </p:sp>
      <p:sp>
        <p:nvSpPr>
          <p:cNvPr id="100355" name="Tijdelijke aanduiding voor notities 2"/>
          <p:cNvSpPr>
            <a:spLocks noGrp="1"/>
          </p:cNvSpPr>
          <p:nvPr>
            <p:ph type="body" idx="1"/>
          </p:nvPr>
        </p:nvSpPr>
        <p:spPr>
          <a:noFill/>
          <a:ln/>
        </p:spPr>
        <p:txBody>
          <a:bodyPr/>
          <a:lstStyle/>
          <a:p>
            <a:r>
              <a:rPr lang="nl-NL" dirty="0"/>
              <a:t>(p U q) U r   </a:t>
            </a:r>
            <a:r>
              <a:rPr lang="nl-NL" dirty="0" err="1"/>
              <a:t>convert</a:t>
            </a:r>
            <a:r>
              <a:rPr lang="nl-NL" dirty="0"/>
              <a:t> </a:t>
            </a:r>
            <a:r>
              <a:rPr lang="nl-NL" dirty="0" err="1"/>
              <a:t>to</a:t>
            </a:r>
            <a:endParaRPr lang="nl-NL" dirty="0"/>
          </a:p>
          <a:p>
            <a:r>
              <a:rPr lang="nl-NL" dirty="0"/>
              <a:t>   * r, or</a:t>
            </a:r>
          </a:p>
          <a:p>
            <a:r>
              <a:rPr lang="nl-NL" dirty="0"/>
              <a:t>   * (p \/ q)  U  (q /\  </a:t>
            </a:r>
            <a:r>
              <a:rPr lang="nl-NL" dirty="0" err="1"/>
              <a:t>Xr</a:t>
            </a:r>
            <a:r>
              <a:rPr lang="nl-NL" dirty="0"/>
              <a:t>)</a:t>
            </a:r>
          </a:p>
          <a:p>
            <a:r>
              <a:rPr lang="nl-NL" dirty="0"/>
              <a:t>  *  (p \/ q)  U  (p /\ ~q /\ X(r /\ (p U q)))</a:t>
            </a:r>
          </a:p>
        </p:txBody>
      </p:sp>
      <p:sp>
        <p:nvSpPr>
          <p:cNvPr id="100356" name="Tijdelijke aanduiding voor dianummer 3"/>
          <p:cNvSpPr>
            <a:spLocks noGrp="1"/>
          </p:cNvSpPr>
          <p:nvPr>
            <p:ph type="sldNum" sz="quarter" idx="5"/>
          </p:nvPr>
        </p:nvSpPr>
        <p:spPr>
          <a:noFill/>
        </p:spPr>
        <p:txBody>
          <a:bodyPr/>
          <a:lstStyle/>
          <a:p>
            <a:fld id="{905EC075-D3C7-48C8-805B-4AC612B0E8B2}" type="slidenum">
              <a:rPr lang="en-US" smtClean="0"/>
              <a:pPr/>
              <a:t>36</a:t>
            </a:fld>
            <a:endParaRPr lang="en-US"/>
          </a:p>
        </p:txBody>
      </p:sp>
    </p:spTree>
    <p:extLst>
      <p:ext uri="{BB962C8B-B14F-4D97-AF65-F5344CB8AC3E}">
        <p14:creationId xmlns:p14="http://schemas.microsoft.com/office/powerpoint/2010/main" val="3776591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6F18534A-07C0-4C7F-B817-0AFFA413F30D}" type="slidenum">
              <a:rPr lang="en-US" smtClean="0"/>
              <a:pPr/>
              <a:t>37</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15027201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jdelijke aanduiding voor dia-afbeelding 1"/>
          <p:cNvSpPr>
            <a:spLocks noGrp="1" noRot="1" noChangeAspect="1" noTextEdit="1"/>
          </p:cNvSpPr>
          <p:nvPr>
            <p:ph type="sldImg"/>
          </p:nvPr>
        </p:nvSpPr>
        <p:spPr>
          <a:ln/>
        </p:spPr>
      </p:sp>
      <p:sp>
        <p:nvSpPr>
          <p:cNvPr id="102403" name="Tijdelijke aanduiding voor notities 2"/>
          <p:cNvSpPr>
            <a:spLocks noGrp="1"/>
          </p:cNvSpPr>
          <p:nvPr>
            <p:ph type="body" idx="1"/>
          </p:nvPr>
        </p:nvSpPr>
        <p:spPr>
          <a:noFill/>
          <a:ln/>
        </p:spPr>
        <p:txBody>
          <a:bodyPr/>
          <a:lstStyle/>
          <a:p>
            <a:endParaRPr lang="nl-NL"/>
          </a:p>
        </p:txBody>
      </p:sp>
      <p:sp>
        <p:nvSpPr>
          <p:cNvPr id="102404" name="Tijdelijke aanduiding voor dianummer 3"/>
          <p:cNvSpPr>
            <a:spLocks noGrp="1"/>
          </p:cNvSpPr>
          <p:nvPr>
            <p:ph type="sldNum" sz="quarter" idx="5"/>
          </p:nvPr>
        </p:nvSpPr>
        <p:spPr>
          <a:noFill/>
        </p:spPr>
        <p:txBody>
          <a:bodyPr/>
          <a:lstStyle/>
          <a:p>
            <a:fld id="{B6A0C89C-0291-496B-A898-C39B039F48B1}" type="slidenum">
              <a:rPr lang="en-US" smtClean="0"/>
              <a:pPr/>
              <a:t>38</a:t>
            </a:fld>
            <a:endParaRPr lang="en-US"/>
          </a:p>
        </p:txBody>
      </p:sp>
    </p:spTree>
    <p:extLst>
      <p:ext uri="{BB962C8B-B14F-4D97-AF65-F5344CB8AC3E}">
        <p14:creationId xmlns:p14="http://schemas.microsoft.com/office/powerpoint/2010/main" val="959802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jdelijke aanduiding voor dia-afbeelding 1"/>
          <p:cNvSpPr>
            <a:spLocks noGrp="1" noRot="1" noChangeAspect="1" noTextEdit="1"/>
          </p:cNvSpPr>
          <p:nvPr>
            <p:ph type="sldImg"/>
          </p:nvPr>
        </p:nvSpPr>
        <p:spPr>
          <a:ln/>
        </p:spPr>
      </p:sp>
      <p:sp>
        <p:nvSpPr>
          <p:cNvPr id="103427" name="Tijdelijke aanduiding voor notities 2"/>
          <p:cNvSpPr>
            <a:spLocks noGrp="1"/>
          </p:cNvSpPr>
          <p:nvPr>
            <p:ph type="body" idx="1"/>
          </p:nvPr>
        </p:nvSpPr>
        <p:spPr>
          <a:noFill/>
          <a:ln/>
        </p:spPr>
        <p:txBody>
          <a:bodyPr/>
          <a:lstStyle/>
          <a:p>
            <a:endParaRPr lang="nl-NL"/>
          </a:p>
        </p:txBody>
      </p:sp>
      <p:sp>
        <p:nvSpPr>
          <p:cNvPr id="103428" name="Tijdelijke aanduiding voor dianummer 3"/>
          <p:cNvSpPr>
            <a:spLocks noGrp="1"/>
          </p:cNvSpPr>
          <p:nvPr>
            <p:ph type="sldNum" sz="quarter" idx="5"/>
          </p:nvPr>
        </p:nvSpPr>
        <p:spPr>
          <a:noFill/>
        </p:spPr>
        <p:txBody>
          <a:bodyPr/>
          <a:lstStyle/>
          <a:p>
            <a:fld id="{266B9EA1-B225-4913-A847-E6C9DA61B5E7}" type="slidenum">
              <a:rPr lang="en-US" smtClean="0"/>
              <a:pPr/>
              <a:t>39</a:t>
            </a:fld>
            <a:endParaRPr lang="en-US"/>
          </a:p>
        </p:txBody>
      </p:sp>
    </p:spTree>
    <p:extLst>
      <p:ext uri="{BB962C8B-B14F-4D97-AF65-F5344CB8AC3E}">
        <p14:creationId xmlns:p14="http://schemas.microsoft.com/office/powerpoint/2010/main" val="3800613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9F1D1-F952-81E8-8947-F619589F8028}"/>
            </a:ext>
          </a:extLst>
        </p:cNvPr>
        <p:cNvGrpSpPr/>
        <p:nvPr/>
      </p:nvGrpSpPr>
      <p:grpSpPr>
        <a:xfrm>
          <a:off x="0" y="0"/>
          <a:ext cx="0" cy="0"/>
          <a:chOff x="0" y="0"/>
          <a:chExt cx="0" cy="0"/>
        </a:xfrm>
      </p:grpSpPr>
      <p:sp>
        <p:nvSpPr>
          <p:cNvPr id="103426" name="Tijdelijke aanduiding voor dia-afbeelding 1">
            <a:extLst>
              <a:ext uri="{FF2B5EF4-FFF2-40B4-BE49-F238E27FC236}">
                <a16:creationId xmlns:a16="http://schemas.microsoft.com/office/drawing/2014/main" id="{D3EBFD04-9A3A-3D99-C294-0AF42C3EBE24}"/>
              </a:ext>
            </a:extLst>
          </p:cNvPr>
          <p:cNvSpPr>
            <a:spLocks noGrp="1" noRot="1" noChangeAspect="1" noTextEdit="1"/>
          </p:cNvSpPr>
          <p:nvPr>
            <p:ph type="sldImg"/>
          </p:nvPr>
        </p:nvSpPr>
        <p:spPr>
          <a:ln/>
        </p:spPr>
      </p:sp>
      <p:sp>
        <p:nvSpPr>
          <p:cNvPr id="103427" name="Tijdelijke aanduiding voor notities 2">
            <a:extLst>
              <a:ext uri="{FF2B5EF4-FFF2-40B4-BE49-F238E27FC236}">
                <a16:creationId xmlns:a16="http://schemas.microsoft.com/office/drawing/2014/main" id="{128D87EC-1AF6-DC04-CBE9-D802FFD96C88}"/>
              </a:ext>
            </a:extLst>
          </p:cNvPr>
          <p:cNvSpPr>
            <a:spLocks noGrp="1"/>
          </p:cNvSpPr>
          <p:nvPr>
            <p:ph type="body" idx="1"/>
          </p:nvPr>
        </p:nvSpPr>
        <p:spPr>
          <a:noFill/>
          <a:ln/>
        </p:spPr>
        <p:txBody>
          <a:bodyPr/>
          <a:lstStyle/>
          <a:p>
            <a:endParaRPr lang="nl-NL"/>
          </a:p>
        </p:txBody>
      </p:sp>
      <p:sp>
        <p:nvSpPr>
          <p:cNvPr id="103428" name="Tijdelijke aanduiding voor dianummer 3">
            <a:extLst>
              <a:ext uri="{FF2B5EF4-FFF2-40B4-BE49-F238E27FC236}">
                <a16:creationId xmlns:a16="http://schemas.microsoft.com/office/drawing/2014/main" id="{8B7B0CAD-BD36-C6E4-FADF-D36CA32622B3}"/>
              </a:ext>
            </a:extLst>
          </p:cNvPr>
          <p:cNvSpPr>
            <a:spLocks noGrp="1"/>
          </p:cNvSpPr>
          <p:nvPr>
            <p:ph type="sldNum" sz="quarter" idx="5"/>
          </p:nvPr>
        </p:nvSpPr>
        <p:spPr>
          <a:noFill/>
        </p:spPr>
        <p:txBody>
          <a:bodyPr/>
          <a:lstStyle/>
          <a:p>
            <a:fld id="{266B9EA1-B225-4913-A847-E6C9DA61B5E7}" type="slidenum">
              <a:rPr lang="en-US" smtClean="0"/>
              <a:pPr/>
              <a:t>40</a:t>
            </a:fld>
            <a:endParaRPr lang="en-US"/>
          </a:p>
        </p:txBody>
      </p:sp>
    </p:spTree>
    <p:extLst>
      <p:ext uri="{BB962C8B-B14F-4D97-AF65-F5344CB8AC3E}">
        <p14:creationId xmlns:p14="http://schemas.microsoft.com/office/powerpoint/2010/main" val="40252779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jdelijke aanduiding voor dia-afbeelding 1"/>
          <p:cNvSpPr>
            <a:spLocks noGrp="1" noRot="1" noChangeAspect="1" noTextEdit="1"/>
          </p:cNvSpPr>
          <p:nvPr>
            <p:ph type="sldImg"/>
          </p:nvPr>
        </p:nvSpPr>
        <p:spPr>
          <a:ln/>
        </p:spPr>
      </p:sp>
      <p:sp>
        <p:nvSpPr>
          <p:cNvPr id="104451" name="Tijdelijke aanduiding voor notities 2"/>
          <p:cNvSpPr>
            <a:spLocks noGrp="1"/>
          </p:cNvSpPr>
          <p:nvPr>
            <p:ph type="body" idx="1"/>
          </p:nvPr>
        </p:nvSpPr>
        <p:spPr>
          <a:noFill/>
          <a:ln/>
        </p:spPr>
        <p:txBody>
          <a:bodyPr/>
          <a:lstStyle/>
          <a:p>
            <a:endParaRPr lang="nl-NL"/>
          </a:p>
        </p:txBody>
      </p:sp>
      <p:sp>
        <p:nvSpPr>
          <p:cNvPr id="104452" name="Tijdelijke aanduiding voor dianummer 3"/>
          <p:cNvSpPr>
            <a:spLocks noGrp="1"/>
          </p:cNvSpPr>
          <p:nvPr>
            <p:ph type="sldNum" sz="quarter" idx="5"/>
          </p:nvPr>
        </p:nvSpPr>
        <p:spPr>
          <a:noFill/>
        </p:spPr>
        <p:txBody>
          <a:bodyPr/>
          <a:lstStyle/>
          <a:p>
            <a:fld id="{6C4F49A9-162C-4A8C-93B4-95768DEB562D}" type="slidenum">
              <a:rPr lang="en-US" smtClean="0"/>
              <a:pPr/>
              <a:t>41</a:t>
            </a:fld>
            <a:endParaRPr lang="en-US"/>
          </a:p>
        </p:txBody>
      </p:sp>
    </p:spTree>
    <p:extLst>
      <p:ext uri="{BB962C8B-B14F-4D97-AF65-F5344CB8AC3E}">
        <p14:creationId xmlns:p14="http://schemas.microsoft.com/office/powerpoint/2010/main" val="10746424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jdelijke aanduiding voor dia-afbeelding 1"/>
          <p:cNvSpPr>
            <a:spLocks noGrp="1" noRot="1" noChangeAspect="1" noTextEdit="1"/>
          </p:cNvSpPr>
          <p:nvPr>
            <p:ph type="sldImg"/>
          </p:nvPr>
        </p:nvSpPr>
        <p:spPr>
          <a:ln/>
        </p:spPr>
      </p:sp>
      <p:sp>
        <p:nvSpPr>
          <p:cNvPr id="105475" name="Tijdelijke aanduiding voor notities 2"/>
          <p:cNvSpPr>
            <a:spLocks noGrp="1"/>
          </p:cNvSpPr>
          <p:nvPr>
            <p:ph type="body" idx="1"/>
          </p:nvPr>
        </p:nvSpPr>
        <p:spPr>
          <a:noFill/>
          <a:ln/>
        </p:spPr>
        <p:txBody>
          <a:bodyPr/>
          <a:lstStyle/>
          <a:p>
            <a:endParaRPr lang="nl-NL"/>
          </a:p>
        </p:txBody>
      </p:sp>
      <p:sp>
        <p:nvSpPr>
          <p:cNvPr id="105476" name="Tijdelijke aanduiding voor dianummer 3"/>
          <p:cNvSpPr>
            <a:spLocks noGrp="1"/>
          </p:cNvSpPr>
          <p:nvPr>
            <p:ph type="sldNum" sz="quarter" idx="5"/>
          </p:nvPr>
        </p:nvSpPr>
        <p:spPr>
          <a:noFill/>
        </p:spPr>
        <p:txBody>
          <a:bodyPr/>
          <a:lstStyle/>
          <a:p>
            <a:fld id="{A1A2BF66-92EA-4A31-BF60-2D9EEA6A122D}" type="slidenum">
              <a:rPr lang="en-US" smtClean="0"/>
              <a:pPr/>
              <a:t>43</a:t>
            </a:fld>
            <a:endParaRPr lang="en-US"/>
          </a:p>
        </p:txBody>
      </p:sp>
    </p:spTree>
    <p:extLst>
      <p:ext uri="{BB962C8B-B14F-4D97-AF65-F5344CB8AC3E}">
        <p14:creationId xmlns:p14="http://schemas.microsoft.com/office/powerpoint/2010/main" val="11778497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4768AE87-7159-4328-B518-3F9E216D8005}" type="slidenum">
              <a:rPr lang="en-US" smtClean="0"/>
              <a:pPr/>
              <a:t>44</a:t>
            </a:fld>
            <a:endParaRPr lang="en-US"/>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nl-NL" dirty="0"/>
          </a:p>
        </p:txBody>
      </p:sp>
    </p:spTree>
    <p:extLst>
      <p:ext uri="{BB962C8B-B14F-4D97-AF65-F5344CB8AC3E}">
        <p14:creationId xmlns:p14="http://schemas.microsoft.com/office/powerpoint/2010/main" val="6163221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BC7F5079-B626-426E-9B91-F239217B8397}" type="slidenum">
              <a:rPr lang="en-US" smtClean="0"/>
              <a:pPr/>
              <a:t>45</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1212476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C7F41B37-5C23-4400-8EE0-1E71919A8AE8}" type="slidenum">
              <a:rPr lang="en-US" smtClean="0"/>
              <a:pPr/>
              <a:t>46</a:t>
            </a:fld>
            <a:endParaRPr lang="en-US"/>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6228478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jdelijke aanduiding voor dia-afbeelding 1"/>
          <p:cNvSpPr>
            <a:spLocks noGrp="1" noRot="1" noChangeAspect="1" noTextEdit="1"/>
          </p:cNvSpPr>
          <p:nvPr>
            <p:ph type="sldImg"/>
          </p:nvPr>
        </p:nvSpPr>
        <p:spPr>
          <a:ln/>
        </p:spPr>
      </p:sp>
      <p:sp>
        <p:nvSpPr>
          <p:cNvPr id="109571" name="Tijdelijke aanduiding voor notities 2"/>
          <p:cNvSpPr>
            <a:spLocks noGrp="1"/>
          </p:cNvSpPr>
          <p:nvPr>
            <p:ph type="body" idx="1"/>
          </p:nvPr>
        </p:nvSpPr>
        <p:spPr>
          <a:noFill/>
          <a:ln/>
        </p:spPr>
        <p:txBody>
          <a:bodyPr/>
          <a:lstStyle/>
          <a:p>
            <a:endParaRPr lang="nl-NL"/>
          </a:p>
        </p:txBody>
      </p:sp>
      <p:sp>
        <p:nvSpPr>
          <p:cNvPr id="109572" name="Tijdelijke aanduiding voor dianummer 3"/>
          <p:cNvSpPr>
            <a:spLocks noGrp="1"/>
          </p:cNvSpPr>
          <p:nvPr>
            <p:ph type="sldNum" sz="quarter" idx="5"/>
          </p:nvPr>
        </p:nvSpPr>
        <p:spPr>
          <a:noFill/>
        </p:spPr>
        <p:txBody>
          <a:bodyPr/>
          <a:lstStyle/>
          <a:p>
            <a:fld id="{A375E6E3-E3CB-4183-9A9A-5B81E30AF77B}" type="slidenum">
              <a:rPr lang="en-US" smtClean="0"/>
              <a:pPr/>
              <a:t>47</a:t>
            </a:fld>
            <a:endParaRPr lang="en-US"/>
          </a:p>
        </p:txBody>
      </p:sp>
    </p:spTree>
    <p:extLst>
      <p:ext uri="{BB962C8B-B14F-4D97-AF65-F5344CB8AC3E}">
        <p14:creationId xmlns:p14="http://schemas.microsoft.com/office/powerpoint/2010/main" val="13679480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17B187A0-0462-4F52-96CD-25011BA9EAEC}" type="slidenum">
              <a:rPr lang="en-US" smtClean="0"/>
              <a:pPr/>
              <a:t>48</a:t>
            </a:fld>
            <a:endParaRPr lang="en-US"/>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1426826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jdelijke aanduiding voor dia-afbeelding 1"/>
          <p:cNvSpPr>
            <a:spLocks noGrp="1" noRot="1" noChangeAspect="1" noTextEdit="1"/>
          </p:cNvSpPr>
          <p:nvPr>
            <p:ph type="sldImg"/>
          </p:nvPr>
        </p:nvSpPr>
        <p:spPr>
          <a:ln/>
        </p:spPr>
      </p:sp>
      <p:sp>
        <p:nvSpPr>
          <p:cNvPr id="111619" name="Tijdelijke aanduiding voor notities 2"/>
          <p:cNvSpPr>
            <a:spLocks noGrp="1"/>
          </p:cNvSpPr>
          <p:nvPr>
            <p:ph type="body" idx="1"/>
          </p:nvPr>
        </p:nvSpPr>
        <p:spPr>
          <a:noFill/>
          <a:ln/>
        </p:spPr>
        <p:txBody>
          <a:bodyPr/>
          <a:lstStyle/>
          <a:p>
            <a:endParaRPr lang="nl-NL"/>
          </a:p>
        </p:txBody>
      </p:sp>
      <p:sp>
        <p:nvSpPr>
          <p:cNvPr id="111620" name="Tijdelijke aanduiding voor dianummer 3"/>
          <p:cNvSpPr>
            <a:spLocks noGrp="1"/>
          </p:cNvSpPr>
          <p:nvPr>
            <p:ph type="sldNum" sz="quarter" idx="5"/>
          </p:nvPr>
        </p:nvSpPr>
        <p:spPr>
          <a:noFill/>
        </p:spPr>
        <p:txBody>
          <a:bodyPr/>
          <a:lstStyle/>
          <a:p>
            <a:fld id="{70652362-626B-4747-986E-E85F353D8BCD}" type="slidenum">
              <a:rPr lang="en-US" smtClean="0"/>
              <a:pPr/>
              <a:t>49</a:t>
            </a:fld>
            <a:endParaRPr lang="en-US"/>
          </a:p>
        </p:txBody>
      </p:sp>
    </p:spTree>
    <p:extLst>
      <p:ext uri="{BB962C8B-B14F-4D97-AF65-F5344CB8AC3E}">
        <p14:creationId xmlns:p14="http://schemas.microsoft.com/office/powerpoint/2010/main" val="14756493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jdelijke aanduiding voor dia-afbeelding 1"/>
          <p:cNvSpPr>
            <a:spLocks noGrp="1" noRot="1" noChangeAspect="1" noTextEdit="1"/>
          </p:cNvSpPr>
          <p:nvPr>
            <p:ph type="sldImg"/>
          </p:nvPr>
        </p:nvSpPr>
        <p:spPr>
          <a:ln/>
        </p:spPr>
      </p:sp>
      <p:sp>
        <p:nvSpPr>
          <p:cNvPr id="112643" name="Tijdelijke aanduiding voor notities 2"/>
          <p:cNvSpPr>
            <a:spLocks noGrp="1"/>
          </p:cNvSpPr>
          <p:nvPr>
            <p:ph type="body" idx="1"/>
          </p:nvPr>
        </p:nvSpPr>
        <p:spPr>
          <a:noFill/>
          <a:ln/>
        </p:spPr>
        <p:txBody>
          <a:bodyPr/>
          <a:lstStyle/>
          <a:p>
            <a:endParaRPr lang="nl-NL"/>
          </a:p>
        </p:txBody>
      </p:sp>
      <p:sp>
        <p:nvSpPr>
          <p:cNvPr id="112644" name="Tijdelijke aanduiding voor dianummer 3"/>
          <p:cNvSpPr>
            <a:spLocks noGrp="1"/>
          </p:cNvSpPr>
          <p:nvPr>
            <p:ph type="sldNum" sz="quarter" idx="5"/>
          </p:nvPr>
        </p:nvSpPr>
        <p:spPr>
          <a:noFill/>
        </p:spPr>
        <p:txBody>
          <a:bodyPr/>
          <a:lstStyle/>
          <a:p>
            <a:fld id="{603B5E4C-1876-45A5-8FB0-B5A5E2A52F80}" type="slidenum">
              <a:rPr lang="en-US" smtClean="0"/>
              <a:pPr/>
              <a:t>50</a:t>
            </a:fld>
            <a:endParaRPr lang="en-US"/>
          </a:p>
        </p:txBody>
      </p:sp>
    </p:spTree>
    <p:extLst>
      <p:ext uri="{BB962C8B-B14F-4D97-AF65-F5344CB8AC3E}">
        <p14:creationId xmlns:p14="http://schemas.microsoft.com/office/powerpoint/2010/main" val="20973018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jdelijke aanduiding voor dia-afbeelding 1"/>
          <p:cNvSpPr>
            <a:spLocks noGrp="1" noRot="1" noChangeAspect="1" noTextEdit="1"/>
          </p:cNvSpPr>
          <p:nvPr>
            <p:ph type="sldImg"/>
          </p:nvPr>
        </p:nvSpPr>
        <p:spPr>
          <a:ln/>
        </p:spPr>
      </p:sp>
      <p:sp>
        <p:nvSpPr>
          <p:cNvPr id="113667" name="Tijdelijke aanduiding voor notities 2"/>
          <p:cNvSpPr>
            <a:spLocks noGrp="1"/>
          </p:cNvSpPr>
          <p:nvPr>
            <p:ph type="body" idx="1"/>
          </p:nvPr>
        </p:nvSpPr>
        <p:spPr>
          <a:noFill/>
          <a:ln/>
        </p:spPr>
        <p:txBody>
          <a:bodyPr/>
          <a:lstStyle/>
          <a:p>
            <a:endParaRPr lang="nl-NL"/>
          </a:p>
        </p:txBody>
      </p:sp>
      <p:sp>
        <p:nvSpPr>
          <p:cNvPr id="113668" name="Tijdelijke aanduiding voor dianummer 3"/>
          <p:cNvSpPr>
            <a:spLocks noGrp="1"/>
          </p:cNvSpPr>
          <p:nvPr>
            <p:ph type="sldNum" sz="quarter" idx="5"/>
          </p:nvPr>
        </p:nvSpPr>
        <p:spPr>
          <a:noFill/>
        </p:spPr>
        <p:txBody>
          <a:bodyPr/>
          <a:lstStyle/>
          <a:p>
            <a:fld id="{1BDC71E3-D10D-4176-BF66-FE742F89A658}" type="slidenum">
              <a:rPr lang="en-US" smtClean="0"/>
              <a:pPr/>
              <a:t>51</a:t>
            </a:fld>
            <a:endParaRPr lang="en-US"/>
          </a:p>
        </p:txBody>
      </p:sp>
    </p:spTree>
    <p:extLst>
      <p:ext uri="{BB962C8B-B14F-4D97-AF65-F5344CB8AC3E}">
        <p14:creationId xmlns:p14="http://schemas.microsoft.com/office/powerpoint/2010/main" val="5551741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jdelijke aanduiding voor dia-afbeelding 1"/>
          <p:cNvSpPr>
            <a:spLocks noGrp="1" noRot="1" noChangeAspect="1" noTextEdit="1"/>
          </p:cNvSpPr>
          <p:nvPr>
            <p:ph type="sldImg"/>
          </p:nvPr>
        </p:nvSpPr>
        <p:spPr>
          <a:ln/>
        </p:spPr>
      </p:sp>
      <p:sp>
        <p:nvSpPr>
          <p:cNvPr id="115715" name="Tijdelijke aanduiding voor notities 2"/>
          <p:cNvSpPr>
            <a:spLocks noGrp="1"/>
          </p:cNvSpPr>
          <p:nvPr>
            <p:ph type="body" idx="1"/>
          </p:nvPr>
        </p:nvSpPr>
        <p:spPr>
          <a:noFill/>
          <a:ln/>
        </p:spPr>
        <p:txBody>
          <a:bodyPr/>
          <a:lstStyle/>
          <a:p>
            <a:endParaRPr lang="nl-NL"/>
          </a:p>
        </p:txBody>
      </p:sp>
      <p:sp>
        <p:nvSpPr>
          <p:cNvPr id="115716" name="Tijdelijke aanduiding voor dianummer 3"/>
          <p:cNvSpPr>
            <a:spLocks noGrp="1"/>
          </p:cNvSpPr>
          <p:nvPr>
            <p:ph type="sldNum" sz="quarter" idx="5"/>
          </p:nvPr>
        </p:nvSpPr>
        <p:spPr>
          <a:noFill/>
        </p:spPr>
        <p:txBody>
          <a:bodyPr/>
          <a:lstStyle/>
          <a:p>
            <a:fld id="{A77D9633-90A4-49FE-AC26-522C655D96CE}" type="slidenum">
              <a:rPr lang="en-US" smtClean="0"/>
              <a:pPr/>
              <a:t>52</a:t>
            </a:fld>
            <a:endParaRPr lang="en-US"/>
          </a:p>
        </p:txBody>
      </p:sp>
    </p:spTree>
    <p:extLst>
      <p:ext uri="{BB962C8B-B14F-4D97-AF65-F5344CB8AC3E}">
        <p14:creationId xmlns:p14="http://schemas.microsoft.com/office/powerpoint/2010/main" val="21423042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E4FD2488-61E9-4305-95A4-37BD235A24E9}" type="slidenum">
              <a:rPr lang="en-US" smtClean="0"/>
              <a:pPr>
                <a:defRPr/>
              </a:pPr>
              <a:t>54</a:t>
            </a:fld>
            <a:endParaRPr lang="en-US"/>
          </a:p>
        </p:txBody>
      </p:sp>
    </p:spTree>
    <p:extLst>
      <p:ext uri="{BB962C8B-B14F-4D97-AF65-F5344CB8AC3E}">
        <p14:creationId xmlns:p14="http://schemas.microsoft.com/office/powerpoint/2010/main" val="40863287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2D25DDB0-FBFB-4841-A524-4E89D475E17A}" type="slidenum">
              <a:rPr lang="en-US" smtClean="0"/>
              <a:pPr/>
              <a:t>58</a:t>
            </a:fld>
            <a:endParaRPr lang="en-US"/>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endParaRPr lang="nl-NL"/>
          </a:p>
        </p:txBody>
      </p:sp>
    </p:spTree>
    <p:extLst>
      <p:ext uri="{BB962C8B-B14F-4D97-AF65-F5344CB8AC3E}">
        <p14:creationId xmlns:p14="http://schemas.microsoft.com/office/powerpoint/2010/main" val="9958974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pPr>
              <a:defRPr/>
            </a:pPr>
            <a:fld id="{E4FD2488-61E9-4305-95A4-37BD235A24E9}" type="slidenum">
              <a:rPr lang="en-US" smtClean="0"/>
              <a:pPr>
                <a:defRPr/>
              </a:pPr>
              <a:t>59</a:t>
            </a:fld>
            <a:endParaRPr lang="en-US"/>
          </a:p>
        </p:txBody>
      </p:sp>
    </p:spTree>
    <p:extLst>
      <p:ext uri="{BB962C8B-B14F-4D97-AF65-F5344CB8AC3E}">
        <p14:creationId xmlns:p14="http://schemas.microsoft.com/office/powerpoint/2010/main" val="2476479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jdelijke aanduiding voor dia-afbeelding 1"/>
          <p:cNvSpPr>
            <a:spLocks noGrp="1" noRot="1" noChangeAspect="1" noTextEdit="1"/>
          </p:cNvSpPr>
          <p:nvPr>
            <p:ph type="sldImg"/>
          </p:nvPr>
        </p:nvSpPr>
        <p:spPr>
          <a:ln/>
        </p:spPr>
      </p:sp>
      <p:sp>
        <p:nvSpPr>
          <p:cNvPr id="121859" name="Tijdelijke aanduiding voor notities 2"/>
          <p:cNvSpPr>
            <a:spLocks noGrp="1"/>
          </p:cNvSpPr>
          <p:nvPr>
            <p:ph type="body" idx="1"/>
          </p:nvPr>
        </p:nvSpPr>
        <p:spPr>
          <a:noFill/>
          <a:ln/>
        </p:spPr>
        <p:txBody>
          <a:bodyPr/>
          <a:lstStyle/>
          <a:p>
            <a:endParaRPr lang="nl-NL"/>
          </a:p>
        </p:txBody>
      </p:sp>
      <p:sp>
        <p:nvSpPr>
          <p:cNvPr id="121860" name="Tijdelijke aanduiding voor dianummer 3"/>
          <p:cNvSpPr>
            <a:spLocks noGrp="1"/>
          </p:cNvSpPr>
          <p:nvPr>
            <p:ph type="sldNum" sz="quarter" idx="5"/>
          </p:nvPr>
        </p:nvSpPr>
        <p:spPr>
          <a:noFill/>
        </p:spPr>
        <p:txBody>
          <a:bodyPr/>
          <a:lstStyle/>
          <a:p>
            <a:fld id="{F07965FE-102D-40CE-91B4-444ED1FFE387}" type="slidenum">
              <a:rPr lang="en-US" smtClean="0"/>
              <a:pPr/>
              <a:t>60</a:t>
            </a:fld>
            <a:endParaRPr lang="en-US"/>
          </a:p>
        </p:txBody>
      </p:sp>
    </p:spTree>
    <p:extLst>
      <p:ext uri="{BB962C8B-B14F-4D97-AF65-F5344CB8AC3E}">
        <p14:creationId xmlns:p14="http://schemas.microsoft.com/office/powerpoint/2010/main" val="560258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Ref idx="1003">
        <a:schemeClr val="bg1"/>
      </p:bgRef>
    </p:bg>
    <p:spTree>
      <p:nvGrpSpPr>
        <p:cNvPr id="1" name=""/>
        <p:cNvGrpSpPr/>
        <p:nvPr/>
      </p:nvGrpSpPr>
      <p:grpSpPr>
        <a:xfrm>
          <a:off x="0" y="0"/>
          <a:ext cx="0" cy="0"/>
          <a:chOff x="0" y="0"/>
          <a:chExt cx="0" cy="0"/>
        </a:xfrm>
      </p:grpSpPr>
      <p:sp>
        <p:nvSpPr>
          <p:cNvPr id="4" name="Rechthoek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Afgeronde rechthoek 10"/>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6" name="Rechthoek 11"/>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2"/>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hthoek 14"/>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Ondertitel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nl-NL"/>
              <a:t>Klik om het opmaakprofiel van de modelondertitel te bewerken</a:t>
            </a:r>
            <a:endParaRPr lang="en-US"/>
          </a:p>
        </p:txBody>
      </p:sp>
      <p:sp>
        <p:nvSpPr>
          <p:cNvPr id="8" name="Titel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nl-NL"/>
              <a:t>Klik om de stijl te bewerken</a:t>
            </a:r>
            <a:endParaRPr lang="en-US"/>
          </a:p>
        </p:txBody>
      </p:sp>
      <p:sp>
        <p:nvSpPr>
          <p:cNvPr id="11" name="Tijdelijke aanduiding voor datum 27"/>
          <p:cNvSpPr>
            <a:spLocks noGrp="1"/>
          </p:cNvSpPr>
          <p:nvPr>
            <p:ph type="dt" sz="half" idx="10"/>
          </p:nvPr>
        </p:nvSpPr>
        <p:spPr/>
        <p:txBody>
          <a:bodyPr/>
          <a:lstStyle>
            <a:lvl1pPr>
              <a:defRPr/>
            </a:lvl1pPr>
          </a:lstStyle>
          <a:p>
            <a:pPr>
              <a:defRPr/>
            </a:pPr>
            <a:r>
              <a:rPr lang="en-US"/>
              <a:t>8-11-2009</a:t>
            </a:r>
            <a:endParaRPr lang="nl-NL"/>
          </a:p>
        </p:txBody>
      </p:sp>
      <p:sp>
        <p:nvSpPr>
          <p:cNvPr id="12" name="Tijdelijke aanduiding voor voettekst 16"/>
          <p:cNvSpPr>
            <a:spLocks noGrp="1"/>
          </p:cNvSpPr>
          <p:nvPr>
            <p:ph type="ftr" sz="quarter" idx="11"/>
          </p:nvPr>
        </p:nvSpPr>
        <p:spPr/>
        <p:txBody>
          <a:bodyPr/>
          <a:lstStyle>
            <a:lvl1pPr>
              <a:defRPr/>
            </a:lvl1pPr>
          </a:lstStyle>
          <a:p>
            <a:pPr>
              <a:defRPr/>
            </a:pPr>
            <a:endParaRPr lang="nl-NL"/>
          </a:p>
        </p:txBody>
      </p:sp>
      <p:sp>
        <p:nvSpPr>
          <p:cNvPr id="13" name="Tijdelijke aanduiding voor dianummer 28"/>
          <p:cNvSpPr>
            <a:spLocks noGrp="1"/>
          </p:cNvSpPr>
          <p:nvPr>
            <p:ph type="sldNum" sz="quarter" idx="12"/>
          </p:nvPr>
        </p:nvSpPr>
        <p:spPr/>
        <p:txBody>
          <a:bodyPr/>
          <a:lstStyle>
            <a:lvl1pPr>
              <a:defRPr sz="1400">
                <a:solidFill>
                  <a:srgbClr val="FFFFFF"/>
                </a:solidFill>
              </a:defRPr>
            </a:lvl1pPr>
          </a:lstStyle>
          <a:p>
            <a:pPr>
              <a:defRPr/>
            </a:pPr>
            <a:fld id="{BAC4CA56-C03E-4613-88A3-B863F5F84DC4}"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4" name="Rechthoek 9"/>
          <p:cNvSpPr/>
          <p:nvPr/>
        </p:nvSpPr>
        <p:spPr>
          <a:xfrm>
            <a:off x="0" y="1071563"/>
            <a:ext cx="571500" cy="3571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sp>
        <p:nvSpPr>
          <p:cNvPr id="2" name="Titel 1"/>
          <p:cNvSpPr>
            <a:spLocks noGrp="1"/>
          </p:cNvSpPr>
          <p:nvPr>
            <p:ph type="title"/>
          </p:nvPr>
        </p:nvSpPr>
        <p:spPr>
          <a:xfrm>
            <a:off x="500034" y="274638"/>
            <a:ext cx="8358246" cy="796908"/>
          </a:xfrm>
        </p:spPr>
        <p:txBody>
          <a:bodyPr/>
          <a:lstStyle/>
          <a:p>
            <a:r>
              <a:rPr lang="nl-NL"/>
              <a:t>Klik om de stijl te bewerken</a:t>
            </a:r>
            <a:endParaRPr lang="en-US"/>
          </a:p>
        </p:txBody>
      </p:sp>
      <p:sp>
        <p:nvSpPr>
          <p:cNvPr id="8" name="Tijdelijke aanduiding voor inhoud 7"/>
          <p:cNvSpPr>
            <a:spLocks noGrp="1"/>
          </p:cNvSpPr>
          <p:nvPr>
            <p:ph sz="quarter" idx="1"/>
          </p:nvPr>
        </p:nvSpPr>
        <p:spPr>
          <a:xfrm>
            <a:off x="500034" y="1447800"/>
            <a:ext cx="8358246"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3"/>
          <p:cNvSpPr>
            <a:spLocks noGrp="1"/>
          </p:cNvSpPr>
          <p:nvPr>
            <p:ph type="dt" sz="half" idx="10"/>
          </p:nvPr>
        </p:nvSpPr>
        <p:spPr/>
        <p:txBody>
          <a:bodyPr/>
          <a:lstStyle>
            <a:lvl1pPr>
              <a:defRPr/>
            </a:lvl1pPr>
          </a:lstStyle>
          <a:p>
            <a:pPr>
              <a:defRPr/>
            </a:pPr>
            <a:r>
              <a:rPr lang="en-US"/>
              <a:t>8-11-2009</a:t>
            </a:r>
            <a:endParaRPr lang="nl-NL"/>
          </a:p>
        </p:txBody>
      </p:sp>
      <p:sp>
        <p:nvSpPr>
          <p:cNvPr id="6" name="Tijdelijke aanduiding voor voettekst 4"/>
          <p:cNvSpPr>
            <a:spLocks noGrp="1"/>
          </p:cNvSpPr>
          <p:nvPr>
            <p:ph type="ftr" sz="quarter" idx="11"/>
          </p:nvPr>
        </p:nvSpPr>
        <p:spPr/>
        <p:txBody>
          <a:bodyPr/>
          <a:lstStyle>
            <a:lvl1pPr>
              <a:defRPr/>
            </a:lvl1pPr>
          </a:lstStyle>
          <a:p>
            <a:pPr>
              <a:defRPr/>
            </a:pPr>
            <a:endParaRPr lang="nl-NL"/>
          </a:p>
        </p:txBody>
      </p:sp>
      <p:sp>
        <p:nvSpPr>
          <p:cNvPr id="7" name="Tijdelijke aanduiding voor dianummer 5"/>
          <p:cNvSpPr>
            <a:spLocks noGrp="1"/>
          </p:cNvSpPr>
          <p:nvPr>
            <p:ph type="sldNum" sz="quarter" idx="12"/>
          </p:nvPr>
        </p:nvSpPr>
        <p:spPr/>
        <p:txBody>
          <a:bodyPr/>
          <a:lstStyle>
            <a:lvl1pPr>
              <a:defRPr/>
            </a:lvl1pPr>
          </a:lstStyle>
          <a:p>
            <a:pPr>
              <a:defRPr/>
            </a:pPr>
            <a:fld id="{035BBBAB-F59C-4A09-A6DF-04136A5C284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bg>
      <p:bgRef idx="1003">
        <a:schemeClr val="bg1"/>
      </p:bgRef>
    </p:bg>
    <p:spTree>
      <p:nvGrpSpPr>
        <p:cNvPr id="1" name=""/>
        <p:cNvGrpSpPr/>
        <p:nvPr/>
      </p:nvGrpSpPr>
      <p:grpSpPr>
        <a:xfrm>
          <a:off x="0" y="0"/>
          <a:ext cx="0" cy="0"/>
          <a:chOff x="0" y="0"/>
          <a:chExt cx="0" cy="0"/>
        </a:xfrm>
      </p:grpSpPr>
      <p:sp>
        <p:nvSpPr>
          <p:cNvPr id="4" name="Rechthoek 9"/>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Afgeronde rechthoek 10"/>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defRPr/>
            </a:pPr>
            <a:endParaRPr lang="en-US"/>
          </a:p>
        </p:txBody>
      </p:sp>
      <p:sp>
        <p:nvSpPr>
          <p:cNvPr id="6" name="Rechthoek 11"/>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2"/>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hthoek 14"/>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722313" y="952500"/>
            <a:ext cx="7772400" cy="1362075"/>
          </a:xfrm>
        </p:spPr>
        <p:txBody>
          <a:bodyPr/>
          <a:lstStyle>
            <a:lvl1pPr algn="l">
              <a:buNone/>
              <a:defRPr sz="4000" b="0" cap="none"/>
            </a:lvl1pPr>
          </a:lstStyle>
          <a:p>
            <a:r>
              <a:rPr lang="nl-NL"/>
              <a:t>Klik om de stijl te bewerken</a:t>
            </a:r>
            <a:endParaRPr lang="en-US"/>
          </a:p>
        </p:txBody>
      </p:sp>
      <p:sp>
        <p:nvSpPr>
          <p:cNvPr id="3" name="Tijdelijke aanduiding voor tekst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nl-NL"/>
              <a:t>Klik om de modelstijlen te bewerken</a:t>
            </a:r>
          </a:p>
        </p:txBody>
      </p:sp>
      <p:sp>
        <p:nvSpPr>
          <p:cNvPr id="9" name="Tijdelijke aanduiding voor datum 3"/>
          <p:cNvSpPr>
            <a:spLocks noGrp="1"/>
          </p:cNvSpPr>
          <p:nvPr>
            <p:ph type="dt" sz="half" idx="10"/>
          </p:nvPr>
        </p:nvSpPr>
        <p:spPr/>
        <p:txBody>
          <a:bodyPr/>
          <a:lstStyle>
            <a:lvl1pPr>
              <a:defRPr/>
            </a:lvl1pPr>
          </a:lstStyle>
          <a:p>
            <a:pPr>
              <a:defRPr/>
            </a:pPr>
            <a:r>
              <a:rPr lang="en-US"/>
              <a:t>8-11-2009</a:t>
            </a:r>
            <a:endParaRPr lang="nl-NL"/>
          </a:p>
        </p:txBody>
      </p:sp>
      <p:sp>
        <p:nvSpPr>
          <p:cNvPr id="10" name="Tijdelijke aanduiding voor voettekst 4"/>
          <p:cNvSpPr>
            <a:spLocks noGrp="1"/>
          </p:cNvSpPr>
          <p:nvPr>
            <p:ph type="ftr" sz="quarter" idx="11"/>
          </p:nvPr>
        </p:nvSpPr>
        <p:spPr>
          <a:xfrm>
            <a:off x="800100" y="6172200"/>
            <a:ext cx="4000500" cy="457200"/>
          </a:xfrm>
        </p:spPr>
        <p:txBody>
          <a:bodyPr/>
          <a:lstStyle>
            <a:lvl1pPr>
              <a:defRPr/>
            </a:lvl1pPr>
          </a:lstStyle>
          <a:p>
            <a:pPr>
              <a:defRPr/>
            </a:pPr>
            <a:endParaRPr lang="nl-NL"/>
          </a:p>
        </p:txBody>
      </p:sp>
      <p:sp>
        <p:nvSpPr>
          <p:cNvPr id="11" name="Tijdelijke aanduiding voor dianummer 5"/>
          <p:cNvSpPr>
            <a:spLocks noGrp="1"/>
          </p:cNvSpPr>
          <p:nvPr>
            <p:ph type="sldNum" sz="quarter" idx="12"/>
          </p:nvPr>
        </p:nvSpPr>
        <p:spPr>
          <a:xfrm>
            <a:off x="146050" y="6208713"/>
            <a:ext cx="457200" cy="457200"/>
          </a:xfrm>
        </p:spPr>
        <p:txBody>
          <a:bodyPr/>
          <a:lstStyle>
            <a:lvl1pPr>
              <a:defRPr/>
            </a:lvl1pPr>
          </a:lstStyle>
          <a:p>
            <a:pPr>
              <a:defRPr/>
            </a:pPr>
            <a:fld id="{8CB352C6-3F6C-4081-BBF3-65397A258F83}"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9" name="Tijdelijke aanduiding voor inhoud 8"/>
          <p:cNvSpPr>
            <a:spLocks noGrp="1"/>
          </p:cNvSpPr>
          <p:nvPr>
            <p:ph sz="quarter" idx="1"/>
          </p:nvPr>
        </p:nvSpPr>
        <p:spPr>
          <a:xfrm>
            <a:off x="914400" y="1447800"/>
            <a:ext cx="3749040"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1" name="Tijdelijke aanduiding voor inhoud 10"/>
          <p:cNvSpPr>
            <a:spLocks noGrp="1"/>
          </p:cNvSpPr>
          <p:nvPr>
            <p:ph sz="quarter" idx="2"/>
          </p:nvPr>
        </p:nvSpPr>
        <p:spPr>
          <a:xfrm>
            <a:off x="4933950" y="1447800"/>
            <a:ext cx="3749040" cy="45720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6" name="Tijdelijke aanduiding voor voettekst 2"/>
          <p:cNvSpPr>
            <a:spLocks noGrp="1"/>
          </p:cNvSpPr>
          <p:nvPr>
            <p:ph type="ftr" sz="quarter" idx="11"/>
          </p:nvPr>
        </p:nvSpPr>
        <p:spPr/>
        <p:txBody>
          <a:bodyPr/>
          <a:lstStyle>
            <a:lvl1pPr>
              <a:defRPr/>
            </a:lvl1pPr>
          </a:lstStyle>
          <a:p>
            <a:pPr>
              <a:defRPr/>
            </a:pPr>
            <a:endParaRPr lang="nl-NL"/>
          </a:p>
        </p:txBody>
      </p:sp>
      <p:sp>
        <p:nvSpPr>
          <p:cNvPr id="7" name="Tijdelijke aanduiding voor dianummer 22"/>
          <p:cNvSpPr>
            <a:spLocks noGrp="1"/>
          </p:cNvSpPr>
          <p:nvPr>
            <p:ph type="sldNum" sz="quarter" idx="12"/>
          </p:nvPr>
        </p:nvSpPr>
        <p:spPr/>
        <p:txBody>
          <a:bodyPr/>
          <a:lstStyle>
            <a:lvl1pPr>
              <a:defRPr/>
            </a:lvl1pPr>
          </a:lstStyle>
          <a:p>
            <a:pPr>
              <a:defRPr/>
            </a:pPr>
            <a:fld id="{023815B9-0657-4328-8BE1-9E1CCBDAA56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914400" y="273050"/>
            <a:ext cx="7772400" cy="1143000"/>
          </a:xfrm>
        </p:spPr>
        <p:txBody>
          <a:bodyPr/>
          <a:lstStyle>
            <a:lvl1pPr>
              <a:defRPr/>
            </a:lvl1pPr>
          </a:lstStyle>
          <a:p>
            <a:r>
              <a:rPr lang="nl-NL"/>
              <a:t>Klik om de stijl te bewerken</a:t>
            </a:r>
            <a:endParaRPr lang="en-US"/>
          </a:p>
        </p:txBody>
      </p:sp>
      <p:sp>
        <p:nvSpPr>
          <p:cNvPr id="3" name="Tijdelijke aanduiding voor tekst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nl-NL"/>
              <a:t>Klik om de modelstijlen te bewerken</a:t>
            </a:r>
          </a:p>
        </p:txBody>
      </p:sp>
      <p:sp>
        <p:nvSpPr>
          <p:cNvPr id="4" name="Tijdelijke aanduiding voor tekst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nl-NL"/>
              <a:t>Klik om de modelstijlen te bewerken</a:t>
            </a:r>
          </a:p>
        </p:txBody>
      </p:sp>
      <p:sp>
        <p:nvSpPr>
          <p:cNvPr id="11" name="Tijdelijke aanduiding voor inhoud 10"/>
          <p:cNvSpPr>
            <a:spLocks noGrp="1"/>
          </p:cNvSpPr>
          <p:nvPr>
            <p:ph sz="half" idx="2"/>
          </p:nvPr>
        </p:nvSpPr>
        <p:spPr>
          <a:xfrm>
            <a:off x="914400" y="2247900"/>
            <a:ext cx="3733800" cy="38862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3" name="Tijdelijke aanduiding voor inhoud 12"/>
          <p:cNvSpPr>
            <a:spLocks noGrp="1"/>
          </p:cNvSpPr>
          <p:nvPr>
            <p:ph sz="half" idx="4"/>
          </p:nvPr>
        </p:nvSpPr>
        <p:spPr>
          <a:xfrm>
            <a:off x="4953000" y="2247900"/>
            <a:ext cx="3733800" cy="38862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8" name="Tijdelijke aanduiding voor voettekst 2"/>
          <p:cNvSpPr>
            <a:spLocks noGrp="1"/>
          </p:cNvSpPr>
          <p:nvPr>
            <p:ph type="ftr" sz="quarter" idx="11"/>
          </p:nvPr>
        </p:nvSpPr>
        <p:spPr/>
        <p:txBody>
          <a:bodyPr/>
          <a:lstStyle>
            <a:lvl1pPr>
              <a:defRPr/>
            </a:lvl1pPr>
          </a:lstStyle>
          <a:p>
            <a:pPr>
              <a:defRPr/>
            </a:pPr>
            <a:endParaRPr lang="nl-NL"/>
          </a:p>
        </p:txBody>
      </p:sp>
      <p:sp>
        <p:nvSpPr>
          <p:cNvPr id="9" name="Tijdelijke aanduiding voor dianummer 22"/>
          <p:cNvSpPr>
            <a:spLocks noGrp="1"/>
          </p:cNvSpPr>
          <p:nvPr>
            <p:ph type="sldNum" sz="quarter" idx="12"/>
          </p:nvPr>
        </p:nvSpPr>
        <p:spPr/>
        <p:txBody>
          <a:bodyPr/>
          <a:lstStyle>
            <a:lvl1pPr>
              <a:defRPr/>
            </a:lvl1pPr>
          </a:lstStyle>
          <a:p>
            <a:pPr>
              <a:defRPr/>
            </a:pPr>
            <a:fld id="{14D6884D-3647-4ADE-B27E-4B491178F2B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4" name="Tijdelijke aanduiding voor voettekst 2"/>
          <p:cNvSpPr>
            <a:spLocks noGrp="1"/>
          </p:cNvSpPr>
          <p:nvPr>
            <p:ph type="ftr" sz="quarter" idx="11"/>
          </p:nvPr>
        </p:nvSpPr>
        <p:spPr/>
        <p:txBody>
          <a:bodyPr/>
          <a:lstStyle>
            <a:lvl1pPr>
              <a:defRPr/>
            </a:lvl1pPr>
          </a:lstStyle>
          <a:p>
            <a:pPr>
              <a:defRPr/>
            </a:pPr>
            <a:endParaRPr lang="nl-NL"/>
          </a:p>
        </p:txBody>
      </p:sp>
      <p:sp>
        <p:nvSpPr>
          <p:cNvPr id="5" name="Tijdelijke aanduiding voor dianummer 22"/>
          <p:cNvSpPr>
            <a:spLocks noGrp="1"/>
          </p:cNvSpPr>
          <p:nvPr>
            <p:ph type="sldNum" sz="quarter" idx="12"/>
          </p:nvPr>
        </p:nvSpPr>
        <p:spPr/>
        <p:txBody>
          <a:bodyPr/>
          <a:lstStyle>
            <a:lvl1pPr>
              <a:defRPr/>
            </a:lvl1pPr>
          </a:lstStyle>
          <a:p>
            <a:pPr>
              <a:defRPr/>
            </a:pPr>
            <a:fld id="{61273CD9-9423-4A8F-BB8E-CEB46F537395}"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3" name="Tijdelijke aanduiding voor voettekst 2"/>
          <p:cNvSpPr>
            <a:spLocks noGrp="1"/>
          </p:cNvSpPr>
          <p:nvPr>
            <p:ph type="ftr" sz="quarter" idx="11"/>
          </p:nvPr>
        </p:nvSpPr>
        <p:spPr/>
        <p:txBody>
          <a:bodyPr/>
          <a:lstStyle>
            <a:lvl1pPr>
              <a:defRPr/>
            </a:lvl1pPr>
          </a:lstStyle>
          <a:p>
            <a:pPr>
              <a:defRPr/>
            </a:pPr>
            <a:endParaRPr lang="nl-NL"/>
          </a:p>
        </p:txBody>
      </p:sp>
      <p:sp>
        <p:nvSpPr>
          <p:cNvPr id="4" name="Tijdelijke aanduiding voor dianummer 22"/>
          <p:cNvSpPr>
            <a:spLocks noGrp="1"/>
          </p:cNvSpPr>
          <p:nvPr>
            <p:ph type="sldNum" sz="quarter" idx="12"/>
          </p:nvPr>
        </p:nvSpPr>
        <p:spPr/>
        <p:txBody>
          <a:bodyPr/>
          <a:lstStyle>
            <a:lvl1pPr>
              <a:defRPr/>
            </a:lvl1pPr>
          </a:lstStyle>
          <a:p>
            <a:pPr>
              <a:defRPr/>
            </a:pPr>
            <a:fld id="{CB90415D-321F-4C24-BBA5-E175192BBED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5" name="Rechthoek 9"/>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6" name="Afgeronde rechthoek 10"/>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914400" y="273050"/>
            <a:ext cx="7772400" cy="1143000"/>
          </a:xfrm>
        </p:spPr>
        <p:txBody>
          <a:bodyPr/>
          <a:lstStyle>
            <a:lvl1pPr algn="l">
              <a:buNone/>
              <a:defRPr sz="4000" b="0"/>
            </a:lvl1pPr>
          </a:lstStyle>
          <a:p>
            <a:r>
              <a:rPr lang="nl-NL"/>
              <a:t>Klik om de stijl te bewerken</a:t>
            </a:r>
            <a:endParaRPr lang="en-US"/>
          </a:p>
        </p:txBody>
      </p:sp>
      <p:sp>
        <p:nvSpPr>
          <p:cNvPr id="3" name="Tijdelijke aanduiding voor tekst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nl-NL"/>
              <a:t>Klik om de modelstijlen te bewerken</a:t>
            </a:r>
          </a:p>
        </p:txBody>
      </p:sp>
      <p:sp>
        <p:nvSpPr>
          <p:cNvPr id="11" name="Tijdelijke aanduiding voor inhoud 10"/>
          <p:cNvSpPr>
            <a:spLocks noGrp="1"/>
          </p:cNvSpPr>
          <p:nvPr>
            <p:ph sz="quarter" idx="1"/>
          </p:nvPr>
        </p:nvSpPr>
        <p:spPr>
          <a:xfrm>
            <a:off x="2971800" y="1600200"/>
            <a:ext cx="5715000" cy="4495800"/>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4"/>
          <p:cNvSpPr>
            <a:spLocks noGrp="1"/>
          </p:cNvSpPr>
          <p:nvPr>
            <p:ph type="dt" sz="half" idx="10"/>
          </p:nvPr>
        </p:nvSpPr>
        <p:spPr/>
        <p:txBody>
          <a:bodyPr/>
          <a:lstStyle>
            <a:lvl1pPr>
              <a:defRPr/>
            </a:lvl1pPr>
          </a:lstStyle>
          <a:p>
            <a:pPr>
              <a:defRPr/>
            </a:pPr>
            <a:r>
              <a:rPr lang="en-US"/>
              <a:t>8-11-2009</a:t>
            </a:r>
            <a:endParaRPr lang="nl-NL"/>
          </a:p>
        </p:txBody>
      </p:sp>
      <p:sp>
        <p:nvSpPr>
          <p:cNvPr id="8" name="Tijdelijke aanduiding voor voettekst 5"/>
          <p:cNvSpPr>
            <a:spLocks noGrp="1"/>
          </p:cNvSpPr>
          <p:nvPr>
            <p:ph type="ftr" sz="quarter" idx="11"/>
          </p:nvPr>
        </p:nvSpPr>
        <p:spPr/>
        <p:txBody>
          <a:bodyPr/>
          <a:lstStyle>
            <a:lvl1pPr>
              <a:defRPr/>
            </a:lvl1pPr>
          </a:lstStyle>
          <a:p>
            <a:pPr>
              <a:defRPr/>
            </a:pPr>
            <a:endParaRPr lang="nl-NL"/>
          </a:p>
        </p:txBody>
      </p:sp>
      <p:sp>
        <p:nvSpPr>
          <p:cNvPr id="9" name="Tijdelijke aanduiding voor dianummer 6"/>
          <p:cNvSpPr>
            <a:spLocks noGrp="1"/>
          </p:cNvSpPr>
          <p:nvPr>
            <p:ph type="sldNum" sz="quarter" idx="12"/>
          </p:nvPr>
        </p:nvSpPr>
        <p:spPr/>
        <p:txBody>
          <a:bodyPr/>
          <a:lstStyle>
            <a:lvl1pPr>
              <a:defRPr/>
            </a:lvl1pPr>
          </a:lstStyle>
          <a:p>
            <a:pPr>
              <a:defRPr/>
            </a:pPr>
            <a:fld id="{FF468597-DD82-4CA9-910C-6C7FDDD3B04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5" name="Rechthoek 9"/>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hthoek 10"/>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hthoek 11"/>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el 1"/>
          <p:cNvSpPr>
            <a:spLocks noGrp="1"/>
          </p:cNvSpPr>
          <p:nvPr>
            <p:ph type="title"/>
          </p:nvPr>
        </p:nvSpPr>
        <p:spPr>
          <a:xfrm>
            <a:off x="914400" y="4900550"/>
            <a:ext cx="7315200" cy="522288"/>
          </a:xfrm>
        </p:spPr>
        <p:txBody>
          <a:bodyPr anchor="ctr">
            <a:noAutofit/>
          </a:bodyPr>
          <a:lstStyle>
            <a:lvl1pPr algn="l">
              <a:buNone/>
              <a:defRPr sz="2800" b="0"/>
            </a:lvl1pPr>
          </a:lstStyle>
          <a:p>
            <a:r>
              <a:rPr lang="nl-NL"/>
              <a:t>Klik om de stijl te bewerken</a:t>
            </a:r>
            <a:endParaRPr lang="en-US"/>
          </a:p>
        </p:txBody>
      </p:sp>
      <p:sp>
        <p:nvSpPr>
          <p:cNvPr id="4" name="Tijdelijke aanduiding voor tekst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nl-NL"/>
              <a:t>Klik om de modelstijlen te bewerken</a:t>
            </a:r>
          </a:p>
        </p:txBody>
      </p:sp>
      <p:sp>
        <p:nvSpPr>
          <p:cNvPr id="3" name="Tijdelijke aanduiding voor afbeelding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nl-NL" noProof="0"/>
              <a:t>Klik op het pictogram als u een afbeelding wilt toevoegen</a:t>
            </a:r>
            <a:endParaRPr lang="en-US" noProof="0"/>
          </a:p>
        </p:txBody>
      </p:sp>
      <p:sp>
        <p:nvSpPr>
          <p:cNvPr id="8" name="Tijdelijke aanduiding voor datum 4"/>
          <p:cNvSpPr>
            <a:spLocks noGrp="1"/>
          </p:cNvSpPr>
          <p:nvPr>
            <p:ph type="dt" sz="half" idx="10"/>
          </p:nvPr>
        </p:nvSpPr>
        <p:spPr/>
        <p:txBody>
          <a:bodyPr/>
          <a:lstStyle>
            <a:lvl1pPr>
              <a:defRPr/>
            </a:lvl1pPr>
          </a:lstStyle>
          <a:p>
            <a:pPr>
              <a:defRPr/>
            </a:pPr>
            <a:r>
              <a:rPr lang="en-US"/>
              <a:t>8-11-2009</a:t>
            </a:r>
            <a:endParaRPr lang="nl-NL"/>
          </a:p>
        </p:txBody>
      </p:sp>
      <p:sp>
        <p:nvSpPr>
          <p:cNvPr id="9" name="Tijdelijke aanduiding voor voettekst 5"/>
          <p:cNvSpPr>
            <a:spLocks noGrp="1"/>
          </p:cNvSpPr>
          <p:nvPr>
            <p:ph type="ftr" sz="quarter" idx="11"/>
          </p:nvPr>
        </p:nvSpPr>
        <p:spPr>
          <a:xfrm>
            <a:off x="914400" y="6172200"/>
            <a:ext cx="3886200" cy="457200"/>
          </a:xfrm>
        </p:spPr>
        <p:txBody>
          <a:bodyPr/>
          <a:lstStyle>
            <a:lvl1pPr>
              <a:defRPr/>
            </a:lvl1pPr>
          </a:lstStyle>
          <a:p>
            <a:pPr>
              <a:defRPr/>
            </a:pPr>
            <a:endParaRPr lang="nl-NL"/>
          </a:p>
        </p:txBody>
      </p:sp>
      <p:sp>
        <p:nvSpPr>
          <p:cNvPr id="10" name="Tijdelijke aanduiding voor dianummer 6"/>
          <p:cNvSpPr>
            <a:spLocks noGrp="1"/>
          </p:cNvSpPr>
          <p:nvPr>
            <p:ph type="sldNum" sz="quarter" idx="12"/>
          </p:nvPr>
        </p:nvSpPr>
        <p:spPr>
          <a:xfrm>
            <a:off x="146050" y="6208713"/>
            <a:ext cx="457200" cy="457200"/>
          </a:xfrm>
        </p:spPr>
        <p:txBody>
          <a:bodyPr/>
          <a:lstStyle>
            <a:lvl1pPr>
              <a:defRPr/>
            </a:lvl1pPr>
          </a:lstStyle>
          <a:p>
            <a:pPr>
              <a:defRPr/>
            </a:pPr>
            <a:fld id="{01360F4F-F97C-48F8-AC73-D41451854CF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5" name="Tijdelijke aanduiding voor voettekst 2"/>
          <p:cNvSpPr>
            <a:spLocks noGrp="1"/>
          </p:cNvSpPr>
          <p:nvPr>
            <p:ph type="ftr" sz="quarter" idx="11"/>
          </p:nvPr>
        </p:nvSpPr>
        <p:spPr/>
        <p:txBody>
          <a:bodyPr/>
          <a:lstStyle>
            <a:lvl1pPr>
              <a:defRPr/>
            </a:lvl1pPr>
          </a:lstStyle>
          <a:p>
            <a:pPr>
              <a:defRPr/>
            </a:pPr>
            <a:endParaRPr lang="nl-NL"/>
          </a:p>
        </p:txBody>
      </p:sp>
      <p:sp>
        <p:nvSpPr>
          <p:cNvPr id="6" name="Tijdelijke aanduiding voor dianummer 22"/>
          <p:cNvSpPr>
            <a:spLocks noGrp="1"/>
          </p:cNvSpPr>
          <p:nvPr>
            <p:ph type="sldNum" sz="quarter" idx="12"/>
          </p:nvPr>
        </p:nvSpPr>
        <p:spPr/>
        <p:txBody>
          <a:bodyPr/>
          <a:lstStyle>
            <a:lvl1pPr>
              <a:defRPr/>
            </a:lvl1pPr>
          </a:lstStyle>
          <a:p>
            <a:pPr>
              <a:defRPr/>
            </a:pPr>
            <a:fld id="{43A1E466-1798-417B-A5DD-79CCCD0E803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6629400" y="274641"/>
            <a:ext cx="2011680" cy="5851525"/>
          </a:xfrm>
        </p:spPr>
        <p:txBody>
          <a:bodyPr vert="eaVert"/>
          <a:lstStyle/>
          <a:p>
            <a:r>
              <a:rPr lang="nl-NL"/>
              <a:t>Klik om de stijl te bewerken</a:t>
            </a:r>
            <a:endParaRPr lang="en-US"/>
          </a:p>
        </p:txBody>
      </p:sp>
      <p:sp>
        <p:nvSpPr>
          <p:cNvPr id="3" name="Tijdelijke aanduiding voor verticale tekst 2"/>
          <p:cNvSpPr>
            <a:spLocks noGrp="1"/>
          </p:cNvSpPr>
          <p:nvPr>
            <p:ph type="body" orient="vert" idx="1"/>
          </p:nvPr>
        </p:nvSpPr>
        <p:spPr>
          <a:xfrm>
            <a:off x="914400" y="274640"/>
            <a:ext cx="5562600" cy="5851525"/>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13"/>
          <p:cNvSpPr>
            <a:spLocks noGrp="1"/>
          </p:cNvSpPr>
          <p:nvPr>
            <p:ph type="dt" sz="half" idx="10"/>
          </p:nvPr>
        </p:nvSpPr>
        <p:spPr/>
        <p:txBody>
          <a:bodyPr/>
          <a:lstStyle>
            <a:lvl1pPr>
              <a:defRPr/>
            </a:lvl1pPr>
          </a:lstStyle>
          <a:p>
            <a:pPr>
              <a:defRPr/>
            </a:pPr>
            <a:r>
              <a:rPr lang="en-US"/>
              <a:t>8-11-2009</a:t>
            </a:r>
            <a:endParaRPr lang="nl-NL"/>
          </a:p>
        </p:txBody>
      </p:sp>
      <p:sp>
        <p:nvSpPr>
          <p:cNvPr id="5" name="Tijdelijke aanduiding voor voettekst 2"/>
          <p:cNvSpPr>
            <a:spLocks noGrp="1"/>
          </p:cNvSpPr>
          <p:nvPr>
            <p:ph type="ftr" sz="quarter" idx="11"/>
          </p:nvPr>
        </p:nvSpPr>
        <p:spPr/>
        <p:txBody>
          <a:bodyPr/>
          <a:lstStyle>
            <a:lvl1pPr>
              <a:defRPr/>
            </a:lvl1pPr>
          </a:lstStyle>
          <a:p>
            <a:pPr>
              <a:defRPr/>
            </a:pPr>
            <a:endParaRPr lang="nl-NL"/>
          </a:p>
        </p:txBody>
      </p:sp>
      <p:sp>
        <p:nvSpPr>
          <p:cNvPr id="6" name="Tijdelijke aanduiding voor dianummer 22"/>
          <p:cNvSpPr>
            <a:spLocks noGrp="1"/>
          </p:cNvSpPr>
          <p:nvPr>
            <p:ph type="sldNum" sz="quarter" idx="12"/>
          </p:nvPr>
        </p:nvSpPr>
        <p:spPr/>
        <p:txBody>
          <a:bodyPr/>
          <a:lstStyle>
            <a:lvl1pPr>
              <a:defRPr/>
            </a:lvl1pPr>
          </a:lstStyle>
          <a:p>
            <a:pPr>
              <a:defRPr/>
            </a:pPr>
            <a:fld id="{60C09D1D-F7A3-4E67-A1DF-D0D5CF1211C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hthoek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8" name="Afgeronde rechthoek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1028" name="Tijdelijke aanduiding voor titel 21"/>
          <p:cNvSpPr>
            <a:spLocks noGrp="1"/>
          </p:cNvSpPr>
          <p:nvPr>
            <p:ph type="title"/>
          </p:nvPr>
        </p:nvSpPr>
        <p:spPr bwMode="auto">
          <a:xfrm>
            <a:off x="914400" y="2746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nl-NL"/>
              <a:t>Klik om de stijl te bewerken</a:t>
            </a:r>
            <a:endParaRPr lang="en-US"/>
          </a:p>
        </p:txBody>
      </p:sp>
      <p:sp>
        <p:nvSpPr>
          <p:cNvPr id="1029" name="Tijdelijke aanduiding voor tekst 12"/>
          <p:cNvSpPr>
            <a:spLocks noGrp="1"/>
          </p:cNvSpPr>
          <p:nvPr>
            <p:ph type="body" idx="1"/>
          </p:nvPr>
        </p:nvSpPr>
        <p:spPr bwMode="auto">
          <a:xfrm>
            <a:off x="914400" y="1447800"/>
            <a:ext cx="7772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14" name="Tijdelijke aanduiding voor datum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defRPr/>
            </a:pPr>
            <a:r>
              <a:rPr lang="en-US"/>
              <a:t>8-11-2009</a:t>
            </a:r>
            <a:endParaRPr lang="nl-NL"/>
          </a:p>
        </p:txBody>
      </p:sp>
      <p:sp>
        <p:nvSpPr>
          <p:cNvPr id="3" name="Tijdelijke aanduiding voor voettekst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endParaRPr lang="nl-NL"/>
          </a:p>
        </p:txBody>
      </p:sp>
      <p:sp>
        <p:nvSpPr>
          <p:cNvPr id="23" name="Tijdelijke aanduiding voor dianumm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a:defRPr/>
            </a:pPr>
            <a:fld id="{B6D5AE7A-B09C-482F-AF01-22E7254EE61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537" r:id="rId1"/>
    <p:sldLayoutId id="2147484538" r:id="rId2"/>
    <p:sldLayoutId id="2147484539" r:id="rId3"/>
    <p:sldLayoutId id="2147484531" r:id="rId4"/>
    <p:sldLayoutId id="2147484532" r:id="rId5"/>
    <p:sldLayoutId id="2147484533" r:id="rId6"/>
    <p:sldLayoutId id="2147484534" r:id="rId7"/>
    <p:sldLayoutId id="2147484540" r:id="rId8"/>
    <p:sldLayoutId id="2147484541" r:id="rId9"/>
    <p:sldLayoutId id="2147484535" r:id="rId10"/>
    <p:sldLayoutId id="2147484536"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eaLnBrk="1" fontAlgn="base" hangingPunct="1">
        <a:spcBef>
          <a:spcPct val="0"/>
        </a:spcBef>
        <a:spcAft>
          <a:spcPct val="0"/>
        </a:spcAft>
        <a:defRPr sz="4000">
          <a:solidFill>
            <a:schemeClr val="tx2"/>
          </a:solidFill>
          <a:latin typeface="Arial" charset="0"/>
        </a:defRPr>
      </a:lvl6pPr>
      <a:lvl7pPr marL="914400" algn="l" rtl="0" eaLnBrk="1" fontAlgn="base" hangingPunct="1">
        <a:spcBef>
          <a:spcPct val="0"/>
        </a:spcBef>
        <a:spcAft>
          <a:spcPct val="0"/>
        </a:spcAft>
        <a:defRPr sz="4000">
          <a:solidFill>
            <a:schemeClr val="tx2"/>
          </a:solidFill>
          <a:latin typeface="Arial" charset="0"/>
        </a:defRPr>
      </a:lvl7pPr>
      <a:lvl8pPr marL="1371600" algn="l" rtl="0" eaLnBrk="1" fontAlgn="base" hangingPunct="1">
        <a:spcBef>
          <a:spcPct val="0"/>
        </a:spcBef>
        <a:spcAft>
          <a:spcPct val="0"/>
        </a:spcAft>
        <a:defRPr sz="4000">
          <a:solidFill>
            <a:schemeClr val="tx2"/>
          </a:solidFill>
          <a:latin typeface="Arial" charset="0"/>
        </a:defRPr>
      </a:lvl8pPr>
      <a:lvl9pPr marL="1828800" algn="l" rtl="0" eaLnBrk="1" fontAlgn="base" hangingPunct="1">
        <a:spcBef>
          <a:spcPct val="0"/>
        </a:spcBef>
        <a:spcAft>
          <a:spcPct val="0"/>
        </a:spcAft>
        <a:defRPr sz="4000">
          <a:solidFill>
            <a:schemeClr val="tx2"/>
          </a:solidFill>
          <a:latin typeface="Arial"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C0E5AF"/>
        </a:buClr>
        <a:buSzPct val="8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FEB80A"/>
        </a:buClr>
        <a:buSzPct val="80000"/>
        <a:buFont typeface="Wingdings 2"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FEB80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wishnu@cs.uu.n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subTitle" idx="1"/>
          </p:nvPr>
        </p:nvSpPr>
        <p:spPr>
          <a:xfrm>
            <a:off x="773113" y="3951288"/>
            <a:ext cx="6400800" cy="2139950"/>
          </a:xfrm>
        </p:spPr>
        <p:txBody>
          <a:bodyPr/>
          <a:lstStyle/>
          <a:p>
            <a:pPr algn="l" eaLnBrk="1" hangingPunct="1">
              <a:lnSpc>
                <a:spcPct val="80000"/>
              </a:lnSpc>
            </a:pPr>
            <a:r>
              <a:rPr lang="en-US" sz="2400" noProof="0" dirty="0"/>
              <a:t>Wishnu Prasetya	</a:t>
            </a:r>
            <a:r>
              <a:rPr lang="en-US" sz="1800" noProof="0" dirty="0"/>
              <a:t>	</a:t>
            </a:r>
          </a:p>
          <a:p>
            <a:pPr algn="l" eaLnBrk="1" hangingPunct="1">
              <a:lnSpc>
                <a:spcPct val="80000"/>
              </a:lnSpc>
            </a:pPr>
            <a:endParaRPr lang="en-US" sz="1800" noProof="0" dirty="0">
              <a:hlinkClick r:id="rId3"/>
            </a:endParaRPr>
          </a:p>
          <a:p>
            <a:pPr algn="l" eaLnBrk="1" hangingPunct="1">
              <a:lnSpc>
                <a:spcPct val="80000"/>
              </a:lnSpc>
            </a:pPr>
            <a:endParaRPr lang="en-US" sz="1800" noProof="0" dirty="0">
              <a:hlinkClick r:id="rId3"/>
            </a:endParaRPr>
          </a:p>
          <a:p>
            <a:pPr algn="l" eaLnBrk="1" hangingPunct="1">
              <a:lnSpc>
                <a:spcPct val="80000"/>
              </a:lnSpc>
            </a:pPr>
            <a:endParaRPr lang="en-US" sz="1800" noProof="0" dirty="0">
              <a:hlinkClick r:id="rId3"/>
            </a:endParaRPr>
          </a:p>
          <a:p>
            <a:pPr algn="l" eaLnBrk="1" hangingPunct="1">
              <a:lnSpc>
                <a:spcPct val="80000"/>
              </a:lnSpc>
            </a:pPr>
            <a:r>
              <a:rPr lang="en-US" sz="1600" noProof="0" dirty="0">
                <a:hlinkClick r:id="rId3"/>
              </a:rPr>
              <a:t>wishnu@cs.uu.nl</a:t>
            </a:r>
            <a:endParaRPr lang="en-US" sz="1600" noProof="0" dirty="0"/>
          </a:p>
          <a:p>
            <a:pPr algn="l" eaLnBrk="1" hangingPunct="1">
              <a:lnSpc>
                <a:spcPct val="80000"/>
              </a:lnSpc>
            </a:pPr>
            <a:r>
              <a:rPr lang="en-US" sz="1600" noProof="0" dirty="0" err="1">
                <a:solidFill>
                  <a:schemeClr val="accent2"/>
                </a:solidFill>
              </a:rPr>
              <a:t>www.cs.uu.nl</a:t>
            </a:r>
            <a:r>
              <a:rPr lang="en-US" sz="1600" noProof="0" dirty="0">
                <a:solidFill>
                  <a:schemeClr val="accent2"/>
                </a:solidFill>
              </a:rPr>
              <a:t>/docs/</a:t>
            </a:r>
            <a:r>
              <a:rPr lang="en-US" sz="1600" noProof="0" dirty="0" err="1">
                <a:solidFill>
                  <a:schemeClr val="accent2"/>
                </a:solidFill>
              </a:rPr>
              <a:t>vakken</a:t>
            </a:r>
            <a:r>
              <a:rPr lang="en-US" sz="1600" noProof="0" dirty="0">
                <a:solidFill>
                  <a:schemeClr val="accent2"/>
                </a:solidFill>
              </a:rPr>
              <a:t>/</a:t>
            </a:r>
            <a:r>
              <a:rPr lang="en-US" sz="1600" noProof="0" dirty="0" err="1">
                <a:solidFill>
                  <a:schemeClr val="accent2"/>
                </a:solidFill>
              </a:rPr>
              <a:t>pv</a:t>
            </a:r>
            <a:endParaRPr lang="en-US" sz="1600" noProof="0" dirty="0">
              <a:solidFill>
                <a:schemeClr val="accent2"/>
              </a:solidFill>
            </a:endParaRPr>
          </a:p>
        </p:txBody>
      </p:sp>
      <p:sp>
        <p:nvSpPr>
          <p:cNvPr id="7171" name="Rectangle 2"/>
          <p:cNvSpPr>
            <a:spLocks noGrp="1" noChangeArrowheads="1"/>
          </p:cNvSpPr>
          <p:nvPr>
            <p:ph type="ctrTitle"/>
          </p:nvPr>
        </p:nvSpPr>
        <p:spPr>
          <a:xfrm>
            <a:off x="762000" y="1501775"/>
            <a:ext cx="7772400" cy="1560513"/>
          </a:xfrm>
        </p:spPr>
        <p:txBody>
          <a:bodyPr/>
          <a:lstStyle/>
          <a:p>
            <a:pPr eaLnBrk="1" hangingPunct="1"/>
            <a:r>
              <a:rPr lang="en-US" sz="3600" noProof="0" dirty="0"/>
              <a:t>LTL  Model Checking</a:t>
            </a:r>
            <a:br>
              <a:rPr lang="en-US" sz="3600" noProof="0" dirty="0"/>
            </a:br>
            <a:r>
              <a:rPr lang="en-US" sz="2400" noProof="0" dirty="0"/>
              <a:t>(Ch. 4 LN)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Overview</a:t>
            </a:r>
          </a:p>
        </p:txBody>
      </p:sp>
      <p:sp>
        <p:nvSpPr>
          <p:cNvPr id="8195" name="Rectangle 3"/>
          <p:cNvSpPr>
            <a:spLocks noGrp="1" noChangeArrowheads="1"/>
          </p:cNvSpPr>
          <p:nvPr>
            <p:ph sz="quarter" idx="1"/>
          </p:nvPr>
        </p:nvSpPr>
        <p:spPr>
          <a:xfrm>
            <a:off x="500063" y="1447800"/>
            <a:ext cx="8358187" cy="4572000"/>
          </a:xfrm>
        </p:spPr>
        <p:txBody>
          <a:bodyPr/>
          <a:lstStyle/>
          <a:p>
            <a:pPr eaLnBrk="1" hangingPunct="1"/>
            <a:r>
              <a:rPr lang="en-US" noProof="0" dirty="0">
                <a:cs typeface="Arial" charset="0"/>
              </a:rPr>
              <a:t>This pack :</a:t>
            </a:r>
          </a:p>
          <a:p>
            <a:pPr lvl="1" eaLnBrk="1" hangingPunct="1"/>
            <a:r>
              <a:rPr lang="en-US" noProof="0" dirty="0">
                <a:cs typeface="Arial" charset="0"/>
              </a:rPr>
              <a:t>Abstract model of programs</a:t>
            </a:r>
          </a:p>
          <a:p>
            <a:pPr lvl="1" eaLnBrk="1" hangingPunct="1"/>
            <a:r>
              <a:rPr lang="en-US" noProof="0" dirty="0">
                <a:cs typeface="Arial" charset="0"/>
              </a:rPr>
              <a:t>Temporal properties</a:t>
            </a:r>
          </a:p>
          <a:p>
            <a:pPr lvl="1" eaLnBrk="1" hangingPunct="1"/>
            <a:r>
              <a:rPr lang="en-US" noProof="0" dirty="0">
                <a:cs typeface="Arial" charset="0"/>
              </a:rPr>
              <a:t>Verification (via model checking) algorithm</a:t>
            </a:r>
          </a:p>
          <a:p>
            <a:pPr lvl="1" eaLnBrk="1" hangingPunct="1"/>
            <a:r>
              <a:rPr lang="en-US" noProof="0" dirty="0">
                <a:cs typeface="Arial" charset="0"/>
              </a:rPr>
              <a:t>Concurrency  </a:t>
            </a:r>
          </a:p>
          <a:p>
            <a:pPr eaLnBrk="1" hangingPunct="1"/>
            <a:endParaRPr lang="en-US" noProof="0" dirty="0">
              <a:cs typeface="Arial" charset="0"/>
            </a:endParaRPr>
          </a:p>
          <a:p>
            <a:pPr lvl="1" eaLnBrk="1" hangingPunct="1"/>
            <a:endParaRPr lang="en-US" noProof="0" dirty="0">
              <a:cs typeface="Arial" charset="0"/>
            </a:endParaRPr>
          </a:p>
        </p:txBody>
      </p:sp>
      <p:sp>
        <p:nvSpPr>
          <p:cNvPr id="5" name="Tijdelijke aanduiding voor dianummer 4"/>
          <p:cNvSpPr>
            <a:spLocks noGrp="1"/>
          </p:cNvSpPr>
          <p:nvPr>
            <p:ph type="sldNum" sz="quarter" idx="12"/>
          </p:nvPr>
        </p:nvSpPr>
        <p:spPr/>
        <p:txBody>
          <a:bodyPr/>
          <a:lstStyle/>
          <a:p>
            <a:pPr>
              <a:defRPr/>
            </a:pPr>
            <a:fld id="{7601E8EB-FF4B-4061-A799-B121663E97B5}" type="slidenum">
              <a:rPr lang="en-US" noProof="0"/>
              <a:pPr>
                <a:defRPr/>
              </a:pPr>
              <a:t>2</a:t>
            </a:fld>
            <a:endParaRPr lang="en-US"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Run-time properties</a:t>
            </a:r>
          </a:p>
        </p:txBody>
      </p:sp>
      <p:sp>
        <p:nvSpPr>
          <p:cNvPr id="18435" name="Rectangle 3"/>
          <p:cNvSpPr>
            <a:spLocks noGrp="1" noChangeArrowheads="1"/>
          </p:cNvSpPr>
          <p:nvPr>
            <p:ph sz="quarter" idx="1"/>
          </p:nvPr>
        </p:nvSpPr>
        <p:spPr>
          <a:xfrm>
            <a:off x="334963" y="1311275"/>
            <a:ext cx="8621712" cy="5262563"/>
          </a:xfrm>
        </p:spPr>
        <p:txBody>
          <a:bodyPr/>
          <a:lstStyle/>
          <a:p>
            <a:pPr eaLnBrk="1" hangingPunct="1">
              <a:lnSpc>
                <a:spcPct val="90000"/>
              </a:lnSpc>
            </a:pPr>
            <a:r>
              <a:rPr lang="en-US" noProof="0" dirty="0">
                <a:cs typeface="Arial" charset="0"/>
              </a:rPr>
              <a:t>Hoare triple : express what should hold when the program terminates.</a:t>
            </a:r>
          </a:p>
          <a:p>
            <a:pPr eaLnBrk="1" hangingPunct="1">
              <a:lnSpc>
                <a:spcPct val="90000"/>
              </a:lnSpc>
            </a:pPr>
            <a:r>
              <a:rPr lang="en-US" noProof="0" dirty="0">
                <a:cs typeface="Arial" charset="0"/>
              </a:rPr>
              <a:t>Many programs are supposed to work continuously</a:t>
            </a:r>
          </a:p>
          <a:p>
            <a:pPr lvl="1" eaLnBrk="1" hangingPunct="1">
              <a:lnSpc>
                <a:spcPct val="90000"/>
              </a:lnSpc>
            </a:pPr>
            <a:r>
              <a:rPr lang="en-US" noProof="0" dirty="0">
                <a:cs typeface="Arial" charset="0"/>
              </a:rPr>
              <a:t>They should be “safe”</a:t>
            </a:r>
          </a:p>
          <a:p>
            <a:pPr lvl="1" eaLnBrk="1" hangingPunct="1">
              <a:lnSpc>
                <a:spcPct val="90000"/>
              </a:lnSpc>
            </a:pPr>
            <a:r>
              <a:rPr lang="en-US" noProof="0" dirty="0">
                <a:cs typeface="Arial" charset="0"/>
              </a:rPr>
              <a:t>They should not dead lock</a:t>
            </a:r>
          </a:p>
          <a:p>
            <a:pPr lvl="1" eaLnBrk="1" hangingPunct="1">
              <a:lnSpc>
                <a:spcPct val="90000"/>
              </a:lnSpc>
            </a:pPr>
            <a:r>
              <a:rPr lang="en-US" noProof="0" dirty="0">
                <a:cs typeface="Arial" charset="0"/>
              </a:rPr>
              <a:t>No process should starve</a:t>
            </a:r>
          </a:p>
          <a:p>
            <a:pPr eaLnBrk="1" hangingPunct="1">
              <a:lnSpc>
                <a:spcPct val="90000"/>
              </a:lnSpc>
            </a:pPr>
            <a:r>
              <a:rPr lang="en-US" noProof="0" dirty="0">
                <a:cs typeface="Arial" charset="0"/>
              </a:rPr>
              <a:t>Linear Temporal Logic  (LTL)</a:t>
            </a:r>
          </a:p>
          <a:p>
            <a:pPr lvl="1" eaLnBrk="1" hangingPunct="1">
              <a:lnSpc>
                <a:spcPct val="90000"/>
              </a:lnSpc>
            </a:pPr>
            <a:r>
              <a:rPr lang="en-US" noProof="0" dirty="0">
                <a:cs typeface="Arial" charset="0"/>
              </a:rPr>
              <a:t>Originally designed by philosophers to study the way that time is used in arguments </a:t>
            </a:r>
            <a:br>
              <a:rPr lang="en-US" noProof="0" dirty="0">
                <a:cs typeface="Arial" charset="0"/>
                <a:sym typeface="Wingdings" pitchFamily="2" charset="2"/>
              </a:rPr>
            </a:br>
            <a:r>
              <a:rPr lang="en-US" noProof="0" dirty="0">
                <a:cs typeface="Arial" charset="0"/>
                <a:sym typeface="Wingdings" pitchFamily="2" charset="2"/>
              </a:rPr>
              <a:t>Based on a number of operators/modalities to express relation over time: “next”, “always”, “eventually”</a:t>
            </a:r>
          </a:p>
          <a:p>
            <a:pPr lvl="1" eaLnBrk="1" hangingPunct="1">
              <a:lnSpc>
                <a:spcPct val="90000"/>
              </a:lnSpc>
            </a:pPr>
            <a:r>
              <a:rPr lang="en-US" noProof="0" dirty="0">
                <a:cs typeface="Arial" charset="0"/>
                <a:sym typeface="Wingdings" pitchFamily="2" charset="2"/>
              </a:rPr>
              <a:t>Belong to the class of modal logics</a:t>
            </a:r>
          </a:p>
          <a:p>
            <a:pPr lvl="1" eaLnBrk="1" hangingPunct="1">
              <a:lnSpc>
                <a:spcPct val="90000"/>
              </a:lnSpc>
            </a:pPr>
            <a:r>
              <a:rPr lang="en-US" noProof="0" dirty="0">
                <a:cs typeface="Arial" charset="0"/>
              </a:rPr>
              <a:t>Brought to Computer Science by </a:t>
            </a:r>
            <a:r>
              <a:rPr lang="en-US" noProof="0" dirty="0" err="1">
                <a:cs typeface="Arial" charset="0"/>
              </a:rPr>
              <a:t>Pnueli</a:t>
            </a:r>
            <a:r>
              <a:rPr lang="en-US" noProof="0" dirty="0">
                <a:cs typeface="Arial" charset="0"/>
              </a:rPr>
              <a:t>, 1977.</a:t>
            </a:r>
          </a:p>
          <a:p>
            <a:pPr eaLnBrk="1" hangingPunct="1">
              <a:lnSpc>
                <a:spcPct val="90000"/>
              </a:lnSpc>
            </a:pPr>
            <a:endParaRPr lang="en-US" noProof="0" dirty="0">
              <a:cs typeface="Arial" charset="0"/>
            </a:endParaRPr>
          </a:p>
          <a:p>
            <a:pPr eaLnBrk="1" hangingPunct="1">
              <a:lnSpc>
                <a:spcPct val="90000"/>
              </a:lnSpc>
            </a:pPr>
            <a:endParaRPr lang="en-US" noProof="0" dirty="0">
              <a:cs typeface="Arial" charset="0"/>
            </a:endParaRPr>
          </a:p>
          <a:p>
            <a:pPr eaLnBrk="1" hangingPunct="1">
              <a:lnSpc>
                <a:spcPct val="90000"/>
              </a:lnSpc>
            </a:pPr>
            <a:endParaRPr lang="en-US" noProof="0" dirty="0">
              <a:cs typeface="Arial" charset="0"/>
            </a:endParaRPr>
          </a:p>
          <a:p>
            <a:pPr eaLnBrk="1" hangingPunct="1">
              <a:lnSpc>
                <a:spcPct val="90000"/>
              </a:lnSpc>
            </a:pPr>
            <a:endParaRPr lang="en-US" noProof="0" dirty="0">
              <a:cs typeface="Arial" charset="0"/>
            </a:endParaRPr>
          </a:p>
        </p:txBody>
      </p:sp>
      <p:sp>
        <p:nvSpPr>
          <p:cNvPr id="5" name="Tijdelijke aanduiding voor dianummer 4"/>
          <p:cNvSpPr>
            <a:spLocks noGrp="1"/>
          </p:cNvSpPr>
          <p:nvPr>
            <p:ph type="sldNum" sz="quarter" idx="12"/>
          </p:nvPr>
        </p:nvSpPr>
        <p:spPr/>
        <p:txBody>
          <a:bodyPr/>
          <a:lstStyle/>
          <a:p>
            <a:pPr>
              <a:defRPr/>
            </a:pPr>
            <a:fld id="{302211AB-ACDA-4BB7-80B3-9C63565D40D4}" type="slidenum">
              <a:rPr lang="en-US" noProof="0"/>
              <a:pPr>
                <a:defRPr/>
              </a:pPr>
              <a:t>3</a:t>
            </a:fld>
            <a:endParaRPr lang="en-US"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p:cNvSpPr>
          <p:nvPr>
            <p:ph type="title"/>
          </p:nvPr>
        </p:nvSpPr>
        <p:spPr/>
        <p:txBody>
          <a:bodyPr/>
          <a:lstStyle/>
          <a:p>
            <a:pPr eaLnBrk="1" hangingPunct="1"/>
            <a:r>
              <a:rPr lang="en-US" noProof="0" dirty="0">
                <a:cs typeface="Arial" charset="0"/>
              </a:rPr>
              <a:t>Finite State Automaton/Machine</a:t>
            </a:r>
          </a:p>
        </p:txBody>
      </p:sp>
      <p:sp>
        <p:nvSpPr>
          <p:cNvPr id="14" name="Content Placeholder 13"/>
          <p:cNvSpPr>
            <a:spLocks noGrp="1"/>
          </p:cNvSpPr>
          <p:nvPr>
            <p:ph sz="quarter" idx="1"/>
          </p:nvPr>
        </p:nvSpPr>
        <p:spPr>
          <a:xfrm>
            <a:off x="2133600" y="1181100"/>
            <a:ext cx="7010400" cy="4667250"/>
          </a:xfrm>
        </p:spPr>
        <p:txBody>
          <a:bodyPr/>
          <a:lstStyle/>
          <a:p>
            <a:r>
              <a:rPr lang="en-US" noProof="0" dirty="0"/>
              <a:t>Abstraction of a real program</a:t>
            </a:r>
          </a:p>
          <a:p>
            <a:r>
              <a:rPr lang="en-US" noProof="0" dirty="0"/>
              <a:t>Choices</a:t>
            </a:r>
          </a:p>
          <a:p>
            <a:pPr lvl="1"/>
            <a:r>
              <a:rPr lang="en-US" noProof="0" dirty="0"/>
              <a:t>What information do we want to put in the states?</a:t>
            </a:r>
          </a:p>
          <a:p>
            <a:pPr lvl="1"/>
            <a:r>
              <a:rPr lang="en-US" noProof="0" dirty="0"/>
              <a:t>In the arrows?</a:t>
            </a:r>
          </a:p>
          <a:p>
            <a:r>
              <a:rPr lang="en-US" noProof="0" dirty="0"/>
              <a:t>How to model execution? </a:t>
            </a:r>
            <a:r>
              <a:rPr lang="en-US" noProof="0" dirty="0">
                <a:sym typeface="Wingdings"/>
              </a:rPr>
              <a:t> a</a:t>
            </a:r>
            <a:r>
              <a:rPr lang="en-US" noProof="0" dirty="0"/>
              <a:t> path through the FSA, staring at an initial state. </a:t>
            </a:r>
          </a:p>
          <a:p>
            <a:pPr lvl="1"/>
            <a:r>
              <a:rPr lang="en-US" noProof="0" dirty="0"/>
              <a:t>Does it have to be finite?</a:t>
            </a:r>
          </a:p>
          <a:p>
            <a:pPr lvl="1"/>
            <a:r>
              <a:rPr lang="en-US" noProof="0" dirty="0"/>
              <a:t>Do we need a concept of “acceptance” ? </a:t>
            </a:r>
          </a:p>
          <a:p>
            <a:r>
              <a:rPr lang="en-US" noProof="0" dirty="0"/>
              <a:t>These choices influence what you can express, and how you can verify properties over executions.</a:t>
            </a:r>
          </a:p>
          <a:p>
            <a:pPr lvl="1"/>
            <a:endParaRPr lang="en-US" noProof="0" dirty="0"/>
          </a:p>
        </p:txBody>
      </p:sp>
      <p:sp>
        <p:nvSpPr>
          <p:cNvPr id="12" name="Tijdelijke aanduiding voor dianummer 11"/>
          <p:cNvSpPr>
            <a:spLocks noGrp="1"/>
          </p:cNvSpPr>
          <p:nvPr>
            <p:ph type="sldNum" sz="quarter" idx="12"/>
          </p:nvPr>
        </p:nvSpPr>
        <p:spPr/>
        <p:txBody>
          <a:bodyPr/>
          <a:lstStyle/>
          <a:p>
            <a:pPr>
              <a:defRPr/>
            </a:pPr>
            <a:fld id="{27B2A3D3-BCAD-47B6-95A6-49242F76242B}" type="slidenum">
              <a:rPr lang="en-US" noProof="0"/>
              <a:pPr>
                <a:defRPr/>
              </a:pPr>
              <a:t>4</a:t>
            </a:fld>
            <a:endParaRPr lang="en-US" noProof="0" dirty="0"/>
          </a:p>
        </p:txBody>
      </p:sp>
      <p:sp>
        <p:nvSpPr>
          <p:cNvPr id="6" name="Rounded Rectangle 5"/>
          <p:cNvSpPr/>
          <p:nvPr/>
        </p:nvSpPr>
        <p:spPr>
          <a:xfrm>
            <a:off x="704850" y="2341563"/>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7" name="Rounded Rectangle 6"/>
          <p:cNvSpPr/>
          <p:nvPr/>
        </p:nvSpPr>
        <p:spPr>
          <a:xfrm>
            <a:off x="742949" y="3355975"/>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9" name="Curved Connector 8"/>
          <p:cNvCxnSpPr>
            <a:endCxn id="6" idx="0"/>
          </p:cNvCxnSpPr>
          <p:nvPr/>
        </p:nvCxnSpPr>
        <p:spPr>
          <a:xfrm rot="10800000">
            <a:off x="1056483" y="2341563"/>
            <a:ext cx="351631" cy="296862"/>
          </a:xfrm>
          <a:prstGeom prst="curvedConnector4">
            <a:avLst>
              <a:gd name="adj1" fmla="val -103386"/>
              <a:gd name="adj2" fmla="val 247593"/>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a:stCxn id="6" idx="2"/>
            <a:endCxn id="7" idx="0"/>
          </p:cNvCxnSpPr>
          <p:nvPr/>
        </p:nvCxnSpPr>
        <p:spPr>
          <a:xfrm>
            <a:off x="1056482" y="2935288"/>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15" name="Curved Connector 8"/>
          <p:cNvCxnSpPr>
            <a:endCxn id="7" idx="2"/>
          </p:cNvCxnSpPr>
          <p:nvPr/>
        </p:nvCxnSpPr>
        <p:spPr>
          <a:xfrm rot="10800000" flipV="1">
            <a:off x="1071563" y="3652838"/>
            <a:ext cx="328613" cy="296862"/>
          </a:xfrm>
          <a:prstGeom prst="curvedConnector4">
            <a:avLst>
              <a:gd name="adj1" fmla="val -110144"/>
              <a:gd name="adj2" fmla="val 247594"/>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p:nvPr/>
        </p:nvCxnSpPr>
        <p:spPr>
          <a:xfrm>
            <a:off x="419103" y="2286003"/>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00063" y="274638"/>
            <a:ext cx="8358187" cy="796925"/>
          </a:xfrm>
        </p:spPr>
        <p:txBody>
          <a:bodyPr/>
          <a:lstStyle/>
          <a:p>
            <a:pPr eaLnBrk="1" hangingPunct="1"/>
            <a:r>
              <a:rPr lang="en-US" noProof="0" dirty="0">
                <a:cs typeface="Arial" charset="0"/>
              </a:rPr>
              <a:t>FSA</a:t>
            </a:r>
          </a:p>
        </p:txBody>
      </p:sp>
      <p:sp>
        <p:nvSpPr>
          <p:cNvPr id="3" name="Content Placeholder 2"/>
          <p:cNvSpPr>
            <a:spLocks noGrp="1"/>
          </p:cNvSpPr>
          <p:nvPr>
            <p:ph sz="quarter" idx="1"/>
          </p:nvPr>
        </p:nvSpPr>
        <p:spPr>
          <a:xfrm>
            <a:off x="331788" y="1362075"/>
            <a:ext cx="8634412" cy="5262563"/>
          </a:xfrm>
        </p:spPr>
        <p:txBody>
          <a:bodyPr/>
          <a:lstStyle/>
          <a:p>
            <a:pPr eaLnBrk="1" hangingPunct="1">
              <a:defRPr/>
            </a:pPr>
            <a:r>
              <a:rPr lang="en-US" noProof="0" dirty="0"/>
              <a:t>Described by (</a:t>
            </a:r>
            <a:r>
              <a:rPr lang="en-US" i="1" noProof="0" dirty="0"/>
              <a:t>S</a:t>
            </a:r>
            <a:r>
              <a:rPr lang="en-US" noProof="0" dirty="0"/>
              <a:t>, </a:t>
            </a:r>
            <a:r>
              <a:rPr lang="en-US" i="1" noProof="0" dirty="0"/>
              <a:t>I</a:t>
            </a:r>
            <a:r>
              <a:rPr lang="en-US" noProof="0" dirty="0"/>
              <a:t>, </a:t>
            </a:r>
            <a:r>
              <a:rPr lang="en-US" noProof="0" dirty="0">
                <a:sym typeface="Symbol"/>
              </a:rPr>
              <a:t>, </a:t>
            </a:r>
            <a:r>
              <a:rPr lang="en-US" i="1" noProof="0" dirty="0"/>
              <a:t>R</a:t>
            </a:r>
            <a:r>
              <a:rPr lang="en-US" noProof="0" dirty="0"/>
              <a:t>)</a:t>
            </a:r>
          </a:p>
          <a:p>
            <a:pPr eaLnBrk="1" hangingPunct="1">
              <a:defRPr/>
            </a:pPr>
            <a:endParaRPr lang="en-US" noProof="0" dirty="0"/>
          </a:p>
          <a:p>
            <a:pPr lvl="1" eaLnBrk="1" hangingPunct="1">
              <a:defRPr/>
            </a:pPr>
            <a:r>
              <a:rPr lang="en-US" i="1" noProof="0" dirty="0"/>
              <a:t>S</a:t>
            </a:r>
            <a:r>
              <a:rPr lang="en-US" noProof="0" dirty="0"/>
              <a:t> : the set of possible states</a:t>
            </a:r>
          </a:p>
          <a:p>
            <a:pPr lvl="1" eaLnBrk="1" hangingPunct="1">
              <a:defRPr/>
            </a:pPr>
            <a:r>
              <a:rPr lang="en-US" i="1" noProof="0" dirty="0"/>
              <a:t>I</a:t>
            </a:r>
            <a:r>
              <a:rPr lang="en-US" noProof="0" dirty="0"/>
              <a:t> </a:t>
            </a:r>
            <a:r>
              <a:rPr lang="en-US" noProof="0" dirty="0">
                <a:sym typeface="Symbol"/>
              </a:rPr>
              <a:t> </a:t>
            </a:r>
            <a:r>
              <a:rPr lang="en-US" i="1" noProof="0" dirty="0">
                <a:sym typeface="Symbol"/>
              </a:rPr>
              <a:t>S</a:t>
            </a:r>
            <a:r>
              <a:rPr lang="en-US" noProof="0" dirty="0">
                <a:sym typeface="Symbol"/>
              </a:rPr>
              <a:t>  : set of possible </a:t>
            </a:r>
            <a:r>
              <a:rPr lang="en-US" noProof="0" dirty="0"/>
              <a:t>initial states</a:t>
            </a:r>
          </a:p>
          <a:p>
            <a:pPr lvl="1" eaLnBrk="1" hangingPunct="1">
              <a:defRPr/>
            </a:pPr>
            <a:r>
              <a:rPr lang="en-US" noProof="0" dirty="0">
                <a:sym typeface="Symbol"/>
              </a:rPr>
              <a:t> : set of labels, to decorate the arrows. </a:t>
            </a:r>
          </a:p>
          <a:p>
            <a:pPr lvl="2" eaLnBrk="1" hangingPunct="1">
              <a:defRPr/>
            </a:pPr>
            <a:r>
              <a:rPr lang="en-US" sz="2400" noProof="0" dirty="0">
                <a:sym typeface="Symbol"/>
              </a:rPr>
              <a:t>They model possible actions.</a:t>
            </a:r>
            <a:endParaRPr lang="en-US" sz="2400" noProof="0" dirty="0"/>
          </a:p>
          <a:p>
            <a:pPr lvl="1" eaLnBrk="1" hangingPunct="1">
              <a:defRPr/>
            </a:pPr>
            <a:r>
              <a:rPr lang="en-US" i="1" noProof="0" dirty="0"/>
              <a:t>R</a:t>
            </a:r>
            <a:r>
              <a:rPr lang="en-US" noProof="0" dirty="0"/>
              <a:t> : </a:t>
            </a:r>
            <a:r>
              <a:rPr lang="en-US" i="1" noProof="0" dirty="0"/>
              <a:t>S</a:t>
            </a:r>
            <a:r>
              <a:rPr lang="en-US" noProof="0" dirty="0">
                <a:sym typeface="Symbol"/>
              </a:rPr>
              <a:t></a:t>
            </a:r>
            <a:r>
              <a:rPr lang="en-US" b="1" noProof="0" dirty="0">
                <a:sym typeface="Symbol"/>
              </a:rPr>
              <a:t>pow</a:t>
            </a:r>
            <a:r>
              <a:rPr lang="en-US" noProof="0" dirty="0">
                <a:sym typeface="Symbol"/>
              </a:rPr>
              <a:t>(</a:t>
            </a:r>
            <a:r>
              <a:rPr lang="en-US" i="1" noProof="0" dirty="0">
                <a:sym typeface="Symbol"/>
              </a:rPr>
              <a:t>S</a:t>
            </a:r>
            <a:r>
              <a:rPr lang="en-US" noProof="0" dirty="0">
                <a:sym typeface="Symbol"/>
              </a:rPr>
              <a:t>), </a:t>
            </a:r>
            <a:r>
              <a:rPr lang="en-US" noProof="0" dirty="0"/>
              <a:t>the arrows</a:t>
            </a:r>
          </a:p>
          <a:p>
            <a:pPr lvl="2" eaLnBrk="1" hangingPunct="1">
              <a:defRPr/>
            </a:pPr>
            <a:r>
              <a:rPr lang="en-US" sz="2400" i="1" noProof="0" dirty="0"/>
              <a:t>R</a:t>
            </a:r>
            <a:r>
              <a:rPr lang="en-US" sz="2400" noProof="0" dirty="0"/>
              <a:t>(</a:t>
            </a:r>
            <a:r>
              <a:rPr lang="en-US" sz="2400" i="1" noProof="0" dirty="0" err="1"/>
              <a:t>s,a</a:t>
            </a:r>
            <a:r>
              <a:rPr lang="en-US" sz="2400" noProof="0" dirty="0"/>
              <a:t>)  is t</a:t>
            </a:r>
            <a:r>
              <a:rPr lang="en-US" sz="2400" noProof="0" dirty="0">
                <a:sym typeface="Wingdings" pitchFamily="2" charset="2"/>
              </a:rPr>
              <a:t>he set of possible next-states</a:t>
            </a:r>
            <a:r>
              <a:rPr lang="en-US" sz="2400" noProof="0" dirty="0"/>
              <a:t> of </a:t>
            </a:r>
            <a:r>
              <a:rPr lang="en-US" sz="2400" i="1" noProof="0" dirty="0"/>
              <a:t>a</a:t>
            </a:r>
            <a:r>
              <a:rPr lang="en-US" sz="2400" noProof="0" dirty="0"/>
              <a:t> if executed on </a:t>
            </a:r>
            <a:r>
              <a:rPr lang="en-US" sz="2400" i="1" noProof="0" dirty="0"/>
              <a:t>s</a:t>
            </a:r>
          </a:p>
          <a:p>
            <a:pPr lvl="2" eaLnBrk="1" hangingPunct="1">
              <a:defRPr/>
            </a:pPr>
            <a:r>
              <a:rPr lang="en-US" sz="2400" noProof="0" dirty="0"/>
              <a:t>non-deterministic</a:t>
            </a:r>
            <a:endParaRPr lang="en-US" noProof="0" dirty="0">
              <a:solidFill>
                <a:schemeClr val="bg2">
                  <a:lumMod val="50000"/>
                </a:schemeClr>
              </a:solidFill>
            </a:endParaRPr>
          </a:p>
        </p:txBody>
      </p:sp>
      <p:sp>
        <p:nvSpPr>
          <p:cNvPr id="5" name="Tijdelijke aanduiding voor dianummer 4"/>
          <p:cNvSpPr>
            <a:spLocks noGrp="1"/>
          </p:cNvSpPr>
          <p:nvPr>
            <p:ph type="sldNum" sz="quarter" idx="12"/>
          </p:nvPr>
        </p:nvSpPr>
        <p:spPr/>
        <p:txBody>
          <a:bodyPr/>
          <a:lstStyle/>
          <a:p>
            <a:pPr>
              <a:defRPr/>
            </a:pPr>
            <a:fld id="{D87ECB4C-BDF8-4B5A-BB15-67F9CCB4B39C}" type="slidenum">
              <a:rPr lang="en-US" noProof="0"/>
              <a:pPr>
                <a:defRPr/>
              </a:pPr>
              <a:t>5</a:t>
            </a:fld>
            <a:endParaRPr lang="en-US"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358246" cy="925512"/>
          </a:xfrm>
        </p:spPr>
        <p:txBody>
          <a:bodyPr/>
          <a:lstStyle/>
          <a:p>
            <a:r>
              <a:rPr lang="en-US" sz="3200" noProof="0" dirty="0"/>
              <a:t>Program compositions can be modeled by operations over FSA</a:t>
            </a:r>
          </a:p>
        </p:txBody>
      </p:sp>
      <p:sp>
        <p:nvSpPr>
          <p:cNvPr id="3" name="Content Placeholder 2"/>
          <p:cNvSpPr>
            <a:spLocks noGrp="1"/>
          </p:cNvSpPr>
          <p:nvPr>
            <p:ph sz="quarter" idx="1"/>
          </p:nvPr>
        </p:nvSpPr>
        <p:spPr/>
        <p:txBody>
          <a:bodyPr/>
          <a:lstStyle/>
          <a:p>
            <a:r>
              <a:rPr lang="en-US" noProof="0" dirty="0"/>
              <a:t>We assume actions to be </a:t>
            </a:r>
            <a:r>
              <a:rPr lang="en-US" b="1" noProof="0" dirty="0"/>
              <a:t>atomic</a:t>
            </a:r>
            <a:r>
              <a:rPr lang="en-US" noProof="0" dirty="0"/>
              <a:t>.</a:t>
            </a:r>
          </a:p>
          <a:p>
            <a:r>
              <a:rPr lang="en-US" i="1" noProof="0" dirty="0"/>
              <a:t>M</a:t>
            </a:r>
            <a:r>
              <a:rPr lang="en-US" baseline="-25000" noProof="0" dirty="0"/>
              <a:t>1</a:t>
            </a:r>
            <a:r>
              <a:rPr lang="en-US" noProof="0" dirty="0"/>
              <a:t> ; </a:t>
            </a:r>
            <a:r>
              <a:rPr lang="en-US" i="1" noProof="0" dirty="0"/>
              <a:t>M</a:t>
            </a:r>
            <a:r>
              <a:rPr lang="en-US" baseline="-25000" noProof="0" dirty="0"/>
              <a:t>2</a:t>
            </a:r>
          </a:p>
          <a:p>
            <a:pPr lvl="1"/>
            <a:r>
              <a:rPr lang="en-US" noProof="0" dirty="0"/>
              <a:t>connect “terminal states” of  </a:t>
            </a:r>
            <a:r>
              <a:rPr lang="en-US" i="1" noProof="0" dirty="0"/>
              <a:t>M</a:t>
            </a:r>
            <a:r>
              <a:rPr lang="en-US" baseline="-25000" noProof="0" dirty="0"/>
              <a:t>1</a:t>
            </a:r>
            <a:r>
              <a:rPr lang="en-US" noProof="0" dirty="0"/>
              <a:t> to </a:t>
            </a:r>
            <a:r>
              <a:rPr lang="en-US" i="1" noProof="0" dirty="0"/>
              <a:t>M</a:t>
            </a:r>
            <a:r>
              <a:rPr lang="en-US" baseline="-25000" noProof="0" dirty="0"/>
              <a:t>2</a:t>
            </a:r>
            <a:r>
              <a:rPr lang="en-US" noProof="0" dirty="0"/>
              <a:t>’s initial states.</a:t>
            </a:r>
          </a:p>
          <a:p>
            <a:endParaRPr lang="en-US" i="1" noProof="0" dirty="0"/>
          </a:p>
          <a:p>
            <a:r>
              <a:rPr lang="en-US" i="1" noProof="0" dirty="0"/>
              <a:t>M</a:t>
            </a:r>
            <a:r>
              <a:rPr lang="en-US" baseline="-25000" noProof="0" dirty="0"/>
              <a:t>1</a:t>
            </a:r>
            <a:r>
              <a:rPr lang="en-US" noProof="0" dirty="0"/>
              <a:t> </a:t>
            </a:r>
            <a:r>
              <a:rPr lang="en-US" noProof="0" dirty="0">
                <a:sym typeface="Symbol"/>
              </a:rPr>
              <a:t></a:t>
            </a:r>
            <a:r>
              <a:rPr lang="en-US" noProof="0" dirty="0"/>
              <a:t> </a:t>
            </a:r>
            <a:r>
              <a:rPr lang="en-US" i="1" noProof="0" dirty="0"/>
              <a:t>M</a:t>
            </a:r>
            <a:r>
              <a:rPr lang="en-US" baseline="-25000" noProof="0" dirty="0"/>
              <a:t>2</a:t>
            </a:r>
          </a:p>
          <a:p>
            <a:pPr lvl="1"/>
            <a:r>
              <a:rPr lang="en-US" noProof="0" dirty="0"/>
              <a:t>only do executions that are possible in both</a:t>
            </a:r>
          </a:p>
          <a:p>
            <a:pPr lvl="1"/>
            <a:endParaRPr lang="en-US" noProof="0" dirty="0"/>
          </a:p>
          <a:p>
            <a:r>
              <a:rPr lang="en-US" i="1" noProof="0" dirty="0"/>
              <a:t>M</a:t>
            </a:r>
            <a:r>
              <a:rPr lang="en-US" baseline="-25000" noProof="0" dirty="0"/>
              <a:t>1</a:t>
            </a:r>
            <a:r>
              <a:rPr lang="en-US" noProof="0" dirty="0"/>
              <a:t> || </a:t>
            </a:r>
            <a:r>
              <a:rPr lang="en-US" i="1" noProof="0" dirty="0"/>
              <a:t>M</a:t>
            </a:r>
            <a:r>
              <a:rPr lang="en-US" baseline="-25000" noProof="0" dirty="0"/>
              <a:t>2</a:t>
            </a:r>
          </a:p>
          <a:p>
            <a:pPr lvl="1"/>
            <a:r>
              <a:rPr lang="en-US" noProof="0" dirty="0"/>
              <a:t>model parallel execution of </a:t>
            </a:r>
            <a:r>
              <a:rPr lang="en-US" i="1" noProof="0" dirty="0"/>
              <a:t>M</a:t>
            </a:r>
            <a:r>
              <a:rPr lang="en-US" baseline="-25000" noProof="0" dirty="0"/>
              <a:t>1</a:t>
            </a:r>
            <a:r>
              <a:rPr lang="en-US" noProof="0" dirty="0"/>
              <a:t> and </a:t>
            </a:r>
            <a:r>
              <a:rPr lang="en-US" i="1" noProof="0" dirty="0"/>
              <a:t>M</a:t>
            </a:r>
            <a:r>
              <a:rPr lang="en-US" baseline="-25000" noProof="0" dirty="0"/>
              <a:t>2</a:t>
            </a:r>
          </a:p>
          <a:p>
            <a:pPr lvl="1"/>
            <a:endParaRPr lang="en-US" noProof="0" dirty="0"/>
          </a:p>
          <a:p>
            <a:pPr lvl="1"/>
            <a:endParaRPr lang="en-US" noProof="0" dirty="0"/>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6</a:t>
            </a:fld>
            <a:endParaRPr lang="en-US"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Intersection</a:t>
            </a:r>
          </a:p>
        </p:txBody>
      </p:sp>
      <p:sp>
        <p:nvSpPr>
          <p:cNvPr id="3" name="Content Placeholder 2"/>
          <p:cNvSpPr>
            <a:spLocks noGrp="1"/>
          </p:cNvSpPr>
          <p:nvPr>
            <p:ph sz="quarter" idx="1"/>
          </p:nvPr>
        </p:nvSpPr>
        <p:spPr>
          <a:xfrm>
            <a:off x="878667" y="5122681"/>
            <a:ext cx="7600980" cy="1222737"/>
          </a:xfrm>
        </p:spPr>
        <p:txBody>
          <a:bodyPr/>
          <a:lstStyle/>
          <a:p>
            <a:r>
              <a:rPr lang="en-US" noProof="0" dirty="0"/>
              <a:t>Not something you typically do in real programs</a:t>
            </a:r>
          </a:p>
          <a:p>
            <a:r>
              <a:rPr lang="en-US" noProof="0" dirty="0"/>
              <a:t>A useful concept for verification </a:t>
            </a:r>
            <a:r>
              <a:rPr lang="en-US" noProof="0" dirty="0">
                <a:sym typeface="Wingdings" pitchFamily="2" charset="2"/>
              </a:rPr>
              <a:t> later.</a:t>
            </a:r>
            <a:endParaRPr lang="en-US" noProof="0" dirty="0"/>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7</a:t>
            </a:fld>
            <a:endParaRPr lang="en-US" noProof="0" dirty="0"/>
          </a:p>
        </p:txBody>
      </p:sp>
      <p:sp>
        <p:nvSpPr>
          <p:cNvPr id="5" name="Rounded Rectangle 4"/>
          <p:cNvSpPr/>
          <p:nvPr/>
        </p:nvSpPr>
        <p:spPr>
          <a:xfrm>
            <a:off x="1790700" y="1827213"/>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6" name="Rounded Rectangle 5"/>
          <p:cNvSpPr/>
          <p:nvPr/>
        </p:nvSpPr>
        <p:spPr>
          <a:xfrm>
            <a:off x="1828799" y="2841625"/>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7" name="Curved Connector 8"/>
          <p:cNvCxnSpPr>
            <a:cxnSpLocks/>
            <a:endCxn id="5" idx="0"/>
          </p:cNvCxnSpPr>
          <p:nvPr/>
        </p:nvCxnSpPr>
        <p:spPr>
          <a:xfrm rot="10800000">
            <a:off x="2142333" y="1827213"/>
            <a:ext cx="351631" cy="296862"/>
          </a:xfrm>
          <a:prstGeom prst="curvedConnector4">
            <a:avLst>
              <a:gd name="adj1" fmla="val -103386"/>
              <a:gd name="adj2" fmla="val 247593"/>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a:stCxn id="5" idx="2"/>
            <a:endCxn id="6" idx="0"/>
          </p:cNvCxnSpPr>
          <p:nvPr/>
        </p:nvCxnSpPr>
        <p:spPr>
          <a:xfrm>
            <a:off x="2142332" y="2420938"/>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9" name="Straight Arrow Connector 8"/>
          <p:cNvCxnSpPr/>
          <p:nvPr/>
        </p:nvCxnSpPr>
        <p:spPr>
          <a:xfrm>
            <a:off x="1504953" y="1771653"/>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 name="Rounded Rectangle 9"/>
          <p:cNvSpPr/>
          <p:nvPr/>
        </p:nvSpPr>
        <p:spPr>
          <a:xfrm>
            <a:off x="3695700" y="1827213"/>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11" name="Rounded Rectangle 10"/>
          <p:cNvSpPr/>
          <p:nvPr/>
        </p:nvSpPr>
        <p:spPr>
          <a:xfrm>
            <a:off x="3733799" y="2841625"/>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12" name="Straight Arrow Connector 11"/>
          <p:cNvCxnSpPr>
            <a:stCxn id="10" idx="2"/>
            <a:endCxn id="11" idx="0"/>
          </p:cNvCxnSpPr>
          <p:nvPr/>
        </p:nvCxnSpPr>
        <p:spPr>
          <a:xfrm>
            <a:off x="4047332" y="2420938"/>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p:nvPr/>
        </p:nvCxnSpPr>
        <p:spPr>
          <a:xfrm>
            <a:off x="3409953" y="1771653"/>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1790700" y="2400300"/>
            <a:ext cx="338554" cy="461665"/>
          </a:xfrm>
          <a:prstGeom prst="rect">
            <a:avLst/>
          </a:prstGeom>
          <a:noFill/>
        </p:spPr>
        <p:txBody>
          <a:bodyPr wrap="none" rtlCol="0">
            <a:spAutoFit/>
          </a:bodyPr>
          <a:lstStyle/>
          <a:p>
            <a:r>
              <a:rPr lang="en-US" i="1" noProof="0" dirty="0"/>
              <a:t>a</a:t>
            </a:r>
          </a:p>
        </p:txBody>
      </p:sp>
      <p:sp>
        <p:nvSpPr>
          <p:cNvPr id="15" name="TextBox 14"/>
          <p:cNvSpPr txBox="1"/>
          <p:nvPr/>
        </p:nvSpPr>
        <p:spPr>
          <a:xfrm>
            <a:off x="3657600" y="2362200"/>
            <a:ext cx="338554" cy="461665"/>
          </a:xfrm>
          <a:prstGeom prst="rect">
            <a:avLst/>
          </a:prstGeom>
          <a:noFill/>
        </p:spPr>
        <p:txBody>
          <a:bodyPr wrap="none" rtlCol="0">
            <a:spAutoFit/>
          </a:bodyPr>
          <a:lstStyle/>
          <a:p>
            <a:r>
              <a:rPr lang="en-US" i="1" noProof="0" dirty="0"/>
              <a:t>a</a:t>
            </a:r>
          </a:p>
        </p:txBody>
      </p:sp>
      <p:sp>
        <p:nvSpPr>
          <p:cNvPr id="17" name="TextBox 16"/>
          <p:cNvSpPr txBox="1"/>
          <p:nvPr/>
        </p:nvSpPr>
        <p:spPr>
          <a:xfrm>
            <a:off x="2705100" y="1962150"/>
            <a:ext cx="716863" cy="923330"/>
          </a:xfrm>
          <a:prstGeom prst="rect">
            <a:avLst/>
          </a:prstGeom>
          <a:noFill/>
        </p:spPr>
        <p:txBody>
          <a:bodyPr wrap="none" rtlCol="0">
            <a:spAutoFit/>
          </a:bodyPr>
          <a:lstStyle/>
          <a:p>
            <a:r>
              <a:rPr lang="en-US" sz="5400" b="1" noProof="0" dirty="0">
                <a:solidFill>
                  <a:schemeClr val="bg2">
                    <a:lumMod val="25000"/>
                  </a:schemeClr>
                </a:solidFill>
                <a:sym typeface="Symbol"/>
              </a:rPr>
              <a:t></a:t>
            </a:r>
            <a:endParaRPr lang="en-US" sz="5400" b="1" noProof="0" dirty="0">
              <a:solidFill>
                <a:schemeClr val="bg2">
                  <a:lumMod val="25000"/>
                </a:schemeClr>
              </a:solidFill>
            </a:endParaRPr>
          </a:p>
        </p:txBody>
      </p:sp>
      <p:sp>
        <p:nvSpPr>
          <p:cNvPr id="18" name="Rounded Rectangle 17"/>
          <p:cNvSpPr/>
          <p:nvPr/>
        </p:nvSpPr>
        <p:spPr>
          <a:xfrm>
            <a:off x="6324600" y="1808163"/>
            <a:ext cx="1066800"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(0,0)</a:t>
            </a:r>
          </a:p>
        </p:txBody>
      </p:sp>
      <p:sp>
        <p:nvSpPr>
          <p:cNvPr id="19" name="Rounded Rectangle 18"/>
          <p:cNvSpPr/>
          <p:nvPr/>
        </p:nvSpPr>
        <p:spPr>
          <a:xfrm>
            <a:off x="6362699" y="2822575"/>
            <a:ext cx="1009651"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(1,1)</a:t>
            </a:r>
          </a:p>
        </p:txBody>
      </p:sp>
      <p:cxnSp>
        <p:nvCxnSpPr>
          <p:cNvPr id="20" name="Straight Arrow Connector 19"/>
          <p:cNvCxnSpPr>
            <a:stCxn id="18" idx="2"/>
            <a:endCxn id="19" idx="0"/>
          </p:cNvCxnSpPr>
          <p:nvPr/>
        </p:nvCxnSpPr>
        <p:spPr>
          <a:xfrm>
            <a:off x="6858000" y="2401888"/>
            <a:ext cx="9525"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p:nvPr/>
        </p:nvCxnSpPr>
        <p:spPr>
          <a:xfrm>
            <a:off x="6038853" y="1752603"/>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2" name="TextBox 21"/>
          <p:cNvSpPr txBox="1"/>
          <p:nvPr/>
        </p:nvSpPr>
        <p:spPr>
          <a:xfrm>
            <a:off x="6286500" y="2343150"/>
            <a:ext cx="338554" cy="461665"/>
          </a:xfrm>
          <a:prstGeom prst="rect">
            <a:avLst/>
          </a:prstGeom>
          <a:noFill/>
        </p:spPr>
        <p:txBody>
          <a:bodyPr wrap="none" rtlCol="0">
            <a:spAutoFit/>
          </a:bodyPr>
          <a:lstStyle/>
          <a:p>
            <a:r>
              <a:rPr lang="en-US" i="1" noProof="0" dirty="0"/>
              <a:t>a</a:t>
            </a:r>
          </a:p>
        </p:txBody>
      </p:sp>
      <p:sp>
        <p:nvSpPr>
          <p:cNvPr id="23" name="TextBox 22"/>
          <p:cNvSpPr txBox="1"/>
          <p:nvPr/>
        </p:nvSpPr>
        <p:spPr>
          <a:xfrm>
            <a:off x="2705100" y="1123950"/>
            <a:ext cx="320922" cy="461665"/>
          </a:xfrm>
          <a:prstGeom prst="rect">
            <a:avLst/>
          </a:prstGeom>
          <a:noFill/>
        </p:spPr>
        <p:txBody>
          <a:bodyPr wrap="none" rtlCol="0">
            <a:spAutoFit/>
          </a:bodyPr>
          <a:lstStyle/>
          <a:p>
            <a:r>
              <a:rPr lang="en-US" i="1" noProof="0" dirty="0"/>
              <a:t>c</a:t>
            </a:r>
          </a:p>
        </p:txBody>
      </p:sp>
      <p:sp>
        <p:nvSpPr>
          <p:cNvPr id="26" name="Right Arrow 25"/>
          <p:cNvSpPr/>
          <p:nvPr/>
        </p:nvSpPr>
        <p:spPr>
          <a:xfrm>
            <a:off x="5086350" y="2324100"/>
            <a:ext cx="552450" cy="38100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noProof="0" dirty="0"/>
          </a:p>
        </p:txBody>
      </p:sp>
      <p:cxnSp>
        <p:nvCxnSpPr>
          <p:cNvPr id="24" name="Curved Connector 8">
            <a:extLst>
              <a:ext uri="{FF2B5EF4-FFF2-40B4-BE49-F238E27FC236}">
                <a16:creationId xmlns:a16="http://schemas.microsoft.com/office/drawing/2014/main" id="{BF96CE8D-6576-58A3-AFAC-15B76BA7F6BD}"/>
              </a:ext>
            </a:extLst>
          </p:cNvPr>
          <p:cNvCxnSpPr>
            <a:cxnSpLocks/>
            <a:stCxn id="6" idx="1"/>
            <a:endCxn id="5" idx="1"/>
          </p:cNvCxnSpPr>
          <p:nvPr/>
        </p:nvCxnSpPr>
        <p:spPr>
          <a:xfrm rot="10800000">
            <a:off x="1790701" y="2124076"/>
            <a:ext cx="38099" cy="1014412"/>
          </a:xfrm>
          <a:prstGeom prst="curvedConnector3">
            <a:avLst>
              <a:gd name="adj1" fmla="val 1900047"/>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sp>
        <p:nvSpPr>
          <p:cNvPr id="28" name="TextBox 27">
            <a:extLst>
              <a:ext uri="{FF2B5EF4-FFF2-40B4-BE49-F238E27FC236}">
                <a16:creationId xmlns:a16="http://schemas.microsoft.com/office/drawing/2014/main" id="{5B75D10A-421F-5B5A-237D-E8ABAFDFCD24}"/>
              </a:ext>
            </a:extLst>
          </p:cNvPr>
          <p:cNvSpPr txBox="1"/>
          <p:nvPr/>
        </p:nvSpPr>
        <p:spPr>
          <a:xfrm>
            <a:off x="780127" y="2381398"/>
            <a:ext cx="338554" cy="461665"/>
          </a:xfrm>
          <a:prstGeom prst="rect">
            <a:avLst/>
          </a:prstGeom>
          <a:noFill/>
        </p:spPr>
        <p:txBody>
          <a:bodyPr wrap="none" rtlCol="0">
            <a:spAutoFit/>
          </a:bodyPr>
          <a:lstStyle/>
          <a:p>
            <a:r>
              <a:rPr lang="en-US" i="1" noProof="0" dirty="0"/>
              <a:t>a</a:t>
            </a:r>
          </a:p>
        </p:txBody>
      </p:sp>
      <p:sp>
        <p:nvSpPr>
          <p:cNvPr id="29" name="Rounded Rectangle 28">
            <a:extLst>
              <a:ext uri="{FF2B5EF4-FFF2-40B4-BE49-F238E27FC236}">
                <a16:creationId xmlns:a16="http://schemas.microsoft.com/office/drawing/2014/main" id="{5E4FE624-5300-1F72-0C47-FECE4D98D442}"/>
              </a:ext>
            </a:extLst>
          </p:cNvPr>
          <p:cNvSpPr/>
          <p:nvPr/>
        </p:nvSpPr>
        <p:spPr>
          <a:xfrm>
            <a:off x="3741738" y="3843790"/>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2</a:t>
            </a:r>
          </a:p>
        </p:txBody>
      </p:sp>
      <p:cxnSp>
        <p:nvCxnSpPr>
          <p:cNvPr id="30" name="Straight Arrow Connector 29">
            <a:extLst>
              <a:ext uri="{FF2B5EF4-FFF2-40B4-BE49-F238E27FC236}">
                <a16:creationId xmlns:a16="http://schemas.microsoft.com/office/drawing/2014/main" id="{274AA9F5-9C77-158B-AAED-5B8A02A5CD01}"/>
              </a:ext>
            </a:extLst>
          </p:cNvPr>
          <p:cNvCxnSpPr>
            <a:cxnSpLocks/>
            <a:stCxn id="11" idx="2"/>
            <a:endCxn id="29" idx="0"/>
          </p:cNvCxnSpPr>
          <p:nvPr/>
        </p:nvCxnSpPr>
        <p:spPr>
          <a:xfrm>
            <a:off x="4062412" y="3435350"/>
            <a:ext cx="7939" cy="408440"/>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sp>
        <p:nvSpPr>
          <p:cNvPr id="33" name="TextBox 32">
            <a:extLst>
              <a:ext uri="{FF2B5EF4-FFF2-40B4-BE49-F238E27FC236}">
                <a16:creationId xmlns:a16="http://schemas.microsoft.com/office/drawing/2014/main" id="{C455C1FB-8763-9F04-5EC8-D4212AB7BF03}"/>
              </a:ext>
            </a:extLst>
          </p:cNvPr>
          <p:cNvSpPr txBox="1"/>
          <p:nvPr/>
        </p:nvSpPr>
        <p:spPr>
          <a:xfrm>
            <a:off x="3679370" y="3402874"/>
            <a:ext cx="338554" cy="461665"/>
          </a:xfrm>
          <a:prstGeom prst="rect">
            <a:avLst/>
          </a:prstGeom>
          <a:noFill/>
        </p:spPr>
        <p:txBody>
          <a:bodyPr wrap="none" rtlCol="0">
            <a:spAutoFit/>
          </a:bodyPr>
          <a:lstStyle/>
          <a:p>
            <a:r>
              <a:rPr lang="en-US" i="1" noProof="0" dirty="0"/>
              <a:t>a</a:t>
            </a:r>
          </a:p>
        </p:txBody>
      </p:sp>
      <p:sp>
        <p:nvSpPr>
          <p:cNvPr id="34" name="Rounded Rectangle 33">
            <a:extLst>
              <a:ext uri="{FF2B5EF4-FFF2-40B4-BE49-F238E27FC236}">
                <a16:creationId xmlns:a16="http://schemas.microsoft.com/office/drawing/2014/main" id="{D84D81A8-BAF9-9595-F42A-AFCC1792EC3A}"/>
              </a:ext>
            </a:extLst>
          </p:cNvPr>
          <p:cNvSpPr/>
          <p:nvPr/>
        </p:nvSpPr>
        <p:spPr>
          <a:xfrm>
            <a:off x="6381749" y="3811406"/>
            <a:ext cx="1009651"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(0,2)</a:t>
            </a:r>
          </a:p>
        </p:txBody>
      </p:sp>
      <p:cxnSp>
        <p:nvCxnSpPr>
          <p:cNvPr id="35" name="Straight Arrow Connector 34">
            <a:extLst>
              <a:ext uri="{FF2B5EF4-FFF2-40B4-BE49-F238E27FC236}">
                <a16:creationId xmlns:a16="http://schemas.microsoft.com/office/drawing/2014/main" id="{3ADBC95A-1421-ECAE-8FD4-029FE1E64007}"/>
              </a:ext>
            </a:extLst>
          </p:cNvPr>
          <p:cNvCxnSpPr>
            <a:cxnSpLocks/>
            <a:stCxn id="19" idx="2"/>
            <a:endCxn id="34" idx="0"/>
          </p:cNvCxnSpPr>
          <p:nvPr/>
        </p:nvCxnSpPr>
        <p:spPr>
          <a:xfrm>
            <a:off x="6867525" y="3416300"/>
            <a:ext cx="19050" cy="395106"/>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9814F378-E50A-31A2-8FF8-40AE303B6142}"/>
              </a:ext>
            </a:extLst>
          </p:cNvPr>
          <p:cNvSpPr txBox="1"/>
          <p:nvPr/>
        </p:nvSpPr>
        <p:spPr>
          <a:xfrm>
            <a:off x="6308554" y="3370362"/>
            <a:ext cx="338554" cy="461665"/>
          </a:xfrm>
          <a:prstGeom prst="rect">
            <a:avLst/>
          </a:prstGeom>
          <a:noFill/>
        </p:spPr>
        <p:txBody>
          <a:bodyPr wrap="none" rtlCol="0">
            <a:spAutoFit/>
          </a:bodyPr>
          <a:lstStyle/>
          <a:p>
            <a:r>
              <a:rPr lang="en-US" i="1" noProof="0" dirty="0"/>
              <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Parallel composition</a:t>
            </a:r>
          </a:p>
        </p:txBody>
      </p:sp>
      <p:sp>
        <p:nvSpPr>
          <p:cNvPr id="3" name="Content Placeholder 2"/>
          <p:cNvSpPr>
            <a:spLocks noGrp="1"/>
          </p:cNvSpPr>
          <p:nvPr>
            <p:ph sz="quarter" idx="1"/>
          </p:nvPr>
        </p:nvSpPr>
        <p:spPr>
          <a:xfrm>
            <a:off x="500034" y="3976986"/>
            <a:ext cx="8643966" cy="2138064"/>
          </a:xfrm>
        </p:spPr>
        <p:txBody>
          <a:bodyPr/>
          <a:lstStyle/>
          <a:p>
            <a:r>
              <a:rPr lang="en-US" sz="2400" noProof="0" dirty="0"/>
              <a:t>Suppose </a:t>
            </a:r>
            <a:r>
              <a:rPr lang="en-US" sz="2400" i="1" noProof="0" dirty="0"/>
              <a:t>M</a:t>
            </a:r>
            <a:r>
              <a:rPr lang="en-US" sz="2400" baseline="-25000" noProof="0" dirty="0"/>
              <a:t>1</a:t>
            </a:r>
            <a:r>
              <a:rPr lang="en-US" sz="2400" noProof="0" dirty="0"/>
              <a:t> and </a:t>
            </a:r>
            <a:r>
              <a:rPr lang="en-US" sz="2400" i="1" noProof="0" dirty="0"/>
              <a:t>M</a:t>
            </a:r>
            <a:r>
              <a:rPr lang="en-US" sz="2400" baseline="-25000" noProof="0" dirty="0"/>
              <a:t>2 </a:t>
            </a:r>
            <a:r>
              <a:rPr lang="en-US" sz="2400" noProof="0" dirty="0"/>
              <a:t>has </a:t>
            </a:r>
            <a:r>
              <a:rPr lang="en-US" sz="2400" b="1" noProof="0" dirty="0"/>
              <a:t>no common action </a:t>
            </a:r>
            <a:r>
              <a:rPr lang="en-US" sz="2400" noProof="0" dirty="0"/>
              <a:t>(no action on which they want to synchronize)</a:t>
            </a:r>
          </a:p>
          <a:p>
            <a:r>
              <a:rPr lang="en-US" sz="2400" noProof="0" dirty="0"/>
              <a:t>Their parallel composition is basically the “full product” of </a:t>
            </a:r>
            <a:r>
              <a:rPr lang="en-US" sz="2400" i="1" noProof="0" dirty="0"/>
              <a:t>M</a:t>
            </a:r>
            <a:r>
              <a:rPr lang="en-US" sz="2400" baseline="-25000" noProof="0" dirty="0"/>
              <a:t>1</a:t>
            </a:r>
            <a:r>
              <a:rPr lang="en-US" sz="2400" noProof="0" dirty="0"/>
              <a:t> and </a:t>
            </a:r>
            <a:r>
              <a:rPr lang="en-US" sz="2400" i="1" noProof="0" dirty="0"/>
              <a:t>M</a:t>
            </a:r>
            <a:r>
              <a:rPr lang="en-US" sz="2400" baseline="-25000" noProof="0" dirty="0"/>
              <a:t>2 </a:t>
            </a:r>
            <a:r>
              <a:rPr lang="en-US" sz="2400" noProof="0" dirty="0"/>
              <a:t>.</a:t>
            </a:r>
          </a:p>
          <a:p>
            <a:r>
              <a:rPr lang="en-US" sz="2400" noProof="0" dirty="0" err="1"/>
              <a:t>So,if</a:t>
            </a:r>
            <a:r>
              <a:rPr lang="en-US" sz="2400" noProof="0" dirty="0"/>
              <a:t> each component has </a:t>
            </a:r>
            <a:r>
              <a:rPr lang="en-US" sz="2400" i="1" noProof="0" dirty="0"/>
              <a:t>n</a:t>
            </a:r>
            <a:r>
              <a:rPr lang="en-US" sz="2400" noProof="0" dirty="0"/>
              <a:t> number of states, constructing || over </a:t>
            </a:r>
            <a:r>
              <a:rPr lang="en-US" sz="2400" i="1" noProof="0" dirty="0"/>
              <a:t>k</a:t>
            </a:r>
            <a:r>
              <a:rPr lang="en-US" sz="2400" noProof="0" dirty="0"/>
              <a:t> components produces an automaton with </a:t>
            </a:r>
            <a:r>
              <a:rPr lang="en-US" sz="2400" i="1" noProof="0" dirty="0" err="1"/>
              <a:t>n</a:t>
            </a:r>
            <a:r>
              <a:rPr lang="en-US" sz="2400" i="1" baseline="30000" noProof="0" dirty="0" err="1"/>
              <a:t>k</a:t>
            </a:r>
            <a:r>
              <a:rPr lang="en-US" sz="2400" i="1" noProof="0" dirty="0"/>
              <a:t> </a:t>
            </a:r>
            <a:r>
              <a:rPr lang="en-US" sz="2400" noProof="0" dirty="0"/>
              <a:t>states.</a:t>
            </a:r>
          </a:p>
          <a:p>
            <a:endParaRPr lang="en-US" sz="2400" noProof="0" dirty="0"/>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8</a:t>
            </a:fld>
            <a:endParaRPr lang="en-US" noProof="0" dirty="0"/>
          </a:p>
        </p:txBody>
      </p:sp>
      <p:sp>
        <p:nvSpPr>
          <p:cNvPr id="5" name="Rounded Rectangle 4"/>
          <p:cNvSpPr/>
          <p:nvPr/>
        </p:nvSpPr>
        <p:spPr>
          <a:xfrm>
            <a:off x="888997" y="1763713"/>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6" name="Rounded Rectangle 5"/>
          <p:cNvSpPr/>
          <p:nvPr/>
        </p:nvSpPr>
        <p:spPr>
          <a:xfrm>
            <a:off x="927096" y="2778125"/>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7" name="Curved Connector 8"/>
          <p:cNvCxnSpPr>
            <a:endCxn id="5" idx="0"/>
          </p:cNvCxnSpPr>
          <p:nvPr/>
        </p:nvCxnSpPr>
        <p:spPr>
          <a:xfrm rot="10800000">
            <a:off x="1240630" y="1763713"/>
            <a:ext cx="351631" cy="296862"/>
          </a:xfrm>
          <a:prstGeom prst="curvedConnector4">
            <a:avLst>
              <a:gd name="adj1" fmla="val -103386"/>
              <a:gd name="adj2" fmla="val 247593"/>
            </a:avLst>
          </a:prstGeom>
          <a:ln>
            <a:solidFill>
              <a:schemeClr val="bg2">
                <a:lumMod val="5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a:stCxn id="5" idx="2"/>
            <a:endCxn id="6" idx="0"/>
          </p:cNvCxnSpPr>
          <p:nvPr/>
        </p:nvCxnSpPr>
        <p:spPr>
          <a:xfrm>
            <a:off x="1240629" y="2357438"/>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10" name="Straight Arrow Connector 9"/>
          <p:cNvCxnSpPr/>
          <p:nvPr/>
        </p:nvCxnSpPr>
        <p:spPr>
          <a:xfrm>
            <a:off x="603250" y="1708153"/>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1" name="Rounded Rectangle 10"/>
          <p:cNvSpPr/>
          <p:nvPr/>
        </p:nvSpPr>
        <p:spPr>
          <a:xfrm>
            <a:off x="3455944" y="1757255"/>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12" name="Rounded Rectangle 11"/>
          <p:cNvSpPr/>
          <p:nvPr/>
        </p:nvSpPr>
        <p:spPr>
          <a:xfrm>
            <a:off x="3494043" y="2771667"/>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14" name="Straight Arrow Connector 13"/>
          <p:cNvCxnSpPr>
            <a:stCxn id="11" idx="2"/>
            <a:endCxn id="12" idx="0"/>
          </p:cNvCxnSpPr>
          <p:nvPr/>
        </p:nvCxnSpPr>
        <p:spPr>
          <a:xfrm>
            <a:off x="3807576" y="2350980"/>
            <a:ext cx="15080" cy="420687"/>
          </a:xfrm>
          <a:prstGeom prst="straightConnector1">
            <a:avLst/>
          </a:prstGeom>
          <a:ln>
            <a:solidFill>
              <a:srgbClr val="C00000"/>
            </a:solidFill>
            <a:tailEnd type="arrow"/>
          </a:ln>
        </p:spPr>
        <p:style>
          <a:lnRef idx="2">
            <a:schemeClr val="accent2"/>
          </a:lnRef>
          <a:fillRef idx="0">
            <a:schemeClr val="accent2"/>
          </a:fillRef>
          <a:effectRef idx="1">
            <a:schemeClr val="accent2"/>
          </a:effectRef>
          <a:fontRef idx="minor">
            <a:schemeClr val="tx1"/>
          </a:fontRef>
        </p:style>
      </p:cxnSp>
      <p:cxnSp>
        <p:nvCxnSpPr>
          <p:cNvPr id="15" name="Straight Arrow Connector 14"/>
          <p:cNvCxnSpPr/>
          <p:nvPr/>
        </p:nvCxnSpPr>
        <p:spPr>
          <a:xfrm>
            <a:off x="3170197" y="1701695"/>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888997" y="2336800"/>
            <a:ext cx="338554" cy="461665"/>
          </a:xfrm>
          <a:prstGeom prst="rect">
            <a:avLst/>
          </a:prstGeom>
          <a:noFill/>
        </p:spPr>
        <p:txBody>
          <a:bodyPr wrap="none" rtlCol="0">
            <a:spAutoFit/>
          </a:bodyPr>
          <a:lstStyle/>
          <a:p>
            <a:r>
              <a:rPr lang="en-US" i="1" noProof="0" dirty="0"/>
              <a:t>a</a:t>
            </a:r>
          </a:p>
        </p:txBody>
      </p:sp>
      <p:sp>
        <p:nvSpPr>
          <p:cNvPr id="17" name="TextBox 16"/>
          <p:cNvSpPr txBox="1"/>
          <p:nvPr/>
        </p:nvSpPr>
        <p:spPr>
          <a:xfrm>
            <a:off x="3417844" y="2292242"/>
            <a:ext cx="338554" cy="461665"/>
          </a:xfrm>
          <a:prstGeom prst="rect">
            <a:avLst/>
          </a:prstGeom>
          <a:noFill/>
        </p:spPr>
        <p:txBody>
          <a:bodyPr wrap="none" rtlCol="0">
            <a:spAutoFit/>
          </a:bodyPr>
          <a:lstStyle/>
          <a:p>
            <a:r>
              <a:rPr lang="en-US" i="1" noProof="0" dirty="0">
                <a:solidFill>
                  <a:srgbClr val="C00000"/>
                </a:solidFill>
              </a:rPr>
              <a:t>b</a:t>
            </a:r>
          </a:p>
        </p:txBody>
      </p:sp>
      <p:sp>
        <p:nvSpPr>
          <p:cNvPr id="18" name="TextBox 17"/>
          <p:cNvSpPr txBox="1"/>
          <p:nvPr/>
        </p:nvSpPr>
        <p:spPr>
          <a:xfrm>
            <a:off x="1841497" y="1212850"/>
            <a:ext cx="320922" cy="461665"/>
          </a:xfrm>
          <a:prstGeom prst="rect">
            <a:avLst/>
          </a:prstGeom>
          <a:noFill/>
        </p:spPr>
        <p:txBody>
          <a:bodyPr wrap="none" rtlCol="0">
            <a:spAutoFit/>
          </a:bodyPr>
          <a:lstStyle/>
          <a:p>
            <a:r>
              <a:rPr lang="en-US" i="1" noProof="0" dirty="0"/>
              <a:t>c</a:t>
            </a:r>
          </a:p>
        </p:txBody>
      </p:sp>
      <p:sp>
        <p:nvSpPr>
          <p:cNvPr id="19" name="TextBox 18"/>
          <p:cNvSpPr txBox="1"/>
          <p:nvPr/>
        </p:nvSpPr>
        <p:spPr>
          <a:xfrm>
            <a:off x="2211782" y="1888613"/>
            <a:ext cx="825501" cy="1015663"/>
          </a:xfrm>
          <a:prstGeom prst="rect">
            <a:avLst/>
          </a:prstGeom>
          <a:noFill/>
        </p:spPr>
        <p:txBody>
          <a:bodyPr wrap="square" rtlCol="0">
            <a:spAutoFit/>
          </a:bodyPr>
          <a:lstStyle/>
          <a:p>
            <a:pPr algn="ctr"/>
            <a:r>
              <a:rPr lang="en-US" sz="6000" b="1" noProof="0" dirty="0"/>
              <a:t>||</a:t>
            </a:r>
          </a:p>
        </p:txBody>
      </p:sp>
      <p:sp>
        <p:nvSpPr>
          <p:cNvPr id="9" name="Rounded Rectangle 8">
            <a:extLst>
              <a:ext uri="{FF2B5EF4-FFF2-40B4-BE49-F238E27FC236}">
                <a16:creationId xmlns:a16="http://schemas.microsoft.com/office/drawing/2014/main" id="{79F1EE62-1E14-3B16-8658-C43F2D4FD6E8}"/>
              </a:ext>
            </a:extLst>
          </p:cNvPr>
          <p:cNvSpPr/>
          <p:nvPr/>
        </p:nvSpPr>
        <p:spPr>
          <a:xfrm>
            <a:off x="6116635" y="2138521"/>
            <a:ext cx="505502" cy="294818"/>
          </a:xfrm>
          <a:prstGeom prst="roundRect">
            <a:avLst>
              <a:gd name="adj" fmla="val 37006"/>
            </a:avLst>
          </a:prstGeom>
          <a:noFill/>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1200" noProof="0" dirty="0">
                <a:solidFill>
                  <a:schemeClr val="tx1"/>
                </a:solidFill>
                <a:cs typeface="Arial" pitchFamily="34" charset="0"/>
              </a:rPr>
              <a:t>0,0</a:t>
            </a:r>
          </a:p>
        </p:txBody>
      </p:sp>
      <p:sp>
        <p:nvSpPr>
          <p:cNvPr id="13" name="Rounded Rectangle 12">
            <a:extLst>
              <a:ext uri="{FF2B5EF4-FFF2-40B4-BE49-F238E27FC236}">
                <a16:creationId xmlns:a16="http://schemas.microsoft.com/office/drawing/2014/main" id="{FB7261E0-B4CE-9EA9-9823-192560E01503}"/>
              </a:ext>
            </a:extLst>
          </p:cNvPr>
          <p:cNvSpPr/>
          <p:nvPr/>
        </p:nvSpPr>
        <p:spPr>
          <a:xfrm>
            <a:off x="7178513" y="2138521"/>
            <a:ext cx="505502" cy="294818"/>
          </a:xfrm>
          <a:prstGeom prst="roundRect">
            <a:avLst>
              <a:gd name="adj" fmla="val 37006"/>
            </a:avLst>
          </a:prstGeom>
          <a:noFill/>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1200" noProof="0" dirty="0">
                <a:solidFill>
                  <a:schemeClr val="tx1"/>
                </a:solidFill>
                <a:cs typeface="Arial" pitchFamily="34" charset="0"/>
              </a:rPr>
              <a:t>0,1</a:t>
            </a:r>
          </a:p>
        </p:txBody>
      </p:sp>
      <p:cxnSp>
        <p:nvCxnSpPr>
          <p:cNvPr id="21" name="Straight Arrow Connector 20">
            <a:extLst>
              <a:ext uri="{FF2B5EF4-FFF2-40B4-BE49-F238E27FC236}">
                <a16:creationId xmlns:a16="http://schemas.microsoft.com/office/drawing/2014/main" id="{CFD1F94E-AFCD-4DF2-C640-4AD5300B4B78}"/>
              </a:ext>
            </a:extLst>
          </p:cNvPr>
          <p:cNvCxnSpPr>
            <a:stCxn id="9" idx="3"/>
            <a:endCxn id="13" idx="1"/>
          </p:cNvCxnSpPr>
          <p:nvPr/>
        </p:nvCxnSpPr>
        <p:spPr>
          <a:xfrm>
            <a:off x="6622137" y="2285930"/>
            <a:ext cx="556376"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a:extLst>
              <a:ext uri="{FF2B5EF4-FFF2-40B4-BE49-F238E27FC236}">
                <a16:creationId xmlns:a16="http://schemas.microsoft.com/office/drawing/2014/main" id="{9AFC16A1-7422-9922-9BA3-0652E8121783}"/>
              </a:ext>
            </a:extLst>
          </p:cNvPr>
          <p:cNvCxnSpPr>
            <a:stCxn id="9" idx="3"/>
            <a:endCxn id="9" idx="0"/>
          </p:cNvCxnSpPr>
          <p:nvPr/>
        </p:nvCxnSpPr>
        <p:spPr>
          <a:xfrm flipH="1" flipV="1">
            <a:off x="6369386" y="2138521"/>
            <a:ext cx="252751" cy="147409"/>
          </a:xfrm>
          <a:prstGeom prst="curvedConnector4">
            <a:avLst>
              <a:gd name="adj1" fmla="val -90445"/>
              <a:gd name="adj2" fmla="val 255079"/>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urved Connector 25">
            <a:extLst>
              <a:ext uri="{FF2B5EF4-FFF2-40B4-BE49-F238E27FC236}">
                <a16:creationId xmlns:a16="http://schemas.microsoft.com/office/drawing/2014/main" id="{58E3D40F-A6D5-1DBD-10BE-5E2FD79309AE}"/>
              </a:ext>
            </a:extLst>
          </p:cNvPr>
          <p:cNvCxnSpPr>
            <a:cxnSpLocks/>
            <a:stCxn id="13" idx="3"/>
            <a:endCxn id="13" idx="0"/>
          </p:cNvCxnSpPr>
          <p:nvPr/>
        </p:nvCxnSpPr>
        <p:spPr>
          <a:xfrm flipH="1" flipV="1">
            <a:off x="7431264" y="2138521"/>
            <a:ext cx="252751" cy="147409"/>
          </a:xfrm>
          <a:prstGeom prst="curvedConnector4">
            <a:avLst>
              <a:gd name="adj1" fmla="val -90445"/>
              <a:gd name="adj2" fmla="val 255079"/>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Rounded Rectangle 28">
            <a:extLst>
              <a:ext uri="{FF2B5EF4-FFF2-40B4-BE49-F238E27FC236}">
                <a16:creationId xmlns:a16="http://schemas.microsoft.com/office/drawing/2014/main" id="{5CBA54F9-EEB2-5D65-B982-C3D548A2C036}"/>
              </a:ext>
            </a:extLst>
          </p:cNvPr>
          <p:cNvSpPr/>
          <p:nvPr/>
        </p:nvSpPr>
        <p:spPr>
          <a:xfrm>
            <a:off x="6116635" y="2736583"/>
            <a:ext cx="505502" cy="294818"/>
          </a:xfrm>
          <a:prstGeom prst="roundRect">
            <a:avLst>
              <a:gd name="adj" fmla="val 37006"/>
            </a:avLst>
          </a:prstGeom>
          <a:noFill/>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1200" noProof="0" dirty="0">
                <a:solidFill>
                  <a:schemeClr val="tx1"/>
                </a:solidFill>
                <a:cs typeface="Arial" pitchFamily="34" charset="0"/>
              </a:rPr>
              <a:t>1,0</a:t>
            </a:r>
          </a:p>
        </p:txBody>
      </p:sp>
      <p:cxnSp>
        <p:nvCxnSpPr>
          <p:cNvPr id="30" name="Straight Arrow Connector 29">
            <a:extLst>
              <a:ext uri="{FF2B5EF4-FFF2-40B4-BE49-F238E27FC236}">
                <a16:creationId xmlns:a16="http://schemas.microsoft.com/office/drawing/2014/main" id="{B02A431D-54AA-7196-1726-A86311036FB2}"/>
              </a:ext>
            </a:extLst>
          </p:cNvPr>
          <p:cNvCxnSpPr>
            <a:cxnSpLocks/>
            <a:stCxn id="9" idx="2"/>
            <a:endCxn id="29" idx="0"/>
          </p:cNvCxnSpPr>
          <p:nvPr/>
        </p:nvCxnSpPr>
        <p:spPr>
          <a:xfrm>
            <a:off x="6369386" y="2433339"/>
            <a:ext cx="0" cy="3032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32">
            <a:extLst>
              <a:ext uri="{FF2B5EF4-FFF2-40B4-BE49-F238E27FC236}">
                <a16:creationId xmlns:a16="http://schemas.microsoft.com/office/drawing/2014/main" id="{D1A0F0FA-000F-EFB8-3B32-E919F76DBB23}"/>
              </a:ext>
            </a:extLst>
          </p:cNvPr>
          <p:cNvSpPr/>
          <p:nvPr/>
        </p:nvSpPr>
        <p:spPr>
          <a:xfrm>
            <a:off x="7178513" y="2743657"/>
            <a:ext cx="505502" cy="294818"/>
          </a:xfrm>
          <a:prstGeom prst="roundRect">
            <a:avLst>
              <a:gd name="adj" fmla="val 37006"/>
            </a:avLst>
          </a:prstGeom>
          <a:noFill/>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1200" noProof="0" dirty="0">
                <a:solidFill>
                  <a:schemeClr val="tx1"/>
                </a:solidFill>
                <a:cs typeface="Arial" pitchFamily="34" charset="0"/>
              </a:rPr>
              <a:t>1,1</a:t>
            </a:r>
          </a:p>
        </p:txBody>
      </p:sp>
      <p:cxnSp>
        <p:nvCxnSpPr>
          <p:cNvPr id="34" name="Straight Arrow Connector 33">
            <a:extLst>
              <a:ext uri="{FF2B5EF4-FFF2-40B4-BE49-F238E27FC236}">
                <a16:creationId xmlns:a16="http://schemas.microsoft.com/office/drawing/2014/main" id="{9D69796B-0C5D-ACEE-39CF-E45BB382B78D}"/>
              </a:ext>
            </a:extLst>
          </p:cNvPr>
          <p:cNvCxnSpPr>
            <a:cxnSpLocks/>
            <a:stCxn id="13" idx="2"/>
            <a:endCxn id="33" idx="0"/>
          </p:cNvCxnSpPr>
          <p:nvPr/>
        </p:nvCxnSpPr>
        <p:spPr>
          <a:xfrm>
            <a:off x="7431264" y="2433339"/>
            <a:ext cx="0" cy="3103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2AB4DBC-33DD-10E2-D3A4-89B742C67348}"/>
              </a:ext>
            </a:extLst>
          </p:cNvPr>
          <p:cNvCxnSpPr>
            <a:cxnSpLocks/>
            <a:stCxn id="29" idx="3"/>
            <a:endCxn id="33" idx="1"/>
          </p:cNvCxnSpPr>
          <p:nvPr/>
        </p:nvCxnSpPr>
        <p:spPr>
          <a:xfrm>
            <a:off x="6622137" y="2883992"/>
            <a:ext cx="556376" cy="707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2" name="Right Arrow 41">
            <a:extLst>
              <a:ext uri="{FF2B5EF4-FFF2-40B4-BE49-F238E27FC236}">
                <a16:creationId xmlns:a16="http://schemas.microsoft.com/office/drawing/2014/main" id="{E135804D-DE6A-0891-2DCB-22D2CCEC6FB4}"/>
              </a:ext>
            </a:extLst>
          </p:cNvPr>
          <p:cNvSpPr/>
          <p:nvPr/>
        </p:nvSpPr>
        <p:spPr>
          <a:xfrm>
            <a:off x="5086350" y="2324100"/>
            <a:ext cx="552450" cy="38100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noProof="0" dirty="0"/>
          </a:p>
        </p:txBody>
      </p:sp>
      <p:sp>
        <p:nvSpPr>
          <p:cNvPr id="43" name="TextBox 42">
            <a:extLst>
              <a:ext uri="{FF2B5EF4-FFF2-40B4-BE49-F238E27FC236}">
                <a16:creationId xmlns:a16="http://schemas.microsoft.com/office/drawing/2014/main" id="{4D575ECF-7EFB-BBF3-CE46-169265BA7C11}"/>
              </a:ext>
            </a:extLst>
          </p:cNvPr>
          <p:cNvSpPr txBox="1"/>
          <p:nvPr/>
        </p:nvSpPr>
        <p:spPr>
          <a:xfrm>
            <a:off x="6086806" y="2396189"/>
            <a:ext cx="287258" cy="338554"/>
          </a:xfrm>
          <a:prstGeom prst="rect">
            <a:avLst/>
          </a:prstGeom>
          <a:noFill/>
        </p:spPr>
        <p:txBody>
          <a:bodyPr wrap="none" rtlCol="0">
            <a:spAutoFit/>
          </a:bodyPr>
          <a:lstStyle/>
          <a:p>
            <a:r>
              <a:rPr lang="en-US" sz="1600" i="1" noProof="0" dirty="0"/>
              <a:t>a</a:t>
            </a:r>
          </a:p>
        </p:txBody>
      </p:sp>
      <p:sp>
        <p:nvSpPr>
          <p:cNvPr id="44" name="TextBox 43">
            <a:extLst>
              <a:ext uri="{FF2B5EF4-FFF2-40B4-BE49-F238E27FC236}">
                <a16:creationId xmlns:a16="http://schemas.microsoft.com/office/drawing/2014/main" id="{7D915098-E9DD-34A4-E3B2-841441A96869}"/>
              </a:ext>
            </a:extLst>
          </p:cNvPr>
          <p:cNvSpPr txBox="1"/>
          <p:nvPr/>
        </p:nvSpPr>
        <p:spPr>
          <a:xfrm>
            <a:off x="7186452" y="2415684"/>
            <a:ext cx="287258" cy="338554"/>
          </a:xfrm>
          <a:prstGeom prst="rect">
            <a:avLst/>
          </a:prstGeom>
          <a:noFill/>
        </p:spPr>
        <p:txBody>
          <a:bodyPr wrap="none" rtlCol="0">
            <a:spAutoFit/>
          </a:bodyPr>
          <a:lstStyle/>
          <a:p>
            <a:r>
              <a:rPr lang="en-US" sz="1600" i="1" noProof="0" dirty="0"/>
              <a:t>a</a:t>
            </a:r>
          </a:p>
        </p:txBody>
      </p:sp>
      <p:sp>
        <p:nvSpPr>
          <p:cNvPr id="45" name="TextBox 44">
            <a:extLst>
              <a:ext uri="{FF2B5EF4-FFF2-40B4-BE49-F238E27FC236}">
                <a16:creationId xmlns:a16="http://schemas.microsoft.com/office/drawing/2014/main" id="{4987D799-7B28-CD1C-62BF-44C6CF8FD17F}"/>
              </a:ext>
            </a:extLst>
          </p:cNvPr>
          <p:cNvSpPr txBox="1"/>
          <p:nvPr/>
        </p:nvSpPr>
        <p:spPr>
          <a:xfrm>
            <a:off x="6648295" y="1666001"/>
            <a:ext cx="276038" cy="338554"/>
          </a:xfrm>
          <a:prstGeom prst="rect">
            <a:avLst/>
          </a:prstGeom>
          <a:noFill/>
        </p:spPr>
        <p:txBody>
          <a:bodyPr wrap="none" rtlCol="0">
            <a:spAutoFit/>
          </a:bodyPr>
          <a:lstStyle/>
          <a:p>
            <a:r>
              <a:rPr lang="en-US" sz="1600" i="1" noProof="0" dirty="0"/>
              <a:t>c</a:t>
            </a:r>
          </a:p>
        </p:txBody>
      </p:sp>
      <p:sp>
        <p:nvSpPr>
          <p:cNvPr id="46" name="TextBox 45">
            <a:extLst>
              <a:ext uri="{FF2B5EF4-FFF2-40B4-BE49-F238E27FC236}">
                <a16:creationId xmlns:a16="http://schemas.microsoft.com/office/drawing/2014/main" id="{8D746EEC-5AE9-E0F7-F4EB-4C4DFF5AF731}"/>
              </a:ext>
            </a:extLst>
          </p:cNvPr>
          <p:cNvSpPr txBox="1"/>
          <p:nvPr/>
        </p:nvSpPr>
        <p:spPr>
          <a:xfrm>
            <a:off x="7817279" y="1700663"/>
            <a:ext cx="276038" cy="338554"/>
          </a:xfrm>
          <a:prstGeom prst="rect">
            <a:avLst/>
          </a:prstGeom>
          <a:noFill/>
        </p:spPr>
        <p:txBody>
          <a:bodyPr wrap="none" rtlCol="0">
            <a:spAutoFit/>
          </a:bodyPr>
          <a:lstStyle/>
          <a:p>
            <a:r>
              <a:rPr lang="en-US" sz="1600" i="1" noProof="0" dirty="0"/>
              <a:t>c</a:t>
            </a:r>
          </a:p>
        </p:txBody>
      </p:sp>
      <p:sp>
        <p:nvSpPr>
          <p:cNvPr id="47" name="TextBox 46">
            <a:extLst>
              <a:ext uri="{FF2B5EF4-FFF2-40B4-BE49-F238E27FC236}">
                <a16:creationId xmlns:a16="http://schemas.microsoft.com/office/drawing/2014/main" id="{CA63D876-1694-84FD-3ACF-DCAB0F0A9EDB}"/>
              </a:ext>
            </a:extLst>
          </p:cNvPr>
          <p:cNvSpPr txBox="1"/>
          <p:nvPr/>
        </p:nvSpPr>
        <p:spPr>
          <a:xfrm>
            <a:off x="6731259" y="2241923"/>
            <a:ext cx="287258" cy="338554"/>
          </a:xfrm>
          <a:prstGeom prst="rect">
            <a:avLst/>
          </a:prstGeom>
          <a:noFill/>
        </p:spPr>
        <p:txBody>
          <a:bodyPr wrap="none" rtlCol="0">
            <a:spAutoFit/>
          </a:bodyPr>
          <a:lstStyle/>
          <a:p>
            <a:r>
              <a:rPr lang="en-US" sz="1600" i="1" noProof="0" dirty="0">
                <a:solidFill>
                  <a:srgbClr val="C00000"/>
                </a:solidFill>
              </a:rPr>
              <a:t>b</a:t>
            </a:r>
          </a:p>
        </p:txBody>
      </p:sp>
      <p:sp>
        <p:nvSpPr>
          <p:cNvPr id="48" name="TextBox 47">
            <a:extLst>
              <a:ext uri="{FF2B5EF4-FFF2-40B4-BE49-F238E27FC236}">
                <a16:creationId xmlns:a16="http://schemas.microsoft.com/office/drawing/2014/main" id="{6D5D1EF7-6A3D-80A2-C7CF-E268859C3CB9}"/>
              </a:ext>
            </a:extLst>
          </p:cNvPr>
          <p:cNvSpPr txBox="1"/>
          <p:nvPr/>
        </p:nvSpPr>
        <p:spPr>
          <a:xfrm>
            <a:off x="6736369" y="2792904"/>
            <a:ext cx="287258" cy="338554"/>
          </a:xfrm>
          <a:prstGeom prst="rect">
            <a:avLst/>
          </a:prstGeom>
          <a:noFill/>
        </p:spPr>
        <p:txBody>
          <a:bodyPr wrap="none" rtlCol="0">
            <a:spAutoFit/>
          </a:bodyPr>
          <a:lstStyle/>
          <a:p>
            <a:r>
              <a:rPr lang="en-US" sz="1600" i="1" noProof="0" dirty="0">
                <a:solidFill>
                  <a:srgbClr val="C00000"/>
                </a:solidFill>
              </a:rPr>
              <a:t>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358246" cy="868362"/>
          </a:xfrm>
        </p:spPr>
        <p:txBody>
          <a:bodyPr/>
          <a:lstStyle/>
          <a:p>
            <a:r>
              <a:rPr lang="en-US" sz="3200" noProof="0" dirty="0"/>
              <a:t>Parallel composition with synchronized actions</a:t>
            </a:r>
          </a:p>
        </p:txBody>
      </p:sp>
      <p:sp>
        <p:nvSpPr>
          <p:cNvPr id="3" name="Content Placeholder 2"/>
          <p:cNvSpPr>
            <a:spLocks noGrp="1"/>
          </p:cNvSpPr>
          <p:nvPr>
            <p:ph sz="quarter" idx="1"/>
          </p:nvPr>
        </p:nvSpPr>
        <p:spPr>
          <a:xfrm>
            <a:off x="500034" y="4305300"/>
            <a:ext cx="8358246" cy="1714500"/>
          </a:xfrm>
        </p:spPr>
        <p:txBody>
          <a:bodyPr/>
          <a:lstStyle/>
          <a:p>
            <a:r>
              <a:rPr lang="en-US" noProof="0" dirty="0"/>
              <a:t>Suppose we require that any action a </a:t>
            </a:r>
            <a:r>
              <a:rPr lang="en-US" noProof="0" dirty="0">
                <a:sym typeface="Symbol"/>
              </a:rPr>
              <a:t> </a:t>
            </a:r>
            <a:r>
              <a:rPr lang="en-US" baseline="-25000" noProof="0" dirty="0">
                <a:sym typeface="Symbol"/>
              </a:rPr>
              <a:t>1</a:t>
            </a:r>
            <a:r>
              <a:rPr lang="en-US" noProof="0" dirty="0">
                <a:sym typeface="Symbol"/>
              </a:rPr>
              <a:t>  </a:t>
            </a:r>
            <a:r>
              <a:rPr lang="en-US" baseline="-25000" noProof="0" dirty="0">
                <a:sym typeface="Symbol"/>
              </a:rPr>
              <a:t>2</a:t>
            </a:r>
            <a:r>
              <a:rPr lang="en-US" noProof="0" dirty="0">
                <a:sym typeface="Symbol"/>
              </a:rPr>
              <a:t> has to be executed </a:t>
            </a:r>
            <a:r>
              <a:rPr lang="en-US" b="1" noProof="0" dirty="0">
                <a:sym typeface="Symbol"/>
              </a:rPr>
              <a:t>together</a:t>
            </a:r>
            <a:r>
              <a:rPr lang="en-US" noProof="0" dirty="0">
                <a:sym typeface="Symbol"/>
              </a:rPr>
              <a:t> (</a:t>
            </a:r>
            <a:r>
              <a:rPr lang="en-US" noProof="0" dirty="0" err="1">
                <a:sym typeface="Symbol"/>
              </a:rPr>
              <a:t>synchronizedly</a:t>
            </a:r>
            <a:r>
              <a:rPr lang="en-US" noProof="0" dirty="0">
                <a:sym typeface="Symbol"/>
              </a:rPr>
              <a:t>) by both automata.</a:t>
            </a:r>
            <a:endParaRPr lang="en-US" noProof="0" dirty="0"/>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9</a:t>
            </a:fld>
            <a:endParaRPr lang="en-US" noProof="0" dirty="0"/>
          </a:p>
        </p:txBody>
      </p:sp>
      <p:sp>
        <p:nvSpPr>
          <p:cNvPr id="5" name="Rounded Rectangle 4"/>
          <p:cNvSpPr/>
          <p:nvPr/>
        </p:nvSpPr>
        <p:spPr>
          <a:xfrm>
            <a:off x="1644523" y="1790622"/>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6" name="Rounded Rectangle 5"/>
          <p:cNvSpPr/>
          <p:nvPr/>
        </p:nvSpPr>
        <p:spPr>
          <a:xfrm>
            <a:off x="1682622" y="2805034"/>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7" name="Curved Connector 8"/>
          <p:cNvCxnSpPr>
            <a:endCxn id="5" idx="0"/>
          </p:cNvCxnSpPr>
          <p:nvPr/>
        </p:nvCxnSpPr>
        <p:spPr>
          <a:xfrm rot="10800000">
            <a:off x="1996156" y="1790622"/>
            <a:ext cx="351631" cy="296862"/>
          </a:xfrm>
          <a:prstGeom prst="curvedConnector4">
            <a:avLst>
              <a:gd name="adj1" fmla="val -103386"/>
              <a:gd name="adj2" fmla="val 247593"/>
            </a:avLst>
          </a:prstGeom>
          <a:ln>
            <a:solidFill>
              <a:schemeClr val="bg2">
                <a:lumMod val="5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a:stCxn id="5" idx="2"/>
            <a:endCxn id="6" idx="0"/>
          </p:cNvCxnSpPr>
          <p:nvPr/>
        </p:nvCxnSpPr>
        <p:spPr>
          <a:xfrm>
            <a:off x="1996155" y="2384347"/>
            <a:ext cx="15080" cy="420687"/>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cxnSp>
        <p:nvCxnSpPr>
          <p:cNvPr id="9" name="Straight Arrow Connector 8"/>
          <p:cNvCxnSpPr/>
          <p:nvPr/>
        </p:nvCxnSpPr>
        <p:spPr>
          <a:xfrm>
            <a:off x="1358776" y="1735062"/>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 name="Rounded Rectangle 9"/>
          <p:cNvSpPr/>
          <p:nvPr/>
        </p:nvSpPr>
        <p:spPr>
          <a:xfrm>
            <a:off x="4235323" y="1847772"/>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11" name="Rounded Rectangle 10"/>
          <p:cNvSpPr/>
          <p:nvPr/>
        </p:nvSpPr>
        <p:spPr>
          <a:xfrm>
            <a:off x="4273422" y="2862184"/>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12" name="Straight Arrow Connector 11"/>
          <p:cNvCxnSpPr>
            <a:stCxn id="10" idx="2"/>
            <a:endCxn id="11" idx="0"/>
          </p:cNvCxnSpPr>
          <p:nvPr/>
        </p:nvCxnSpPr>
        <p:spPr>
          <a:xfrm>
            <a:off x="4586955" y="2441497"/>
            <a:ext cx="15080" cy="420687"/>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p:nvPr/>
        </p:nvCxnSpPr>
        <p:spPr>
          <a:xfrm>
            <a:off x="3949576" y="1792212"/>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1644523" y="2363709"/>
            <a:ext cx="338554" cy="461665"/>
          </a:xfrm>
          <a:prstGeom prst="rect">
            <a:avLst/>
          </a:prstGeom>
          <a:noFill/>
        </p:spPr>
        <p:txBody>
          <a:bodyPr wrap="none" rtlCol="0">
            <a:spAutoFit/>
          </a:bodyPr>
          <a:lstStyle/>
          <a:p>
            <a:r>
              <a:rPr lang="en-US" i="1" noProof="0" dirty="0">
                <a:solidFill>
                  <a:srgbClr val="C00000"/>
                </a:solidFill>
              </a:rPr>
              <a:t>a</a:t>
            </a:r>
          </a:p>
        </p:txBody>
      </p:sp>
      <p:sp>
        <p:nvSpPr>
          <p:cNvPr id="15" name="TextBox 14"/>
          <p:cNvSpPr txBox="1"/>
          <p:nvPr/>
        </p:nvSpPr>
        <p:spPr>
          <a:xfrm>
            <a:off x="4197223" y="2382759"/>
            <a:ext cx="338554" cy="461665"/>
          </a:xfrm>
          <a:prstGeom prst="rect">
            <a:avLst/>
          </a:prstGeom>
          <a:noFill/>
        </p:spPr>
        <p:txBody>
          <a:bodyPr wrap="none" rtlCol="0">
            <a:spAutoFit/>
          </a:bodyPr>
          <a:lstStyle/>
          <a:p>
            <a:r>
              <a:rPr lang="en-US" i="1" noProof="0" dirty="0">
                <a:solidFill>
                  <a:srgbClr val="C00000"/>
                </a:solidFill>
              </a:rPr>
              <a:t>a</a:t>
            </a:r>
          </a:p>
        </p:txBody>
      </p:sp>
      <p:sp>
        <p:nvSpPr>
          <p:cNvPr id="16" name="TextBox 15"/>
          <p:cNvSpPr txBox="1"/>
          <p:nvPr/>
        </p:nvSpPr>
        <p:spPr>
          <a:xfrm>
            <a:off x="2597023" y="1239759"/>
            <a:ext cx="320922" cy="461665"/>
          </a:xfrm>
          <a:prstGeom prst="rect">
            <a:avLst/>
          </a:prstGeom>
          <a:noFill/>
        </p:spPr>
        <p:txBody>
          <a:bodyPr wrap="none" rtlCol="0">
            <a:spAutoFit/>
          </a:bodyPr>
          <a:lstStyle/>
          <a:p>
            <a:r>
              <a:rPr lang="en-US" i="1" noProof="0" dirty="0"/>
              <a:t>c</a:t>
            </a:r>
          </a:p>
        </p:txBody>
      </p:sp>
      <p:sp>
        <p:nvSpPr>
          <p:cNvPr id="17" name="Rounded Rectangle 16"/>
          <p:cNvSpPr/>
          <p:nvPr/>
        </p:nvSpPr>
        <p:spPr>
          <a:xfrm>
            <a:off x="1034923" y="2249409"/>
            <a:ext cx="4210050" cy="72390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Curved Connector 8">
            <a:extLst>
              <a:ext uri="{FF2B5EF4-FFF2-40B4-BE49-F238E27FC236}">
                <a16:creationId xmlns:a16="http://schemas.microsoft.com/office/drawing/2014/main" id="{0E21E5A2-D7C8-169E-5FB0-E490409F8771}"/>
              </a:ext>
            </a:extLst>
          </p:cNvPr>
          <p:cNvCxnSpPr>
            <a:cxnSpLocks/>
            <a:stCxn id="11" idx="3"/>
            <a:endCxn id="11" idx="2"/>
          </p:cNvCxnSpPr>
          <p:nvPr/>
        </p:nvCxnSpPr>
        <p:spPr>
          <a:xfrm flipH="1">
            <a:off x="4602035" y="3159047"/>
            <a:ext cx="328612" cy="296862"/>
          </a:xfrm>
          <a:prstGeom prst="curvedConnector4">
            <a:avLst>
              <a:gd name="adj1" fmla="val -149068"/>
              <a:gd name="adj2" fmla="val 240565"/>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sp>
        <p:nvSpPr>
          <p:cNvPr id="27" name="TextBox 26">
            <a:extLst>
              <a:ext uri="{FF2B5EF4-FFF2-40B4-BE49-F238E27FC236}">
                <a16:creationId xmlns:a16="http://schemas.microsoft.com/office/drawing/2014/main" id="{AC9DDCAA-8048-4DCA-96D3-AD8FAB2F6A1C}"/>
              </a:ext>
            </a:extLst>
          </p:cNvPr>
          <p:cNvSpPr txBox="1"/>
          <p:nvPr/>
        </p:nvSpPr>
        <p:spPr>
          <a:xfrm>
            <a:off x="5507137" y="3307478"/>
            <a:ext cx="338554" cy="461665"/>
          </a:xfrm>
          <a:prstGeom prst="rect">
            <a:avLst/>
          </a:prstGeom>
          <a:noFill/>
        </p:spPr>
        <p:txBody>
          <a:bodyPr wrap="none" rtlCol="0">
            <a:spAutoFit/>
          </a:bodyPr>
          <a:lstStyle/>
          <a:p>
            <a:r>
              <a:rPr lang="en-US" i="1" noProof="0" dirty="0"/>
              <a:t>d</a:t>
            </a:r>
          </a:p>
        </p:txBody>
      </p:sp>
      <p:sp>
        <p:nvSpPr>
          <p:cNvPr id="19" name="Rounded Rectangle 18">
            <a:extLst>
              <a:ext uri="{FF2B5EF4-FFF2-40B4-BE49-F238E27FC236}">
                <a16:creationId xmlns:a16="http://schemas.microsoft.com/office/drawing/2014/main" id="{6E7500B6-F81D-3BC7-3D4D-F7D2E1A8E579}"/>
              </a:ext>
            </a:extLst>
          </p:cNvPr>
          <p:cNvSpPr/>
          <p:nvPr/>
        </p:nvSpPr>
        <p:spPr>
          <a:xfrm>
            <a:off x="7301379" y="2180173"/>
            <a:ext cx="505502" cy="294818"/>
          </a:xfrm>
          <a:prstGeom prst="roundRect">
            <a:avLst>
              <a:gd name="adj" fmla="val 37006"/>
            </a:avLst>
          </a:prstGeom>
          <a:noFill/>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1200" noProof="0" dirty="0">
                <a:solidFill>
                  <a:schemeClr val="tx1"/>
                </a:solidFill>
                <a:cs typeface="Arial" pitchFamily="34" charset="0"/>
              </a:rPr>
              <a:t>0,0</a:t>
            </a:r>
          </a:p>
        </p:txBody>
      </p:sp>
      <p:cxnSp>
        <p:nvCxnSpPr>
          <p:cNvPr id="22" name="Curved Connector 21">
            <a:extLst>
              <a:ext uri="{FF2B5EF4-FFF2-40B4-BE49-F238E27FC236}">
                <a16:creationId xmlns:a16="http://schemas.microsoft.com/office/drawing/2014/main" id="{B1E693CE-ACAE-17EC-23FF-37C28A6CB178}"/>
              </a:ext>
            </a:extLst>
          </p:cNvPr>
          <p:cNvCxnSpPr>
            <a:stCxn id="19" idx="3"/>
            <a:endCxn id="19" idx="0"/>
          </p:cNvCxnSpPr>
          <p:nvPr/>
        </p:nvCxnSpPr>
        <p:spPr>
          <a:xfrm flipH="1" flipV="1">
            <a:off x="7554130" y="2180173"/>
            <a:ext cx="252751" cy="147409"/>
          </a:xfrm>
          <a:prstGeom prst="curvedConnector4">
            <a:avLst>
              <a:gd name="adj1" fmla="val -90445"/>
              <a:gd name="adj2" fmla="val 255079"/>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59015896-18EC-A7E5-91DC-D31A65D0471D}"/>
              </a:ext>
            </a:extLst>
          </p:cNvPr>
          <p:cNvCxnSpPr>
            <a:cxnSpLocks/>
            <a:stCxn id="24" idx="3"/>
            <a:endCxn id="24" idx="2"/>
          </p:cNvCxnSpPr>
          <p:nvPr/>
        </p:nvCxnSpPr>
        <p:spPr>
          <a:xfrm flipH="1">
            <a:off x="7554130" y="2925644"/>
            <a:ext cx="252751" cy="147409"/>
          </a:xfrm>
          <a:prstGeom prst="curvedConnector4">
            <a:avLst>
              <a:gd name="adj1" fmla="val -90445"/>
              <a:gd name="adj2" fmla="val 25507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652B5D3C-45D0-9732-1B8D-9DD72293FDDD}"/>
              </a:ext>
            </a:extLst>
          </p:cNvPr>
          <p:cNvSpPr/>
          <p:nvPr/>
        </p:nvSpPr>
        <p:spPr>
          <a:xfrm>
            <a:off x="7301379" y="2778235"/>
            <a:ext cx="505502" cy="294818"/>
          </a:xfrm>
          <a:prstGeom prst="roundRect">
            <a:avLst>
              <a:gd name="adj" fmla="val 37006"/>
            </a:avLst>
          </a:prstGeom>
          <a:noFill/>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1200" noProof="0" dirty="0">
                <a:solidFill>
                  <a:schemeClr val="tx1"/>
                </a:solidFill>
                <a:cs typeface="Arial" pitchFamily="34" charset="0"/>
              </a:rPr>
              <a:t>1,1</a:t>
            </a:r>
          </a:p>
        </p:txBody>
      </p:sp>
      <p:cxnSp>
        <p:nvCxnSpPr>
          <p:cNvPr id="25" name="Straight Arrow Connector 24">
            <a:extLst>
              <a:ext uri="{FF2B5EF4-FFF2-40B4-BE49-F238E27FC236}">
                <a16:creationId xmlns:a16="http://schemas.microsoft.com/office/drawing/2014/main" id="{1AA099DC-71F8-4213-76E3-F8150518DE01}"/>
              </a:ext>
            </a:extLst>
          </p:cNvPr>
          <p:cNvCxnSpPr>
            <a:cxnSpLocks/>
            <a:stCxn id="19" idx="2"/>
            <a:endCxn id="24" idx="0"/>
          </p:cNvCxnSpPr>
          <p:nvPr/>
        </p:nvCxnSpPr>
        <p:spPr>
          <a:xfrm>
            <a:off x="7554130" y="2474991"/>
            <a:ext cx="0" cy="30324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0" name="Right Arrow 29">
            <a:extLst>
              <a:ext uri="{FF2B5EF4-FFF2-40B4-BE49-F238E27FC236}">
                <a16:creationId xmlns:a16="http://schemas.microsoft.com/office/drawing/2014/main" id="{A7655068-C073-E7FE-5033-095578CE0076}"/>
              </a:ext>
            </a:extLst>
          </p:cNvPr>
          <p:cNvSpPr/>
          <p:nvPr/>
        </p:nvSpPr>
        <p:spPr>
          <a:xfrm>
            <a:off x="6236764" y="2427357"/>
            <a:ext cx="552450" cy="38100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noProof="0" dirty="0"/>
          </a:p>
        </p:txBody>
      </p:sp>
      <p:sp>
        <p:nvSpPr>
          <p:cNvPr id="31" name="TextBox 30">
            <a:extLst>
              <a:ext uri="{FF2B5EF4-FFF2-40B4-BE49-F238E27FC236}">
                <a16:creationId xmlns:a16="http://schemas.microsoft.com/office/drawing/2014/main" id="{CDB5F56F-BEEE-762B-9C1A-0A2CA6FF544B}"/>
              </a:ext>
            </a:extLst>
          </p:cNvPr>
          <p:cNvSpPr txBox="1"/>
          <p:nvPr/>
        </p:nvSpPr>
        <p:spPr>
          <a:xfrm>
            <a:off x="7271550" y="2437841"/>
            <a:ext cx="287258" cy="338554"/>
          </a:xfrm>
          <a:prstGeom prst="rect">
            <a:avLst/>
          </a:prstGeom>
          <a:noFill/>
        </p:spPr>
        <p:txBody>
          <a:bodyPr wrap="none" rtlCol="0">
            <a:spAutoFit/>
          </a:bodyPr>
          <a:lstStyle/>
          <a:p>
            <a:r>
              <a:rPr lang="en-US" sz="1600" i="1" noProof="0" dirty="0">
                <a:solidFill>
                  <a:srgbClr val="C00000"/>
                </a:solidFill>
              </a:rPr>
              <a:t>a</a:t>
            </a:r>
          </a:p>
        </p:txBody>
      </p:sp>
      <p:sp>
        <p:nvSpPr>
          <p:cNvPr id="33" name="TextBox 32">
            <a:extLst>
              <a:ext uri="{FF2B5EF4-FFF2-40B4-BE49-F238E27FC236}">
                <a16:creationId xmlns:a16="http://schemas.microsoft.com/office/drawing/2014/main" id="{EB6C5777-CB51-33E9-14BA-977EAD5CFBC9}"/>
              </a:ext>
            </a:extLst>
          </p:cNvPr>
          <p:cNvSpPr txBox="1"/>
          <p:nvPr/>
        </p:nvSpPr>
        <p:spPr>
          <a:xfrm>
            <a:off x="7833039" y="1707653"/>
            <a:ext cx="276038" cy="338554"/>
          </a:xfrm>
          <a:prstGeom prst="rect">
            <a:avLst/>
          </a:prstGeom>
          <a:noFill/>
        </p:spPr>
        <p:txBody>
          <a:bodyPr wrap="none" rtlCol="0">
            <a:spAutoFit/>
          </a:bodyPr>
          <a:lstStyle/>
          <a:p>
            <a:r>
              <a:rPr lang="en-US" sz="1600" i="1" noProof="0" dirty="0"/>
              <a:t>c</a:t>
            </a:r>
          </a:p>
        </p:txBody>
      </p:sp>
      <p:sp>
        <p:nvSpPr>
          <p:cNvPr id="36" name="TextBox 35">
            <a:extLst>
              <a:ext uri="{FF2B5EF4-FFF2-40B4-BE49-F238E27FC236}">
                <a16:creationId xmlns:a16="http://schemas.microsoft.com/office/drawing/2014/main" id="{08016C77-1EA6-5580-9407-4597D85B8E5B}"/>
              </a:ext>
            </a:extLst>
          </p:cNvPr>
          <p:cNvSpPr txBox="1"/>
          <p:nvPr/>
        </p:nvSpPr>
        <p:spPr>
          <a:xfrm>
            <a:off x="7971058" y="2925644"/>
            <a:ext cx="287258" cy="338554"/>
          </a:xfrm>
          <a:prstGeom prst="rect">
            <a:avLst/>
          </a:prstGeom>
          <a:noFill/>
        </p:spPr>
        <p:txBody>
          <a:bodyPr wrap="none" rtlCol="0">
            <a:spAutoFit/>
          </a:bodyPr>
          <a:lstStyle/>
          <a:p>
            <a:r>
              <a:rPr lang="en-US" sz="1600" i="1" noProof="0" dirty="0"/>
              <a: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4"/>
          <p:cNvSpPr>
            <a:spLocks noGrp="1"/>
          </p:cNvSpPr>
          <p:nvPr>
            <p:ph type="title"/>
          </p:nvPr>
        </p:nvSpPr>
        <p:spPr/>
        <p:txBody>
          <a:bodyPr/>
          <a:lstStyle/>
          <a:p>
            <a:pPr eaLnBrk="1" hangingPunct="1"/>
            <a:r>
              <a:rPr lang="en-US" noProof="0" dirty="0">
                <a:cs typeface="Arial" charset="0"/>
              </a:rPr>
              <a:t>Let’s add state-labels</a:t>
            </a:r>
          </a:p>
        </p:txBody>
      </p:sp>
      <p:sp>
        <p:nvSpPr>
          <p:cNvPr id="12" name="Tijdelijke aanduiding voor dianummer 11"/>
          <p:cNvSpPr>
            <a:spLocks noGrp="1"/>
          </p:cNvSpPr>
          <p:nvPr>
            <p:ph type="sldNum" sz="quarter" idx="12"/>
          </p:nvPr>
        </p:nvSpPr>
        <p:spPr/>
        <p:txBody>
          <a:bodyPr/>
          <a:lstStyle/>
          <a:p>
            <a:pPr>
              <a:defRPr/>
            </a:pPr>
            <a:fld id="{F911A843-FA01-4B34-ACAC-693124F2D646}" type="slidenum">
              <a:rPr lang="en-US" noProof="0"/>
              <a:pPr>
                <a:defRPr/>
              </a:pPr>
              <a:t>10</a:t>
            </a:fld>
            <a:endParaRPr lang="en-US" noProof="0" dirty="0"/>
          </a:p>
        </p:txBody>
      </p:sp>
      <p:sp>
        <p:nvSpPr>
          <p:cNvPr id="17" name="TextBox 16"/>
          <p:cNvSpPr txBox="1"/>
          <p:nvPr/>
        </p:nvSpPr>
        <p:spPr>
          <a:xfrm>
            <a:off x="3727445" y="1623676"/>
            <a:ext cx="4913312" cy="2677656"/>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en-US" noProof="0" dirty="0">
                <a:cs typeface="Arial" pitchFamily="34" charset="0"/>
              </a:rPr>
              <a:t>Consider these set of “labels”, </a:t>
            </a:r>
            <a:r>
              <a:rPr lang="en-US" i="1" noProof="0" dirty="0">
                <a:solidFill>
                  <a:srgbClr val="C00000"/>
                </a:solidFill>
                <a:cs typeface="Arial" pitchFamily="34" charset="0"/>
              </a:rPr>
              <a:t>Prop</a:t>
            </a:r>
            <a:r>
              <a:rPr lang="en-US" noProof="0" dirty="0">
                <a:cs typeface="Arial" pitchFamily="34" charset="0"/>
              </a:rPr>
              <a:t> = {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r>
              <a:rPr lang="en-US" i="1" noProof="0" dirty="0">
                <a:cs typeface="Arial" pitchFamily="34" charset="0"/>
              </a:rPr>
              <a:t>x</a:t>
            </a:r>
            <a:r>
              <a:rPr lang="en-US" noProof="0" dirty="0">
                <a:cs typeface="Arial" pitchFamily="34" charset="0"/>
              </a:rPr>
              <a:t>&gt;0 }. The labeling is describe by this function V:</a:t>
            </a:r>
            <a:br>
              <a:rPr lang="en-US" noProof="0" dirty="0">
                <a:cs typeface="Arial" pitchFamily="34" charset="0"/>
              </a:rPr>
            </a:br>
            <a:br>
              <a:rPr lang="en-US" noProof="0" dirty="0">
                <a:cs typeface="Arial" pitchFamily="34" charset="0"/>
              </a:rPr>
            </a:br>
            <a:r>
              <a:rPr lang="en-US" noProof="0" dirty="0">
                <a:cs typeface="Arial" pitchFamily="34" charset="0"/>
              </a:rPr>
              <a:t>    </a:t>
            </a:r>
            <a:r>
              <a:rPr lang="en-US" b="1" i="1" noProof="0" dirty="0">
                <a:cs typeface="Arial" pitchFamily="34" charset="0"/>
              </a:rPr>
              <a:t>V</a:t>
            </a:r>
            <a:r>
              <a:rPr lang="en-US" noProof="0" dirty="0">
                <a:cs typeface="Arial" pitchFamily="34" charset="0"/>
              </a:rPr>
              <a:t>(0)   =   {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br>
              <a:rPr lang="en-US" noProof="0" dirty="0">
                <a:cs typeface="Arial" pitchFamily="34" charset="0"/>
              </a:rPr>
            </a:br>
            <a:r>
              <a:rPr lang="en-US" noProof="0" dirty="0">
                <a:cs typeface="Arial" pitchFamily="34" charset="0"/>
              </a:rPr>
              <a:t>    </a:t>
            </a:r>
            <a:r>
              <a:rPr lang="en-US" b="1" i="1" noProof="0" dirty="0">
                <a:cs typeface="Arial" pitchFamily="34" charset="0"/>
              </a:rPr>
              <a:t>V</a:t>
            </a:r>
            <a:r>
              <a:rPr lang="en-US" noProof="0" dirty="0">
                <a:cs typeface="Arial" pitchFamily="34" charset="0"/>
              </a:rPr>
              <a:t> (1)  =   {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r>
              <a:rPr lang="en-US" i="1" noProof="0" dirty="0">
                <a:cs typeface="Arial" pitchFamily="34" charset="0"/>
              </a:rPr>
              <a:t>x</a:t>
            </a:r>
            <a:r>
              <a:rPr lang="en-US" noProof="0" dirty="0">
                <a:cs typeface="Arial" pitchFamily="34" charset="0"/>
              </a:rPr>
              <a:t>&gt;0 }</a:t>
            </a:r>
          </a:p>
        </p:txBody>
      </p:sp>
      <p:sp>
        <p:nvSpPr>
          <p:cNvPr id="25" name="Rounded Rectangle 24"/>
          <p:cNvSpPr/>
          <p:nvPr/>
        </p:nvSpPr>
        <p:spPr>
          <a:xfrm>
            <a:off x="1323975" y="2327276"/>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26" name="Rounded Rectangle 25"/>
          <p:cNvSpPr/>
          <p:nvPr/>
        </p:nvSpPr>
        <p:spPr>
          <a:xfrm>
            <a:off x="1362074" y="3341688"/>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27" name="Curved Connector 8"/>
          <p:cNvCxnSpPr>
            <a:endCxn id="25" idx="0"/>
          </p:cNvCxnSpPr>
          <p:nvPr/>
        </p:nvCxnSpPr>
        <p:spPr>
          <a:xfrm rot="10800000">
            <a:off x="1675608" y="2327276"/>
            <a:ext cx="351631" cy="296862"/>
          </a:xfrm>
          <a:prstGeom prst="curvedConnector4">
            <a:avLst>
              <a:gd name="adj1" fmla="val -103386"/>
              <a:gd name="adj2" fmla="val 247593"/>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Arrow Connector 28"/>
          <p:cNvCxnSpPr>
            <a:stCxn id="25" idx="2"/>
            <a:endCxn id="26" idx="0"/>
          </p:cNvCxnSpPr>
          <p:nvPr/>
        </p:nvCxnSpPr>
        <p:spPr>
          <a:xfrm>
            <a:off x="1675607" y="2921001"/>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0" name="Curved Connector 8"/>
          <p:cNvCxnSpPr>
            <a:endCxn id="26" idx="2"/>
          </p:cNvCxnSpPr>
          <p:nvPr/>
        </p:nvCxnSpPr>
        <p:spPr>
          <a:xfrm rot="10800000" flipV="1">
            <a:off x="1690688" y="3638551"/>
            <a:ext cx="328613" cy="296862"/>
          </a:xfrm>
          <a:prstGeom prst="curvedConnector4">
            <a:avLst>
              <a:gd name="adj1" fmla="val -110144"/>
              <a:gd name="adj2" fmla="val 247594"/>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a:off x="1038228" y="2271716"/>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 name="TextBox 1"/>
          <p:cNvSpPr txBox="1"/>
          <p:nvPr/>
        </p:nvSpPr>
        <p:spPr>
          <a:xfrm>
            <a:off x="450848" y="4667250"/>
            <a:ext cx="3819001" cy="1754326"/>
          </a:xfrm>
          <a:prstGeom prst="rect">
            <a:avLst/>
          </a:prstGeom>
          <a:noFill/>
        </p:spPr>
        <p:txBody>
          <a:bodyPr wrap="square" rtlCol="0">
            <a:spAutoFit/>
          </a:bodyPr>
          <a:lstStyle/>
          <a:p>
            <a:r>
              <a:rPr lang="en-US" sz="1800" noProof="0" dirty="0"/>
              <a:t>So far, the only things we know about the states is that they differ from each other. Let’s extend the available information with propositions, expressing properties that we know to hold in each state.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323850" y="4000500"/>
            <a:ext cx="8267700" cy="781050"/>
          </a:xfrm>
          <a:prstGeom prst="round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338" name="Title 1"/>
          <p:cNvSpPr>
            <a:spLocks noGrp="1"/>
          </p:cNvSpPr>
          <p:nvPr>
            <p:ph type="title"/>
          </p:nvPr>
        </p:nvSpPr>
        <p:spPr>
          <a:xfrm>
            <a:off x="500063" y="274638"/>
            <a:ext cx="8358187" cy="796925"/>
          </a:xfrm>
        </p:spPr>
        <p:txBody>
          <a:bodyPr/>
          <a:lstStyle/>
          <a:p>
            <a:pPr eaLnBrk="1" hangingPunct="1"/>
            <a:r>
              <a:rPr lang="en-US" noProof="0" dirty="0">
                <a:cs typeface="Arial" charset="0"/>
              </a:rPr>
              <a:t>Kripke Structure</a:t>
            </a:r>
          </a:p>
        </p:txBody>
      </p:sp>
      <p:sp>
        <p:nvSpPr>
          <p:cNvPr id="3" name="Content Placeholder 2"/>
          <p:cNvSpPr>
            <a:spLocks noGrp="1"/>
          </p:cNvSpPr>
          <p:nvPr>
            <p:ph sz="quarter" idx="1"/>
          </p:nvPr>
        </p:nvSpPr>
        <p:spPr>
          <a:xfrm>
            <a:off x="331788" y="1362075"/>
            <a:ext cx="8634412" cy="5262563"/>
          </a:xfrm>
        </p:spPr>
        <p:txBody>
          <a:bodyPr/>
          <a:lstStyle/>
          <a:p>
            <a:pPr eaLnBrk="1" hangingPunct="1">
              <a:defRPr/>
            </a:pPr>
            <a:r>
              <a:rPr lang="en-US" noProof="0" dirty="0"/>
              <a:t>A finite automaton ( </a:t>
            </a:r>
            <a:r>
              <a:rPr lang="en-US" i="1" noProof="0" dirty="0"/>
              <a:t>S</a:t>
            </a:r>
            <a:r>
              <a:rPr lang="en-US" noProof="0" dirty="0"/>
              <a:t>, </a:t>
            </a:r>
            <a:r>
              <a:rPr lang="en-US" i="1" noProof="0" dirty="0"/>
              <a:t>s</a:t>
            </a:r>
            <a:r>
              <a:rPr lang="en-US" baseline="-25000" noProof="0" dirty="0"/>
              <a:t>0</a:t>
            </a:r>
            <a:r>
              <a:rPr lang="en-US" noProof="0" dirty="0"/>
              <a:t>, </a:t>
            </a:r>
            <a:r>
              <a:rPr lang="en-US" i="1" noProof="0" dirty="0"/>
              <a:t>R</a:t>
            </a:r>
            <a:r>
              <a:rPr lang="en-US" noProof="0" dirty="0"/>
              <a:t>, </a:t>
            </a:r>
            <a:r>
              <a:rPr lang="en-US" i="1" noProof="0" dirty="0"/>
              <a:t>Prop</a:t>
            </a:r>
            <a:r>
              <a:rPr lang="en-US" noProof="0" dirty="0"/>
              <a:t>, </a:t>
            </a:r>
            <a:r>
              <a:rPr lang="en-US" i="1" noProof="0" dirty="0"/>
              <a:t>V</a:t>
            </a:r>
            <a:r>
              <a:rPr lang="en-US" noProof="0" dirty="0"/>
              <a:t> )</a:t>
            </a:r>
          </a:p>
          <a:p>
            <a:pPr eaLnBrk="1" hangingPunct="1">
              <a:defRPr/>
            </a:pPr>
            <a:endParaRPr lang="en-US" noProof="0" dirty="0"/>
          </a:p>
          <a:p>
            <a:pPr lvl="1" eaLnBrk="1" hangingPunct="1">
              <a:defRPr/>
            </a:pPr>
            <a:r>
              <a:rPr lang="en-US" i="1" noProof="0" dirty="0"/>
              <a:t>S</a:t>
            </a:r>
            <a:r>
              <a:rPr lang="en-US" noProof="0" dirty="0"/>
              <a:t> : the set of possible states, with </a:t>
            </a:r>
            <a:r>
              <a:rPr lang="en-US" i="1" noProof="0" dirty="0"/>
              <a:t>s</a:t>
            </a:r>
            <a:r>
              <a:rPr lang="en-US" i="1" baseline="-25000" noProof="0" dirty="0"/>
              <a:t>0</a:t>
            </a:r>
            <a:r>
              <a:rPr lang="en-US" noProof="0" dirty="0"/>
              <a:t> the initial state.</a:t>
            </a:r>
          </a:p>
          <a:p>
            <a:pPr lvl="1" eaLnBrk="1" hangingPunct="1">
              <a:defRPr/>
            </a:pPr>
            <a:r>
              <a:rPr lang="en-US" i="1" noProof="0" dirty="0"/>
              <a:t>R</a:t>
            </a:r>
            <a:r>
              <a:rPr lang="en-US" noProof="0" dirty="0"/>
              <a:t> : </a:t>
            </a:r>
            <a:r>
              <a:rPr lang="en-US" i="1" noProof="0" dirty="0" err="1"/>
              <a:t>S</a:t>
            </a:r>
            <a:r>
              <a:rPr lang="en-US" noProof="0" dirty="0" err="1">
                <a:sym typeface="Symbol"/>
              </a:rPr>
              <a:t></a:t>
            </a:r>
            <a:r>
              <a:rPr lang="en-US" b="1" noProof="0" dirty="0" err="1">
                <a:sym typeface="Symbol"/>
              </a:rPr>
              <a:t>pow</a:t>
            </a:r>
            <a:r>
              <a:rPr lang="en-US" noProof="0" dirty="0">
                <a:sym typeface="Symbol"/>
              </a:rPr>
              <a:t>(</a:t>
            </a:r>
            <a:r>
              <a:rPr lang="en-US" i="1" noProof="0" dirty="0">
                <a:sym typeface="Symbol"/>
              </a:rPr>
              <a:t>S</a:t>
            </a:r>
            <a:r>
              <a:rPr lang="en-US" noProof="0" dirty="0">
                <a:sym typeface="Symbol"/>
              </a:rPr>
              <a:t>), </a:t>
            </a:r>
            <a:r>
              <a:rPr lang="en-US" noProof="0" dirty="0"/>
              <a:t>the arrows</a:t>
            </a:r>
          </a:p>
          <a:p>
            <a:pPr lvl="2" eaLnBrk="1" hangingPunct="1">
              <a:defRPr/>
            </a:pPr>
            <a:r>
              <a:rPr lang="en-US" sz="2400" i="1" noProof="0" dirty="0"/>
              <a:t>R</a:t>
            </a:r>
            <a:r>
              <a:rPr lang="en-US" sz="2400" noProof="0" dirty="0"/>
              <a:t>(</a:t>
            </a:r>
            <a:r>
              <a:rPr lang="en-US" sz="2400" i="1" noProof="0" dirty="0"/>
              <a:t>s</a:t>
            </a:r>
            <a:r>
              <a:rPr lang="en-US" sz="2400" noProof="0" dirty="0"/>
              <a:t>)  is t</a:t>
            </a:r>
            <a:r>
              <a:rPr lang="en-US" sz="2400" noProof="0" dirty="0">
                <a:sym typeface="Wingdings" pitchFamily="2" charset="2"/>
              </a:rPr>
              <a:t>he set of possible next-states</a:t>
            </a:r>
            <a:r>
              <a:rPr lang="en-US" sz="2400" noProof="0" dirty="0"/>
              <a:t> from </a:t>
            </a:r>
            <a:r>
              <a:rPr lang="en-US" sz="2400" i="1" noProof="0" dirty="0"/>
              <a:t>s</a:t>
            </a:r>
          </a:p>
          <a:p>
            <a:pPr lvl="2" eaLnBrk="1" hangingPunct="1">
              <a:defRPr/>
            </a:pPr>
            <a:r>
              <a:rPr lang="en-US" sz="2400" noProof="0" dirty="0"/>
              <a:t>non-deterministic</a:t>
            </a:r>
            <a:endParaRPr lang="en-US" noProof="0" dirty="0">
              <a:solidFill>
                <a:schemeClr val="bg2">
                  <a:lumMod val="50000"/>
                </a:schemeClr>
              </a:solidFill>
            </a:endParaRPr>
          </a:p>
          <a:p>
            <a:pPr lvl="1" eaLnBrk="1" hangingPunct="1">
              <a:defRPr/>
            </a:pPr>
            <a:r>
              <a:rPr lang="en-US" i="1" noProof="0" dirty="0"/>
              <a:t>Prop</a:t>
            </a:r>
            <a:r>
              <a:rPr lang="en-US" noProof="0" dirty="0"/>
              <a:t> : set of </a:t>
            </a:r>
            <a:r>
              <a:rPr lang="en-US" i="1" noProof="0" dirty="0"/>
              <a:t>atomic</a:t>
            </a:r>
            <a:r>
              <a:rPr lang="en-US" noProof="0" dirty="0"/>
              <a:t> propositions</a:t>
            </a:r>
          </a:p>
          <a:p>
            <a:pPr lvl="2" eaLnBrk="1" hangingPunct="1">
              <a:defRPr/>
            </a:pPr>
            <a:r>
              <a:rPr lang="en-US" sz="2400" noProof="0" dirty="0"/>
              <a:t>abstractly modeling state properties.</a:t>
            </a:r>
          </a:p>
          <a:p>
            <a:pPr lvl="1" eaLnBrk="1" hangingPunct="1">
              <a:defRPr/>
            </a:pPr>
            <a:r>
              <a:rPr lang="en-US" i="1" noProof="0" dirty="0"/>
              <a:t>V</a:t>
            </a:r>
            <a:r>
              <a:rPr lang="en-US" noProof="0" dirty="0"/>
              <a:t> : </a:t>
            </a:r>
            <a:r>
              <a:rPr lang="en-US" i="1" noProof="0" dirty="0" err="1"/>
              <a:t>S</a:t>
            </a:r>
            <a:r>
              <a:rPr lang="en-US" noProof="0" dirty="0" err="1">
                <a:sym typeface="Symbol"/>
              </a:rPr>
              <a:t></a:t>
            </a:r>
            <a:r>
              <a:rPr lang="en-US" b="1" noProof="0" dirty="0" err="1">
                <a:sym typeface="Symbol"/>
              </a:rPr>
              <a:t>pow</a:t>
            </a:r>
            <a:r>
              <a:rPr lang="en-US" noProof="0" dirty="0">
                <a:sym typeface="Symbol"/>
              </a:rPr>
              <a:t>(</a:t>
            </a:r>
            <a:r>
              <a:rPr lang="en-US" i="1" noProof="0" dirty="0">
                <a:sym typeface="Symbol"/>
              </a:rPr>
              <a:t>Prop</a:t>
            </a:r>
            <a:r>
              <a:rPr lang="en-US" noProof="0" dirty="0">
                <a:sym typeface="Symbol"/>
              </a:rPr>
              <a:t>),</a:t>
            </a:r>
            <a:r>
              <a:rPr lang="en-US" noProof="0" dirty="0"/>
              <a:t> labeling function</a:t>
            </a:r>
          </a:p>
          <a:p>
            <a:pPr lvl="2" eaLnBrk="1" hangingPunct="1">
              <a:defRPr/>
            </a:pPr>
            <a:r>
              <a:rPr lang="en-US" sz="2400" i="1" noProof="0" dirty="0">
                <a:sym typeface="Symbol"/>
              </a:rPr>
              <a:t>a</a:t>
            </a:r>
            <a:r>
              <a:rPr lang="en-US" sz="2400" noProof="0" dirty="0">
                <a:sym typeface="Symbol"/>
              </a:rPr>
              <a:t>  </a:t>
            </a:r>
            <a:r>
              <a:rPr lang="en-US" sz="2400" i="1" noProof="0" dirty="0">
                <a:sym typeface="Symbol"/>
              </a:rPr>
              <a:t>V</a:t>
            </a:r>
            <a:r>
              <a:rPr lang="en-US" sz="2400" noProof="0" dirty="0">
                <a:sym typeface="Symbol"/>
              </a:rPr>
              <a:t>(s)  means a holds in s, else it does </a:t>
            </a:r>
            <a:r>
              <a:rPr lang="en-US" sz="2400" i="1" noProof="0" dirty="0">
                <a:sym typeface="Symbol"/>
              </a:rPr>
              <a:t>not</a:t>
            </a:r>
            <a:r>
              <a:rPr lang="en-US" sz="2400" noProof="0" dirty="0">
                <a:sym typeface="Symbol"/>
              </a:rPr>
              <a:t> hold.</a:t>
            </a:r>
          </a:p>
          <a:p>
            <a:pPr lvl="1" eaLnBrk="1" hangingPunct="1">
              <a:defRPr/>
            </a:pPr>
            <a:r>
              <a:rPr lang="en-US" noProof="0" dirty="0">
                <a:sym typeface="Symbol"/>
              </a:rPr>
              <a:t>No concept of accepting states.</a:t>
            </a:r>
            <a:endParaRPr lang="en-US" sz="2800" noProof="0" dirty="0">
              <a:sym typeface="Symbol"/>
            </a:endParaRPr>
          </a:p>
          <a:p>
            <a:pPr eaLnBrk="1" hangingPunct="1">
              <a:defRPr/>
            </a:pPr>
            <a:endParaRPr lang="en-US" noProof="0" dirty="0">
              <a:sym typeface="Symbol"/>
            </a:endParaRPr>
          </a:p>
        </p:txBody>
      </p:sp>
      <p:sp>
        <p:nvSpPr>
          <p:cNvPr id="5" name="Tijdelijke aanduiding voor dianummer 4"/>
          <p:cNvSpPr>
            <a:spLocks noGrp="1"/>
          </p:cNvSpPr>
          <p:nvPr>
            <p:ph type="sldNum" sz="quarter" idx="12"/>
          </p:nvPr>
        </p:nvSpPr>
        <p:spPr/>
        <p:txBody>
          <a:bodyPr/>
          <a:lstStyle/>
          <a:p>
            <a:pPr>
              <a:defRPr/>
            </a:pPr>
            <a:fld id="{D87ECB4C-BDF8-4B5A-BB15-67F9CCB4B39C}" type="slidenum">
              <a:rPr lang="en-US" noProof="0"/>
              <a:pPr>
                <a:defRPr/>
              </a:pPr>
              <a:t>11</a:t>
            </a:fld>
            <a:endParaRPr lang="en-US"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500063" y="274638"/>
            <a:ext cx="8358187" cy="796925"/>
          </a:xfrm>
        </p:spPr>
        <p:txBody>
          <a:bodyPr/>
          <a:lstStyle/>
          <a:p>
            <a:r>
              <a:rPr lang="en-US" i="1" noProof="0" dirty="0"/>
              <a:t>Prop</a:t>
            </a:r>
          </a:p>
        </p:txBody>
      </p:sp>
      <p:sp>
        <p:nvSpPr>
          <p:cNvPr id="15363" name="Content Placeholder 2"/>
          <p:cNvSpPr>
            <a:spLocks noGrp="1"/>
          </p:cNvSpPr>
          <p:nvPr>
            <p:ph sz="quarter" idx="1"/>
          </p:nvPr>
        </p:nvSpPr>
        <p:spPr>
          <a:xfrm>
            <a:off x="500063" y="1447800"/>
            <a:ext cx="8358187" cy="4572000"/>
          </a:xfrm>
        </p:spPr>
        <p:txBody>
          <a:bodyPr/>
          <a:lstStyle/>
          <a:p>
            <a:r>
              <a:rPr lang="en-US" sz="2400" noProof="0" dirty="0"/>
              <a:t>It consists of </a:t>
            </a:r>
            <a:r>
              <a:rPr lang="en-US" sz="2400" i="1" noProof="0" dirty="0"/>
              <a:t>atomic</a:t>
            </a:r>
            <a:r>
              <a:rPr lang="en-US" sz="2400" noProof="0" dirty="0"/>
              <a:t> propositions. </a:t>
            </a:r>
          </a:p>
          <a:p>
            <a:r>
              <a:rPr lang="en-US" sz="2400" noProof="0" dirty="0"/>
              <a:t>We’ll require them to be non-contradictive.  That is, for any subset </a:t>
            </a:r>
            <a:r>
              <a:rPr lang="en-US" sz="2400" i="1" noProof="0" dirty="0"/>
              <a:t>Q</a:t>
            </a:r>
            <a:r>
              <a:rPr lang="en-US" sz="2400" noProof="0" dirty="0"/>
              <a:t> of Prop the conjunction:</a:t>
            </a:r>
            <a:br>
              <a:rPr lang="en-US" sz="2400" noProof="0" dirty="0"/>
            </a:br>
            <a:br>
              <a:rPr lang="en-US" sz="2400" noProof="0" dirty="0"/>
            </a:br>
            <a:r>
              <a:rPr lang="en-US" sz="2400" noProof="0" dirty="0"/>
              <a:t>       </a:t>
            </a:r>
            <a:r>
              <a:rPr lang="en-US" sz="3600" noProof="0" dirty="0"/>
              <a:t>/\</a:t>
            </a:r>
            <a:r>
              <a:rPr lang="en-US" sz="2400" i="1" noProof="0" dirty="0"/>
              <a:t>Q</a:t>
            </a:r>
            <a:r>
              <a:rPr lang="en-US" sz="2400" noProof="0" dirty="0"/>
              <a:t>  /\   </a:t>
            </a:r>
            <a:r>
              <a:rPr lang="en-US" sz="3600" noProof="0" dirty="0"/>
              <a:t>/\</a:t>
            </a:r>
            <a:r>
              <a:rPr lang="en-US" sz="2400" noProof="0" dirty="0"/>
              <a:t>{</a:t>
            </a:r>
            <a:r>
              <a:rPr lang="en-US" sz="2400" noProof="0" dirty="0">
                <a:sym typeface="Symbol" pitchFamily="18" charset="2"/>
              </a:rPr>
              <a:t></a:t>
            </a:r>
            <a:r>
              <a:rPr lang="en-US" sz="2400" i="1" noProof="0" dirty="0">
                <a:sym typeface="Symbol" pitchFamily="18" charset="2"/>
              </a:rPr>
              <a:t>p</a:t>
            </a:r>
            <a:r>
              <a:rPr lang="en-US" sz="2400" noProof="0" dirty="0">
                <a:sym typeface="Symbol" pitchFamily="18" charset="2"/>
              </a:rPr>
              <a:t> | </a:t>
            </a:r>
            <a:r>
              <a:rPr lang="en-US" sz="2400" i="1" noProof="0" dirty="0">
                <a:sym typeface="Symbol" pitchFamily="18" charset="2"/>
              </a:rPr>
              <a:t>p </a:t>
            </a:r>
            <a:r>
              <a:rPr lang="en-US" sz="2400" noProof="0" dirty="0">
                <a:sym typeface="Symbol" pitchFamily="18" charset="2"/>
              </a:rPr>
              <a:t>∈ Prop/</a:t>
            </a:r>
            <a:r>
              <a:rPr lang="en-US" sz="2400" i="1" noProof="0" dirty="0">
                <a:sym typeface="Symbol" pitchFamily="18" charset="2"/>
              </a:rPr>
              <a:t>Q </a:t>
            </a:r>
            <a:r>
              <a:rPr lang="en-US" sz="2400" noProof="0" dirty="0">
                <a:sym typeface="Symbol" pitchFamily="18" charset="2"/>
              </a:rPr>
              <a:t>} </a:t>
            </a:r>
            <a:br>
              <a:rPr lang="en-US" sz="2400" noProof="0" dirty="0">
                <a:sym typeface="Symbol" pitchFamily="18" charset="2"/>
              </a:rPr>
            </a:br>
            <a:br>
              <a:rPr lang="en-US" sz="2400" noProof="0" dirty="0">
                <a:sym typeface="Symbol" pitchFamily="18" charset="2"/>
              </a:rPr>
            </a:br>
            <a:r>
              <a:rPr lang="en-US" sz="2400" noProof="0" dirty="0">
                <a:sym typeface="Symbol" pitchFamily="18" charset="2"/>
              </a:rPr>
              <a:t>is satisfiable.</a:t>
            </a:r>
            <a:r>
              <a:rPr lang="en-US" sz="2400" noProof="0" dirty="0"/>
              <a:t> This is the case if they are </a:t>
            </a:r>
            <a:r>
              <a:rPr lang="en-US" sz="2400" i="1" noProof="0" dirty="0"/>
              <a:t>independent</a:t>
            </a:r>
            <a:r>
              <a:rPr lang="en-US" sz="2400" noProof="0" dirty="0"/>
              <a:t> of each other.</a:t>
            </a:r>
          </a:p>
          <a:p>
            <a:r>
              <a:rPr lang="en-US" sz="2400" noProof="0" dirty="0"/>
              <a:t>Else you may get inconsistent labeling.</a:t>
            </a:r>
          </a:p>
          <a:p>
            <a:r>
              <a:rPr lang="en-US" sz="2400" noProof="0" dirty="0"/>
              <a:t>Example:</a:t>
            </a:r>
          </a:p>
          <a:p>
            <a:pPr lvl="1"/>
            <a:r>
              <a:rPr lang="en-US" sz="2200" i="1" noProof="0" dirty="0"/>
              <a:t>Prop</a:t>
            </a:r>
            <a:r>
              <a:rPr lang="en-US" sz="2200" noProof="0" dirty="0"/>
              <a:t>  =  { </a:t>
            </a:r>
            <a:r>
              <a:rPr lang="en-US" sz="2200" i="1" noProof="0" dirty="0"/>
              <a:t>x</a:t>
            </a:r>
            <a:r>
              <a:rPr lang="en-US" sz="2200" noProof="0" dirty="0"/>
              <a:t>&gt;0  , </a:t>
            </a:r>
            <a:r>
              <a:rPr lang="en-US" sz="2200" i="1" noProof="0" dirty="0"/>
              <a:t>y</a:t>
            </a:r>
            <a:r>
              <a:rPr lang="en-US" sz="2200" noProof="0" dirty="0"/>
              <a:t>&gt;0  }  is ok.</a:t>
            </a:r>
          </a:p>
          <a:p>
            <a:pPr lvl="1"/>
            <a:r>
              <a:rPr lang="en-US" sz="2200" i="1" noProof="0" dirty="0"/>
              <a:t>Prop</a:t>
            </a:r>
            <a:r>
              <a:rPr lang="en-US" sz="2200" noProof="0" dirty="0"/>
              <a:t>  =  { </a:t>
            </a:r>
            <a:r>
              <a:rPr lang="en-US" sz="2200" i="1" noProof="0" dirty="0"/>
              <a:t>x</a:t>
            </a:r>
            <a:r>
              <a:rPr lang="en-US" sz="2200" noProof="0" dirty="0"/>
              <a:t>&gt;0 , </a:t>
            </a:r>
            <a:r>
              <a:rPr lang="en-US" sz="2200" i="1" noProof="0" dirty="0"/>
              <a:t>x</a:t>
            </a:r>
            <a:r>
              <a:rPr lang="en-US" sz="2200" noProof="0" dirty="0"/>
              <a:t>&gt;1 }    is not ok. E.g. the subset { x&gt;1 } is inconsistent.</a:t>
            </a:r>
          </a:p>
          <a:p>
            <a:pPr lvl="1"/>
            <a:endParaRPr lang="en-US" sz="2200" noProof="0" dirty="0"/>
          </a:p>
          <a:p>
            <a:pPr>
              <a:buFont typeface="Wingdings 2" pitchFamily="18" charset="2"/>
              <a:buNone/>
            </a:pPr>
            <a:endParaRPr lang="en-US" sz="2400" noProof="0" dirty="0"/>
          </a:p>
        </p:txBody>
      </p:sp>
      <p:sp>
        <p:nvSpPr>
          <p:cNvPr id="4" name="Slide Number Placeholder 3"/>
          <p:cNvSpPr>
            <a:spLocks noGrp="1"/>
          </p:cNvSpPr>
          <p:nvPr>
            <p:ph type="sldNum" sz="quarter" idx="12"/>
          </p:nvPr>
        </p:nvSpPr>
        <p:spPr/>
        <p:txBody>
          <a:bodyPr/>
          <a:lstStyle/>
          <a:p>
            <a:pPr>
              <a:defRPr/>
            </a:pPr>
            <a:fld id="{704998F0-A61B-4586-BDBE-120420590D45}" type="slidenum">
              <a:rPr lang="en-US" noProof="0" smtClean="0"/>
              <a:pPr>
                <a:defRPr/>
              </a:pPr>
              <a:t>12</a:t>
            </a:fld>
            <a:endParaRPr lang="en-US"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6"/>
          <p:cNvSpPr>
            <a:spLocks noGrp="1"/>
          </p:cNvSpPr>
          <p:nvPr>
            <p:ph type="title"/>
          </p:nvPr>
        </p:nvSpPr>
        <p:spPr>
          <a:xfrm>
            <a:off x="500063" y="274638"/>
            <a:ext cx="8358187" cy="796925"/>
          </a:xfrm>
        </p:spPr>
        <p:txBody>
          <a:bodyPr/>
          <a:lstStyle/>
          <a:p>
            <a:pPr eaLnBrk="1" hangingPunct="1"/>
            <a:r>
              <a:rPr lang="en-US" noProof="0" dirty="0">
                <a:cs typeface="Arial" charset="0"/>
              </a:rPr>
              <a:t>Execution</a:t>
            </a:r>
          </a:p>
        </p:txBody>
      </p:sp>
      <p:sp>
        <p:nvSpPr>
          <p:cNvPr id="16387" name="Content Placeholder 7"/>
          <p:cNvSpPr>
            <a:spLocks noGrp="1"/>
          </p:cNvSpPr>
          <p:nvPr>
            <p:ph sz="quarter" idx="1"/>
          </p:nvPr>
        </p:nvSpPr>
        <p:spPr>
          <a:xfrm>
            <a:off x="500063" y="1447800"/>
            <a:ext cx="8358187" cy="4572000"/>
          </a:xfrm>
        </p:spPr>
        <p:txBody>
          <a:bodyPr/>
          <a:lstStyle/>
          <a:p>
            <a:pPr eaLnBrk="1" hangingPunct="1"/>
            <a:r>
              <a:rPr lang="en-US" noProof="0" dirty="0">
                <a:cs typeface="Arial" charset="0"/>
                <a:sym typeface="Wingdings" pitchFamily="2" charset="2"/>
              </a:rPr>
              <a:t>An </a:t>
            </a:r>
            <a:r>
              <a:rPr lang="en-US" i="1" noProof="0" dirty="0">
                <a:cs typeface="Arial" charset="0"/>
                <a:sym typeface="Wingdings" pitchFamily="2" charset="2"/>
              </a:rPr>
              <a:t>execution</a:t>
            </a:r>
            <a:r>
              <a:rPr lang="en-US" noProof="0" dirty="0">
                <a:cs typeface="Arial" charset="0"/>
                <a:sym typeface="Wingdings" pitchFamily="2" charset="2"/>
              </a:rPr>
              <a:t> is a path through your automaton, starting from an initial state.</a:t>
            </a:r>
          </a:p>
          <a:p>
            <a:pPr eaLnBrk="1" hangingPunct="1"/>
            <a:r>
              <a:rPr lang="en-US" noProof="0" dirty="0">
                <a:cs typeface="Arial" charset="0"/>
              </a:rPr>
              <a:t>Let’s focus on properties of infinite executions</a:t>
            </a:r>
          </a:p>
          <a:p>
            <a:pPr lvl="1" eaLnBrk="1" hangingPunct="1"/>
            <a:r>
              <a:rPr lang="en-US" noProof="0" dirty="0">
                <a:cs typeface="Arial" charset="0"/>
                <a:sym typeface="Wingdings" pitchFamily="2" charset="2"/>
              </a:rPr>
              <a:t>All executions are assumed </a:t>
            </a:r>
            <a:r>
              <a:rPr lang="en-US" b="1" noProof="0" dirty="0">
                <a:cs typeface="Arial" charset="0"/>
                <a:sym typeface="Wingdings" pitchFamily="2" charset="2"/>
              </a:rPr>
              <a:t>infinite</a:t>
            </a:r>
          </a:p>
          <a:p>
            <a:pPr lvl="1" eaLnBrk="1" hangingPunct="1"/>
            <a:r>
              <a:rPr lang="en-US" noProof="0" dirty="0">
                <a:cs typeface="Arial" charset="0"/>
                <a:sym typeface="Wingdings" pitchFamily="2" charset="2"/>
              </a:rPr>
              <a:t>Extend each “terminal” state (states with no successor) in the original </a:t>
            </a:r>
            <a:r>
              <a:rPr lang="en-US" noProof="0" dirty="0" err="1">
                <a:cs typeface="Arial" charset="0"/>
                <a:sym typeface="Wingdings" pitchFamily="2" charset="2"/>
              </a:rPr>
              <a:t>Krikpe</a:t>
            </a:r>
            <a:r>
              <a:rPr lang="en-US" noProof="0" dirty="0">
                <a:cs typeface="Arial" charset="0"/>
                <a:sym typeface="Wingdings" pitchFamily="2" charset="2"/>
              </a:rPr>
              <a:t> with a stuttering loop.</a:t>
            </a:r>
          </a:p>
          <a:p>
            <a:pPr eaLnBrk="1" hangingPunct="1"/>
            <a:endParaRPr lang="en-US" noProof="0" dirty="0">
              <a:cs typeface="Arial" charset="0"/>
              <a:sym typeface="Wingdings" pitchFamily="2" charset="2"/>
            </a:endParaRPr>
          </a:p>
          <a:p>
            <a:pPr eaLnBrk="1" hangingPunct="1"/>
            <a:r>
              <a:rPr lang="en-US" noProof="0" dirty="0">
                <a:cs typeface="Arial" charset="0"/>
                <a:sym typeface="Wingdings" pitchFamily="2" charset="2"/>
              </a:rPr>
              <a:t>This induces an ‘</a:t>
            </a:r>
            <a:r>
              <a:rPr lang="en-US" i="1" noProof="0" dirty="0">
                <a:cs typeface="Arial" charset="0"/>
                <a:sym typeface="Wingdings" pitchFamily="2" charset="2"/>
              </a:rPr>
              <a:t>abstract</a:t>
            </a:r>
            <a:r>
              <a:rPr lang="en-US" noProof="0" dirty="0">
                <a:cs typeface="Arial" charset="0"/>
                <a:sym typeface="Wingdings" pitchFamily="2" charset="2"/>
              </a:rPr>
              <a:t>’ execution: </a:t>
            </a:r>
            <a:r>
              <a:rPr lang="en-US" noProof="0" dirty="0" err="1">
                <a:cs typeface="Arial" charset="0"/>
                <a:sym typeface="Wingdings" pitchFamily="2" charset="2"/>
              </a:rPr>
              <a:t>Nat</a:t>
            </a:r>
            <a:r>
              <a:rPr lang="en-US" noProof="0" dirty="0" err="1">
                <a:cs typeface="Arial" charset="0"/>
                <a:sym typeface="Symbol"/>
              </a:rPr>
              <a:t></a:t>
            </a:r>
            <a:r>
              <a:rPr lang="en-US" b="1" noProof="0" dirty="0" err="1">
                <a:cs typeface="Arial" charset="0"/>
                <a:sym typeface="Symbol"/>
              </a:rPr>
              <a:t>pow</a:t>
            </a:r>
            <a:r>
              <a:rPr lang="en-US" noProof="0" dirty="0">
                <a:cs typeface="Arial" charset="0"/>
                <a:sym typeface="Symbol"/>
              </a:rPr>
              <a:t>(</a:t>
            </a:r>
            <a:r>
              <a:rPr lang="en-US" i="1" noProof="0" dirty="0">
                <a:cs typeface="Arial" charset="0"/>
                <a:sym typeface="Symbol"/>
              </a:rPr>
              <a:t>Prop</a:t>
            </a:r>
            <a:r>
              <a:rPr lang="en-US" noProof="0" dirty="0">
                <a:cs typeface="Arial" charset="0"/>
                <a:sym typeface="Symbol"/>
              </a:rPr>
              <a:t>)</a:t>
            </a:r>
            <a:endParaRPr lang="en-US" noProof="0" dirty="0">
              <a:cs typeface="Arial" charset="0"/>
              <a:sym typeface="Wingdings" pitchFamily="2" charset="2"/>
            </a:endParaRPr>
          </a:p>
          <a:p>
            <a:pPr lvl="1" eaLnBrk="1" hangingPunct="1"/>
            <a:r>
              <a:rPr lang="en-US" noProof="0" dirty="0">
                <a:cs typeface="Arial" charset="0"/>
                <a:sym typeface="Wingdings" pitchFamily="2" charset="2"/>
              </a:rPr>
              <a:t>infinite </a:t>
            </a:r>
            <a:r>
              <a:rPr lang="en-US" i="1" noProof="0" dirty="0">
                <a:cs typeface="Arial" charset="0"/>
                <a:sym typeface="Wingdings" pitchFamily="2" charset="2"/>
              </a:rPr>
              <a:t>sequence of  </a:t>
            </a:r>
            <a:r>
              <a:rPr lang="en-US" noProof="0" dirty="0">
                <a:cs typeface="Arial" charset="0"/>
                <a:sym typeface="Wingdings" pitchFamily="2" charset="2"/>
              </a:rPr>
              <a:t>the </a:t>
            </a:r>
            <a:r>
              <a:rPr lang="en-US" i="1" noProof="0" dirty="0">
                <a:cs typeface="Arial" charset="0"/>
                <a:sym typeface="Wingdings" pitchFamily="2" charset="2"/>
              </a:rPr>
              <a:t>set of propositions</a:t>
            </a:r>
            <a:r>
              <a:rPr lang="en-US" noProof="0" dirty="0">
                <a:cs typeface="Arial" charset="0"/>
                <a:sym typeface="Wingdings" pitchFamily="2" charset="2"/>
              </a:rPr>
              <a:t> that hold along that path.</a:t>
            </a:r>
          </a:p>
          <a:p>
            <a:pPr lvl="1" eaLnBrk="1" hangingPunct="1"/>
            <a:r>
              <a:rPr lang="en-US" noProof="0" dirty="0">
                <a:cs typeface="Arial" charset="0"/>
                <a:sym typeface="Wingdings" pitchFamily="2" charset="2"/>
              </a:rPr>
              <a:t>We’ll often use the term execution and abstract execution </a:t>
            </a:r>
            <a:r>
              <a:rPr lang="en-US" noProof="0" dirty="0" err="1">
                <a:cs typeface="Arial" charset="0"/>
                <a:sym typeface="Wingdings" pitchFamily="2" charset="2"/>
              </a:rPr>
              <a:t>interchangbly</a:t>
            </a:r>
            <a:r>
              <a:rPr lang="en-US" noProof="0" dirty="0">
                <a:cs typeface="Arial" charset="0"/>
                <a:sym typeface="Wingdings" pitchFamily="2" charset="2"/>
              </a:rPr>
              <a:t>.</a:t>
            </a:r>
          </a:p>
          <a:p>
            <a:pPr eaLnBrk="1" hangingPunct="1"/>
            <a:br>
              <a:rPr lang="en-US" noProof="0" dirty="0">
                <a:cs typeface="Arial" charset="0"/>
                <a:sym typeface="Symbol" pitchFamily="18" charset="2"/>
              </a:rPr>
            </a:br>
            <a:r>
              <a:rPr lang="en-US" noProof="0" dirty="0">
                <a:cs typeface="Arial" charset="0"/>
                <a:sym typeface="Symbol" pitchFamily="18" charset="2"/>
              </a:rPr>
              <a:t>	</a:t>
            </a:r>
            <a:endParaRPr lang="en-US" noProof="0" dirty="0">
              <a:cs typeface="Arial" charset="0"/>
              <a:sym typeface="Wingdings" pitchFamily="2" charset="2"/>
            </a:endParaRPr>
          </a:p>
          <a:p>
            <a:pPr eaLnBrk="1" hangingPunct="1"/>
            <a:endParaRPr lang="en-US" noProof="0" dirty="0">
              <a:cs typeface="Arial" charset="0"/>
            </a:endParaRPr>
          </a:p>
        </p:txBody>
      </p:sp>
      <p:sp>
        <p:nvSpPr>
          <p:cNvPr id="5" name="Tijdelijke aanduiding voor dianummer 4"/>
          <p:cNvSpPr>
            <a:spLocks noGrp="1"/>
          </p:cNvSpPr>
          <p:nvPr>
            <p:ph type="sldNum" sz="quarter" idx="12"/>
          </p:nvPr>
        </p:nvSpPr>
        <p:spPr/>
        <p:txBody>
          <a:bodyPr/>
          <a:lstStyle/>
          <a:p>
            <a:pPr>
              <a:defRPr/>
            </a:pPr>
            <a:fld id="{EEF2F6DB-F431-4E96-8EA7-DBE00BB68AF6}" type="slidenum">
              <a:rPr lang="en-US" noProof="0"/>
              <a:pPr>
                <a:defRPr/>
              </a:pPr>
              <a:t>13</a:t>
            </a:fld>
            <a:endParaRPr lang="en-US"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5905500" y="4418013"/>
            <a:ext cx="1638300" cy="15573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p:cNvSpPr/>
          <p:nvPr/>
        </p:nvSpPr>
        <p:spPr>
          <a:xfrm>
            <a:off x="4305300" y="4418013"/>
            <a:ext cx="1600200" cy="155733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p:cNvSpPr/>
          <p:nvPr/>
        </p:nvSpPr>
        <p:spPr>
          <a:xfrm>
            <a:off x="3028950" y="4437063"/>
            <a:ext cx="1257300" cy="1557337"/>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p:cNvSpPr/>
          <p:nvPr/>
        </p:nvSpPr>
        <p:spPr>
          <a:xfrm>
            <a:off x="1771650" y="4437063"/>
            <a:ext cx="1257300" cy="155733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314" name="Title 4"/>
          <p:cNvSpPr>
            <a:spLocks noGrp="1"/>
          </p:cNvSpPr>
          <p:nvPr>
            <p:ph type="title"/>
          </p:nvPr>
        </p:nvSpPr>
        <p:spPr/>
        <p:txBody>
          <a:bodyPr/>
          <a:lstStyle/>
          <a:p>
            <a:pPr eaLnBrk="1" hangingPunct="1"/>
            <a:r>
              <a:rPr lang="en-US" noProof="0" dirty="0">
                <a:cs typeface="Arial" charset="0"/>
              </a:rPr>
              <a:t>Example</a:t>
            </a:r>
          </a:p>
        </p:txBody>
      </p:sp>
      <p:sp>
        <p:nvSpPr>
          <p:cNvPr id="12" name="Tijdelijke aanduiding voor dianummer 11"/>
          <p:cNvSpPr>
            <a:spLocks noGrp="1"/>
          </p:cNvSpPr>
          <p:nvPr>
            <p:ph type="sldNum" sz="quarter" idx="12"/>
          </p:nvPr>
        </p:nvSpPr>
        <p:spPr/>
        <p:txBody>
          <a:bodyPr/>
          <a:lstStyle/>
          <a:p>
            <a:pPr>
              <a:defRPr/>
            </a:pPr>
            <a:fld id="{F911A843-FA01-4B34-ACAC-693124F2D646}" type="slidenum">
              <a:rPr lang="en-US" noProof="0"/>
              <a:pPr>
                <a:defRPr/>
              </a:pPr>
              <a:t>14</a:t>
            </a:fld>
            <a:endParaRPr lang="en-US" noProof="0" dirty="0"/>
          </a:p>
        </p:txBody>
      </p:sp>
      <p:sp>
        <p:nvSpPr>
          <p:cNvPr id="25" name="Rounded Rectangle 24"/>
          <p:cNvSpPr/>
          <p:nvPr/>
        </p:nvSpPr>
        <p:spPr>
          <a:xfrm>
            <a:off x="2000250" y="1827213"/>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26" name="Rounded Rectangle 25"/>
          <p:cNvSpPr/>
          <p:nvPr/>
        </p:nvSpPr>
        <p:spPr>
          <a:xfrm>
            <a:off x="2038349" y="2841625"/>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27" name="Curved Connector 8"/>
          <p:cNvCxnSpPr>
            <a:endCxn id="25" idx="0"/>
          </p:cNvCxnSpPr>
          <p:nvPr/>
        </p:nvCxnSpPr>
        <p:spPr>
          <a:xfrm rot="10800000">
            <a:off x="2351883" y="1827213"/>
            <a:ext cx="351631" cy="296862"/>
          </a:xfrm>
          <a:prstGeom prst="curvedConnector4">
            <a:avLst>
              <a:gd name="adj1" fmla="val -103386"/>
              <a:gd name="adj2" fmla="val 247593"/>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Arrow Connector 28"/>
          <p:cNvCxnSpPr>
            <a:stCxn id="25" idx="2"/>
            <a:endCxn id="26" idx="0"/>
          </p:cNvCxnSpPr>
          <p:nvPr/>
        </p:nvCxnSpPr>
        <p:spPr>
          <a:xfrm>
            <a:off x="2351882" y="2420938"/>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0" name="Curved Connector 8"/>
          <p:cNvCxnSpPr>
            <a:endCxn id="26" idx="2"/>
          </p:cNvCxnSpPr>
          <p:nvPr/>
        </p:nvCxnSpPr>
        <p:spPr>
          <a:xfrm rot="10800000" flipV="1">
            <a:off x="2366963" y="3138488"/>
            <a:ext cx="328613" cy="296862"/>
          </a:xfrm>
          <a:prstGeom prst="curvedConnector4">
            <a:avLst>
              <a:gd name="adj1" fmla="val -110144"/>
              <a:gd name="adj2" fmla="val 247594"/>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a:off x="1714503" y="1771653"/>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793749" y="4493418"/>
            <a:ext cx="184731" cy="400110"/>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defRPr/>
            </a:pPr>
            <a:endParaRPr lang="en-US" sz="2000" noProof="0" dirty="0">
              <a:cs typeface="Arial" pitchFamily="34" charset="0"/>
            </a:endParaRPr>
          </a:p>
        </p:txBody>
      </p:sp>
      <p:sp>
        <p:nvSpPr>
          <p:cNvPr id="13" name="TextBox 18"/>
          <p:cNvSpPr txBox="1">
            <a:spLocks noChangeArrowheads="1"/>
          </p:cNvSpPr>
          <p:nvPr/>
        </p:nvSpPr>
        <p:spPr bwMode="auto">
          <a:xfrm>
            <a:off x="304801" y="4544218"/>
            <a:ext cx="8705850" cy="1323439"/>
          </a:xfrm>
          <a:prstGeom prst="rect">
            <a:avLst/>
          </a:prstGeom>
          <a:noFill/>
          <a:ln w="9525">
            <a:noFill/>
            <a:miter lim="800000"/>
            <a:headEnd/>
            <a:tailEnd/>
          </a:ln>
        </p:spPr>
        <p:txBody>
          <a:bodyPr wrap="square">
            <a:spAutoFit/>
          </a:bodyPr>
          <a:lstStyle/>
          <a:p>
            <a:r>
              <a:rPr lang="en-US" sz="2000" noProof="0" dirty="0">
                <a:cs typeface="Arial" pitchFamily="34" charset="0"/>
              </a:rPr>
              <a:t>execution   :    </a:t>
            </a:r>
            <a:r>
              <a:rPr lang="en-US" sz="2000" b="1" noProof="0" dirty="0">
                <a:cs typeface="Arial" pitchFamily="34" charset="0"/>
              </a:rPr>
              <a:t>     0                  0                   1                         1</a:t>
            </a:r>
            <a:r>
              <a:rPr lang="en-US" sz="2000" noProof="0" dirty="0">
                <a:cs typeface="Arial" pitchFamily="34" charset="0"/>
              </a:rPr>
              <a:t>              ...</a:t>
            </a:r>
            <a:br>
              <a:rPr lang="en-US" sz="2000" noProof="0" dirty="0">
                <a:cs typeface="Arial" pitchFamily="34" charset="0"/>
              </a:rPr>
            </a:br>
            <a:endParaRPr lang="en-US" sz="2000" noProof="0" dirty="0"/>
          </a:p>
          <a:p>
            <a:r>
              <a:rPr lang="en-US" sz="2000" noProof="0" dirty="0"/>
              <a:t>abstract</a:t>
            </a:r>
            <a:br>
              <a:rPr lang="en-US" sz="2000" noProof="0" dirty="0"/>
            </a:br>
            <a:r>
              <a:rPr lang="en-US" sz="2000" noProof="0" dirty="0"/>
              <a:t>execution   :   {</a:t>
            </a:r>
            <a:r>
              <a:rPr lang="en-US" sz="2000" noProof="0" dirty="0" err="1"/>
              <a:t>isOdd</a:t>
            </a:r>
            <a:r>
              <a:rPr lang="en-US" sz="2000" noProof="0" dirty="0"/>
              <a:t> </a:t>
            </a:r>
            <a:r>
              <a:rPr lang="en-US" sz="2000" i="1" noProof="0" dirty="0"/>
              <a:t>x</a:t>
            </a:r>
            <a:r>
              <a:rPr lang="en-US" sz="2000" noProof="0" dirty="0"/>
              <a:t>} , {</a:t>
            </a:r>
            <a:r>
              <a:rPr lang="en-US" sz="2000" noProof="0" dirty="0" err="1"/>
              <a:t>isOdd</a:t>
            </a:r>
            <a:r>
              <a:rPr lang="en-US" sz="2000" noProof="0" dirty="0"/>
              <a:t> </a:t>
            </a:r>
            <a:r>
              <a:rPr lang="en-US" sz="2000" i="1" noProof="0" dirty="0"/>
              <a:t>x</a:t>
            </a:r>
            <a:r>
              <a:rPr lang="en-US" sz="2000" noProof="0" dirty="0"/>
              <a:t>}, {</a:t>
            </a:r>
            <a:r>
              <a:rPr lang="en-US" sz="2000" noProof="0" dirty="0" err="1"/>
              <a:t>isOdd</a:t>
            </a:r>
            <a:r>
              <a:rPr lang="en-US" sz="2000" noProof="0" dirty="0"/>
              <a:t> </a:t>
            </a:r>
            <a:r>
              <a:rPr lang="en-US" sz="2000" i="1" noProof="0" dirty="0"/>
              <a:t>x</a:t>
            </a:r>
            <a:r>
              <a:rPr lang="en-US" sz="2000" noProof="0" dirty="0"/>
              <a:t>, </a:t>
            </a:r>
            <a:r>
              <a:rPr lang="en-US" sz="2000" i="1" noProof="0" dirty="0"/>
              <a:t>x</a:t>
            </a:r>
            <a:r>
              <a:rPr lang="en-US" sz="2000" noProof="0" dirty="0"/>
              <a:t>&gt;0}, {</a:t>
            </a:r>
            <a:r>
              <a:rPr lang="en-US" sz="2000" noProof="0" dirty="0" err="1"/>
              <a:t>isOdd</a:t>
            </a:r>
            <a:r>
              <a:rPr lang="en-US" sz="2000" noProof="0" dirty="0"/>
              <a:t> </a:t>
            </a:r>
            <a:r>
              <a:rPr lang="en-US" sz="2000" i="1" noProof="0" dirty="0"/>
              <a:t>x</a:t>
            </a:r>
            <a:r>
              <a:rPr lang="en-US" sz="2000" noProof="0" dirty="0"/>
              <a:t>, </a:t>
            </a:r>
            <a:r>
              <a:rPr lang="en-US" sz="2000" i="1" noProof="0" dirty="0"/>
              <a:t>x</a:t>
            </a:r>
            <a:r>
              <a:rPr lang="en-US" sz="2000" noProof="0" dirty="0"/>
              <a:t>&gt;0} , ...</a:t>
            </a:r>
            <a:endParaRPr lang="en-US" sz="1600" noProof="0" dirty="0"/>
          </a:p>
        </p:txBody>
      </p:sp>
      <p:sp>
        <p:nvSpPr>
          <p:cNvPr id="19" name="TextBox 18"/>
          <p:cNvSpPr txBox="1"/>
          <p:nvPr/>
        </p:nvSpPr>
        <p:spPr>
          <a:xfrm>
            <a:off x="3429000" y="1943100"/>
            <a:ext cx="1582484" cy="461665"/>
          </a:xfrm>
          <a:prstGeom prst="rect">
            <a:avLst/>
          </a:prstGeom>
          <a:solidFill>
            <a:schemeClr val="bg2"/>
          </a:solidFill>
        </p:spPr>
        <p:txBody>
          <a:bodyPr wrap="none" rtlCol="0">
            <a:spAutoFit/>
          </a:bodyPr>
          <a:lstStyle/>
          <a:p>
            <a:r>
              <a:rPr lang="en-US" noProof="0" dirty="0">
                <a:cs typeface="Arial" pitchFamily="34" charset="0"/>
              </a:rPr>
              <a:t>{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endParaRPr lang="en-US" noProof="0" dirty="0"/>
          </a:p>
        </p:txBody>
      </p:sp>
      <p:sp>
        <p:nvSpPr>
          <p:cNvPr id="20" name="TextBox 19"/>
          <p:cNvSpPr txBox="1"/>
          <p:nvPr/>
        </p:nvSpPr>
        <p:spPr>
          <a:xfrm>
            <a:off x="3352800" y="2590800"/>
            <a:ext cx="2276585" cy="461665"/>
          </a:xfrm>
          <a:prstGeom prst="rect">
            <a:avLst/>
          </a:prstGeom>
          <a:solidFill>
            <a:srgbClr val="CCECFF"/>
          </a:solidFill>
        </p:spPr>
        <p:txBody>
          <a:bodyPr wrap="none" rtlCol="0">
            <a:spAutoFit/>
          </a:bodyPr>
          <a:lstStyle/>
          <a:p>
            <a:r>
              <a:rPr lang="en-US" noProof="0" dirty="0">
                <a:cs typeface="Arial" pitchFamily="34" charset="0"/>
              </a:rPr>
              <a:t>{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r>
              <a:rPr lang="en-US" i="1" noProof="0" dirty="0">
                <a:cs typeface="Arial" pitchFamily="34" charset="0"/>
              </a:rPr>
              <a:t>x</a:t>
            </a:r>
            <a:r>
              <a:rPr lang="en-US" noProof="0" dirty="0">
                <a:cs typeface="Arial" pitchFamily="34" charset="0"/>
              </a:rPr>
              <a:t>&gt;0 }</a:t>
            </a:r>
          </a:p>
        </p:txBody>
      </p:sp>
      <p:cxnSp>
        <p:nvCxnSpPr>
          <p:cNvPr id="22" name="Straight Connector 21"/>
          <p:cNvCxnSpPr>
            <a:stCxn id="19" idx="1"/>
          </p:cNvCxnSpPr>
          <p:nvPr/>
        </p:nvCxnSpPr>
        <p:spPr>
          <a:xfrm flipH="1">
            <a:off x="2533650" y="2173933"/>
            <a:ext cx="895350" cy="930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20" idx="1"/>
          </p:cNvCxnSpPr>
          <p:nvPr/>
        </p:nvCxnSpPr>
        <p:spPr>
          <a:xfrm flipH="1">
            <a:off x="2628900" y="2821633"/>
            <a:ext cx="723900" cy="169217"/>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500063" y="274638"/>
            <a:ext cx="8358187" cy="796925"/>
          </a:xfrm>
        </p:spPr>
        <p:txBody>
          <a:bodyPr/>
          <a:lstStyle/>
          <a:p>
            <a:pPr eaLnBrk="1" hangingPunct="1"/>
            <a:r>
              <a:rPr lang="en-US" noProof="0" dirty="0">
                <a:cs typeface="Arial" charset="0"/>
              </a:rPr>
              <a:t>LTL, informal meaning</a:t>
            </a:r>
          </a:p>
        </p:txBody>
      </p:sp>
      <p:sp>
        <p:nvSpPr>
          <p:cNvPr id="78" name="Tijdelijke aanduiding voor dianummer 77"/>
          <p:cNvSpPr>
            <a:spLocks noGrp="1"/>
          </p:cNvSpPr>
          <p:nvPr>
            <p:ph type="sldNum" sz="quarter" idx="12"/>
          </p:nvPr>
        </p:nvSpPr>
        <p:spPr/>
        <p:txBody>
          <a:bodyPr/>
          <a:lstStyle/>
          <a:p>
            <a:pPr>
              <a:defRPr/>
            </a:pPr>
            <a:fld id="{25C70883-A158-4350-8896-BA1A028E2D4A}" type="slidenum">
              <a:rPr lang="en-US" noProof="0"/>
              <a:pPr>
                <a:defRPr/>
              </a:pPr>
              <a:t>15</a:t>
            </a:fld>
            <a:endParaRPr lang="en-US" noProof="0" dirty="0"/>
          </a:p>
        </p:txBody>
      </p:sp>
      <p:sp>
        <p:nvSpPr>
          <p:cNvPr id="23555" name="Rectangle 3"/>
          <p:cNvSpPr txBox="1">
            <a:spLocks noChangeArrowheads="1"/>
          </p:cNvSpPr>
          <p:nvPr/>
        </p:nvSpPr>
        <p:spPr bwMode="auto">
          <a:xfrm>
            <a:off x="422275" y="1981200"/>
            <a:ext cx="2998788" cy="4660900"/>
          </a:xfrm>
          <a:prstGeom prst="rect">
            <a:avLst/>
          </a:prstGeom>
          <a:noFill/>
          <a:ln w="9525">
            <a:noFill/>
            <a:miter lim="800000"/>
            <a:headEnd/>
            <a:tailEnd/>
          </a:ln>
        </p:spPr>
        <p:txBody>
          <a:bodyPr/>
          <a:lstStyle/>
          <a:p>
            <a:pPr marL="319088" indent="-319088">
              <a:lnSpc>
                <a:spcPct val="90000"/>
              </a:lnSpc>
              <a:spcBef>
                <a:spcPts val="700"/>
              </a:spcBef>
              <a:buClr>
                <a:schemeClr val="accent2"/>
              </a:buClr>
              <a:buSzPct val="60000"/>
              <a:defRPr/>
            </a:pPr>
            <a:r>
              <a:rPr lang="en-US" noProof="0" dirty="0">
                <a:sym typeface="Wingdings"/>
              </a:rPr>
              <a:t>☐</a:t>
            </a:r>
            <a:r>
              <a:rPr lang="en-US" noProof="0" dirty="0">
                <a:solidFill>
                  <a:schemeClr val="tx2"/>
                </a:solidFill>
                <a:latin typeface="Arial" pitchFamily="34" charset="0"/>
                <a:cs typeface="Arial" pitchFamily="34" charset="0"/>
              </a:rPr>
              <a:t> </a:t>
            </a:r>
            <a:r>
              <a:rPr lang="en-US" i="1" noProof="0" dirty="0">
                <a:solidFill>
                  <a:schemeClr val="tx2"/>
                </a:solidFill>
                <a:latin typeface="Arial" pitchFamily="34" charset="0"/>
                <a:cs typeface="Arial" pitchFamily="34" charset="0"/>
              </a:rPr>
              <a:t>f</a:t>
            </a:r>
            <a:r>
              <a:rPr lang="en-US" noProof="0" dirty="0">
                <a:latin typeface="Arial" pitchFamily="34" charset="0"/>
                <a:cs typeface="Arial" pitchFamily="34" charset="0"/>
              </a:rPr>
              <a:t>      </a:t>
            </a:r>
            <a:r>
              <a:rPr lang="en-US" noProof="0" dirty="0">
                <a:solidFill>
                  <a:schemeClr val="bg1">
                    <a:lumMod val="65000"/>
                  </a:schemeClr>
                </a:solidFill>
                <a:latin typeface="Arial" pitchFamily="34" charset="0"/>
                <a:cs typeface="Arial" pitchFamily="34" charset="0"/>
              </a:rPr>
              <a:t> // always </a:t>
            </a:r>
            <a:r>
              <a:rPr lang="en-US" i="1" noProof="0" dirty="0">
                <a:solidFill>
                  <a:schemeClr val="bg1">
                    <a:lumMod val="65000"/>
                  </a:schemeClr>
                </a:solidFill>
                <a:latin typeface="Arial" pitchFamily="34" charset="0"/>
                <a:cs typeface="Arial" pitchFamily="34" charset="0"/>
              </a:rPr>
              <a:t>f</a:t>
            </a: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r>
              <a:rPr lang="en-US" noProof="0" dirty="0">
                <a:solidFill>
                  <a:srgbClr val="A50021"/>
                </a:solidFill>
                <a:latin typeface="Arial" pitchFamily="34" charset="0"/>
                <a:cs typeface="Arial" pitchFamily="34" charset="0"/>
              </a:rPr>
              <a:t>X</a:t>
            </a:r>
            <a:r>
              <a:rPr lang="en-US" noProof="0" dirty="0">
                <a:solidFill>
                  <a:schemeClr val="tx2"/>
                </a:solidFill>
                <a:latin typeface="Arial" pitchFamily="34" charset="0"/>
                <a:cs typeface="Arial" pitchFamily="34" charset="0"/>
              </a:rPr>
              <a:t> </a:t>
            </a:r>
            <a:r>
              <a:rPr lang="en-US" i="1" noProof="0" dirty="0">
                <a:solidFill>
                  <a:schemeClr val="tx2"/>
                </a:solidFill>
                <a:latin typeface="Arial" pitchFamily="34" charset="0"/>
                <a:cs typeface="Arial" pitchFamily="34" charset="0"/>
              </a:rPr>
              <a:t>g</a:t>
            </a:r>
            <a:r>
              <a:rPr lang="en-US" noProof="0" dirty="0">
                <a:solidFill>
                  <a:schemeClr val="tx2"/>
                </a:solidFill>
                <a:latin typeface="Arial" pitchFamily="34" charset="0"/>
                <a:cs typeface="Arial" pitchFamily="34" charset="0"/>
              </a:rPr>
              <a:t>       </a:t>
            </a:r>
            <a:r>
              <a:rPr lang="en-US" noProof="0" dirty="0">
                <a:solidFill>
                  <a:schemeClr val="bg1">
                    <a:lumMod val="65000"/>
                  </a:schemeClr>
                </a:solidFill>
                <a:latin typeface="Arial" pitchFamily="34" charset="0"/>
                <a:cs typeface="Arial" pitchFamily="34" charset="0"/>
              </a:rPr>
              <a:t>// next </a:t>
            </a:r>
            <a:r>
              <a:rPr lang="en-US" i="1" noProof="0" dirty="0">
                <a:solidFill>
                  <a:schemeClr val="bg1">
                    <a:lumMod val="65000"/>
                  </a:schemeClr>
                </a:solidFill>
                <a:latin typeface="Arial" pitchFamily="34" charset="0"/>
                <a:cs typeface="Arial" pitchFamily="34" charset="0"/>
              </a:rPr>
              <a:t>g</a:t>
            </a:r>
            <a:r>
              <a:rPr lang="en-US" noProof="0" dirty="0">
                <a:latin typeface="Arial" pitchFamily="34" charset="0"/>
                <a:cs typeface="Arial" pitchFamily="34" charset="0"/>
              </a:rPr>
              <a:t> </a:t>
            </a:r>
          </a:p>
          <a:p>
            <a:pPr marL="319088" indent="-319088">
              <a:lnSpc>
                <a:spcPct val="90000"/>
              </a:lnSpc>
              <a:spcBef>
                <a:spcPts val="700"/>
              </a:spcBef>
              <a:buClr>
                <a:schemeClr val="accent2"/>
              </a:buClr>
              <a:buSzPct val="60000"/>
              <a:defRPr/>
            </a:pPr>
            <a:endParaRPr lang="en-US" noProof="0" dirty="0">
              <a:latin typeface="Arial" pitchFamily="34" charset="0"/>
              <a:cs typeface="Arial" pitchFamily="34" charset="0"/>
            </a:endParaRPr>
          </a:p>
          <a:p>
            <a:pPr marL="319088" indent="-319088">
              <a:lnSpc>
                <a:spcPct val="90000"/>
              </a:lnSpc>
              <a:spcBef>
                <a:spcPts val="700"/>
              </a:spcBef>
              <a:buClr>
                <a:schemeClr val="accent2"/>
              </a:buClr>
              <a:buSzPct val="60000"/>
              <a:defRPr/>
            </a:pPr>
            <a:endParaRPr lang="en-US" noProof="0" dirty="0">
              <a:latin typeface="Arial" pitchFamily="34" charset="0"/>
              <a:cs typeface="Arial" pitchFamily="34" charset="0"/>
            </a:endParaRPr>
          </a:p>
          <a:p>
            <a:pPr marL="319088" indent="-319088">
              <a:lnSpc>
                <a:spcPct val="90000"/>
              </a:lnSpc>
              <a:spcBef>
                <a:spcPts val="700"/>
              </a:spcBef>
              <a:buClr>
                <a:schemeClr val="accent2"/>
              </a:buClr>
              <a:buSzPct val="60000"/>
              <a:defRPr/>
            </a:pPr>
            <a:r>
              <a:rPr lang="en-US" i="1" noProof="0" dirty="0">
                <a:solidFill>
                  <a:schemeClr val="tx2"/>
                </a:solidFill>
                <a:latin typeface="Arial" pitchFamily="34" charset="0"/>
                <a:cs typeface="Arial" pitchFamily="34" charset="0"/>
              </a:rPr>
              <a:t>f</a:t>
            </a:r>
            <a:r>
              <a:rPr lang="en-US" noProof="0" dirty="0">
                <a:solidFill>
                  <a:schemeClr val="tx2"/>
                </a:solidFill>
                <a:latin typeface="Arial" pitchFamily="34" charset="0"/>
                <a:cs typeface="Arial" pitchFamily="34" charset="0"/>
              </a:rPr>
              <a:t> </a:t>
            </a:r>
            <a:r>
              <a:rPr lang="en-US" noProof="0" dirty="0">
                <a:solidFill>
                  <a:srgbClr val="A50021"/>
                </a:solidFill>
                <a:latin typeface="Arial" pitchFamily="34" charset="0"/>
                <a:cs typeface="Arial" pitchFamily="34" charset="0"/>
              </a:rPr>
              <a:t>U</a:t>
            </a:r>
            <a:r>
              <a:rPr lang="en-US" noProof="0" dirty="0">
                <a:solidFill>
                  <a:schemeClr val="tx2"/>
                </a:solidFill>
                <a:latin typeface="Arial" pitchFamily="34" charset="0"/>
                <a:cs typeface="Arial" pitchFamily="34" charset="0"/>
              </a:rPr>
              <a:t> </a:t>
            </a:r>
            <a:r>
              <a:rPr lang="en-US" i="1" noProof="0" dirty="0">
                <a:solidFill>
                  <a:schemeClr val="tx2"/>
                </a:solidFill>
                <a:latin typeface="Arial" pitchFamily="34" charset="0"/>
                <a:cs typeface="Arial" pitchFamily="34" charset="0"/>
              </a:rPr>
              <a:t>g</a:t>
            </a:r>
            <a:r>
              <a:rPr lang="en-US" noProof="0" dirty="0">
                <a:latin typeface="Arial" pitchFamily="34" charset="0"/>
                <a:cs typeface="Arial" pitchFamily="34" charset="0"/>
              </a:rPr>
              <a:t>    </a:t>
            </a:r>
            <a:r>
              <a:rPr lang="en-US" noProof="0" dirty="0">
                <a:solidFill>
                  <a:schemeClr val="bg1">
                    <a:lumMod val="65000"/>
                  </a:schemeClr>
                </a:solidFill>
                <a:latin typeface="Arial" pitchFamily="34" charset="0"/>
                <a:cs typeface="Arial" pitchFamily="34" charset="0"/>
              </a:rPr>
              <a:t>//  </a:t>
            </a:r>
            <a:r>
              <a:rPr lang="en-US" i="1" noProof="0" dirty="0">
                <a:solidFill>
                  <a:schemeClr val="bg1">
                    <a:lumMod val="65000"/>
                  </a:schemeClr>
                </a:solidFill>
                <a:latin typeface="Arial" pitchFamily="34" charset="0"/>
                <a:cs typeface="Arial" pitchFamily="34" charset="0"/>
              </a:rPr>
              <a:t>f </a:t>
            </a:r>
            <a:r>
              <a:rPr lang="en-US" noProof="0" dirty="0">
                <a:solidFill>
                  <a:schemeClr val="bg1">
                    <a:lumMod val="65000"/>
                  </a:schemeClr>
                </a:solidFill>
                <a:latin typeface="Arial" pitchFamily="34" charset="0"/>
                <a:cs typeface="Arial" pitchFamily="34" charset="0"/>
              </a:rPr>
              <a:t>holds</a:t>
            </a:r>
            <a:r>
              <a:rPr lang="en-US" i="1" noProof="0" dirty="0">
                <a:solidFill>
                  <a:schemeClr val="bg1">
                    <a:lumMod val="65000"/>
                  </a:schemeClr>
                </a:solidFill>
                <a:latin typeface="Arial" pitchFamily="34" charset="0"/>
                <a:cs typeface="Arial" pitchFamily="34" charset="0"/>
              </a:rPr>
              <a:t>     </a:t>
            </a:r>
          </a:p>
          <a:p>
            <a:pPr marL="319088" indent="-319088">
              <a:lnSpc>
                <a:spcPct val="90000"/>
              </a:lnSpc>
              <a:spcBef>
                <a:spcPts val="700"/>
              </a:spcBef>
              <a:buClr>
                <a:schemeClr val="accent2"/>
              </a:buClr>
              <a:buSzPct val="60000"/>
              <a:defRPr/>
            </a:pPr>
            <a:r>
              <a:rPr lang="en-US" i="1" noProof="0" dirty="0">
                <a:solidFill>
                  <a:schemeClr val="bg1">
                    <a:lumMod val="65000"/>
                  </a:schemeClr>
                </a:solidFill>
                <a:latin typeface="Arial" pitchFamily="34" charset="0"/>
                <a:cs typeface="Arial" pitchFamily="34" charset="0"/>
              </a:rPr>
              <a:t>                  </a:t>
            </a:r>
            <a:r>
              <a:rPr lang="en-US" noProof="0" dirty="0">
                <a:solidFill>
                  <a:schemeClr val="bg1">
                    <a:lumMod val="65000"/>
                  </a:schemeClr>
                </a:solidFill>
                <a:latin typeface="Arial" pitchFamily="34" charset="0"/>
                <a:cs typeface="Arial" pitchFamily="34" charset="0"/>
              </a:rPr>
              <a:t>until </a:t>
            </a:r>
            <a:r>
              <a:rPr lang="en-US" i="1" noProof="0" dirty="0">
                <a:solidFill>
                  <a:schemeClr val="bg1">
                    <a:lumMod val="65000"/>
                  </a:schemeClr>
                </a:solidFill>
                <a:latin typeface="Arial" pitchFamily="34" charset="0"/>
                <a:cs typeface="Arial" pitchFamily="34" charset="0"/>
              </a:rPr>
              <a:t>g</a:t>
            </a:r>
          </a:p>
          <a:p>
            <a:pPr marL="319088" indent="-319088">
              <a:lnSpc>
                <a:spcPct val="90000"/>
              </a:lnSpc>
              <a:spcBef>
                <a:spcPts val="700"/>
              </a:spcBef>
              <a:buClr>
                <a:schemeClr val="accent2"/>
              </a:buClr>
              <a:buSzPct val="60000"/>
              <a:defRPr/>
            </a:pPr>
            <a:r>
              <a:rPr lang="en-US" noProof="0" dirty="0">
                <a:solidFill>
                  <a:schemeClr val="bg1">
                    <a:lumMod val="65000"/>
                  </a:schemeClr>
                </a:solidFill>
                <a:latin typeface="Arial" pitchFamily="34" charset="0"/>
                <a:cs typeface="Arial" pitchFamily="34" charset="0"/>
              </a:rPr>
              <a:t> </a:t>
            </a:r>
          </a:p>
        </p:txBody>
      </p:sp>
      <p:grpSp>
        <p:nvGrpSpPr>
          <p:cNvPr id="19461" name="Group 4"/>
          <p:cNvGrpSpPr>
            <a:grpSpLocks/>
          </p:cNvGrpSpPr>
          <p:nvPr/>
        </p:nvGrpSpPr>
        <p:grpSpPr bwMode="auto">
          <a:xfrm>
            <a:off x="3595688" y="1997075"/>
            <a:ext cx="4848225" cy="427038"/>
            <a:chOff x="2985" y="4850"/>
            <a:chExt cx="7200" cy="618"/>
          </a:xfrm>
        </p:grpSpPr>
        <p:grpSp>
          <p:nvGrpSpPr>
            <p:cNvPr id="19509" name="Group 5"/>
            <p:cNvGrpSpPr>
              <a:grpSpLocks/>
            </p:cNvGrpSpPr>
            <p:nvPr/>
          </p:nvGrpSpPr>
          <p:grpSpPr bwMode="auto">
            <a:xfrm>
              <a:off x="2985" y="4850"/>
              <a:ext cx="7200" cy="618"/>
              <a:chOff x="2835" y="4895"/>
              <a:chExt cx="7200" cy="618"/>
            </a:xfrm>
          </p:grpSpPr>
          <p:grpSp>
            <p:nvGrpSpPr>
              <p:cNvPr id="19516" name="Group 6"/>
              <p:cNvGrpSpPr>
                <a:grpSpLocks/>
              </p:cNvGrpSpPr>
              <p:nvPr/>
            </p:nvGrpSpPr>
            <p:grpSpPr bwMode="auto">
              <a:xfrm>
                <a:off x="4035" y="4895"/>
                <a:ext cx="1200" cy="618"/>
                <a:chOff x="4035" y="4741"/>
                <a:chExt cx="1200" cy="618"/>
              </a:xfrm>
            </p:grpSpPr>
            <p:sp>
              <p:nvSpPr>
                <p:cNvPr id="19532" name="AutoShape 7"/>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33" name="Line 8"/>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517" name="Group 9"/>
              <p:cNvGrpSpPr>
                <a:grpSpLocks/>
              </p:cNvGrpSpPr>
              <p:nvPr/>
            </p:nvGrpSpPr>
            <p:grpSpPr bwMode="auto">
              <a:xfrm>
                <a:off x="5235" y="4895"/>
                <a:ext cx="1200" cy="618"/>
                <a:chOff x="4035" y="4741"/>
                <a:chExt cx="1200" cy="618"/>
              </a:xfrm>
            </p:grpSpPr>
            <p:sp>
              <p:nvSpPr>
                <p:cNvPr id="19530" name="AutoShape 10"/>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31" name="Line 11"/>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518" name="Group 15"/>
              <p:cNvGrpSpPr>
                <a:grpSpLocks/>
              </p:cNvGrpSpPr>
              <p:nvPr/>
            </p:nvGrpSpPr>
            <p:grpSpPr bwMode="auto">
              <a:xfrm>
                <a:off x="6435" y="4895"/>
                <a:ext cx="1200" cy="618"/>
                <a:chOff x="4035" y="4741"/>
                <a:chExt cx="1200" cy="618"/>
              </a:xfrm>
            </p:grpSpPr>
            <p:sp>
              <p:nvSpPr>
                <p:cNvPr id="19528" name="AutoShape 13"/>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29" name="Line 14"/>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519" name="Group 15"/>
              <p:cNvGrpSpPr>
                <a:grpSpLocks/>
              </p:cNvGrpSpPr>
              <p:nvPr/>
            </p:nvGrpSpPr>
            <p:grpSpPr bwMode="auto">
              <a:xfrm>
                <a:off x="7635" y="4895"/>
                <a:ext cx="1200" cy="618"/>
                <a:chOff x="4035" y="4741"/>
                <a:chExt cx="1200" cy="618"/>
              </a:xfrm>
            </p:grpSpPr>
            <p:sp>
              <p:nvSpPr>
                <p:cNvPr id="19526" name="AutoShape 16"/>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27" name="Line 17"/>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520" name="Group 18"/>
              <p:cNvGrpSpPr>
                <a:grpSpLocks/>
              </p:cNvGrpSpPr>
              <p:nvPr/>
            </p:nvGrpSpPr>
            <p:grpSpPr bwMode="auto">
              <a:xfrm>
                <a:off x="8835" y="4895"/>
                <a:ext cx="1200" cy="618"/>
                <a:chOff x="4035" y="4741"/>
                <a:chExt cx="1200" cy="618"/>
              </a:xfrm>
            </p:grpSpPr>
            <p:sp>
              <p:nvSpPr>
                <p:cNvPr id="19524" name="AutoShape 19"/>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25" name="Line 20"/>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521" name="Group 21"/>
              <p:cNvGrpSpPr>
                <a:grpSpLocks/>
              </p:cNvGrpSpPr>
              <p:nvPr/>
            </p:nvGrpSpPr>
            <p:grpSpPr bwMode="auto">
              <a:xfrm>
                <a:off x="2835" y="4895"/>
                <a:ext cx="1200" cy="618"/>
                <a:chOff x="4035" y="4741"/>
                <a:chExt cx="1200" cy="618"/>
              </a:xfrm>
            </p:grpSpPr>
            <p:sp>
              <p:nvSpPr>
                <p:cNvPr id="19522" name="AutoShape 22"/>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23" name="Line 23"/>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sp>
          <p:nvSpPr>
            <p:cNvPr id="19510" name="Rectangle 24"/>
            <p:cNvSpPr>
              <a:spLocks noChangeArrowheads="1"/>
            </p:cNvSpPr>
            <p:nvPr/>
          </p:nvSpPr>
          <p:spPr bwMode="auto">
            <a:xfrm>
              <a:off x="2985" y="4850"/>
              <a:ext cx="600" cy="617"/>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511" name="Rectangle 25"/>
            <p:cNvSpPr>
              <a:spLocks noChangeArrowheads="1"/>
            </p:cNvSpPr>
            <p:nvPr/>
          </p:nvSpPr>
          <p:spPr bwMode="auto">
            <a:xfrm>
              <a:off x="41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512" name="Rectangle 26"/>
            <p:cNvSpPr>
              <a:spLocks noChangeArrowheads="1"/>
            </p:cNvSpPr>
            <p:nvPr/>
          </p:nvSpPr>
          <p:spPr bwMode="auto">
            <a:xfrm>
              <a:off x="53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513" name="Rectangle 27"/>
            <p:cNvSpPr>
              <a:spLocks noChangeArrowheads="1"/>
            </p:cNvSpPr>
            <p:nvPr/>
          </p:nvSpPr>
          <p:spPr bwMode="auto">
            <a:xfrm>
              <a:off x="65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514" name="Rectangle 28"/>
            <p:cNvSpPr>
              <a:spLocks noChangeArrowheads="1"/>
            </p:cNvSpPr>
            <p:nvPr/>
          </p:nvSpPr>
          <p:spPr bwMode="auto">
            <a:xfrm>
              <a:off x="77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515" name="Rectangle 29"/>
            <p:cNvSpPr>
              <a:spLocks noChangeArrowheads="1"/>
            </p:cNvSpPr>
            <p:nvPr/>
          </p:nvSpPr>
          <p:spPr bwMode="auto">
            <a:xfrm>
              <a:off x="89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grpSp>
      <p:grpSp>
        <p:nvGrpSpPr>
          <p:cNvPr id="19462" name="Group 75"/>
          <p:cNvGrpSpPr>
            <a:grpSpLocks/>
          </p:cNvGrpSpPr>
          <p:nvPr/>
        </p:nvGrpSpPr>
        <p:grpSpPr bwMode="auto">
          <a:xfrm>
            <a:off x="3667125" y="4446588"/>
            <a:ext cx="4824413" cy="431800"/>
            <a:chOff x="2685" y="2998"/>
            <a:chExt cx="7200" cy="619"/>
          </a:xfrm>
        </p:grpSpPr>
        <p:grpSp>
          <p:nvGrpSpPr>
            <p:cNvPr id="19485" name="Group 76"/>
            <p:cNvGrpSpPr>
              <a:grpSpLocks/>
            </p:cNvGrpSpPr>
            <p:nvPr/>
          </p:nvGrpSpPr>
          <p:grpSpPr bwMode="auto">
            <a:xfrm>
              <a:off x="2685" y="2998"/>
              <a:ext cx="7200" cy="618"/>
              <a:chOff x="2835" y="4895"/>
              <a:chExt cx="7200" cy="618"/>
            </a:xfrm>
          </p:grpSpPr>
          <p:grpSp>
            <p:nvGrpSpPr>
              <p:cNvPr id="19491" name="Group 77"/>
              <p:cNvGrpSpPr>
                <a:grpSpLocks/>
              </p:cNvGrpSpPr>
              <p:nvPr/>
            </p:nvGrpSpPr>
            <p:grpSpPr bwMode="auto">
              <a:xfrm>
                <a:off x="4035" y="4895"/>
                <a:ext cx="1200" cy="618"/>
                <a:chOff x="4035" y="4741"/>
                <a:chExt cx="1200" cy="618"/>
              </a:xfrm>
            </p:grpSpPr>
            <p:sp>
              <p:nvSpPr>
                <p:cNvPr id="19507" name="AutoShape 78"/>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08" name="Line 79"/>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92" name="Group 80"/>
              <p:cNvGrpSpPr>
                <a:grpSpLocks/>
              </p:cNvGrpSpPr>
              <p:nvPr/>
            </p:nvGrpSpPr>
            <p:grpSpPr bwMode="auto">
              <a:xfrm>
                <a:off x="5235" y="4895"/>
                <a:ext cx="1200" cy="618"/>
                <a:chOff x="4035" y="4741"/>
                <a:chExt cx="1200" cy="618"/>
              </a:xfrm>
            </p:grpSpPr>
            <p:sp>
              <p:nvSpPr>
                <p:cNvPr id="19505" name="AutoShape 81"/>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06" name="Line 82"/>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93" name="Group 83"/>
              <p:cNvGrpSpPr>
                <a:grpSpLocks/>
              </p:cNvGrpSpPr>
              <p:nvPr/>
            </p:nvGrpSpPr>
            <p:grpSpPr bwMode="auto">
              <a:xfrm>
                <a:off x="6435" y="4895"/>
                <a:ext cx="1200" cy="618"/>
                <a:chOff x="4035" y="4741"/>
                <a:chExt cx="1200" cy="618"/>
              </a:xfrm>
            </p:grpSpPr>
            <p:sp>
              <p:nvSpPr>
                <p:cNvPr id="19503" name="AutoShape 84"/>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04" name="Line 85"/>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94" name="Group 86"/>
              <p:cNvGrpSpPr>
                <a:grpSpLocks/>
              </p:cNvGrpSpPr>
              <p:nvPr/>
            </p:nvGrpSpPr>
            <p:grpSpPr bwMode="auto">
              <a:xfrm>
                <a:off x="7635" y="4895"/>
                <a:ext cx="1200" cy="618"/>
                <a:chOff x="4035" y="4741"/>
                <a:chExt cx="1200" cy="618"/>
              </a:xfrm>
            </p:grpSpPr>
            <p:sp>
              <p:nvSpPr>
                <p:cNvPr id="19501" name="AutoShape 87"/>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02" name="Line 88"/>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95" name="Group 89"/>
              <p:cNvGrpSpPr>
                <a:grpSpLocks/>
              </p:cNvGrpSpPr>
              <p:nvPr/>
            </p:nvGrpSpPr>
            <p:grpSpPr bwMode="auto">
              <a:xfrm>
                <a:off x="8835" y="4895"/>
                <a:ext cx="1200" cy="618"/>
                <a:chOff x="4035" y="4741"/>
                <a:chExt cx="1200" cy="618"/>
              </a:xfrm>
            </p:grpSpPr>
            <p:sp>
              <p:nvSpPr>
                <p:cNvPr id="19499" name="AutoShape 90"/>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500" name="Line 91"/>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96" name="Group 92"/>
              <p:cNvGrpSpPr>
                <a:grpSpLocks/>
              </p:cNvGrpSpPr>
              <p:nvPr/>
            </p:nvGrpSpPr>
            <p:grpSpPr bwMode="auto">
              <a:xfrm>
                <a:off x="2835" y="4895"/>
                <a:ext cx="1200" cy="618"/>
                <a:chOff x="4035" y="4741"/>
                <a:chExt cx="1200" cy="618"/>
              </a:xfrm>
            </p:grpSpPr>
            <p:sp>
              <p:nvSpPr>
                <p:cNvPr id="19497" name="AutoShape 93"/>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498" name="Line 94"/>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sp>
          <p:nvSpPr>
            <p:cNvPr id="19486" name="Rectangle 95"/>
            <p:cNvSpPr>
              <a:spLocks noChangeArrowheads="1"/>
            </p:cNvSpPr>
            <p:nvPr/>
          </p:nvSpPr>
          <p:spPr bwMode="auto">
            <a:xfrm>
              <a:off x="3885" y="2998"/>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487" name="Rectangle 96"/>
            <p:cNvSpPr>
              <a:spLocks noChangeArrowheads="1"/>
            </p:cNvSpPr>
            <p:nvPr/>
          </p:nvSpPr>
          <p:spPr bwMode="auto">
            <a:xfrm>
              <a:off x="2685" y="2998"/>
              <a:ext cx="600" cy="61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488" name="Rectangle 97"/>
            <p:cNvSpPr>
              <a:spLocks noChangeArrowheads="1"/>
            </p:cNvSpPr>
            <p:nvPr/>
          </p:nvSpPr>
          <p:spPr bwMode="auto">
            <a:xfrm>
              <a:off x="5085" y="2998"/>
              <a:ext cx="600" cy="61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489" name="Rectangle 98"/>
            <p:cNvSpPr>
              <a:spLocks noChangeArrowheads="1"/>
            </p:cNvSpPr>
            <p:nvPr/>
          </p:nvSpPr>
          <p:spPr bwMode="auto">
            <a:xfrm>
              <a:off x="6285" y="2998"/>
              <a:ext cx="600" cy="61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19490" name="Rectangle 99"/>
            <p:cNvSpPr>
              <a:spLocks noChangeArrowheads="1"/>
            </p:cNvSpPr>
            <p:nvPr/>
          </p:nvSpPr>
          <p:spPr bwMode="auto">
            <a:xfrm>
              <a:off x="7485" y="2998"/>
              <a:ext cx="600" cy="619"/>
            </a:xfrm>
            <a:prstGeom prst="rect">
              <a:avLst/>
            </a:prstGeom>
            <a:solidFill>
              <a:srgbClr val="FFFFFF">
                <a:alpha val="0"/>
              </a:srgbClr>
            </a:solidFill>
            <a:ln w="9525">
              <a:noFill/>
              <a:miter lim="800000"/>
              <a:headEnd/>
              <a:tailEnd/>
            </a:ln>
          </p:spPr>
          <p:txBody>
            <a:bodyPr/>
            <a:lstStyle/>
            <a:p>
              <a:pPr eaLnBrk="0" hangingPunct="0"/>
              <a:r>
                <a:rPr lang="en-US" i="1" noProof="0" dirty="0">
                  <a:latin typeface="Tahoma" pitchFamily="34" charset="0"/>
                </a:rPr>
                <a:t>g</a:t>
              </a:r>
              <a:endParaRPr lang="en-US" sz="1800" i="1" noProof="0" dirty="0">
                <a:latin typeface="Tahoma" pitchFamily="34" charset="0"/>
              </a:endParaRPr>
            </a:p>
          </p:txBody>
        </p:sp>
      </p:grpSp>
      <p:grpSp>
        <p:nvGrpSpPr>
          <p:cNvPr id="19463" name="Group 125"/>
          <p:cNvGrpSpPr>
            <a:grpSpLocks/>
          </p:cNvGrpSpPr>
          <p:nvPr/>
        </p:nvGrpSpPr>
        <p:grpSpPr bwMode="auto">
          <a:xfrm>
            <a:off x="3532188" y="3181350"/>
            <a:ext cx="4819650" cy="461963"/>
            <a:chOff x="2408" y="2260"/>
            <a:chExt cx="3036" cy="291"/>
          </a:xfrm>
        </p:grpSpPr>
        <p:grpSp>
          <p:nvGrpSpPr>
            <p:cNvPr id="19464" name="Group 55"/>
            <p:cNvGrpSpPr>
              <a:grpSpLocks/>
            </p:cNvGrpSpPr>
            <p:nvPr/>
          </p:nvGrpSpPr>
          <p:grpSpPr bwMode="auto">
            <a:xfrm>
              <a:off x="2912" y="2269"/>
              <a:ext cx="506" cy="279"/>
              <a:chOff x="4035" y="4741"/>
              <a:chExt cx="1200" cy="618"/>
            </a:xfrm>
          </p:grpSpPr>
          <p:sp>
            <p:nvSpPr>
              <p:cNvPr id="19483" name="AutoShape 56"/>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484" name="Line 57"/>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65" name="Group 58"/>
            <p:cNvGrpSpPr>
              <a:grpSpLocks/>
            </p:cNvGrpSpPr>
            <p:nvPr/>
          </p:nvGrpSpPr>
          <p:grpSpPr bwMode="auto">
            <a:xfrm>
              <a:off x="3421" y="2269"/>
              <a:ext cx="508" cy="279"/>
              <a:chOff x="4035" y="4741"/>
              <a:chExt cx="1200" cy="618"/>
            </a:xfrm>
          </p:grpSpPr>
          <p:sp>
            <p:nvSpPr>
              <p:cNvPr id="19481" name="AutoShape 59"/>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482" name="Line 60"/>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66" name="Group 61"/>
            <p:cNvGrpSpPr>
              <a:grpSpLocks/>
            </p:cNvGrpSpPr>
            <p:nvPr/>
          </p:nvGrpSpPr>
          <p:grpSpPr bwMode="auto">
            <a:xfrm>
              <a:off x="3925" y="2269"/>
              <a:ext cx="506" cy="279"/>
              <a:chOff x="4035" y="4741"/>
              <a:chExt cx="1200" cy="618"/>
            </a:xfrm>
          </p:grpSpPr>
          <p:sp>
            <p:nvSpPr>
              <p:cNvPr id="19479" name="AutoShape 62"/>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480" name="Line 63"/>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67" name="Group 64"/>
            <p:cNvGrpSpPr>
              <a:grpSpLocks/>
            </p:cNvGrpSpPr>
            <p:nvPr/>
          </p:nvGrpSpPr>
          <p:grpSpPr bwMode="auto">
            <a:xfrm>
              <a:off x="4434" y="2269"/>
              <a:ext cx="508" cy="279"/>
              <a:chOff x="4035" y="4741"/>
              <a:chExt cx="1200" cy="618"/>
            </a:xfrm>
          </p:grpSpPr>
          <p:sp>
            <p:nvSpPr>
              <p:cNvPr id="19477" name="AutoShape 65"/>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478" name="Line 66"/>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68" name="Group 67"/>
            <p:cNvGrpSpPr>
              <a:grpSpLocks/>
            </p:cNvGrpSpPr>
            <p:nvPr/>
          </p:nvGrpSpPr>
          <p:grpSpPr bwMode="auto">
            <a:xfrm>
              <a:off x="4938" y="2269"/>
              <a:ext cx="506" cy="279"/>
              <a:chOff x="4035" y="4741"/>
              <a:chExt cx="1200" cy="618"/>
            </a:xfrm>
          </p:grpSpPr>
          <p:sp>
            <p:nvSpPr>
              <p:cNvPr id="19475" name="AutoShape 68"/>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476" name="Line 69"/>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19469" name="Group 70"/>
            <p:cNvGrpSpPr>
              <a:grpSpLocks/>
            </p:cNvGrpSpPr>
            <p:nvPr/>
          </p:nvGrpSpPr>
          <p:grpSpPr bwMode="auto">
            <a:xfrm>
              <a:off x="2408" y="2269"/>
              <a:ext cx="508" cy="279"/>
              <a:chOff x="4035" y="4741"/>
              <a:chExt cx="1200" cy="618"/>
            </a:xfrm>
          </p:grpSpPr>
          <p:sp>
            <p:nvSpPr>
              <p:cNvPr id="19473" name="AutoShape 71"/>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19474" name="Line 72"/>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sp>
          <p:nvSpPr>
            <p:cNvPr id="19470" name="Rectangle 73"/>
            <p:cNvSpPr>
              <a:spLocks noChangeArrowheads="1"/>
            </p:cNvSpPr>
            <p:nvPr/>
          </p:nvSpPr>
          <p:spPr bwMode="auto">
            <a:xfrm>
              <a:off x="3925" y="2263"/>
              <a:ext cx="253" cy="27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a:t>
              </a:r>
              <a:endParaRPr lang="en-US" sz="1800" i="1" noProof="0" dirty="0">
                <a:latin typeface="Tahoma" pitchFamily="34" charset="0"/>
              </a:endParaRPr>
            </a:p>
          </p:txBody>
        </p:sp>
        <p:sp>
          <p:nvSpPr>
            <p:cNvPr id="19471" name="Rectangle 74"/>
            <p:cNvSpPr>
              <a:spLocks noChangeArrowheads="1"/>
            </p:cNvSpPr>
            <p:nvPr/>
          </p:nvSpPr>
          <p:spPr bwMode="auto">
            <a:xfrm>
              <a:off x="3418" y="2263"/>
              <a:ext cx="253" cy="279"/>
            </a:xfrm>
            <a:prstGeom prst="rect">
              <a:avLst/>
            </a:prstGeom>
            <a:solidFill>
              <a:srgbClr val="FFFFFF">
                <a:alpha val="0"/>
              </a:srgbClr>
            </a:solidFill>
            <a:ln w="9525">
              <a:noFill/>
              <a:miter lim="800000"/>
              <a:headEnd/>
              <a:tailEnd/>
            </a:ln>
          </p:spPr>
          <p:txBody>
            <a:bodyPr lIns="0" rIns="0"/>
            <a:lstStyle/>
            <a:p>
              <a:pPr algn="ctr" eaLnBrk="0" hangingPunct="0"/>
              <a:endParaRPr lang="en-US" sz="1800" i="1" noProof="0" dirty="0">
                <a:latin typeface="Tahoma" pitchFamily="34" charset="0"/>
              </a:endParaRPr>
            </a:p>
          </p:txBody>
        </p:sp>
        <p:sp>
          <p:nvSpPr>
            <p:cNvPr id="19472" name="Text Box 124"/>
            <p:cNvSpPr txBox="1">
              <a:spLocks noChangeArrowheads="1"/>
            </p:cNvSpPr>
            <p:nvPr/>
          </p:nvSpPr>
          <p:spPr bwMode="auto">
            <a:xfrm>
              <a:off x="2951" y="2260"/>
              <a:ext cx="213" cy="291"/>
            </a:xfrm>
            <a:prstGeom prst="rect">
              <a:avLst/>
            </a:prstGeom>
            <a:noFill/>
            <a:ln w="9525">
              <a:noFill/>
              <a:miter lim="800000"/>
              <a:headEnd/>
              <a:tailEnd/>
            </a:ln>
          </p:spPr>
          <p:txBody>
            <a:bodyPr wrap="none">
              <a:spAutoFit/>
            </a:bodyPr>
            <a:lstStyle/>
            <a:p>
              <a:r>
                <a:rPr lang="en-US" i="1" noProof="0" dirty="0"/>
                <a:t>g</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You can combine operators</a:t>
            </a:r>
          </a:p>
        </p:txBody>
      </p:sp>
      <p:sp>
        <p:nvSpPr>
          <p:cNvPr id="41987" name="Rectangle 3"/>
          <p:cNvSpPr>
            <a:spLocks noGrp="1" noChangeArrowheads="1"/>
          </p:cNvSpPr>
          <p:nvPr>
            <p:ph sz="quarter" idx="1"/>
          </p:nvPr>
        </p:nvSpPr>
        <p:spPr>
          <a:xfrm>
            <a:off x="419101" y="1905001"/>
            <a:ext cx="8559800" cy="3962400"/>
          </a:xfrm>
        </p:spPr>
        <p:txBody>
          <a:bodyPr/>
          <a:lstStyle/>
          <a:p>
            <a:pPr eaLnBrk="1" hangingPunct="1">
              <a:defRPr/>
            </a:pPr>
            <a:r>
              <a:rPr lang="en-US" noProof="0" dirty="0">
                <a:sym typeface="Wingdings"/>
              </a:rPr>
              <a:t>☐</a:t>
            </a:r>
            <a:r>
              <a:rPr lang="en-US" noProof="0" dirty="0"/>
              <a:t>( </a:t>
            </a:r>
            <a:r>
              <a:rPr lang="en-US" i="1" noProof="0" dirty="0"/>
              <a:t>p</a:t>
            </a:r>
            <a:r>
              <a:rPr lang="en-US" noProof="0" dirty="0"/>
              <a:t> </a:t>
            </a:r>
            <a:r>
              <a:rPr lang="en-US" noProof="0" dirty="0">
                <a:sym typeface="Symbol"/>
              </a:rPr>
              <a:t></a:t>
            </a:r>
            <a:r>
              <a:rPr lang="en-US" noProof="0" dirty="0">
                <a:sym typeface="Wingdings" pitchFamily="2" charset="2"/>
              </a:rPr>
              <a:t> (true </a:t>
            </a:r>
            <a:r>
              <a:rPr lang="en-US" noProof="0" dirty="0">
                <a:solidFill>
                  <a:srgbClr val="C00000"/>
                </a:solidFill>
                <a:sym typeface="Wingdings" pitchFamily="2" charset="2"/>
              </a:rPr>
              <a:t>U</a:t>
            </a:r>
            <a:r>
              <a:rPr lang="en-US" noProof="0" dirty="0">
                <a:sym typeface="Wingdings" pitchFamily="2" charset="2"/>
              </a:rPr>
              <a:t> </a:t>
            </a:r>
            <a:r>
              <a:rPr lang="en-US" i="1" noProof="0" dirty="0"/>
              <a:t>q</a:t>
            </a:r>
            <a:r>
              <a:rPr lang="en-US" noProof="0" dirty="0"/>
              <a:t> ))            </a:t>
            </a:r>
            <a:r>
              <a:rPr lang="en-US" sz="1600" noProof="0" dirty="0">
                <a:solidFill>
                  <a:schemeClr val="bg1">
                    <a:lumMod val="75000"/>
                  </a:schemeClr>
                </a:solidFill>
              </a:rPr>
              <a:t>// whenever p holds, eventually q will hold</a:t>
            </a:r>
          </a:p>
          <a:p>
            <a:pPr eaLnBrk="1" hangingPunct="1">
              <a:defRPr/>
            </a:pPr>
            <a:endParaRPr lang="en-US" sz="1600" noProof="0" dirty="0"/>
          </a:p>
          <a:p>
            <a:pPr eaLnBrk="1" hangingPunct="1">
              <a:defRPr/>
            </a:pPr>
            <a:r>
              <a:rPr lang="en-US" i="1" noProof="0" dirty="0"/>
              <a:t>p</a:t>
            </a:r>
            <a:r>
              <a:rPr lang="en-US" noProof="0" dirty="0"/>
              <a:t>  </a:t>
            </a:r>
            <a:r>
              <a:rPr lang="en-US" noProof="0" dirty="0">
                <a:solidFill>
                  <a:srgbClr val="C00000"/>
                </a:solidFill>
                <a:sym typeface="Wingdings" pitchFamily="2" charset="2"/>
              </a:rPr>
              <a:t>U</a:t>
            </a:r>
            <a:r>
              <a:rPr lang="en-US" noProof="0" dirty="0">
                <a:sym typeface="Wingdings" pitchFamily="2" charset="2"/>
              </a:rPr>
              <a:t> ( </a:t>
            </a:r>
            <a:r>
              <a:rPr lang="en-US" i="1" noProof="0" dirty="0">
                <a:sym typeface="Wingdings" pitchFamily="2" charset="2"/>
              </a:rPr>
              <a:t>q</a:t>
            </a:r>
            <a:r>
              <a:rPr lang="en-US" noProof="0" dirty="0">
                <a:sym typeface="Wingdings" pitchFamily="2" charset="2"/>
              </a:rPr>
              <a:t> </a:t>
            </a:r>
            <a:r>
              <a:rPr lang="en-US" noProof="0" dirty="0">
                <a:solidFill>
                  <a:srgbClr val="C00000"/>
                </a:solidFill>
                <a:sym typeface="Wingdings" pitchFamily="2" charset="2"/>
              </a:rPr>
              <a:t>U</a:t>
            </a:r>
            <a:r>
              <a:rPr lang="en-US" noProof="0" dirty="0">
                <a:sym typeface="Wingdings" pitchFamily="2" charset="2"/>
              </a:rPr>
              <a:t> </a:t>
            </a:r>
            <a:r>
              <a:rPr lang="en-US" i="1" noProof="0" dirty="0">
                <a:sym typeface="Wingdings" pitchFamily="2" charset="2"/>
              </a:rPr>
              <a:t>r</a:t>
            </a:r>
            <a:r>
              <a:rPr lang="en-US" noProof="0" dirty="0">
                <a:sym typeface="Wingdings" pitchFamily="2" charset="2"/>
              </a:rPr>
              <a:t>)      </a:t>
            </a:r>
          </a:p>
          <a:p>
            <a:pPr eaLnBrk="1" hangingPunct="1">
              <a:defRPr/>
            </a:pPr>
            <a:endParaRPr lang="en-US" noProof="0" dirty="0">
              <a:sym typeface="Wingdings" pitchFamily="2" charset="2"/>
            </a:endParaRPr>
          </a:p>
          <a:p>
            <a:pPr eaLnBrk="1" hangingPunct="1">
              <a:defRPr/>
            </a:pPr>
            <a:r>
              <a:rPr lang="en-US" noProof="0" dirty="0">
                <a:sym typeface="Wingdings" pitchFamily="2" charset="2"/>
              </a:rPr>
              <a:t>true</a:t>
            </a:r>
            <a:r>
              <a:rPr lang="en-US" noProof="0" dirty="0">
                <a:solidFill>
                  <a:srgbClr val="C00000"/>
                </a:solidFill>
                <a:sym typeface="Wingdings" pitchFamily="2" charset="2"/>
              </a:rPr>
              <a:t>  U </a:t>
            </a:r>
            <a:r>
              <a:rPr lang="en-US" noProof="0" dirty="0">
                <a:sym typeface="Wingdings"/>
              </a:rPr>
              <a:t>☐</a:t>
            </a:r>
            <a:r>
              <a:rPr lang="en-US" i="1" noProof="0" dirty="0">
                <a:sym typeface="Wingdings" pitchFamily="2" charset="2"/>
              </a:rPr>
              <a:t>p</a:t>
            </a:r>
            <a:r>
              <a:rPr lang="en-US" noProof="0" dirty="0">
                <a:sym typeface="Wingdings" pitchFamily="2" charset="2"/>
              </a:rPr>
              <a:t>                           	</a:t>
            </a:r>
            <a:r>
              <a:rPr lang="en-US" sz="1600" noProof="0" dirty="0">
                <a:solidFill>
                  <a:schemeClr val="bg1">
                    <a:lumMod val="75000"/>
                  </a:schemeClr>
                </a:solidFill>
                <a:sym typeface="Wingdings" pitchFamily="2" charset="2"/>
              </a:rPr>
              <a:t>// eventually stabilizing to p</a:t>
            </a:r>
          </a:p>
          <a:p>
            <a:pPr eaLnBrk="1" hangingPunct="1">
              <a:defRPr/>
            </a:pPr>
            <a:endParaRPr lang="en-US" sz="1600" noProof="0" dirty="0">
              <a:sym typeface="Wingdings" pitchFamily="2" charset="2"/>
            </a:endParaRPr>
          </a:p>
          <a:p>
            <a:pPr eaLnBrk="1" hangingPunct="1">
              <a:defRPr/>
            </a:pPr>
            <a:r>
              <a:rPr lang="en-US" noProof="0" dirty="0">
                <a:sym typeface="Wingdings"/>
              </a:rPr>
              <a:t>☐(true </a:t>
            </a:r>
            <a:r>
              <a:rPr lang="en-US" noProof="0" dirty="0">
                <a:solidFill>
                  <a:srgbClr val="FF0000"/>
                </a:solidFill>
                <a:sym typeface="Wingdings"/>
              </a:rPr>
              <a:t>U</a:t>
            </a:r>
            <a:r>
              <a:rPr lang="en-US" noProof="0" dirty="0">
                <a:sym typeface="Wingdings"/>
              </a:rPr>
              <a:t> p)</a:t>
            </a:r>
            <a:r>
              <a:rPr lang="en-US" noProof="0" dirty="0">
                <a:sym typeface="Wingdings" pitchFamily="2" charset="2"/>
              </a:rPr>
              <a:t> 	       		</a:t>
            </a:r>
            <a:r>
              <a:rPr lang="en-US" sz="1600" noProof="0" dirty="0">
                <a:solidFill>
                  <a:schemeClr val="bg1">
                    <a:lumMod val="75000"/>
                  </a:schemeClr>
                </a:solidFill>
                <a:sym typeface="Wingdings" pitchFamily="2" charset="2"/>
              </a:rPr>
              <a:t>// p holds infinitely many often</a:t>
            </a:r>
            <a:endParaRPr lang="en-US" sz="1600" noProof="0" dirty="0">
              <a:sym typeface="Wingdings" pitchFamily="2" charset="2"/>
            </a:endParaRPr>
          </a:p>
          <a:p>
            <a:pPr eaLnBrk="1" hangingPunct="1">
              <a:defRPr/>
            </a:pPr>
            <a:endParaRPr lang="en-US" noProof="0" dirty="0"/>
          </a:p>
        </p:txBody>
      </p:sp>
      <p:sp>
        <p:nvSpPr>
          <p:cNvPr id="5" name="Tijdelijke aanduiding voor dianummer 4"/>
          <p:cNvSpPr>
            <a:spLocks noGrp="1"/>
          </p:cNvSpPr>
          <p:nvPr>
            <p:ph type="sldNum" sz="quarter" idx="12"/>
          </p:nvPr>
        </p:nvSpPr>
        <p:spPr/>
        <p:txBody>
          <a:bodyPr/>
          <a:lstStyle/>
          <a:p>
            <a:pPr>
              <a:defRPr/>
            </a:pPr>
            <a:fld id="{FD86564D-BC6A-4C2A-AB75-796ADE01BEFB}" type="slidenum">
              <a:rPr lang="en-US" noProof="0"/>
              <a:pPr>
                <a:defRPr/>
              </a:pPr>
              <a:t>16</a:t>
            </a:fld>
            <a:endParaRPr lang="en-US"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Syntax</a:t>
            </a:r>
          </a:p>
        </p:txBody>
      </p:sp>
      <p:sp>
        <p:nvSpPr>
          <p:cNvPr id="22531" name="Rectangle 3"/>
          <p:cNvSpPr>
            <a:spLocks noGrp="1" noChangeArrowheads="1"/>
          </p:cNvSpPr>
          <p:nvPr>
            <p:ph sz="quarter" idx="1"/>
          </p:nvPr>
        </p:nvSpPr>
        <p:spPr>
          <a:xfrm>
            <a:off x="762000" y="1219200"/>
            <a:ext cx="7696200" cy="5046663"/>
          </a:xfrm>
        </p:spPr>
        <p:txBody>
          <a:bodyPr/>
          <a:lstStyle/>
          <a:p>
            <a:pPr eaLnBrk="1" hangingPunct="1"/>
            <a:r>
              <a:rPr lang="en-US" noProof="0" dirty="0">
                <a:cs typeface="Arial" charset="0"/>
                <a:sym typeface="Symbol" pitchFamily="18" charset="2"/>
              </a:rPr>
              <a:t></a:t>
            </a:r>
            <a:r>
              <a:rPr lang="en-US" noProof="0" dirty="0">
                <a:cs typeface="Arial" charset="0"/>
              </a:rPr>
              <a:t> ::=     </a:t>
            </a:r>
            <a:r>
              <a:rPr lang="en-US" i="1" noProof="0" dirty="0">
                <a:cs typeface="Arial" charset="0"/>
              </a:rPr>
              <a:t>p</a:t>
            </a:r>
            <a:r>
              <a:rPr lang="en-US" noProof="0" dirty="0">
                <a:cs typeface="Arial" charset="0"/>
              </a:rPr>
              <a:t>         </a:t>
            </a:r>
            <a:r>
              <a:rPr lang="en-US" noProof="0" dirty="0">
                <a:solidFill>
                  <a:schemeClr val="folHlink"/>
                </a:solidFill>
                <a:cs typeface="Arial" charset="0"/>
              </a:rPr>
              <a:t>// atomic proposition from </a:t>
            </a:r>
            <a:r>
              <a:rPr lang="en-US" i="1" noProof="0" dirty="0">
                <a:solidFill>
                  <a:srgbClr val="C00000"/>
                </a:solidFill>
                <a:cs typeface="Arial" charset="0"/>
              </a:rPr>
              <a:t>Prop</a:t>
            </a:r>
            <a:endParaRPr lang="en-US" noProof="0" dirty="0">
              <a:solidFill>
                <a:srgbClr val="C00000"/>
              </a:solidFill>
              <a:cs typeface="Arial" charset="0"/>
            </a:endParaRPr>
          </a:p>
          <a:p>
            <a:pPr eaLnBrk="1" hangingPunct="1"/>
            <a:endParaRPr lang="en-US" noProof="0" dirty="0">
              <a:solidFill>
                <a:srgbClr val="C00000"/>
              </a:solidFill>
              <a:cs typeface="Arial" charset="0"/>
            </a:endParaRPr>
          </a:p>
          <a:p>
            <a:pPr lvl="1" eaLnBrk="1" hangingPunct="1">
              <a:buFontTx/>
              <a:buNone/>
            </a:pPr>
            <a:r>
              <a:rPr lang="en-US" noProof="0" dirty="0">
                <a:cs typeface="Arial" charset="0"/>
              </a:rPr>
              <a:t>      |  </a:t>
            </a:r>
            <a:r>
              <a:rPr lang="en-US" noProof="0" dirty="0">
                <a:cs typeface="Arial" charset="0"/>
                <a:sym typeface="Symbol" pitchFamily="18" charset="2"/>
              </a:rPr>
              <a:t></a:t>
            </a:r>
            <a:r>
              <a:rPr lang="en-US" i="1" noProof="0" dirty="0">
                <a:cs typeface="Arial" charset="0"/>
              </a:rPr>
              <a:t>    </a:t>
            </a:r>
            <a:r>
              <a:rPr lang="en-US" noProof="0" dirty="0">
                <a:cs typeface="Arial" charset="0"/>
              </a:rPr>
              <a:t>  |      </a:t>
            </a:r>
            <a:r>
              <a:rPr lang="en-US" noProof="0" dirty="0">
                <a:cs typeface="Arial" charset="0"/>
                <a:sym typeface="Symbol" pitchFamily="18" charset="2"/>
              </a:rPr>
              <a:t> /\       </a:t>
            </a:r>
            <a:r>
              <a:rPr lang="en-US" noProof="0" dirty="0">
                <a:cs typeface="Arial" charset="0"/>
              </a:rPr>
              <a:t>|  </a:t>
            </a:r>
            <a:r>
              <a:rPr lang="en-US" noProof="0" dirty="0">
                <a:solidFill>
                  <a:srgbClr val="A50021"/>
                </a:solidFill>
                <a:cs typeface="Arial" charset="0"/>
              </a:rPr>
              <a:t>X</a:t>
            </a:r>
            <a:r>
              <a:rPr lang="en-US" noProof="0" dirty="0">
                <a:cs typeface="Arial" charset="0"/>
                <a:sym typeface="Symbol" pitchFamily="18" charset="2"/>
              </a:rPr>
              <a:t> </a:t>
            </a:r>
            <a:r>
              <a:rPr lang="en-US" noProof="0" dirty="0">
                <a:cs typeface="Arial" charset="0"/>
              </a:rPr>
              <a:t> </a:t>
            </a:r>
            <a:r>
              <a:rPr lang="en-US" i="1" noProof="0" dirty="0">
                <a:cs typeface="Arial" charset="0"/>
              </a:rPr>
              <a:t>     </a:t>
            </a:r>
            <a:r>
              <a:rPr lang="en-US" noProof="0" dirty="0">
                <a:cs typeface="Arial" charset="0"/>
              </a:rPr>
              <a:t>|     </a:t>
            </a:r>
            <a:r>
              <a:rPr lang="en-US" noProof="0" dirty="0">
                <a:cs typeface="Arial" charset="0"/>
                <a:sym typeface="Symbol" pitchFamily="18" charset="2"/>
              </a:rPr>
              <a:t> </a:t>
            </a:r>
            <a:r>
              <a:rPr lang="en-US" noProof="0" dirty="0">
                <a:solidFill>
                  <a:srgbClr val="A50021"/>
                </a:solidFill>
                <a:cs typeface="Arial" charset="0"/>
                <a:sym typeface="Symbol" pitchFamily="18" charset="2"/>
              </a:rPr>
              <a:t>U</a:t>
            </a:r>
            <a:r>
              <a:rPr lang="en-US" noProof="0" dirty="0">
                <a:cs typeface="Arial" charset="0"/>
                <a:sym typeface="Symbol" pitchFamily="18" charset="2"/>
              </a:rPr>
              <a:t> </a:t>
            </a:r>
          </a:p>
          <a:p>
            <a:pPr lvl="1" eaLnBrk="1" hangingPunct="1">
              <a:buFontTx/>
              <a:buNone/>
            </a:pPr>
            <a:endParaRPr lang="en-US" noProof="0" dirty="0">
              <a:cs typeface="Arial" charset="0"/>
              <a:sym typeface="Symbol" pitchFamily="18" charset="2"/>
            </a:endParaRPr>
          </a:p>
          <a:p>
            <a:pPr eaLnBrk="1" hangingPunct="1"/>
            <a:r>
              <a:rPr lang="en-US" noProof="0" dirty="0">
                <a:cs typeface="Arial" charset="0"/>
                <a:sym typeface="Symbol" pitchFamily="18" charset="2"/>
              </a:rPr>
              <a:t>Derived operators:</a:t>
            </a:r>
          </a:p>
          <a:p>
            <a:pPr lvl="1" eaLnBrk="1" hangingPunct="1"/>
            <a:r>
              <a:rPr lang="en-US" noProof="0" dirty="0">
                <a:cs typeface="Arial" charset="0"/>
                <a:sym typeface="Symbol" pitchFamily="18" charset="2"/>
              </a:rPr>
              <a:t> \/     =   (   /\  )</a:t>
            </a:r>
          </a:p>
          <a:p>
            <a:pPr lvl="1" eaLnBrk="1" hangingPunct="1"/>
            <a:r>
              <a:rPr lang="en-US" noProof="0" dirty="0">
                <a:cs typeface="Arial" charset="0"/>
                <a:sym typeface="Symbol" pitchFamily="18" charset="2"/>
              </a:rPr>
              <a:t>     =    \/  </a:t>
            </a:r>
          </a:p>
          <a:p>
            <a:pPr lvl="1" eaLnBrk="1" hangingPunct="1"/>
            <a:r>
              <a:rPr lang="en-US" noProof="0" dirty="0">
                <a:cs typeface="Arial" charset="0"/>
                <a:sym typeface="Symbol" pitchFamily="18" charset="2"/>
              </a:rPr>
              <a:t> , </a:t>
            </a:r>
            <a:r>
              <a:rPr lang="en-US" noProof="0" dirty="0">
                <a:cs typeface="Arial" charset="0"/>
                <a:sym typeface="Symbol"/>
              </a:rPr>
              <a:t> </a:t>
            </a:r>
            <a:r>
              <a:rPr lang="en-US" noProof="0" dirty="0">
                <a:cs typeface="Arial" charset="0"/>
                <a:sym typeface="Symbol" pitchFamily="18" charset="2"/>
              </a:rPr>
              <a:t>,  W , …</a:t>
            </a:r>
          </a:p>
          <a:p>
            <a:pPr eaLnBrk="1" hangingPunct="1"/>
            <a:endParaRPr lang="en-US" noProof="0" dirty="0">
              <a:cs typeface="Arial" charset="0"/>
              <a:sym typeface="Symbol" pitchFamily="18" charset="2"/>
            </a:endParaRPr>
          </a:p>
          <a:p>
            <a:pPr eaLnBrk="1" hangingPunct="1"/>
            <a:r>
              <a:rPr lang="en-US" noProof="0" dirty="0">
                <a:cs typeface="Arial" charset="0"/>
                <a:sym typeface="Symbol" pitchFamily="18" charset="2"/>
              </a:rPr>
              <a:t>Interpreted over abstract executions.</a:t>
            </a:r>
          </a:p>
        </p:txBody>
      </p:sp>
      <p:sp>
        <p:nvSpPr>
          <p:cNvPr id="2253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noProof="0" dirty="0"/>
          </a:p>
        </p:txBody>
      </p:sp>
      <p:sp>
        <p:nvSpPr>
          <p:cNvPr id="6" name="Tijdelijke aanduiding voor dianummer 5"/>
          <p:cNvSpPr>
            <a:spLocks noGrp="1"/>
          </p:cNvSpPr>
          <p:nvPr>
            <p:ph type="sldNum" sz="quarter" idx="12"/>
          </p:nvPr>
        </p:nvSpPr>
        <p:spPr/>
        <p:txBody>
          <a:bodyPr/>
          <a:lstStyle/>
          <a:p>
            <a:pPr>
              <a:defRPr/>
            </a:pPr>
            <a:fld id="{02E1624B-FCC9-4920-AB53-CFF4A36EA050}" type="slidenum">
              <a:rPr lang="en-US" noProof="0"/>
              <a:pPr>
                <a:defRPr/>
              </a:pPr>
              <a:t>17</a:t>
            </a:fld>
            <a:endParaRPr lang="en-US"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500063" y="274638"/>
            <a:ext cx="8358187" cy="796925"/>
          </a:xfrm>
        </p:spPr>
        <p:txBody>
          <a:bodyPr/>
          <a:lstStyle/>
          <a:p>
            <a:pPr eaLnBrk="1" hangingPunct="1"/>
            <a:r>
              <a:rPr lang="en-US" sz="3200" noProof="0" dirty="0">
                <a:cs typeface="Arial" charset="0"/>
              </a:rPr>
              <a:t>Defining the meaning of temporal formulas</a:t>
            </a:r>
          </a:p>
        </p:txBody>
      </p:sp>
      <p:sp>
        <p:nvSpPr>
          <p:cNvPr id="23555" name="Content Placeholder 2"/>
          <p:cNvSpPr>
            <a:spLocks noGrp="1"/>
          </p:cNvSpPr>
          <p:nvPr>
            <p:ph sz="quarter" idx="1"/>
          </p:nvPr>
        </p:nvSpPr>
        <p:spPr>
          <a:xfrm>
            <a:off x="500063" y="1447800"/>
            <a:ext cx="8358187" cy="4572000"/>
          </a:xfrm>
        </p:spPr>
        <p:txBody>
          <a:bodyPr/>
          <a:lstStyle/>
          <a:p>
            <a:pPr eaLnBrk="1" hangingPunct="1"/>
            <a:r>
              <a:rPr lang="en-US" noProof="0" dirty="0">
                <a:cs typeface="Arial" charset="0"/>
              </a:rPr>
              <a:t>First we’ll define the meaning </a:t>
            </a:r>
            <a:r>
              <a:rPr lang="en-US" noProof="0" dirty="0" err="1">
                <a:cs typeface="Arial" charset="0"/>
              </a:rPr>
              <a:t>wrt</a:t>
            </a:r>
            <a:r>
              <a:rPr lang="en-US" noProof="0" dirty="0">
                <a:cs typeface="Arial" charset="0"/>
              </a:rPr>
              <a:t> to a single abstract execution. Let </a:t>
            </a:r>
            <a:r>
              <a:rPr lang="en-US" noProof="0" dirty="0">
                <a:cs typeface="Arial" charset="0"/>
                <a:sym typeface="Symbol" pitchFamily="18" charset="2"/>
              </a:rPr>
              <a:t> be such an execution:</a:t>
            </a:r>
            <a:r>
              <a:rPr lang="en-US" noProof="0" dirty="0">
                <a:cs typeface="Arial" charset="0"/>
              </a:rPr>
              <a:t> </a:t>
            </a:r>
          </a:p>
          <a:p>
            <a:pPr lvl="1" eaLnBrk="1" hangingPunct="1"/>
            <a:r>
              <a:rPr lang="en-US" noProof="0" dirty="0">
                <a:cs typeface="Arial" charset="0"/>
                <a:sym typeface="Symbol" pitchFamily="18" charset="2"/>
              </a:rPr>
              <a:t>,</a:t>
            </a:r>
            <a:r>
              <a:rPr lang="en-US" i="1" noProof="0" dirty="0" err="1">
                <a:cs typeface="Arial" charset="0"/>
                <a:sym typeface="Symbol" pitchFamily="18" charset="2"/>
              </a:rPr>
              <a:t>i</a:t>
            </a:r>
            <a:r>
              <a:rPr lang="en-US" i="1" noProof="0" dirty="0">
                <a:cs typeface="Arial" charset="0"/>
                <a:sym typeface="Symbol" pitchFamily="18" charset="2"/>
              </a:rPr>
              <a:t> </a:t>
            </a:r>
            <a:r>
              <a:rPr lang="en-US" noProof="0" dirty="0">
                <a:cs typeface="Arial" charset="0"/>
                <a:sym typeface="Symbol" pitchFamily="18" charset="2"/>
              </a:rPr>
              <a:t>  |==   	</a:t>
            </a:r>
            <a:br>
              <a:rPr lang="en-US" noProof="0" dirty="0">
                <a:cs typeface="Arial" charset="0"/>
                <a:sym typeface="Symbol" pitchFamily="18" charset="2"/>
              </a:rPr>
            </a:br>
            <a:endParaRPr lang="en-US" noProof="0" dirty="0">
              <a:cs typeface="Arial" charset="0"/>
              <a:sym typeface="Symbol" pitchFamily="18" charset="2"/>
            </a:endParaRPr>
          </a:p>
          <a:p>
            <a:pPr lvl="1" eaLnBrk="1" hangingPunct="1"/>
            <a:r>
              <a:rPr lang="en-US" noProof="0" dirty="0">
                <a:cs typeface="Arial" charset="0"/>
                <a:sym typeface="Symbol" pitchFamily="18" charset="2"/>
              </a:rPr>
              <a:t>   |==         =       ,0  |==  </a:t>
            </a:r>
          </a:p>
          <a:p>
            <a:pPr eaLnBrk="1" hangingPunct="1"/>
            <a:endParaRPr lang="en-US" noProof="0" dirty="0">
              <a:cs typeface="Arial" charset="0"/>
              <a:sym typeface="Symbol" pitchFamily="18" charset="2"/>
            </a:endParaRPr>
          </a:p>
          <a:p>
            <a:pPr eaLnBrk="1" hangingPunct="1"/>
            <a:r>
              <a:rPr lang="en-US" noProof="0" dirty="0">
                <a:cs typeface="Arial" charset="0"/>
                <a:sym typeface="Symbol" pitchFamily="18" charset="2"/>
              </a:rPr>
              <a:t>If </a:t>
            </a:r>
            <a:r>
              <a:rPr lang="en-US" i="1" noProof="0" dirty="0">
                <a:cs typeface="Arial" charset="0"/>
                <a:sym typeface="Symbol" pitchFamily="18" charset="2"/>
              </a:rPr>
              <a:t>P</a:t>
            </a:r>
            <a:r>
              <a:rPr lang="en-US" noProof="0" dirty="0">
                <a:cs typeface="Arial" charset="0"/>
                <a:sym typeface="Symbol" pitchFamily="18" charset="2"/>
              </a:rPr>
              <a:t> is a Kripke structure,</a:t>
            </a:r>
            <a:br>
              <a:rPr lang="en-US" noProof="0" dirty="0">
                <a:cs typeface="Arial" charset="0"/>
                <a:sym typeface="Symbol" pitchFamily="18" charset="2"/>
              </a:rPr>
            </a:br>
            <a:br>
              <a:rPr lang="en-US" noProof="0" dirty="0">
                <a:cs typeface="Arial" charset="0"/>
                <a:sym typeface="Symbol" pitchFamily="18" charset="2"/>
              </a:rPr>
            </a:br>
            <a:r>
              <a:rPr lang="en-US" i="1" noProof="0" dirty="0">
                <a:cs typeface="Arial" charset="0"/>
                <a:sym typeface="Symbol" pitchFamily="18" charset="2"/>
              </a:rPr>
              <a:t>P</a:t>
            </a:r>
            <a:r>
              <a:rPr lang="en-US" noProof="0" dirty="0">
                <a:cs typeface="Arial" charset="0"/>
                <a:sym typeface="Symbol" pitchFamily="18" charset="2"/>
              </a:rPr>
              <a:t> |==  		means that   holds on all abstract </a:t>
            </a:r>
            <a:br>
              <a:rPr lang="en-US" noProof="0" dirty="0">
                <a:cs typeface="Arial" charset="0"/>
                <a:sym typeface="Symbol" pitchFamily="18" charset="2"/>
              </a:rPr>
            </a:br>
            <a:r>
              <a:rPr lang="en-US" noProof="0" dirty="0">
                <a:cs typeface="Arial" charset="0"/>
                <a:sym typeface="Symbol" pitchFamily="18" charset="2"/>
              </a:rPr>
              <a:t>                           executions of </a:t>
            </a:r>
            <a:r>
              <a:rPr lang="en-US" i="1" noProof="0" dirty="0">
                <a:cs typeface="Arial" charset="0"/>
                <a:sym typeface="Symbol" pitchFamily="18" charset="2"/>
              </a:rPr>
              <a:t>P </a:t>
            </a:r>
            <a:r>
              <a:rPr lang="en-US" noProof="0" dirty="0">
                <a:cs typeface="Arial" charset="0"/>
                <a:sym typeface="Symbol" pitchFamily="18" charset="2"/>
              </a:rPr>
              <a:t>that start from P’s</a:t>
            </a:r>
            <a:br>
              <a:rPr lang="en-US" noProof="0" dirty="0">
                <a:cs typeface="Arial" charset="0"/>
                <a:sym typeface="Symbol" pitchFamily="18" charset="2"/>
              </a:rPr>
            </a:br>
            <a:r>
              <a:rPr lang="en-US" noProof="0" dirty="0">
                <a:cs typeface="Arial" charset="0"/>
                <a:sym typeface="Symbol" pitchFamily="18" charset="2"/>
              </a:rPr>
              <a:t>			initial state</a:t>
            </a:r>
            <a:br>
              <a:rPr lang="en-US" noProof="0" dirty="0">
                <a:cs typeface="Arial" charset="0"/>
                <a:sym typeface="Symbol" pitchFamily="18" charset="2"/>
              </a:rPr>
            </a:br>
            <a:br>
              <a:rPr lang="en-US" noProof="0" dirty="0">
                <a:cs typeface="Arial" charset="0"/>
                <a:sym typeface="Symbol" pitchFamily="18" charset="2"/>
              </a:rPr>
            </a:br>
            <a:r>
              <a:rPr lang="en-US" noProof="0" dirty="0">
                <a:cs typeface="Arial" charset="0"/>
                <a:sym typeface="Symbol" pitchFamily="18" charset="2"/>
              </a:rPr>
              <a:t>	   </a:t>
            </a:r>
            <a:endParaRPr lang="en-US" noProof="0" dirty="0">
              <a:cs typeface="Arial" charset="0"/>
            </a:endParaRPr>
          </a:p>
          <a:p>
            <a:pPr eaLnBrk="1" hangingPunct="1">
              <a:buFont typeface="Wingdings" pitchFamily="2" charset="2"/>
              <a:buNone/>
            </a:pPr>
            <a:endParaRPr lang="en-US" noProof="0" dirty="0">
              <a:cs typeface="Arial" charset="0"/>
            </a:endParaRPr>
          </a:p>
        </p:txBody>
      </p:sp>
      <p:sp>
        <p:nvSpPr>
          <p:cNvPr id="5" name="Tijdelijke aanduiding voor dianummer 4"/>
          <p:cNvSpPr>
            <a:spLocks noGrp="1"/>
          </p:cNvSpPr>
          <p:nvPr>
            <p:ph type="sldNum" sz="quarter" idx="12"/>
          </p:nvPr>
        </p:nvSpPr>
        <p:spPr/>
        <p:txBody>
          <a:bodyPr/>
          <a:lstStyle/>
          <a:p>
            <a:pPr>
              <a:defRPr/>
            </a:pPr>
            <a:fld id="{018B4547-3634-446C-AFBB-64CF28D41D74}" type="slidenum">
              <a:rPr lang="en-US" noProof="0"/>
              <a:pPr>
                <a:defRPr/>
              </a:pPr>
              <a:t>18</a:t>
            </a:fld>
            <a:endParaRPr lang="en-US"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p:cNvSpPr>
            <a:spLocks noGrp="1"/>
          </p:cNvSpPr>
          <p:nvPr>
            <p:ph type="title"/>
          </p:nvPr>
        </p:nvSpPr>
        <p:spPr>
          <a:xfrm>
            <a:off x="500063" y="274638"/>
            <a:ext cx="8358187" cy="796925"/>
          </a:xfrm>
        </p:spPr>
        <p:txBody>
          <a:bodyPr/>
          <a:lstStyle/>
          <a:p>
            <a:pPr eaLnBrk="1" hangingPunct="1"/>
            <a:r>
              <a:rPr lang="en-US" noProof="0" dirty="0">
                <a:cs typeface="Arial" charset="0"/>
              </a:rPr>
              <a:t>Meaning</a:t>
            </a:r>
          </a:p>
        </p:txBody>
      </p:sp>
      <p:sp>
        <p:nvSpPr>
          <p:cNvPr id="5" name="Content Placeholder 4"/>
          <p:cNvSpPr>
            <a:spLocks noGrp="1"/>
          </p:cNvSpPr>
          <p:nvPr>
            <p:ph sz="quarter" idx="1"/>
          </p:nvPr>
        </p:nvSpPr>
        <p:spPr>
          <a:xfrm>
            <a:off x="500063" y="1447800"/>
            <a:ext cx="8358187" cy="4572000"/>
          </a:xfrm>
        </p:spPr>
        <p:txBody>
          <a:bodyPr/>
          <a:lstStyle/>
          <a:p>
            <a:pPr eaLnBrk="1" hangingPunct="1">
              <a:defRPr/>
            </a:pPr>
            <a:r>
              <a:rPr lang="en-US" noProof="0" dirty="0"/>
              <a:t>Let  </a:t>
            </a:r>
            <a:r>
              <a:rPr lang="en-US" noProof="0" dirty="0">
                <a:sym typeface="Symbol"/>
              </a:rPr>
              <a:t> be an (abstract) execution.</a:t>
            </a:r>
          </a:p>
          <a:p>
            <a:pPr eaLnBrk="1" hangingPunct="1">
              <a:defRPr/>
            </a:pPr>
            <a:endParaRPr lang="en-US" noProof="0" dirty="0">
              <a:sym typeface="Symbol"/>
            </a:endParaRPr>
          </a:p>
          <a:p>
            <a:pPr lvl="1" eaLnBrk="1" hangingPunct="1">
              <a:defRPr/>
            </a:pPr>
            <a:r>
              <a:rPr lang="en-US" noProof="0" dirty="0">
                <a:sym typeface="Symbol"/>
              </a:rPr>
              <a:t>,</a:t>
            </a:r>
            <a:r>
              <a:rPr lang="en-US" i="1" noProof="0" dirty="0" err="1">
                <a:sym typeface="Symbol"/>
              </a:rPr>
              <a:t>i</a:t>
            </a:r>
            <a:r>
              <a:rPr lang="en-US" noProof="0" dirty="0">
                <a:sym typeface="Symbol"/>
              </a:rPr>
              <a:t>  |==  </a:t>
            </a:r>
            <a:r>
              <a:rPr lang="en-US" i="1" noProof="0" dirty="0">
                <a:sym typeface="Symbol"/>
              </a:rPr>
              <a:t>p</a:t>
            </a:r>
            <a:r>
              <a:rPr lang="en-US" noProof="0" dirty="0">
                <a:sym typeface="Symbol"/>
              </a:rPr>
              <a:t>	=   </a:t>
            </a:r>
            <a:r>
              <a:rPr lang="en-US" i="1" noProof="0" dirty="0">
                <a:sym typeface="Symbol"/>
              </a:rPr>
              <a:t>p</a:t>
            </a:r>
            <a:r>
              <a:rPr lang="en-US" noProof="0" dirty="0">
                <a:sym typeface="Symbol"/>
              </a:rPr>
              <a:t>  (</a:t>
            </a:r>
            <a:r>
              <a:rPr lang="en-US" i="1" noProof="0" dirty="0" err="1">
                <a:sym typeface="Symbol"/>
              </a:rPr>
              <a:t>i</a:t>
            </a:r>
            <a:r>
              <a:rPr lang="en-US" noProof="0" dirty="0">
                <a:sym typeface="Symbol"/>
              </a:rPr>
              <a:t>)		</a:t>
            </a:r>
            <a:r>
              <a:rPr lang="en-US" noProof="0" dirty="0">
                <a:solidFill>
                  <a:schemeClr val="bg1">
                    <a:lumMod val="75000"/>
                  </a:schemeClr>
                </a:solidFill>
                <a:sym typeface="Symbol"/>
              </a:rPr>
              <a:t>// </a:t>
            </a:r>
            <a:r>
              <a:rPr lang="en-US" i="1" noProof="0" dirty="0">
                <a:solidFill>
                  <a:schemeClr val="bg1">
                    <a:lumMod val="75000"/>
                  </a:schemeClr>
                </a:solidFill>
                <a:sym typeface="Symbol"/>
              </a:rPr>
              <a:t>p</a:t>
            </a:r>
            <a:r>
              <a:rPr lang="en-US" noProof="0" dirty="0">
                <a:solidFill>
                  <a:schemeClr val="bg1">
                    <a:lumMod val="75000"/>
                  </a:schemeClr>
                </a:solidFill>
                <a:sym typeface="Symbol"/>
              </a:rPr>
              <a:t>  </a:t>
            </a:r>
            <a:r>
              <a:rPr lang="en-US" i="1" noProof="0" dirty="0">
                <a:solidFill>
                  <a:schemeClr val="bg1">
                    <a:lumMod val="75000"/>
                  </a:schemeClr>
                </a:solidFill>
                <a:sym typeface="Symbol"/>
              </a:rPr>
              <a:t>Prop</a:t>
            </a:r>
          </a:p>
          <a:p>
            <a:pPr lvl="1" eaLnBrk="1" hangingPunct="1">
              <a:defRPr/>
            </a:pPr>
            <a:endParaRPr lang="en-US" noProof="0" dirty="0">
              <a:sym typeface="Symbol"/>
            </a:endParaRPr>
          </a:p>
          <a:p>
            <a:pPr lvl="1" eaLnBrk="1" hangingPunct="1">
              <a:defRPr/>
            </a:pPr>
            <a:r>
              <a:rPr lang="en-US" noProof="0" dirty="0">
                <a:sym typeface="Symbol"/>
              </a:rPr>
              <a:t>,</a:t>
            </a:r>
            <a:r>
              <a:rPr lang="en-US" i="1" noProof="0" dirty="0" err="1">
                <a:sym typeface="Symbol"/>
              </a:rPr>
              <a:t>i</a:t>
            </a:r>
            <a:r>
              <a:rPr lang="en-US" noProof="0" dirty="0">
                <a:sym typeface="Symbol"/>
              </a:rPr>
              <a:t>  |==  	=   not (,</a:t>
            </a:r>
            <a:r>
              <a:rPr lang="en-US" i="1" noProof="0" dirty="0" err="1">
                <a:sym typeface="Symbol"/>
              </a:rPr>
              <a:t>i</a:t>
            </a:r>
            <a:r>
              <a:rPr lang="en-US" noProof="0" dirty="0">
                <a:sym typeface="Symbol"/>
              </a:rPr>
              <a:t>  |==  )</a:t>
            </a:r>
          </a:p>
          <a:p>
            <a:pPr lvl="1" eaLnBrk="1" hangingPunct="1">
              <a:defRPr/>
            </a:pPr>
            <a:endParaRPr lang="en-US" noProof="0" dirty="0">
              <a:sym typeface="Symbol"/>
            </a:endParaRPr>
          </a:p>
          <a:p>
            <a:pPr lvl="1" eaLnBrk="1" hangingPunct="1">
              <a:defRPr/>
            </a:pPr>
            <a:r>
              <a:rPr lang="en-US" noProof="0" dirty="0">
                <a:sym typeface="Symbol"/>
              </a:rPr>
              <a:t>,</a:t>
            </a:r>
            <a:r>
              <a:rPr lang="en-US" i="1" noProof="0" dirty="0" err="1">
                <a:sym typeface="Symbol"/>
              </a:rPr>
              <a:t>i</a:t>
            </a:r>
            <a:r>
              <a:rPr lang="en-US" noProof="0" dirty="0">
                <a:sym typeface="Symbol"/>
              </a:rPr>
              <a:t>  |==  /\	=   ,</a:t>
            </a:r>
            <a:r>
              <a:rPr lang="en-US" i="1" noProof="0" dirty="0" err="1">
                <a:sym typeface="Symbol"/>
              </a:rPr>
              <a:t>i</a:t>
            </a:r>
            <a:r>
              <a:rPr lang="en-US" noProof="0" dirty="0">
                <a:sym typeface="Symbol"/>
              </a:rPr>
              <a:t>  |==     </a:t>
            </a:r>
            <a:br>
              <a:rPr lang="en-US" noProof="0" dirty="0">
                <a:sym typeface="Symbol"/>
              </a:rPr>
            </a:br>
            <a:r>
              <a:rPr lang="en-US" noProof="0" dirty="0">
                <a:sym typeface="Symbol"/>
              </a:rPr>
              <a:t>                              and   </a:t>
            </a:r>
            <a:br>
              <a:rPr lang="en-US" noProof="0" dirty="0">
                <a:sym typeface="Symbol"/>
              </a:rPr>
            </a:br>
            <a:r>
              <a:rPr lang="en-US" noProof="0" dirty="0">
                <a:sym typeface="Symbol"/>
              </a:rPr>
              <a:t>                               ,</a:t>
            </a:r>
            <a:r>
              <a:rPr lang="en-US" i="1" noProof="0" dirty="0" err="1">
                <a:sym typeface="Symbol"/>
              </a:rPr>
              <a:t>i</a:t>
            </a:r>
            <a:r>
              <a:rPr lang="en-US" noProof="0" dirty="0">
                <a:sym typeface="Symbol"/>
              </a:rPr>
              <a:t>  |==  </a:t>
            </a:r>
          </a:p>
          <a:p>
            <a:pPr lvl="1" eaLnBrk="1" hangingPunct="1">
              <a:defRPr/>
            </a:pPr>
            <a:endParaRPr lang="en-US" noProof="0" dirty="0">
              <a:sym typeface="Symbol"/>
            </a:endParaRPr>
          </a:p>
          <a:p>
            <a:pPr eaLnBrk="1" hangingPunct="1">
              <a:defRPr/>
            </a:pPr>
            <a:endParaRPr lang="en-US" noProof="0" dirty="0">
              <a:sym typeface="Symbol"/>
            </a:endParaRPr>
          </a:p>
          <a:p>
            <a:pPr eaLnBrk="1" hangingPunct="1">
              <a:defRPr/>
            </a:pPr>
            <a:endParaRPr lang="en-US" noProof="0" dirty="0"/>
          </a:p>
        </p:txBody>
      </p:sp>
      <p:sp>
        <p:nvSpPr>
          <p:cNvPr id="6" name="Tijdelijke aanduiding voor dianummer 5"/>
          <p:cNvSpPr>
            <a:spLocks noGrp="1"/>
          </p:cNvSpPr>
          <p:nvPr>
            <p:ph type="sldNum" sz="quarter" idx="12"/>
          </p:nvPr>
        </p:nvSpPr>
        <p:spPr/>
        <p:txBody>
          <a:bodyPr/>
          <a:lstStyle/>
          <a:p>
            <a:pPr>
              <a:defRPr/>
            </a:pPr>
            <a:fld id="{5CA3F061-A3EC-498F-A28D-2FD6015506D9}" type="slidenum">
              <a:rPr lang="en-US" noProof="0"/>
              <a:pPr>
                <a:defRPr/>
              </a:pPr>
              <a:t>19</a:t>
            </a:fld>
            <a:endParaRPr lang="en-US"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3"/>
          <p:cNvSpPr>
            <a:spLocks noGrp="1"/>
          </p:cNvSpPr>
          <p:nvPr>
            <p:ph type="title"/>
          </p:nvPr>
        </p:nvSpPr>
        <p:spPr>
          <a:xfrm>
            <a:off x="500063" y="274638"/>
            <a:ext cx="8358187" cy="796925"/>
          </a:xfrm>
        </p:spPr>
        <p:txBody>
          <a:bodyPr/>
          <a:lstStyle/>
          <a:p>
            <a:pPr eaLnBrk="1" hangingPunct="1"/>
            <a:r>
              <a:rPr lang="en-US" noProof="0" dirty="0">
                <a:cs typeface="Arial" charset="0"/>
              </a:rPr>
              <a:t>Meaning</a:t>
            </a:r>
          </a:p>
        </p:txBody>
      </p:sp>
      <p:sp>
        <p:nvSpPr>
          <p:cNvPr id="5" name="Content Placeholder 4"/>
          <p:cNvSpPr>
            <a:spLocks noGrp="1"/>
          </p:cNvSpPr>
          <p:nvPr>
            <p:ph sz="quarter" idx="1"/>
          </p:nvPr>
        </p:nvSpPr>
        <p:spPr>
          <a:xfrm>
            <a:off x="500063" y="1447800"/>
            <a:ext cx="8358187" cy="4572000"/>
          </a:xfrm>
        </p:spPr>
        <p:txBody>
          <a:bodyPr/>
          <a:lstStyle/>
          <a:p>
            <a:pPr lvl="1" eaLnBrk="1" hangingPunct="1"/>
            <a:endParaRPr lang="en-US" noProof="0" dirty="0">
              <a:cs typeface="Arial" charset="0"/>
              <a:sym typeface="Symbol" pitchFamily="18" charset="2"/>
            </a:endParaRPr>
          </a:p>
          <a:p>
            <a:pPr lvl="1" eaLnBrk="1" hangingPunct="1"/>
            <a:r>
              <a:rPr lang="en-US" noProof="0" dirty="0">
                <a:cs typeface="Arial" charset="0"/>
                <a:sym typeface="Symbol" pitchFamily="18" charset="2"/>
              </a:rPr>
              <a:t>,</a:t>
            </a:r>
            <a:r>
              <a:rPr lang="en-US" i="1" noProof="0" dirty="0" err="1">
                <a:cs typeface="Arial" charset="0"/>
                <a:sym typeface="Symbol" pitchFamily="18" charset="2"/>
              </a:rPr>
              <a:t>i</a:t>
            </a:r>
            <a:r>
              <a:rPr lang="en-US" noProof="0" dirty="0">
                <a:cs typeface="Arial" charset="0"/>
                <a:sym typeface="Symbol" pitchFamily="18" charset="2"/>
              </a:rPr>
              <a:t>  |==  </a:t>
            </a:r>
            <a:r>
              <a:rPr lang="en-US" noProof="0" dirty="0">
                <a:solidFill>
                  <a:srgbClr val="C00000"/>
                </a:solidFill>
                <a:cs typeface="Arial" charset="0"/>
                <a:sym typeface="Symbol" pitchFamily="18" charset="2"/>
              </a:rPr>
              <a:t>X</a:t>
            </a:r>
            <a:r>
              <a:rPr lang="en-US" noProof="0" dirty="0">
                <a:cs typeface="Arial" charset="0"/>
                <a:sym typeface="Symbol" pitchFamily="18" charset="2"/>
              </a:rPr>
              <a:t>	=   ,</a:t>
            </a:r>
            <a:r>
              <a:rPr lang="en-US" i="1" noProof="0" dirty="0">
                <a:cs typeface="Arial" charset="0"/>
                <a:sym typeface="Symbol" pitchFamily="18" charset="2"/>
              </a:rPr>
              <a:t>i</a:t>
            </a:r>
            <a:r>
              <a:rPr lang="en-US" noProof="0" dirty="0">
                <a:cs typeface="Arial" charset="0"/>
                <a:sym typeface="Symbol" pitchFamily="18" charset="2"/>
              </a:rPr>
              <a:t>+1  |==  </a:t>
            </a:r>
          </a:p>
          <a:p>
            <a:pPr lvl="1" eaLnBrk="1" hangingPunct="1"/>
            <a:endParaRPr lang="en-US" noProof="0" dirty="0">
              <a:cs typeface="Arial" charset="0"/>
              <a:sym typeface="Symbol" pitchFamily="18" charset="2"/>
            </a:endParaRPr>
          </a:p>
          <a:p>
            <a:pPr lvl="1" eaLnBrk="1" hangingPunct="1"/>
            <a:endParaRPr lang="en-US" noProof="0" dirty="0">
              <a:cs typeface="Arial" charset="0"/>
              <a:sym typeface="Symbol" pitchFamily="18" charset="2"/>
            </a:endParaRPr>
          </a:p>
          <a:p>
            <a:pPr lvl="1" eaLnBrk="1" hangingPunct="1"/>
            <a:r>
              <a:rPr lang="en-US" noProof="0" dirty="0">
                <a:cs typeface="Arial" charset="0"/>
                <a:sym typeface="Symbol" pitchFamily="18" charset="2"/>
              </a:rPr>
              <a:t>,</a:t>
            </a:r>
            <a:r>
              <a:rPr lang="en-US" i="1" noProof="0" dirty="0" err="1">
                <a:cs typeface="Arial" charset="0"/>
                <a:sym typeface="Symbol" pitchFamily="18" charset="2"/>
              </a:rPr>
              <a:t>i</a:t>
            </a:r>
            <a:r>
              <a:rPr lang="en-US" noProof="0" dirty="0">
                <a:cs typeface="Arial" charset="0"/>
                <a:sym typeface="Symbol" pitchFamily="18" charset="2"/>
              </a:rPr>
              <a:t>  |==   </a:t>
            </a:r>
            <a:r>
              <a:rPr lang="en-US" noProof="0" dirty="0">
                <a:solidFill>
                  <a:srgbClr val="C00000"/>
                </a:solidFill>
                <a:cs typeface="Arial" charset="0"/>
                <a:sym typeface="Symbol" pitchFamily="18" charset="2"/>
              </a:rPr>
              <a:t>U</a:t>
            </a:r>
            <a:r>
              <a:rPr lang="en-US" noProof="0" dirty="0">
                <a:cs typeface="Arial" charset="0"/>
                <a:sym typeface="Symbol" pitchFamily="18" charset="2"/>
              </a:rPr>
              <a:t> 	=   there is a </a:t>
            </a:r>
            <a:r>
              <a:rPr lang="en-US" i="1" noProof="0" dirty="0" err="1">
                <a:cs typeface="Arial" charset="0"/>
                <a:sym typeface="Symbol" pitchFamily="18" charset="2"/>
              </a:rPr>
              <a:t>j</a:t>
            </a:r>
            <a:r>
              <a:rPr lang="en-US" noProof="0" dirty="0" err="1">
                <a:cs typeface="Arial" charset="0"/>
                <a:sym typeface="Symbol" pitchFamily="18" charset="2"/>
              </a:rPr>
              <a:t></a:t>
            </a:r>
            <a:r>
              <a:rPr lang="en-US" i="1" noProof="0" dirty="0" err="1">
                <a:cs typeface="Arial" charset="0"/>
                <a:sym typeface="Symbol" pitchFamily="18" charset="2"/>
              </a:rPr>
              <a:t>i</a:t>
            </a:r>
            <a:r>
              <a:rPr lang="en-US" noProof="0" dirty="0">
                <a:cs typeface="Arial" charset="0"/>
                <a:sym typeface="Symbol" pitchFamily="18" charset="2"/>
              </a:rPr>
              <a:t> such that ,</a:t>
            </a:r>
            <a:r>
              <a:rPr lang="en-US" i="1" noProof="0" dirty="0">
                <a:cs typeface="Arial" charset="0"/>
                <a:sym typeface="Symbol" pitchFamily="18" charset="2"/>
              </a:rPr>
              <a:t>j</a:t>
            </a:r>
            <a:r>
              <a:rPr lang="en-US" noProof="0" dirty="0">
                <a:cs typeface="Arial" charset="0"/>
                <a:sym typeface="Symbol" pitchFamily="18" charset="2"/>
              </a:rPr>
              <a:t>  |==  </a:t>
            </a:r>
            <a:br>
              <a:rPr lang="en-US" noProof="0" dirty="0">
                <a:cs typeface="Arial" charset="0"/>
                <a:sym typeface="Symbol" pitchFamily="18" charset="2"/>
              </a:rPr>
            </a:br>
            <a:br>
              <a:rPr lang="en-US" noProof="0" dirty="0">
                <a:cs typeface="Arial" charset="0"/>
                <a:sym typeface="Symbol" pitchFamily="18" charset="2"/>
              </a:rPr>
            </a:br>
            <a:r>
              <a:rPr lang="en-US" noProof="0" dirty="0">
                <a:cs typeface="Arial" charset="0"/>
                <a:sym typeface="Symbol" pitchFamily="18" charset="2"/>
              </a:rPr>
              <a:t>			     and</a:t>
            </a:r>
            <a:br>
              <a:rPr lang="en-US" noProof="0" dirty="0">
                <a:cs typeface="Arial" charset="0"/>
                <a:sym typeface="Symbol" pitchFamily="18" charset="2"/>
              </a:rPr>
            </a:br>
            <a:br>
              <a:rPr lang="en-US" noProof="0" dirty="0">
                <a:cs typeface="Arial" charset="0"/>
                <a:sym typeface="Symbol" pitchFamily="18" charset="2"/>
              </a:rPr>
            </a:br>
            <a:r>
              <a:rPr lang="en-US" noProof="0" dirty="0">
                <a:cs typeface="Arial" charset="0"/>
                <a:sym typeface="Symbol" pitchFamily="18" charset="2"/>
              </a:rPr>
              <a:t>			     for all </a:t>
            </a:r>
            <a:r>
              <a:rPr lang="en-US" i="1" noProof="0" dirty="0">
                <a:cs typeface="Arial" charset="0"/>
                <a:sym typeface="Symbol" pitchFamily="18" charset="2"/>
              </a:rPr>
              <a:t>h</a:t>
            </a:r>
            <a:r>
              <a:rPr lang="en-US" noProof="0" dirty="0">
                <a:cs typeface="Arial" charset="0"/>
                <a:sym typeface="Symbol" pitchFamily="18" charset="2"/>
              </a:rPr>
              <a:t>, </a:t>
            </a:r>
            <a:r>
              <a:rPr lang="en-US" i="1" noProof="0" dirty="0" err="1">
                <a:cs typeface="Arial" charset="0"/>
                <a:sym typeface="Symbol" pitchFamily="18" charset="2"/>
              </a:rPr>
              <a:t>i</a:t>
            </a:r>
            <a:r>
              <a:rPr lang="en-US" noProof="0" dirty="0" err="1">
                <a:cs typeface="Arial" charset="0"/>
                <a:sym typeface="Symbol" pitchFamily="18" charset="2"/>
              </a:rPr>
              <a:t></a:t>
            </a:r>
            <a:r>
              <a:rPr lang="en-US" i="1" noProof="0" dirty="0" err="1">
                <a:cs typeface="Arial" charset="0"/>
                <a:sym typeface="Symbol" pitchFamily="18" charset="2"/>
              </a:rPr>
              <a:t>h</a:t>
            </a:r>
            <a:r>
              <a:rPr lang="en-US" noProof="0" dirty="0">
                <a:cs typeface="Arial" charset="0"/>
                <a:sym typeface="Symbol" pitchFamily="18" charset="2"/>
              </a:rPr>
              <a:t>&lt;</a:t>
            </a:r>
            <a:r>
              <a:rPr lang="en-US" i="1" noProof="0" dirty="0">
                <a:cs typeface="Arial" charset="0"/>
                <a:sym typeface="Symbol" pitchFamily="18" charset="2"/>
              </a:rPr>
              <a:t>j</a:t>
            </a:r>
            <a:r>
              <a:rPr lang="en-US" noProof="0" dirty="0">
                <a:cs typeface="Arial" charset="0"/>
                <a:sym typeface="Symbol" pitchFamily="18" charset="2"/>
              </a:rPr>
              <a:t>,  we have ,</a:t>
            </a:r>
            <a:r>
              <a:rPr lang="en-US" i="1" noProof="0" dirty="0">
                <a:cs typeface="Arial" charset="0"/>
                <a:sym typeface="Symbol" pitchFamily="18" charset="2"/>
              </a:rPr>
              <a:t>h</a:t>
            </a:r>
            <a:r>
              <a:rPr lang="en-US" noProof="0" dirty="0">
                <a:cs typeface="Arial" charset="0"/>
                <a:sym typeface="Symbol" pitchFamily="18" charset="2"/>
              </a:rPr>
              <a:t>  |==  .</a:t>
            </a:r>
          </a:p>
          <a:p>
            <a:pPr eaLnBrk="1" hangingPunct="1"/>
            <a:endParaRPr lang="en-US" noProof="0" dirty="0">
              <a:cs typeface="Arial" charset="0"/>
              <a:sym typeface="Symbol" pitchFamily="18" charset="2"/>
            </a:endParaRPr>
          </a:p>
          <a:p>
            <a:pPr eaLnBrk="1" hangingPunct="1"/>
            <a:endParaRPr lang="en-US" noProof="0" dirty="0">
              <a:cs typeface="Arial" charset="0"/>
            </a:endParaRPr>
          </a:p>
        </p:txBody>
      </p:sp>
      <p:sp>
        <p:nvSpPr>
          <p:cNvPr id="6" name="Tijdelijke aanduiding voor dianummer 5"/>
          <p:cNvSpPr>
            <a:spLocks noGrp="1"/>
          </p:cNvSpPr>
          <p:nvPr>
            <p:ph type="sldNum" sz="quarter" idx="12"/>
          </p:nvPr>
        </p:nvSpPr>
        <p:spPr>
          <a:xfrm>
            <a:off x="42863" y="6223179"/>
            <a:ext cx="457200" cy="457200"/>
          </a:xfrm>
        </p:spPr>
        <p:txBody>
          <a:bodyPr/>
          <a:lstStyle/>
          <a:p>
            <a:pPr>
              <a:defRPr/>
            </a:pPr>
            <a:fld id="{B8AB84AC-D113-42EB-B66A-C3A36602071A}" type="slidenum">
              <a:rPr lang="en-US" noProof="0"/>
              <a:pPr>
                <a:defRPr/>
              </a:pPr>
              <a:t>20</a:t>
            </a:fld>
            <a:endParaRPr lang="en-US"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4"/>
          <p:cNvSpPr>
            <a:spLocks noGrp="1"/>
          </p:cNvSpPr>
          <p:nvPr>
            <p:ph type="title"/>
          </p:nvPr>
        </p:nvSpPr>
        <p:spPr>
          <a:xfrm>
            <a:off x="500063" y="274638"/>
            <a:ext cx="8358187" cy="796925"/>
          </a:xfrm>
        </p:spPr>
        <p:txBody>
          <a:bodyPr/>
          <a:lstStyle/>
          <a:p>
            <a:pPr eaLnBrk="1" hangingPunct="1"/>
            <a:r>
              <a:rPr lang="en-US" noProof="0" dirty="0">
                <a:cs typeface="Arial" charset="0"/>
              </a:rPr>
              <a:t>Example</a:t>
            </a:r>
          </a:p>
        </p:txBody>
      </p:sp>
      <p:sp>
        <p:nvSpPr>
          <p:cNvPr id="18" name="Tijdelijke aanduiding voor dianummer 17"/>
          <p:cNvSpPr>
            <a:spLocks noGrp="1"/>
          </p:cNvSpPr>
          <p:nvPr>
            <p:ph type="sldNum" sz="quarter" idx="12"/>
          </p:nvPr>
        </p:nvSpPr>
        <p:spPr/>
        <p:txBody>
          <a:bodyPr/>
          <a:lstStyle/>
          <a:p>
            <a:pPr>
              <a:defRPr/>
            </a:pPr>
            <a:fld id="{1AF00D32-9370-4F24-A381-07A2BFD9F799}" type="slidenum">
              <a:rPr lang="en-US" noProof="0"/>
              <a:pPr>
                <a:defRPr/>
              </a:pPr>
              <a:t>21</a:t>
            </a:fld>
            <a:endParaRPr lang="en-US" noProof="0" dirty="0"/>
          </a:p>
        </p:txBody>
      </p:sp>
      <p:sp>
        <p:nvSpPr>
          <p:cNvPr id="26638" name="TextBox 18"/>
          <p:cNvSpPr txBox="1">
            <a:spLocks noChangeArrowheads="1"/>
          </p:cNvSpPr>
          <p:nvPr/>
        </p:nvSpPr>
        <p:spPr bwMode="auto">
          <a:xfrm>
            <a:off x="676275" y="4360863"/>
            <a:ext cx="7709162" cy="400110"/>
          </a:xfrm>
          <a:prstGeom prst="rect">
            <a:avLst/>
          </a:prstGeom>
          <a:noFill/>
          <a:ln w="9525">
            <a:noFill/>
            <a:miter lim="800000"/>
            <a:headEnd/>
            <a:tailEnd/>
          </a:ln>
        </p:spPr>
        <p:txBody>
          <a:bodyPr wrap="none">
            <a:spAutoFit/>
          </a:bodyPr>
          <a:lstStyle/>
          <a:p>
            <a:r>
              <a:rPr lang="en-US" sz="2000" noProof="0" dirty="0">
                <a:sym typeface="Symbol" pitchFamily="18" charset="2"/>
              </a:rPr>
              <a:t>Consider   </a:t>
            </a:r>
            <a:r>
              <a:rPr lang="en-US" sz="2000" noProof="0" dirty="0"/>
              <a:t>:  {</a:t>
            </a:r>
            <a:r>
              <a:rPr lang="en-US" sz="2000" noProof="0" dirty="0" err="1"/>
              <a:t>isOdd</a:t>
            </a:r>
            <a:r>
              <a:rPr lang="en-US" sz="2000" noProof="0" dirty="0"/>
              <a:t> </a:t>
            </a:r>
            <a:r>
              <a:rPr lang="en-US" sz="2000" i="1" noProof="0" dirty="0"/>
              <a:t>x</a:t>
            </a:r>
            <a:r>
              <a:rPr lang="en-US" sz="2000" noProof="0" dirty="0"/>
              <a:t>} , {</a:t>
            </a:r>
            <a:r>
              <a:rPr lang="en-US" sz="2000" noProof="0" dirty="0" err="1"/>
              <a:t>isOdd</a:t>
            </a:r>
            <a:r>
              <a:rPr lang="en-US" sz="2000" noProof="0" dirty="0"/>
              <a:t> </a:t>
            </a:r>
            <a:r>
              <a:rPr lang="en-US" sz="2000" i="1" noProof="0" dirty="0"/>
              <a:t>x</a:t>
            </a:r>
            <a:r>
              <a:rPr lang="en-US" sz="2000" noProof="0" dirty="0"/>
              <a:t>}, {</a:t>
            </a:r>
            <a:r>
              <a:rPr lang="en-US" sz="2000" noProof="0" dirty="0" err="1"/>
              <a:t>isOdd</a:t>
            </a:r>
            <a:r>
              <a:rPr lang="en-US" sz="2000" noProof="0" dirty="0"/>
              <a:t> </a:t>
            </a:r>
            <a:r>
              <a:rPr lang="en-US" sz="2000" i="1" noProof="0" dirty="0"/>
              <a:t>x</a:t>
            </a:r>
            <a:r>
              <a:rPr lang="en-US" sz="2000" noProof="0" dirty="0"/>
              <a:t>, </a:t>
            </a:r>
            <a:r>
              <a:rPr lang="en-US" sz="2000" i="1" noProof="0" dirty="0"/>
              <a:t>x</a:t>
            </a:r>
            <a:r>
              <a:rPr lang="en-US" sz="2000" noProof="0" dirty="0"/>
              <a:t>&gt;0}, {</a:t>
            </a:r>
            <a:r>
              <a:rPr lang="en-US" sz="2000" noProof="0" dirty="0" err="1"/>
              <a:t>isOdd</a:t>
            </a:r>
            <a:r>
              <a:rPr lang="en-US" sz="2000" noProof="0" dirty="0"/>
              <a:t> </a:t>
            </a:r>
            <a:r>
              <a:rPr lang="en-US" sz="2000" i="1" noProof="0" dirty="0"/>
              <a:t>x</a:t>
            </a:r>
            <a:r>
              <a:rPr lang="en-US" sz="2000" noProof="0" dirty="0"/>
              <a:t>, </a:t>
            </a:r>
            <a:r>
              <a:rPr lang="en-US" sz="2000" i="1" noProof="0" dirty="0"/>
              <a:t>x</a:t>
            </a:r>
            <a:r>
              <a:rPr lang="en-US" sz="2000" noProof="0" dirty="0"/>
              <a:t>&gt;0} , ...</a:t>
            </a:r>
          </a:p>
        </p:txBody>
      </p:sp>
      <p:sp>
        <p:nvSpPr>
          <p:cNvPr id="16" name="TextBox 15"/>
          <p:cNvSpPr txBox="1"/>
          <p:nvPr/>
        </p:nvSpPr>
        <p:spPr>
          <a:xfrm>
            <a:off x="842963" y="5024438"/>
            <a:ext cx="7542474"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Font typeface="Symbol"/>
              <a:buChar char="P"/>
              <a:defRPr/>
            </a:pPr>
            <a:r>
              <a:rPr lang="en-US" noProof="0" dirty="0">
                <a:cs typeface="Arial" pitchFamily="34" charset="0"/>
                <a:sym typeface="Symbol"/>
              </a:rPr>
              <a:t>   |==   </a:t>
            </a:r>
            <a:r>
              <a:rPr lang="en-US" noProof="0" dirty="0" err="1">
                <a:cs typeface="Arial" pitchFamily="34" charset="0"/>
                <a:sym typeface="Symbol"/>
              </a:rPr>
              <a:t>isOdd</a:t>
            </a:r>
            <a:r>
              <a:rPr lang="en-US" noProof="0" dirty="0">
                <a:cs typeface="Arial" pitchFamily="34" charset="0"/>
                <a:sym typeface="Symbol"/>
              </a:rPr>
              <a:t> </a:t>
            </a:r>
            <a:r>
              <a:rPr lang="en-US" i="1" noProof="0" dirty="0">
                <a:cs typeface="Arial" pitchFamily="34" charset="0"/>
                <a:sym typeface="Symbol"/>
              </a:rPr>
              <a:t>x</a:t>
            </a:r>
            <a:r>
              <a:rPr lang="en-US" noProof="0" dirty="0">
                <a:cs typeface="Arial" pitchFamily="34" charset="0"/>
                <a:sym typeface="Symbol"/>
              </a:rPr>
              <a:t>  </a:t>
            </a:r>
            <a:r>
              <a:rPr lang="en-US" noProof="0" dirty="0">
                <a:solidFill>
                  <a:srgbClr val="C00000"/>
                </a:solidFill>
                <a:cs typeface="Arial" pitchFamily="34" charset="0"/>
                <a:sym typeface="Symbol"/>
              </a:rPr>
              <a:t>U</a:t>
            </a:r>
            <a:r>
              <a:rPr lang="en-US" noProof="0" dirty="0">
                <a:cs typeface="Arial" pitchFamily="34" charset="0"/>
                <a:sym typeface="Symbol"/>
              </a:rPr>
              <a:t>  </a:t>
            </a:r>
            <a:r>
              <a:rPr lang="en-US" i="1" noProof="0" dirty="0">
                <a:cs typeface="Arial" pitchFamily="34" charset="0"/>
                <a:sym typeface="Symbol"/>
              </a:rPr>
              <a:t>x</a:t>
            </a:r>
            <a:r>
              <a:rPr lang="en-US" noProof="0" dirty="0">
                <a:cs typeface="Arial" pitchFamily="34" charset="0"/>
                <a:sym typeface="Symbol"/>
              </a:rPr>
              <a:t>&gt;0</a:t>
            </a:r>
          </a:p>
          <a:p>
            <a:pPr>
              <a:buFont typeface="Symbol"/>
              <a:buChar char="P"/>
              <a:defRPr/>
            </a:pPr>
            <a:endParaRPr lang="en-US" noProof="0" dirty="0">
              <a:cs typeface="Arial" pitchFamily="34" charset="0"/>
              <a:sym typeface="Symbol"/>
            </a:endParaRPr>
          </a:p>
          <a:p>
            <a:pPr>
              <a:defRPr/>
            </a:pPr>
            <a:r>
              <a:rPr lang="en-US" noProof="0" dirty="0">
                <a:cs typeface="Arial" pitchFamily="34" charset="0"/>
                <a:sym typeface="Symbol"/>
              </a:rPr>
              <a:t>Is  “</a:t>
            </a:r>
            <a:r>
              <a:rPr lang="en-US" noProof="0" dirty="0" err="1">
                <a:cs typeface="Arial" pitchFamily="34" charset="0"/>
                <a:sym typeface="Symbol"/>
              </a:rPr>
              <a:t>isOdd</a:t>
            </a:r>
            <a:r>
              <a:rPr lang="en-US" noProof="0" dirty="0">
                <a:cs typeface="Arial" pitchFamily="34" charset="0"/>
                <a:sym typeface="Symbol"/>
              </a:rPr>
              <a:t> </a:t>
            </a:r>
            <a:r>
              <a:rPr lang="en-US" i="1" noProof="0" dirty="0">
                <a:cs typeface="Arial" pitchFamily="34" charset="0"/>
                <a:sym typeface="Symbol"/>
              </a:rPr>
              <a:t>x</a:t>
            </a:r>
            <a:r>
              <a:rPr lang="en-US" noProof="0" dirty="0">
                <a:cs typeface="Arial" pitchFamily="34" charset="0"/>
                <a:sym typeface="Symbol"/>
              </a:rPr>
              <a:t>  </a:t>
            </a:r>
            <a:r>
              <a:rPr lang="en-US" noProof="0" dirty="0">
                <a:solidFill>
                  <a:srgbClr val="C00000"/>
                </a:solidFill>
                <a:cs typeface="Arial" pitchFamily="34" charset="0"/>
                <a:sym typeface="Symbol"/>
              </a:rPr>
              <a:t>U</a:t>
            </a:r>
            <a:r>
              <a:rPr lang="en-US" noProof="0" dirty="0">
                <a:cs typeface="Arial" pitchFamily="34" charset="0"/>
                <a:sym typeface="Symbol"/>
              </a:rPr>
              <a:t>  </a:t>
            </a:r>
            <a:r>
              <a:rPr lang="en-US" i="1" noProof="0" dirty="0">
                <a:cs typeface="Arial" pitchFamily="34" charset="0"/>
                <a:sym typeface="Symbol"/>
              </a:rPr>
              <a:t>x</a:t>
            </a:r>
            <a:r>
              <a:rPr lang="en-US" noProof="0" dirty="0">
                <a:cs typeface="Arial" pitchFamily="34" charset="0"/>
                <a:sym typeface="Symbol"/>
              </a:rPr>
              <a:t>&gt;0”  also  a valid property P ?</a:t>
            </a:r>
            <a:endParaRPr lang="en-US" noProof="0" dirty="0">
              <a:cs typeface="Arial" pitchFamily="34" charset="0"/>
            </a:endParaRPr>
          </a:p>
        </p:txBody>
      </p:sp>
      <p:sp>
        <p:nvSpPr>
          <p:cNvPr id="19" name="Rounded Rectangle 18"/>
          <p:cNvSpPr/>
          <p:nvPr/>
        </p:nvSpPr>
        <p:spPr>
          <a:xfrm>
            <a:off x="2000250" y="1827213"/>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24" name="Rounded Rectangle 23"/>
          <p:cNvSpPr/>
          <p:nvPr/>
        </p:nvSpPr>
        <p:spPr>
          <a:xfrm>
            <a:off x="2038349" y="2841625"/>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26" name="Curved Connector 8"/>
          <p:cNvCxnSpPr>
            <a:endCxn id="19" idx="0"/>
          </p:cNvCxnSpPr>
          <p:nvPr/>
        </p:nvCxnSpPr>
        <p:spPr>
          <a:xfrm rot="10800000">
            <a:off x="2351883" y="1827213"/>
            <a:ext cx="351631" cy="296862"/>
          </a:xfrm>
          <a:prstGeom prst="curvedConnector4">
            <a:avLst>
              <a:gd name="adj1" fmla="val -103386"/>
              <a:gd name="adj2" fmla="val 247593"/>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Arrow Connector 28"/>
          <p:cNvCxnSpPr>
            <a:stCxn id="19" idx="2"/>
            <a:endCxn id="24" idx="0"/>
          </p:cNvCxnSpPr>
          <p:nvPr/>
        </p:nvCxnSpPr>
        <p:spPr>
          <a:xfrm>
            <a:off x="2351882" y="2420938"/>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0" name="Curved Connector 8"/>
          <p:cNvCxnSpPr>
            <a:endCxn id="24" idx="2"/>
          </p:cNvCxnSpPr>
          <p:nvPr/>
        </p:nvCxnSpPr>
        <p:spPr>
          <a:xfrm rot="10800000" flipV="1">
            <a:off x="2366963" y="3138488"/>
            <a:ext cx="328613" cy="296862"/>
          </a:xfrm>
          <a:prstGeom prst="curvedConnector4">
            <a:avLst>
              <a:gd name="adj1" fmla="val -110144"/>
              <a:gd name="adj2" fmla="val 247594"/>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a:off x="1714503" y="1771653"/>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2" name="TextBox 31"/>
          <p:cNvSpPr txBox="1"/>
          <p:nvPr/>
        </p:nvSpPr>
        <p:spPr>
          <a:xfrm>
            <a:off x="3429000" y="1943100"/>
            <a:ext cx="1582484" cy="461665"/>
          </a:xfrm>
          <a:prstGeom prst="rect">
            <a:avLst/>
          </a:prstGeom>
          <a:solidFill>
            <a:schemeClr val="bg2"/>
          </a:solidFill>
        </p:spPr>
        <p:txBody>
          <a:bodyPr wrap="none" rtlCol="0">
            <a:spAutoFit/>
          </a:bodyPr>
          <a:lstStyle/>
          <a:p>
            <a:r>
              <a:rPr lang="en-US" noProof="0" dirty="0">
                <a:cs typeface="Arial" pitchFamily="34" charset="0"/>
              </a:rPr>
              <a:t>{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endParaRPr lang="en-US" noProof="0" dirty="0"/>
          </a:p>
        </p:txBody>
      </p:sp>
      <p:sp>
        <p:nvSpPr>
          <p:cNvPr id="33" name="TextBox 32"/>
          <p:cNvSpPr txBox="1"/>
          <p:nvPr/>
        </p:nvSpPr>
        <p:spPr>
          <a:xfrm>
            <a:off x="3352800" y="2590800"/>
            <a:ext cx="2276585" cy="461665"/>
          </a:xfrm>
          <a:prstGeom prst="rect">
            <a:avLst/>
          </a:prstGeom>
          <a:solidFill>
            <a:srgbClr val="CCECFF"/>
          </a:solidFill>
        </p:spPr>
        <p:txBody>
          <a:bodyPr wrap="none" rtlCol="0">
            <a:spAutoFit/>
          </a:bodyPr>
          <a:lstStyle/>
          <a:p>
            <a:r>
              <a:rPr lang="en-US" noProof="0" dirty="0">
                <a:cs typeface="Arial" pitchFamily="34" charset="0"/>
              </a:rPr>
              <a:t>{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r>
              <a:rPr lang="en-US" i="1" noProof="0" dirty="0">
                <a:cs typeface="Arial" pitchFamily="34" charset="0"/>
              </a:rPr>
              <a:t>x</a:t>
            </a:r>
            <a:r>
              <a:rPr lang="en-US" noProof="0" dirty="0">
                <a:cs typeface="Arial" pitchFamily="34" charset="0"/>
              </a:rPr>
              <a:t>&gt;0 }</a:t>
            </a:r>
          </a:p>
        </p:txBody>
      </p:sp>
      <p:cxnSp>
        <p:nvCxnSpPr>
          <p:cNvPr id="34" name="Straight Connector 33"/>
          <p:cNvCxnSpPr>
            <a:stCxn id="32" idx="1"/>
          </p:cNvCxnSpPr>
          <p:nvPr/>
        </p:nvCxnSpPr>
        <p:spPr>
          <a:xfrm flipH="1">
            <a:off x="2533650" y="2173933"/>
            <a:ext cx="895350" cy="930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33" idx="1"/>
          </p:cNvCxnSpPr>
          <p:nvPr/>
        </p:nvCxnSpPr>
        <p:spPr>
          <a:xfrm flipH="1">
            <a:off x="2628900" y="2821633"/>
            <a:ext cx="723900" cy="169217"/>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6021760-C4AD-DDD3-23D0-35EB3114ADAB}"/>
              </a:ext>
            </a:extLst>
          </p:cNvPr>
          <p:cNvSpPr txBox="1"/>
          <p:nvPr/>
        </p:nvSpPr>
        <p:spPr>
          <a:xfrm>
            <a:off x="798201" y="1697221"/>
            <a:ext cx="574196" cy="523220"/>
          </a:xfrm>
          <a:prstGeom prst="rect">
            <a:avLst/>
          </a:prstGeom>
          <a:noFill/>
        </p:spPr>
        <p:txBody>
          <a:bodyPr wrap="none" rtlCol="0">
            <a:spAutoFit/>
          </a:bodyPr>
          <a:lstStyle/>
          <a:p>
            <a:r>
              <a:rPr lang="en-US" sz="2800" noProof="0" dirty="0"/>
              <a:t>P: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500063" y="274638"/>
            <a:ext cx="8358187" cy="796925"/>
          </a:xfrm>
        </p:spPr>
        <p:txBody>
          <a:bodyPr/>
          <a:lstStyle/>
          <a:p>
            <a:pPr eaLnBrk="1" hangingPunct="1"/>
            <a:r>
              <a:rPr lang="en-US" noProof="0" dirty="0">
                <a:cs typeface="Arial" charset="0"/>
              </a:rPr>
              <a:t>Derived operators</a:t>
            </a:r>
          </a:p>
        </p:txBody>
      </p:sp>
      <p:sp>
        <p:nvSpPr>
          <p:cNvPr id="28675" name="Content Placeholder 3"/>
          <p:cNvSpPr>
            <a:spLocks noGrp="1"/>
          </p:cNvSpPr>
          <p:nvPr>
            <p:ph sz="quarter" idx="1"/>
          </p:nvPr>
        </p:nvSpPr>
        <p:spPr>
          <a:xfrm>
            <a:off x="787400" y="1651000"/>
            <a:ext cx="8178800" cy="4973638"/>
          </a:xfrm>
        </p:spPr>
        <p:txBody>
          <a:bodyPr/>
          <a:lstStyle/>
          <a:p>
            <a:pPr eaLnBrk="1" hangingPunct="1"/>
            <a:r>
              <a:rPr lang="en-US" noProof="0" dirty="0" err="1">
                <a:cs typeface="Arial" charset="0"/>
              </a:rPr>
              <a:t>Eventualy</a:t>
            </a:r>
            <a:r>
              <a:rPr lang="en-US" noProof="0" dirty="0">
                <a:cs typeface="Arial" charset="0"/>
              </a:rPr>
              <a:t>		</a:t>
            </a:r>
            <a:r>
              <a:rPr lang="en-US" noProof="0" dirty="0">
                <a:solidFill>
                  <a:srgbClr val="C00000"/>
                </a:solidFill>
                <a:cs typeface="Arial" charset="0"/>
                <a:sym typeface="Symbol"/>
              </a:rPr>
              <a:t></a:t>
            </a:r>
            <a:r>
              <a:rPr lang="en-US" noProof="0" dirty="0">
                <a:cs typeface="Arial" charset="0"/>
                <a:sym typeface="Symbol" pitchFamily="18" charset="2"/>
              </a:rPr>
              <a:t>		=    true  </a:t>
            </a:r>
            <a:r>
              <a:rPr lang="en-US" noProof="0" dirty="0">
                <a:solidFill>
                  <a:srgbClr val="C00000"/>
                </a:solidFill>
                <a:cs typeface="Arial" charset="0"/>
                <a:sym typeface="Symbol" pitchFamily="18" charset="2"/>
              </a:rPr>
              <a:t>U</a:t>
            </a:r>
            <a:r>
              <a:rPr lang="en-US" noProof="0" dirty="0">
                <a:cs typeface="Arial" charset="0"/>
                <a:sym typeface="Symbol" pitchFamily="18" charset="2"/>
              </a:rPr>
              <a:t>  </a:t>
            </a:r>
          </a:p>
          <a:p>
            <a:pPr eaLnBrk="1" hangingPunct="1"/>
            <a:r>
              <a:rPr lang="en-US" noProof="0" dirty="0">
                <a:cs typeface="Arial" charset="0"/>
                <a:sym typeface="Symbol" pitchFamily="18" charset="2"/>
              </a:rPr>
              <a:t>Always		</a:t>
            </a:r>
            <a:r>
              <a:rPr lang="en-US" noProof="0" dirty="0">
                <a:sym typeface="Wingdings"/>
              </a:rPr>
              <a:t> ☐</a:t>
            </a:r>
            <a:r>
              <a:rPr lang="en-US" noProof="0" dirty="0">
                <a:cs typeface="Arial" charset="0"/>
                <a:sym typeface="Symbol" pitchFamily="18" charset="2"/>
              </a:rPr>
              <a:t>		=    </a:t>
            </a:r>
            <a:r>
              <a:rPr lang="en-US" noProof="0" dirty="0">
                <a:cs typeface="Arial" charset="0"/>
                <a:sym typeface="Symbol"/>
              </a:rPr>
              <a:t></a:t>
            </a:r>
            <a:r>
              <a:rPr lang="en-US" noProof="0" dirty="0">
                <a:cs typeface="Arial" charset="0"/>
                <a:sym typeface="Symbol" pitchFamily="18" charset="2"/>
              </a:rPr>
              <a:t></a:t>
            </a:r>
          </a:p>
          <a:p>
            <a:pPr eaLnBrk="1" hangingPunct="1"/>
            <a:r>
              <a:rPr lang="en-US" noProof="0" dirty="0">
                <a:cs typeface="Arial" charset="0"/>
                <a:sym typeface="Symbol" pitchFamily="18" charset="2"/>
              </a:rPr>
              <a:t>Weak until		  </a:t>
            </a:r>
            <a:r>
              <a:rPr lang="en-US" noProof="0" dirty="0">
                <a:solidFill>
                  <a:srgbClr val="FF0000"/>
                </a:solidFill>
                <a:cs typeface="Arial" charset="0"/>
                <a:sym typeface="Symbol" pitchFamily="18" charset="2"/>
              </a:rPr>
              <a:t>W</a:t>
            </a:r>
            <a:r>
              <a:rPr lang="en-US" noProof="0" dirty="0">
                <a:cs typeface="Arial" charset="0"/>
                <a:sym typeface="Symbol" pitchFamily="18" charset="2"/>
              </a:rPr>
              <a:t>   	=    </a:t>
            </a:r>
            <a:r>
              <a:rPr lang="en-US" noProof="0" dirty="0">
                <a:solidFill>
                  <a:srgbClr val="C00000"/>
                </a:solidFill>
                <a:cs typeface="Arial" charset="0"/>
                <a:sym typeface="Wingdings"/>
              </a:rPr>
              <a:t></a:t>
            </a:r>
            <a:r>
              <a:rPr lang="en-US" noProof="0" dirty="0">
                <a:cs typeface="Arial" charset="0"/>
                <a:sym typeface="Symbol" pitchFamily="18" charset="2"/>
              </a:rPr>
              <a:t> \/ ( </a:t>
            </a:r>
            <a:r>
              <a:rPr lang="en-US" noProof="0" dirty="0">
                <a:solidFill>
                  <a:srgbClr val="C00000"/>
                </a:solidFill>
                <a:cs typeface="Arial" charset="0"/>
                <a:sym typeface="Symbol" pitchFamily="18" charset="2"/>
              </a:rPr>
              <a:t>U</a:t>
            </a:r>
            <a:r>
              <a:rPr lang="en-US" noProof="0" dirty="0">
                <a:cs typeface="Arial" charset="0"/>
                <a:sym typeface="Symbol" pitchFamily="18" charset="2"/>
              </a:rPr>
              <a:t> )</a:t>
            </a:r>
          </a:p>
          <a:p>
            <a:pPr eaLnBrk="1" hangingPunct="1"/>
            <a:r>
              <a:rPr lang="en-US" noProof="0" dirty="0">
                <a:cs typeface="Arial" charset="0"/>
                <a:sym typeface="Symbol" pitchFamily="18" charset="2"/>
              </a:rPr>
              <a:t>Release		  </a:t>
            </a:r>
            <a:r>
              <a:rPr lang="en-US" noProof="0" dirty="0">
                <a:solidFill>
                  <a:srgbClr val="FF0000"/>
                </a:solidFill>
                <a:cs typeface="Arial" charset="0"/>
                <a:sym typeface="Symbol" pitchFamily="18" charset="2"/>
              </a:rPr>
              <a:t>R</a:t>
            </a:r>
            <a:r>
              <a:rPr lang="en-US" noProof="0" dirty="0">
                <a:cs typeface="Arial" charset="0"/>
                <a:sym typeface="Symbol" pitchFamily="18" charset="2"/>
              </a:rPr>
              <a:t>  	=       </a:t>
            </a:r>
            <a:r>
              <a:rPr lang="en-US" noProof="0" dirty="0">
                <a:solidFill>
                  <a:srgbClr val="FF0000"/>
                </a:solidFill>
                <a:cs typeface="Arial" charset="0"/>
                <a:sym typeface="Symbol" pitchFamily="18" charset="2"/>
              </a:rPr>
              <a:t>W</a:t>
            </a:r>
            <a:r>
              <a:rPr lang="en-US" noProof="0" dirty="0">
                <a:cs typeface="Arial" charset="0"/>
                <a:sym typeface="Symbol" pitchFamily="18" charset="2"/>
              </a:rPr>
              <a:t>   ( /\ ) </a:t>
            </a:r>
            <a:endParaRPr lang="en-US" noProof="0" dirty="0">
              <a:cs typeface="Arial" charset="0"/>
            </a:endParaRPr>
          </a:p>
        </p:txBody>
      </p:sp>
      <p:sp>
        <p:nvSpPr>
          <p:cNvPr id="5" name="Tijdelijke aanduiding voor dianummer 4"/>
          <p:cNvSpPr>
            <a:spLocks noGrp="1"/>
          </p:cNvSpPr>
          <p:nvPr>
            <p:ph type="sldNum" sz="quarter" idx="12"/>
          </p:nvPr>
        </p:nvSpPr>
        <p:spPr/>
        <p:txBody>
          <a:bodyPr/>
          <a:lstStyle/>
          <a:p>
            <a:pPr>
              <a:defRPr/>
            </a:pPr>
            <a:fld id="{036AE74C-0D43-49E2-92FE-E5E4FD64EB92}" type="slidenum">
              <a:rPr lang="en-US" noProof="0"/>
              <a:pPr>
                <a:defRPr/>
              </a:pPr>
              <a:t>22</a:t>
            </a:fld>
            <a:endParaRPr lang="en-US"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00063" y="274638"/>
            <a:ext cx="8358187" cy="796925"/>
          </a:xfrm>
        </p:spPr>
        <p:txBody>
          <a:bodyPr/>
          <a:lstStyle/>
          <a:p>
            <a:pPr eaLnBrk="1" hangingPunct="1"/>
            <a:r>
              <a:rPr lang="en-US" noProof="0" dirty="0">
                <a:cs typeface="Arial" charset="0"/>
              </a:rPr>
              <a:t>Some derived operators</a:t>
            </a:r>
          </a:p>
        </p:txBody>
      </p:sp>
      <p:sp>
        <p:nvSpPr>
          <p:cNvPr id="130" name="Tijdelijke aanduiding voor dianummer 129"/>
          <p:cNvSpPr>
            <a:spLocks noGrp="1"/>
          </p:cNvSpPr>
          <p:nvPr>
            <p:ph type="sldNum" sz="quarter" idx="12"/>
          </p:nvPr>
        </p:nvSpPr>
        <p:spPr/>
        <p:txBody>
          <a:bodyPr/>
          <a:lstStyle/>
          <a:p>
            <a:pPr>
              <a:defRPr/>
            </a:pPr>
            <a:fld id="{4A8652E6-EB9F-4F6F-9BB0-49A65EB7314F}" type="slidenum">
              <a:rPr lang="en-US" noProof="0"/>
              <a:pPr>
                <a:defRPr/>
              </a:pPr>
              <a:t>23</a:t>
            </a:fld>
            <a:endParaRPr lang="en-US" noProof="0" dirty="0"/>
          </a:p>
        </p:txBody>
      </p:sp>
      <p:sp>
        <p:nvSpPr>
          <p:cNvPr id="31747" name="Rectangle 3"/>
          <p:cNvSpPr txBox="1">
            <a:spLocks noChangeArrowheads="1"/>
          </p:cNvSpPr>
          <p:nvPr/>
        </p:nvSpPr>
        <p:spPr bwMode="auto">
          <a:xfrm>
            <a:off x="422275" y="1841500"/>
            <a:ext cx="3197225" cy="4800600"/>
          </a:xfrm>
          <a:prstGeom prst="rect">
            <a:avLst/>
          </a:prstGeom>
          <a:noFill/>
          <a:ln w="9525">
            <a:noFill/>
            <a:miter lim="800000"/>
            <a:headEnd/>
            <a:tailEnd/>
          </a:ln>
        </p:spPr>
        <p:txBody>
          <a:bodyPr/>
          <a:lstStyle/>
          <a:p>
            <a:pPr marL="319088" indent="-319088">
              <a:lnSpc>
                <a:spcPct val="90000"/>
              </a:lnSpc>
              <a:spcBef>
                <a:spcPts val="700"/>
              </a:spcBef>
              <a:buClr>
                <a:schemeClr val="accent2"/>
              </a:buClr>
              <a:buSzPct val="60000"/>
              <a:defRPr/>
            </a:pPr>
            <a:r>
              <a:rPr lang="en-US" noProof="0" dirty="0">
                <a:solidFill>
                  <a:srgbClr val="A50021"/>
                </a:solidFill>
                <a:latin typeface="Arial" pitchFamily="34" charset="0"/>
                <a:cs typeface="Arial" pitchFamily="34" charset="0"/>
              </a:rPr>
              <a:t>&lt;&gt; </a:t>
            </a:r>
            <a:r>
              <a:rPr lang="en-US" i="1" noProof="0" dirty="0">
                <a:solidFill>
                  <a:schemeClr val="tx2"/>
                </a:solidFill>
                <a:latin typeface="Arial" pitchFamily="34" charset="0"/>
                <a:cs typeface="Arial" pitchFamily="34" charset="0"/>
              </a:rPr>
              <a:t>f</a:t>
            </a:r>
            <a:r>
              <a:rPr lang="en-US" noProof="0" dirty="0">
                <a:solidFill>
                  <a:schemeClr val="tx2"/>
                </a:solidFill>
                <a:latin typeface="Arial" pitchFamily="34" charset="0"/>
                <a:cs typeface="Arial" pitchFamily="34" charset="0"/>
              </a:rPr>
              <a:t>     </a:t>
            </a:r>
            <a:r>
              <a:rPr lang="en-US" noProof="0" dirty="0">
                <a:solidFill>
                  <a:schemeClr val="bg1">
                    <a:lumMod val="65000"/>
                  </a:schemeClr>
                </a:solidFill>
                <a:latin typeface="Arial" pitchFamily="34" charset="0"/>
                <a:cs typeface="Arial" pitchFamily="34" charset="0"/>
              </a:rPr>
              <a:t>// eventually </a:t>
            </a:r>
            <a:r>
              <a:rPr lang="en-US" i="1" noProof="0" dirty="0">
                <a:solidFill>
                  <a:schemeClr val="bg1">
                    <a:lumMod val="65000"/>
                  </a:schemeClr>
                </a:solidFill>
                <a:latin typeface="Arial" pitchFamily="34" charset="0"/>
                <a:cs typeface="Arial" pitchFamily="34" charset="0"/>
              </a:rPr>
              <a:t>f</a:t>
            </a: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r>
              <a:rPr lang="en-US" i="1" noProof="0" dirty="0">
                <a:solidFill>
                  <a:schemeClr val="tx2"/>
                </a:solidFill>
                <a:latin typeface="Arial" pitchFamily="34" charset="0"/>
                <a:cs typeface="Arial" pitchFamily="34" charset="0"/>
              </a:rPr>
              <a:t>f</a:t>
            </a:r>
            <a:r>
              <a:rPr lang="en-US" noProof="0" dirty="0">
                <a:solidFill>
                  <a:schemeClr val="tx2"/>
                </a:solidFill>
                <a:latin typeface="Arial" pitchFamily="34" charset="0"/>
                <a:cs typeface="Arial" pitchFamily="34" charset="0"/>
              </a:rPr>
              <a:t>  </a:t>
            </a:r>
            <a:r>
              <a:rPr lang="en-US" noProof="0" dirty="0">
                <a:solidFill>
                  <a:srgbClr val="C00000"/>
                </a:solidFill>
                <a:latin typeface="Arial" pitchFamily="34" charset="0"/>
                <a:cs typeface="Arial" pitchFamily="34" charset="0"/>
              </a:rPr>
              <a:t>W</a:t>
            </a:r>
            <a:r>
              <a:rPr lang="en-US" noProof="0" dirty="0">
                <a:solidFill>
                  <a:schemeClr val="tx2"/>
                </a:solidFill>
                <a:latin typeface="Arial" pitchFamily="34" charset="0"/>
                <a:cs typeface="Arial" pitchFamily="34" charset="0"/>
              </a:rPr>
              <a:t>  </a:t>
            </a:r>
            <a:r>
              <a:rPr lang="en-US" i="1" noProof="0" dirty="0">
                <a:solidFill>
                  <a:schemeClr val="tx2"/>
                </a:solidFill>
                <a:latin typeface="Arial" pitchFamily="34" charset="0"/>
                <a:cs typeface="Arial" pitchFamily="34" charset="0"/>
              </a:rPr>
              <a:t>g</a:t>
            </a:r>
            <a:r>
              <a:rPr lang="en-US" noProof="0" dirty="0">
                <a:solidFill>
                  <a:schemeClr val="tx2"/>
                </a:solidFill>
                <a:latin typeface="Arial" pitchFamily="34" charset="0"/>
                <a:cs typeface="Arial" pitchFamily="34" charset="0"/>
              </a:rPr>
              <a:t>     </a:t>
            </a:r>
            <a:r>
              <a:rPr lang="en-US" noProof="0" dirty="0">
                <a:solidFill>
                  <a:schemeClr val="bg1">
                    <a:lumMod val="65000"/>
                  </a:schemeClr>
                </a:solidFill>
                <a:latin typeface="Arial" pitchFamily="34" charset="0"/>
                <a:cs typeface="Arial" pitchFamily="34" charset="0"/>
              </a:rPr>
              <a:t>// weak until</a:t>
            </a: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endParaRPr lang="en-US" noProof="0" dirty="0">
              <a:solidFill>
                <a:schemeClr val="tx2"/>
              </a:solidFill>
              <a:latin typeface="Arial" pitchFamily="34" charset="0"/>
              <a:cs typeface="Arial" pitchFamily="34" charset="0"/>
            </a:endParaRPr>
          </a:p>
          <a:p>
            <a:pPr marL="319088" indent="-319088">
              <a:lnSpc>
                <a:spcPct val="90000"/>
              </a:lnSpc>
              <a:spcBef>
                <a:spcPts val="700"/>
              </a:spcBef>
              <a:buClr>
                <a:schemeClr val="accent2"/>
              </a:buClr>
              <a:buSzPct val="60000"/>
              <a:defRPr/>
            </a:pPr>
            <a:r>
              <a:rPr lang="en-US" i="1" noProof="0" dirty="0">
                <a:solidFill>
                  <a:schemeClr val="tx2"/>
                </a:solidFill>
                <a:latin typeface="Arial" pitchFamily="34" charset="0"/>
                <a:cs typeface="Arial" pitchFamily="34" charset="0"/>
              </a:rPr>
              <a:t>g</a:t>
            </a:r>
            <a:r>
              <a:rPr lang="en-US" noProof="0" dirty="0">
                <a:solidFill>
                  <a:schemeClr val="tx2"/>
                </a:solidFill>
                <a:latin typeface="Arial" pitchFamily="34" charset="0"/>
                <a:cs typeface="Arial" pitchFamily="34" charset="0"/>
              </a:rPr>
              <a:t> </a:t>
            </a:r>
            <a:r>
              <a:rPr lang="en-US" noProof="0" dirty="0">
                <a:solidFill>
                  <a:srgbClr val="A50021"/>
                </a:solidFill>
                <a:latin typeface="Arial" pitchFamily="34" charset="0"/>
                <a:cs typeface="Arial" pitchFamily="34" charset="0"/>
              </a:rPr>
              <a:t>R</a:t>
            </a:r>
            <a:r>
              <a:rPr lang="en-US" noProof="0" dirty="0">
                <a:solidFill>
                  <a:schemeClr val="tx2"/>
                </a:solidFill>
                <a:latin typeface="Arial" pitchFamily="34" charset="0"/>
                <a:cs typeface="Arial" pitchFamily="34" charset="0"/>
              </a:rPr>
              <a:t> </a:t>
            </a:r>
            <a:r>
              <a:rPr lang="en-US" i="1" noProof="0" dirty="0">
                <a:solidFill>
                  <a:schemeClr val="tx2"/>
                </a:solidFill>
                <a:latin typeface="Arial" pitchFamily="34" charset="0"/>
                <a:cs typeface="Arial" pitchFamily="34" charset="0"/>
              </a:rPr>
              <a:t>f</a:t>
            </a:r>
            <a:r>
              <a:rPr lang="en-US" noProof="0" dirty="0">
                <a:solidFill>
                  <a:schemeClr val="tx2"/>
                </a:solidFill>
                <a:latin typeface="Arial" pitchFamily="34" charset="0"/>
                <a:cs typeface="Arial" pitchFamily="34" charset="0"/>
              </a:rPr>
              <a:t>    </a:t>
            </a:r>
            <a:r>
              <a:rPr lang="en-US" noProof="0" dirty="0">
                <a:solidFill>
                  <a:schemeClr val="bg1">
                    <a:lumMod val="65000"/>
                  </a:schemeClr>
                </a:solidFill>
                <a:latin typeface="Arial" pitchFamily="34" charset="0"/>
                <a:cs typeface="Arial" pitchFamily="34" charset="0"/>
              </a:rPr>
              <a:t>// releases</a:t>
            </a:r>
          </a:p>
        </p:txBody>
      </p:sp>
      <p:grpSp>
        <p:nvGrpSpPr>
          <p:cNvPr id="27653" name="Group 30"/>
          <p:cNvGrpSpPr>
            <a:grpSpLocks/>
          </p:cNvGrpSpPr>
          <p:nvPr/>
        </p:nvGrpSpPr>
        <p:grpSpPr bwMode="auto">
          <a:xfrm>
            <a:off x="3779838" y="1831975"/>
            <a:ext cx="4824412" cy="431800"/>
            <a:chOff x="2685" y="2998"/>
            <a:chExt cx="7200" cy="618"/>
          </a:xfrm>
        </p:grpSpPr>
        <p:grpSp>
          <p:nvGrpSpPr>
            <p:cNvPr id="27757" name="Group 31"/>
            <p:cNvGrpSpPr>
              <a:grpSpLocks/>
            </p:cNvGrpSpPr>
            <p:nvPr/>
          </p:nvGrpSpPr>
          <p:grpSpPr bwMode="auto">
            <a:xfrm>
              <a:off x="2685" y="2998"/>
              <a:ext cx="7200" cy="618"/>
              <a:chOff x="2835" y="4895"/>
              <a:chExt cx="7200" cy="618"/>
            </a:xfrm>
          </p:grpSpPr>
          <p:grpSp>
            <p:nvGrpSpPr>
              <p:cNvPr id="27760" name="Group 35"/>
              <p:cNvGrpSpPr>
                <a:grpSpLocks/>
              </p:cNvGrpSpPr>
              <p:nvPr/>
            </p:nvGrpSpPr>
            <p:grpSpPr bwMode="auto">
              <a:xfrm>
                <a:off x="4035" y="4895"/>
                <a:ext cx="1200" cy="618"/>
                <a:chOff x="4035" y="4741"/>
                <a:chExt cx="1200" cy="618"/>
              </a:xfrm>
            </p:grpSpPr>
            <p:sp>
              <p:nvSpPr>
                <p:cNvPr id="27776" name="AutoShape 33"/>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77" name="Line 34"/>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61" name="Group 35"/>
              <p:cNvGrpSpPr>
                <a:grpSpLocks/>
              </p:cNvGrpSpPr>
              <p:nvPr/>
            </p:nvGrpSpPr>
            <p:grpSpPr bwMode="auto">
              <a:xfrm>
                <a:off x="5235" y="4895"/>
                <a:ext cx="1200" cy="618"/>
                <a:chOff x="4035" y="4741"/>
                <a:chExt cx="1200" cy="618"/>
              </a:xfrm>
            </p:grpSpPr>
            <p:sp>
              <p:nvSpPr>
                <p:cNvPr id="27774" name="AutoShape 36"/>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75" name="Line 37"/>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62" name="Group 38"/>
              <p:cNvGrpSpPr>
                <a:grpSpLocks/>
              </p:cNvGrpSpPr>
              <p:nvPr/>
            </p:nvGrpSpPr>
            <p:grpSpPr bwMode="auto">
              <a:xfrm>
                <a:off x="6435" y="4895"/>
                <a:ext cx="1200" cy="618"/>
                <a:chOff x="4035" y="4741"/>
                <a:chExt cx="1200" cy="618"/>
              </a:xfrm>
            </p:grpSpPr>
            <p:sp>
              <p:nvSpPr>
                <p:cNvPr id="27772" name="AutoShape 39"/>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73" name="Line 40"/>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63" name="Group 41"/>
              <p:cNvGrpSpPr>
                <a:grpSpLocks/>
              </p:cNvGrpSpPr>
              <p:nvPr/>
            </p:nvGrpSpPr>
            <p:grpSpPr bwMode="auto">
              <a:xfrm>
                <a:off x="7635" y="4895"/>
                <a:ext cx="1200" cy="618"/>
                <a:chOff x="4035" y="4741"/>
                <a:chExt cx="1200" cy="618"/>
              </a:xfrm>
            </p:grpSpPr>
            <p:sp>
              <p:nvSpPr>
                <p:cNvPr id="27770" name="AutoShape 42"/>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71" name="Line 43"/>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64" name="Group 44"/>
              <p:cNvGrpSpPr>
                <a:grpSpLocks/>
              </p:cNvGrpSpPr>
              <p:nvPr/>
            </p:nvGrpSpPr>
            <p:grpSpPr bwMode="auto">
              <a:xfrm>
                <a:off x="8835" y="4895"/>
                <a:ext cx="1200" cy="618"/>
                <a:chOff x="4035" y="4741"/>
                <a:chExt cx="1200" cy="618"/>
              </a:xfrm>
            </p:grpSpPr>
            <p:sp>
              <p:nvSpPr>
                <p:cNvPr id="27768" name="AutoShape 45"/>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69" name="Line 46"/>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65" name="Group 47"/>
              <p:cNvGrpSpPr>
                <a:grpSpLocks/>
              </p:cNvGrpSpPr>
              <p:nvPr/>
            </p:nvGrpSpPr>
            <p:grpSpPr bwMode="auto">
              <a:xfrm>
                <a:off x="2835" y="4895"/>
                <a:ext cx="1200" cy="618"/>
                <a:chOff x="4035" y="4741"/>
                <a:chExt cx="1200" cy="618"/>
              </a:xfrm>
            </p:grpSpPr>
            <p:sp>
              <p:nvSpPr>
                <p:cNvPr id="27766" name="AutoShape 48"/>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67" name="Line 49"/>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sp>
          <p:nvSpPr>
            <p:cNvPr id="27758" name="Rectangle 50"/>
            <p:cNvSpPr>
              <a:spLocks noChangeArrowheads="1"/>
            </p:cNvSpPr>
            <p:nvPr/>
          </p:nvSpPr>
          <p:spPr bwMode="auto">
            <a:xfrm>
              <a:off x="3885" y="2998"/>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a:t>
              </a:r>
              <a:endParaRPr lang="en-US" sz="1800" i="1" noProof="0" dirty="0">
                <a:latin typeface="Tahoma" pitchFamily="34" charset="0"/>
              </a:endParaRPr>
            </a:p>
          </p:txBody>
        </p:sp>
        <p:sp>
          <p:nvSpPr>
            <p:cNvPr id="27759" name="Rectangle 51"/>
            <p:cNvSpPr>
              <a:spLocks noChangeArrowheads="1"/>
            </p:cNvSpPr>
            <p:nvPr/>
          </p:nvSpPr>
          <p:spPr bwMode="auto">
            <a:xfrm>
              <a:off x="7485" y="2998"/>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grpSp>
      <p:grpSp>
        <p:nvGrpSpPr>
          <p:cNvPr id="27654" name="Group 100"/>
          <p:cNvGrpSpPr>
            <a:grpSpLocks/>
          </p:cNvGrpSpPr>
          <p:nvPr/>
        </p:nvGrpSpPr>
        <p:grpSpPr bwMode="auto">
          <a:xfrm>
            <a:off x="3789363" y="6092825"/>
            <a:ext cx="4838700" cy="431800"/>
            <a:chOff x="2985" y="5775"/>
            <a:chExt cx="7200" cy="620"/>
          </a:xfrm>
        </p:grpSpPr>
        <p:grpSp>
          <p:nvGrpSpPr>
            <p:cNvPr id="27734" name="Group 101"/>
            <p:cNvGrpSpPr>
              <a:grpSpLocks/>
            </p:cNvGrpSpPr>
            <p:nvPr/>
          </p:nvGrpSpPr>
          <p:grpSpPr bwMode="auto">
            <a:xfrm>
              <a:off x="2985" y="5775"/>
              <a:ext cx="7200" cy="618"/>
              <a:chOff x="2835" y="4895"/>
              <a:chExt cx="7200" cy="618"/>
            </a:xfrm>
          </p:grpSpPr>
          <p:grpSp>
            <p:nvGrpSpPr>
              <p:cNvPr id="27739" name="Group 102"/>
              <p:cNvGrpSpPr>
                <a:grpSpLocks/>
              </p:cNvGrpSpPr>
              <p:nvPr/>
            </p:nvGrpSpPr>
            <p:grpSpPr bwMode="auto">
              <a:xfrm>
                <a:off x="4035" y="4895"/>
                <a:ext cx="1200" cy="618"/>
                <a:chOff x="4035" y="4741"/>
                <a:chExt cx="1200" cy="618"/>
              </a:xfrm>
            </p:grpSpPr>
            <p:sp>
              <p:nvSpPr>
                <p:cNvPr id="27755" name="AutoShape 103"/>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56" name="Line 104"/>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40" name="Group 105"/>
              <p:cNvGrpSpPr>
                <a:grpSpLocks/>
              </p:cNvGrpSpPr>
              <p:nvPr/>
            </p:nvGrpSpPr>
            <p:grpSpPr bwMode="auto">
              <a:xfrm>
                <a:off x="5235" y="4895"/>
                <a:ext cx="1200" cy="618"/>
                <a:chOff x="4035" y="4741"/>
                <a:chExt cx="1200" cy="618"/>
              </a:xfrm>
            </p:grpSpPr>
            <p:sp>
              <p:nvSpPr>
                <p:cNvPr id="27753" name="AutoShape 106"/>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54" name="Line 107"/>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41" name="Group 108"/>
              <p:cNvGrpSpPr>
                <a:grpSpLocks/>
              </p:cNvGrpSpPr>
              <p:nvPr/>
            </p:nvGrpSpPr>
            <p:grpSpPr bwMode="auto">
              <a:xfrm>
                <a:off x="6435" y="4895"/>
                <a:ext cx="1200" cy="618"/>
                <a:chOff x="4035" y="4741"/>
                <a:chExt cx="1200" cy="618"/>
              </a:xfrm>
            </p:grpSpPr>
            <p:sp>
              <p:nvSpPr>
                <p:cNvPr id="27751" name="AutoShape 109"/>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52" name="Line 110"/>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42" name="Group 111"/>
              <p:cNvGrpSpPr>
                <a:grpSpLocks/>
              </p:cNvGrpSpPr>
              <p:nvPr/>
            </p:nvGrpSpPr>
            <p:grpSpPr bwMode="auto">
              <a:xfrm>
                <a:off x="7635" y="4895"/>
                <a:ext cx="1200" cy="618"/>
                <a:chOff x="4035" y="4741"/>
                <a:chExt cx="1200" cy="618"/>
              </a:xfrm>
            </p:grpSpPr>
            <p:sp>
              <p:nvSpPr>
                <p:cNvPr id="27749" name="AutoShape 112"/>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50" name="Line 113"/>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43" name="Group 114"/>
              <p:cNvGrpSpPr>
                <a:grpSpLocks/>
              </p:cNvGrpSpPr>
              <p:nvPr/>
            </p:nvGrpSpPr>
            <p:grpSpPr bwMode="auto">
              <a:xfrm>
                <a:off x="8835" y="4895"/>
                <a:ext cx="1200" cy="618"/>
                <a:chOff x="4035" y="4741"/>
                <a:chExt cx="1200" cy="618"/>
              </a:xfrm>
            </p:grpSpPr>
            <p:sp>
              <p:nvSpPr>
                <p:cNvPr id="27747" name="AutoShape 115"/>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48" name="Line 116"/>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44" name="Group 117"/>
              <p:cNvGrpSpPr>
                <a:grpSpLocks/>
              </p:cNvGrpSpPr>
              <p:nvPr/>
            </p:nvGrpSpPr>
            <p:grpSpPr bwMode="auto">
              <a:xfrm>
                <a:off x="2835" y="4895"/>
                <a:ext cx="1200" cy="618"/>
                <a:chOff x="4035" y="4741"/>
                <a:chExt cx="1200" cy="618"/>
              </a:xfrm>
            </p:grpSpPr>
            <p:sp>
              <p:nvSpPr>
                <p:cNvPr id="27745" name="AutoShape 118"/>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46" name="Line 119"/>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sp>
          <p:nvSpPr>
            <p:cNvPr id="27735" name="Rectangle 120"/>
            <p:cNvSpPr>
              <a:spLocks noChangeArrowheads="1"/>
            </p:cNvSpPr>
            <p:nvPr/>
          </p:nvSpPr>
          <p:spPr bwMode="auto">
            <a:xfrm>
              <a:off x="2985" y="5775"/>
              <a:ext cx="600" cy="61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 </a:t>
              </a:r>
              <a:endParaRPr lang="en-US" sz="1800" i="1" noProof="0" dirty="0">
                <a:latin typeface="Tahoma" pitchFamily="34" charset="0"/>
              </a:endParaRPr>
            </a:p>
          </p:txBody>
        </p:sp>
        <p:sp>
          <p:nvSpPr>
            <p:cNvPr id="27736" name="Rectangle 121"/>
            <p:cNvSpPr>
              <a:spLocks noChangeArrowheads="1"/>
            </p:cNvSpPr>
            <p:nvPr/>
          </p:nvSpPr>
          <p:spPr bwMode="auto">
            <a:xfrm>
              <a:off x="6585" y="5775"/>
              <a:ext cx="600" cy="620"/>
            </a:xfrm>
            <a:prstGeom prst="rect">
              <a:avLst/>
            </a:prstGeom>
            <a:solidFill>
              <a:srgbClr val="FFFFFF">
                <a:alpha val="0"/>
              </a:srgbClr>
            </a:solidFill>
            <a:ln w="9525">
              <a:noFill/>
              <a:miter lim="800000"/>
              <a:headEnd/>
              <a:tailEnd/>
            </a:ln>
          </p:spPr>
          <p:txBody>
            <a:bodyPr lIns="0" rIns="0"/>
            <a:lstStyle/>
            <a:p>
              <a:pPr eaLnBrk="0" hangingPunct="0"/>
              <a:r>
                <a:rPr lang="en-US" sz="1800" i="1" noProof="0" dirty="0">
                  <a:solidFill>
                    <a:srgbClr val="A50021"/>
                  </a:solidFill>
                  <a:latin typeface="Tahoma" pitchFamily="34" charset="0"/>
                </a:rPr>
                <a:t> </a:t>
              </a:r>
              <a:r>
                <a:rPr lang="en-US" sz="1800" i="1" noProof="0" dirty="0" err="1">
                  <a:solidFill>
                    <a:srgbClr val="A50021"/>
                  </a:solidFill>
                  <a:latin typeface="Tahoma" pitchFamily="34" charset="0"/>
                </a:rPr>
                <a:t>g,f</a:t>
              </a:r>
              <a:endParaRPr lang="en-US" sz="1400" i="1" noProof="0" dirty="0">
                <a:solidFill>
                  <a:srgbClr val="A50021"/>
                </a:solidFill>
                <a:latin typeface="Tahoma" pitchFamily="34" charset="0"/>
              </a:endParaRPr>
            </a:p>
          </p:txBody>
        </p:sp>
        <p:sp>
          <p:nvSpPr>
            <p:cNvPr id="27737" name="Rectangle 122"/>
            <p:cNvSpPr>
              <a:spLocks noChangeArrowheads="1"/>
            </p:cNvSpPr>
            <p:nvPr/>
          </p:nvSpPr>
          <p:spPr bwMode="auto">
            <a:xfrm>
              <a:off x="5385" y="5775"/>
              <a:ext cx="600" cy="620"/>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a:t>
              </a:r>
              <a:endParaRPr lang="en-US" sz="1800" i="1" noProof="0" dirty="0">
                <a:latin typeface="Tahoma" pitchFamily="34" charset="0"/>
              </a:endParaRPr>
            </a:p>
          </p:txBody>
        </p:sp>
        <p:sp>
          <p:nvSpPr>
            <p:cNvPr id="27738" name="Rectangle 123"/>
            <p:cNvSpPr>
              <a:spLocks noChangeArrowheads="1"/>
            </p:cNvSpPr>
            <p:nvPr/>
          </p:nvSpPr>
          <p:spPr bwMode="auto">
            <a:xfrm>
              <a:off x="4185" y="5775"/>
              <a:ext cx="600" cy="61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a:t>
              </a:r>
              <a:endParaRPr lang="en-US" sz="1800" i="1" noProof="0" dirty="0">
                <a:latin typeface="Tahoma" pitchFamily="34" charset="0"/>
              </a:endParaRPr>
            </a:p>
          </p:txBody>
        </p:sp>
      </p:grpSp>
      <p:grpSp>
        <p:nvGrpSpPr>
          <p:cNvPr id="27655" name="Group 75"/>
          <p:cNvGrpSpPr>
            <a:grpSpLocks/>
          </p:cNvGrpSpPr>
          <p:nvPr/>
        </p:nvGrpSpPr>
        <p:grpSpPr bwMode="auto">
          <a:xfrm>
            <a:off x="4048125" y="4078288"/>
            <a:ext cx="4824413" cy="431800"/>
            <a:chOff x="2685" y="2998"/>
            <a:chExt cx="7200" cy="619"/>
          </a:xfrm>
        </p:grpSpPr>
        <p:grpSp>
          <p:nvGrpSpPr>
            <p:cNvPr id="27710" name="Group 76"/>
            <p:cNvGrpSpPr>
              <a:grpSpLocks/>
            </p:cNvGrpSpPr>
            <p:nvPr/>
          </p:nvGrpSpPr>
          <p:grpSpPr bwMode="auto">
            <a:xfrm>
              <a:off x="2685" y="2998"/>
              <a:ext cx="7200" cy="618"/>
              <a:chOff x="2835" y="4895"/>
              <a:chExt cx="7200" cy="618"/>
            </a:xfrm>
          </p:grpSpPr>
          <p:grpSp>
            <p:nvGrpSpPr>
              <p:cNvPr id="27716" name="Group 77"/>
              <p:cNvGrpSpPr>
                <a:grpSpLocks/>
              </p:cNvGrpSpPr>
              <p:nvPr/>
            </p:nvGrpSpPr>
            <p:grpSpPr bwMode="auto">
              <a:xfrm>
                <a:off x="4035" y="4895"/>
                <a:ext cx="1200" cy="618"/>
                <a:chOff x="4035" y="4741"/>
                <a:chExt cx="1200" cy="618"/>
              </a:xfrm>
            </p:grpSpPr>
            <p:sp>
              <p:nvSpPr>
                <p:cNvPr id="27732" name="AutoShape 78"/>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33" name="Line 79"/>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17" name="Group 80"/>
              <p:cNvGrpSpPr>
                <a:grpSpLocks/>
              </p:cNvGrpSpPr>
              <p:nvPr/>
            </p:nvGrpSpPr>
            <p:grpSpPr bwMode="auto">
              <a:xfrm>
                <a:off x="5235" y="4895"/>
                <a:ext cx="1200" cy="618"/>
                <a:chOff x="4035" y="4741"/>
                <a:chExt cx="1200" cy="618"/>
              </a:xfrm>
            </p:grpSpPr>
            <p:sp>
              <p:nvSpPr>
                <p:cNvPr id="27730" name="AutoShape 81"/>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31" name="Line 82"/>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18" name="Group 83"/>
              <p:cNvGrpSpPr>
                <a:grpSpLocks/>
              </p:cNvGrpSpPr>
              <p:nvPr/>
            </p:nvGrpSpPr>
            <p:grpSpPr bwMode="auto">
              <a:xfrm>
                <a:off x="6435" y="4895"/>
                <a:ext cx="1200" cy="618"/>
                <a:chOff x="4035" y="4741"/>
                <a:chExt cx="1200" cy="618"/>
              </a:xfrm>
            </p:grpSpPr>
            <p:sp>
              <p:nvSpPr>
                <p:cNvPr id="27728" name="AutoShape 84"/>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29" name="Line 85"/>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19" name="Group 86"/>
              <p:cNvGrpSpPr>
                <a:grpSpLocks/>
              </p:cNvGrpSpPr>
              <p:nvPr/>
            </p:nvGrpSpPr>
            <p:grpSpPr bwMode="auto">
              <a:xfrm>
                <a:off x="7635" y="4895"/>
                <a:ext cx="1200" cy="618"/>
                <a:chOff x="4035" y="4741"/>
                <a:chExt cx="1200" cy="618"/>
              </a:xfrm>
            </p:grpSpPr>
            <p:sp>
              <p:nvSpPr>
                <p:cNvPr id="27726" name="AutoShape 87"/>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27" name="Line 88"/>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20" name="Group 89"/>
              <p:cNvGrpSpPr>
                <a:grpSpLocks/>
              </p:cNvGrpSpPr>
              <p:nvPr/>
            </p:nvGrpSpPr>
            <p:grpSpPr bwMode="auto">
              <a:xfrm>
                <a:off x="8835" y="4895"/>
                <a:ext cx="1200" cy="618"/>
                <a:chOff x="4035" y="4741"/>
                <a:chExt cx="1200" cy="618"/>
              </a:xfrm>
            </p:grpSpPr>
            <p:sp>
              <p:nvSpPr>
                <p:cNvPr id="27724" name="AutoShape 90"/>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25" name="Line 91"/>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721" name="Group 92"/>
              <p:cNvGrpSpPr>
                <a:grpSpLocks/>
              </p:cNvGrpSpPr>
              <p:nvPr/>
            </p:nvGrpSpPr>
            <p:grpSpPr bwMode="auto">
              <a:xfrm>
                <a:off x="2835" y="4895"/>
                <a:ext cx="1200" cy="618"/>
                <a:chOff x="4035" y="4741"/>
                <a:chExt cx="1200" cy="618"/>
              </a:xfrm>
            </p:grpSpPr>
            <p:sp>
              <p:nvSpPr>
                <p:cNvPr id="27722" name="AutoShape 93"/>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23" name="Line 94"/>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sp>
          <p:nvSpPr>
            <p:cNvPr id="27711" name="Rectangle 95"/>
            <p:cNvSpPr>
              <a:spLocks noChangeArrowheads="1"/>
            </p:cNvSpPr>
            <p:nvPr/>
          </p:nvSpPr>
          <p:spPr bwMode="auto">
            <a:xfrm>
              <a:off x="3885" y="2998"/>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712" name="Rectangle 96"/>
            <p:cNvSpPr>
              <a:spLocks noChangeArrowheads="1"/>
            </p:cNvSpPr>
            <p:nvPr/>
          </p:nvSpPr>
          <p:spPr bwMode="auto">
            <a:xfrm>
              <a:off x="2685" y="2998"/>
              <a:ext cx="600" cy="61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713" name="Rectangle 97"/>
            <p:cNvSpPr>
              <a:spLocks noChangeArrowheads="1"/>
            </p:cNvSpPr>
            <p:nvPr/>
          </p:nvSpPr>
          <p:spPr bwMode="auto">
            <a:xfrm>
              <a:off x="5085" y="2998"/>
              <a:ext cx="600" cy="61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714" name="Rectangle 98"/>
            <p:cNvSpPr>
              <a:spLocks noChangeArrowheads="1"/>
            </p:cNvSpPr>
            <p:nvPr/>
          </p:nvSpPr>
          <p:spPr bwMode="auto">
            <a:xfrm>
              <a:off x="6285" y="2998"/>
              <a:ext cx="600" cy="619"/>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715" name="Rectangle 99"/>
            <p:cNvSpPr>
              <a:spLocks noChangeArrowheads="1"/>
            </p:cNvSpPr>
            <p:nvPr/>
          </p:nvSpPr>
          <p:spPr bwMode="auto">
            <a:xfrm>
              <a:off x="7485" y="2998"/>
              <a:ext cx="600" cy="619"/>
            </a:xfrm>
            <a:prstGeom prst="rect">
              <a:avLst/>
            </a:prstGeom>
            <a:solidFill>
              <a:srgbClr val="FFFFFF">
                <a:alpha val="0"/>
              </a:srgbClr>
            </a:solidFill>
            <a:ln w="9525">
              <a:noFill/>
              <a:miter lim="800000"/>
              <a:headEnd/>
              <a:tailEnd/>
            </a:ln>
          </p:spPr>
          <p:txBody>
            <a:bodyPr/>
            <a:lstStyle/>
            <a:p>
              <a:pPr eaLnBrk="0" hangingPunct="0"/>
              <a:r>
                <a:rPr lang="en-US" i="1" noProof="0" dirty="0">
                  <a:latin typeface="Tahoma" pitchFamily="34" charset="0"/>
                </a:rPr>
                <a:t>g</a:t>
              </a:r>
              <a:endParaRPr lang="en-US" sz="1800" i="1" noProof="0" dirty="0">
                <a:latin typeface="Tahoma" pitchFamily="34" charset="0"/>
              </a:endParaRPr>
            </a:p>
          </p:txBody>
        </p:sp>
      </p:grpSp>
      <p:grpSp>
        <p:nvGrpSpPr>
          <p:cNvPr id="27656" name="Group 4"/>
          <p:cNvGrpSpPr>
            <a:grpSpLocks/>
          </p:cNvGrpSpPr>
          <p:nvPr/>
        </p:nvGrpSpPr>
        <p:grpSpPr bwMode="auto">
          <a:xfrm>
            <a:off x="3976688" y="2924175"/>
            <a:ext cx="4848225" cy="427038"/>
            <a:chOff x="2985" y="4850"/>
            <a:chExt cx="7200" cy="618"/>
          </a:xfrm>
        </p:grpSpPr>
        <p:grpSp>
          <p:nvGrpSpPr>
            <p:cNvPr id="27685" name="Group 5"/>
            <p:cNvGrpSpPr>
              <a:grpSpLocks/>
            </p:cNvGrpSpPr>
            <p:nvPr/>
          </p:nvGrpSpPr>
          <p:grpSpPr bwMode="auto">
            <a:xfrm>
              <a:off x="2985" y="4850"/>
              <a:ext cx="7200" cy="618"/>
              <a:chOff x="2835" y="4895"/>
              <a:chExt cx="7200" cy="618"/>
            </a:xfrm>
          </p:grpSpPr>
          <p:grpSp>
            <p:nvGrpSpPr>
              <p:cNvPr id="27692" name="Group 6"/>
              <p:cNvGrpSpPr>
                <a:grpSpLocks/>
              </p:cNvGrpSpPr>
              <p:nvPr/>
            </p:nvGrpSpPr>
            <p:grpSpPr bwMode="auto">
              <a:xfrm>
                <a:off x="4035" y="4895"/>
                <a:ext cx="1200" cy="618"/>
                <a:chOff x="4035" y="4741"/>
                <a:chExt cx="1200" cy="618"/>
              </a:xfrm>
            </p:grpSpPr>
            <p:sp>
              <p:nvSpPr>
                <p:cNvPr id="27708" name="AutoShape 7"/>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09" name="Line 8"/>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93" name="Group 9"/>
              <p:cNvGrpSpPr>
                <a:grpSpLocks/>
              </p:cNvGrpSpPr>
              <p:nvPr/>
            </p:nvGrpSpPr>
            <p:grpSpPr bwMode="auto">
              <a:xfrm>
                <a:off x="5235" y="4895"/>
                <a:ext cx="1200" cy="618"/>
                <a:chOff x="4035" y="4741"/>
                <a:chExt cx="1200" cy="618"/>
              </a:xfrm>
            </p:grpSpPr>
            <p:sp>
              <p:nvSpPr>
                <p:cNvPr id="27706" name="AutoShape 10"/>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07" name="Line 11"/>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94" name="Group 15"/>
              <p:cNvGrpSpPr>
                <a:grpSpLocks/>
              </p:cNvGrpSpPr>
              <p:nvPr/>
            </p:nvGrpSpPr>
            <p:grpSpPr bwMode="auto">
              <a:xfrm>
                <a:off x="6435" y="4895"/>
                <a:ext cx="1200" cy="618"/>
                <a:chOff x="4035" y="4741"/>
                <a:chExt cx="1200" cy="618"/>
              </a:xfrm>
            </p:grpSpPr>
            <p:sp>
              <p:nvSpPr>
                <p:cNvPr id="27704" name="AutoShape 13"/>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05" name="Line 14"/>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95" name="Group 15"/>
              <p:cNvGrpSpPr>
                <a:grpSpLocks/>
              </p:cNvGrpSpPr>
              <p:nvPr/>
            </p:nvGrpSpPr>
            <p:grpSpPr bwMode="auto">
              <a:xfrm>
                <a:off x="7635" y="4895"/>
                <a:ext cx="1200" cy="618"/>
                <a:chOff x="4035" y="4741"/>
                <a:chExt cx="1200" cy="618"/>
              </a:xfrm>
            </p:grpSpPr>
            <p:sp>
              <p:nvSpPr>
                <p:cNvPr id="27702" name="AutoShape 16"/>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03" name="Line 17"/>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96" name="Group 18"/>
              <p:cNvGrpSpPr>
                <a:grpSpLocks/>
              </p:cNvGrpSpPr>
              <p:nvPr/>
            </p:nvGrpSpPr>
            <p:grpSpPr bwMode="auto">
              <a:xfrm>
                <a:off x="8835" y="4895"/>
                <a:ext cx="1200" cy="618"/>
                <a:chOff x="4035" y="4741"/>
                <a:chExt cx="1200" cy="618"/>
              </a:xfrm>
            </p:grpSpPr>
            <p:sp>
              <p:nvSpPr>
                <p:cNvPr id="27700" name="AutoShape 19"/>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701" name="Line 20"/>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97" name="Group 21"/>
              <p:cNvGrpSpPr>
                <a:grpSpLocks/>
              </p:cNvGrpSpPr>
              <p:nvPr/>
            </p:nvGrpSpPr>
            <p:grpSpPr bwMode="auto">
              <a:xfrm>
                <a:off x="2835" y="4895"/>
                <a:ext cx="1200" cy="618"/>
                <a:chOff x="4035" y="4741"/>
                <a:chExt cx="1200" cy="618"/>
              </a:xfrm>
            </p:grpSpPr>
            <p:sp>
              <p:nvSpPr>
                <p:cNvPr id="27698" name="AutoShape 22"/>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699" name="Line 23"/>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sp>
          <p:nvSpPr>
            <p:cNvPr id="27686" name="Rectangle 24"/>
            <p:cNvSpPr>
              <a:spLocks noChangeArrowheads="1"/>
            </p:cNvSpPr>
            <p:nvPr/>
          </p:nvSpPr>
          <p:spPr bwMode="auto">
            <a:xfrm>
              <a:off x="2985" y="4850"/>
              <a:ext cx="600" cy="617"/>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687" name="Rectangle 25"/>
            <p:cNvSpPr>
              <a:spLocks noChangeArrowheads="1"/>
            </p:cNvSpPr>
            <p:nvPr/>
          </p:nvSpPr>
          <p:spPr bwMode="auto">
            <a:xfrm>
              <a:off x="41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688" name="Rectangle 26"/>
            <p:cNvSpPr>
              <a:spLocks noChangeArrowheads="1"/>
            </p:cNvSpPr>
            <p:nvPr/>
          </p:nvSpPr>
          <p:spPr bwMode="auto">
            <a:xfrm>
              <a:off x="53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689" name="Rectangle 27"/>
            <p:cNvSpPr>
              <a:spLocks noChangeArrowheads="1"/>
            </p:cNvSpPr>
            <p:nvPr/>
          </p:nvSpPr>
          <p:spPr bwMode="auto">
            <a:xfrm>
              <a:off x="65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690" name="Rectangle 28"/>
            <p:cNvSpPr>
              <a:spLocks noChangeArrowheads="1"/>
            </p:cNvSpPr>
            <p:nvPr/>
          </p:nvSpPr>
          <p:spPr bwMode="auto">
            <a:xfrm>
              <a:off x="77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sp>
          <p:nvSpPr>
            <p:cNvPr id="27691" name="Rectangle 29"/>
            <p:cNvSpPr>
              <a:spLocks noChangeArrowheads="1"/>
            </p:cNvSpPr>
            <p:nvPr/>
          </p:nvSpPr>
          <p:spPr bwMode="auto">
            <a:xfrm>
              <a:off x="89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 f</a:t>
              </a:r>
              <a:endParaRPr lang="en-US" sz="1800" i="1" noProof="0" dirty="0">
                <a:latin typeface="Tahoma" pitchFamily="34" charset="0"/>
              </a:endParaRPr>
            </a:p>
          </p:txBody>
        </p:sp>
      </p:grpSp>
      <p:sp>
        <p:nvSpPr>
          <p:cNvPr id="176" name="Linkeraccolade 175"/>
          <p:cNvSpPr/>
          <p:nvPr/>
        </p:nvSpPr>
        <p:spPr>
          <a:xfrm>
            <a:off x="3454400" y="3175000"/>
            <a:ext cx="482600" cy="1143000"/>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noProof="0" dirty="0"/>
          </a:p>
        </p:txBody>
      </p:sp>
      <p:grpSp>
        <p:nvGrpSpPr>
          <p:cNvPr id="27658" name="Group 4"/>
          <p:cNvGrpSpPr>
            <a:grpSpLocks/>
          </p:cNvGrpSpPr>
          <p:nvPr/>
        </p:nvGrpSpPr>
        <p:grpSpPr bwMode="auto">
          <a:xfrm>
            <a:off x="3722688" y="4918075"/>
            <a:ext cx="4848225" cy="427038"/>
            <a:chOff x="2985" y="4850"/>
            <a:chExt cx="7200" cy="618"/>
          </a:xfrm>
        </p:grpSpPr>
        <p:grpSp>
          <p:nvGrpSpPr>
            <p:cNvPr id="27660" name="Group 5"/>
            <p:cNvGrpSpPr>
              <a:grpSpLocks/>
            </p:cNvGrpSpPr>
            <p:nvPr/>
          </p:nvGrpSpPr>
          <p:grpSpPr bwMode="auto">
            <a:xfrm>
              <a:off x="2985" y="4850"/>
              <a:ext cx="7200" cy="618"/>
              <a:chOff x="2835" y="4895"/>
              <a:chExt cx="7200" cy="618"/>
            </a:xfrm>
          </p:grpSpPr>
          <p:grpSp>
            <p:nvGrpSpPr>
              <p:cNvPr id="27667" name="Group 6"/>
              <p:cNvGrpSpPr>
                <a:grpSpLocks/>
              </p:cNvGrpSpPr>
              <p:nvPr/>
            </p:nvGrpSpPr>
            <p:grpSpPr bwMode="auto">
              <a:xfrm>
                <a:off x="4035" y="4895"/>
                <a:ext cx="1200" cy="618"/>
                <a:chOff x="4035" y="4741"/>
                <a:chExt cx="1200" cy="618"/>
              </a:xfrm>
            </p:grpSpPr>
            <p:sp>
              <p:nvSpPr>
                <p:cNvPr id="27683" name="AutoShape 7"/>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684" name="Line 8"/>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68" name="Group 9"/>
              <p:cNvGrpSpPr>
                <a:grpSpLocks/>
              </p:cNvGrpSpPr>
              <p:nvPr/>
            </p:nvGrpSpPr>
            <p:grpSpPr bwMode="auto">
              <a:xfrm>
                <a:off x="5235" y="4895"/>
                <a:ext cx="1200" cy="618"/>
                <a:chOff x="4035" y="4741"/>
                <a:chExt cx="1200" cy="618"/>
              </a:xfrm>
            </p:grpSpPr>
            <p:sp>
              <p:nvSpPr>
                <p:cNvPr id="27681" name="AutoShape 10"/>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682" name="Line 11"/>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69" name="Group 15"/>
              <p:cNvGrpSpPr>
                <a:grpSpLocks/>
              </p:cNvGrpSpPr>
              <p:nvPr/>
            </p:nvGrpSpPr>
            <p:grpSpPr bwMode="auto">
              <a:xfrm>
                <a:off x="6435" y="4895"/>
                <a:ext cx="1200" cy="618"/>
                <a:chOff x="4035" y="4741"/>
                <a:chExt cx="1200" cy="618"/>
              </a:xfrm>
            </p:grpSpPr>
            <p:sp>
              <p:nvSpPr>
                <p:cNvPr id="27679" name="AutoShape 13"/>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680" name="Line 14"/>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70" name="Group 15"/>
              <p:cNvGrpSpPr>
                <a:grpSpLocks/>
              </p:cNvGrpSpPr>
              <p:nvPr/>
            </p:nvGrpSpPr>
            <p:grpSpPr bwMode="auto">
              <a:xfrm>
                <a:off x="7635" y="4895"/>
                <a:ext cx="1200" cy="618"/>
                <a:chOff x="4035" y="4741"/>
                <a:chExt cx="1200" cy="618"/>
              </a:xfrm>
            </p:grpSpPr>
            <p:sp>
              <p:nvSpPr>
                <p:cNvPr id="27677" name="AutoShape 16"/>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678" name="Line 17"/>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71" name="Group 18"/>
              <p:cNvGrpSpPr>
                <a:grpSpLocks/>
              </p:cNvGrpSpPr>
              <p:nvPr/>
            </p:nvGrpSpPr>
            <p:grpSpPr bwMode="auto">
              <a:xfrm>
                <a:off x="8835" y="4895"/>
                <a:ext cx="1200" cy="618"/>
                <a:chOff x="4035" y="4741"/>
                <a:chExt cx="1200" cy="618"/>
              </a:xfrm>
            </p:grpSpPr>
            <p:sp>
              <p:nvSpPr>
                <p:cNvPr id="27675" name="AutoShape 19"/>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676" name="Line 20"/>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nvGrpSpPr>
              <p:cNvPr id="27672" name="Group 21"/>
              <p:cNvGrpSpPr>
                <a:grpSpLocks/>
              </p:cNvGrpSpPr>
              <p:nvPr/>
            </p:nvGrpSpPr>
            <p:grpSpPr bwMode="auto">
              <a:xfrm>
                <a:off x="2835" y="4895"/>
                <a:ext cx="1200" cy="618"/>
                <a:chOff x="4035" y="4741"/>
                <a:chExt cx="1200" cy="618"/>
              </a:xfrm>
            </p:grpSpPr>
            <p:sp>
              <p:nvSpPr>
                <p:cNvPr id="27673" name="AutoShape 22"/>
                <p:cNvSpPr>
                  <a:spLocks noChangeArrowheads="1"/>
                </p:cNvSpPr>
                <p:nvPr/>
              </p:nvSpPr>
              <p:spPr bwMode="auto">
                <a:xfrm>
                  <a:off x="4035" y="4741"/>
                  <a:ext cx="600" cy="618"/>
                </a:xfrm>
                <a:prstGeom prst="flowChartConnector">
                  <a:avLst/>
                </a:prstGeom>
                <a:solidFill>
                  <a:srgbClr val="FFFFFF"/>
                </a:solidFill>
                <a:ln w="53975">
                  <a:solidFill>
                    <a:srgbClr val="008000"/>
                  </a:solidFill>
                  <a:round/>
                  <a:headEnd/>
                  <a:tailEnd/>
                </a:ln>
              </p:spPr>
              <p:txBody>
                <a:bodyPr/>
                <a:lstStyle/>
                <a:p>
                  <a:endParaRPr lang="en-US" i="1" noProof="0" dirty="0"/>
                </a:p>
              </p:txBody>
            </p:sp>
            <p:sp>
              <p:nvSpPr>
                <p:cNvPr id="27674" name="Line 23"/>
                <p:cNvSpPr>
                  <a:spLocks noChangeShapeType="1"/>
                </p:cNvSpPr>
                <p:nvPr/>
              </p:nvSpPr>
              <p:spPr bwMode="auto">
                <a:xfrm>
                  <a:off x="4635" y="5049"/>
                  <a:ext cx="600" cy="1"/>
                </a:xfrm>
                <a:prstGeom prst="line">
                  <a:avLst/>
                </a:prstGeom>
                <a:noFill/>
                <a:ln w="57150">
                  <a:solidFill>
                    <a:srgbClr val="FF0000"/>
                  </a:solidFill>
                  <a:round/>
                  <a:headEnd/>
                  <a:tailEnd type="triangle" w="sm" len="sm"/>
                </a:ln>
              </p:spPr>
              <p:txBody>
                <a:bodyPr/>
                <a:lstStyle/>
                <a:p>
                  <a:endParaRPr lang="en-US" noProof="0" dirty="0"/>
                </a:p>
              </p:txBody>
            </p:sp>
          </p:grpSp>
        </p:grpSp>
        <p:sp>
          <p:nvSpPr>
            <p:cNvPr id="27661" name="Rectangle 24"/>
            <p:cNvSpPr>
              <a:spLocks noChangeArrowheads="1"/>
            </p:cNvSpPr>
            <p:nvPr/>
          </p:nvSpPr>
          <p:spPr bwMode="auto">
            <a:xfrm>
              <a:off x="2985" y="4850"/>
              <a:ext cx="600" cy="617"/>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a:t>
              </a:r>
              <a:endParaRPr lang="en-US" sz="1800" i="1" noProof="0" dirty="0">
                <a:latin typeface="Tahoma" pitchFamily="34" charset="0"/>
              </a:endParaRPr>
            </a:p>
          </p:txBody>
        </p:sp>
        <p:sp>
          <p:nvSpPr>
            <p:cNvPr id="27662" name="Rectangle 25"/>
            <p:cNvSpPr>
              <a:spLocks noChangeArrowheads="1"/>
            </p:cNvSpPr>
            <p:nvPr/>
          </p:nvSpPr>
          <p:spPr bwMode="auto">
            <a:xfrm>
              <a:off x="41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a:t>
              </a:r>
              <a:endParaRPr lang="en-US" sz="1800" i="1" noProof="0" dirty="0">
                <a:latin typeface="Tahoma" pitchFamily="34" charset="0"/>
              </a:endParaRPr>
            </a:p>
          </p:txBody>
        </p:sp>
        <p:sp>
          <p:nvSpPr>
            <p:cNvPr id="27663" name="Rectangle 26"/>
            <p:cNvSpPr>
              <a:spLocks noChangeArrowheads="1"/>
            </p:cNvSpPr>
            <p:nvPr/>
          </p:nvSpPr>
          <p:spPr bwMode="auto">
            <a:xfrm>
              <a:off x="53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a:t>
              </a:r>
              <a:endParaRPr lang="en-US" sz="1800" i="1" noProof="0" dirty="0">
                <a:latin typeface="Tahoma" pitchFamily="34" charset="0"/>
              </a:endParaRPr>
            </a:p>
          </p:txBody>
        </p:sp>
        <p:sp>
          <p:nvSpPr>
            <p:cNvPr id="27664" name="Rectangle 27"/>
            <p:cNvSpPr>
              <a:spLocks noChangeArrowheads="1"/>
            </p:cNvSpPr>
            <p:nvPr/>
          </p:nvSpPr>
          <p:spPr bwMode="auto">
            <a:xfrm>
              <a:off x="65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a:t>
              </a:r>
              <a:endParaRPr lang="en-US" sz="1800" i="1" noProof="0" dirty="0">
                <a:latin typeface="Tahoma" pitchFamily="34" charset="0"/>
              </a:endParaRPr>
            </a:p>
          </p:txBody>
        </p:sp>
        <p:sp>
          <p:nvSpPr>
            <p:cNvPr id="27665" name="Rectangle 28"/>
            <p:cNvSpPr>
              <a:spLocks noChangeArrowheads="1"/>
            </p:cNvSpPr>
            <p:nvPr/>
          </p:nvSpPr>
          <p:spPr bwMode="auto">
            <a:xfrm>
              <a:off x="77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a:t>
              </a:r>
              <a:endParaRPr lang="en-US" sz="1800" i="1" noProof="0" dirty="0">
                <a:latin typeface="Tahoma" pitchFamily="34" charset="0"/>
              </a:endParaRPr>
            </a:p>
          </p:txBody>
        </p:sp>
        <p:sp>
          <p:nvSpPr>
            <p:cNvPr id="27666" name="Rectangle 29"/>
            <p:cNvSpPr>
              <a:spLocks noChangeArrowheads="1"/>
            </p:cNvSpPr>
            <p:nvPr/>
          </p:nvSpPr>
          <p:spPr bwMode="auto">
            <a:xfrm>
              <a:off x="8985" y="4850"/>
              <a:ext cx="600" cy="618"/>
            </a:xfrm>
            <a:prstGeom prst="rect">
              <a:avLst/>
            </a:prstGeom>
            <a:solidFill>
              <a:srgbClr val="FFFFFF">
                <a:alpha val="0"/>
              </a:srgbClr>
            </a:solidFill>
            <a:ln w="9525">
              <a:noFill/>
              <a:miter lim="800000"/>
              <a:headEnd/>
              <a:tailEnd/>
            </a:ln>
          </p:spPr>
          <p:txBody>
            <a:bodyPr/>
            <a:lstStyle/>
            <a:p>
              <a:pPr eaLnBrk="0" hangingPunct="0"/>
              <a:r>
                <a:rPr lang="en-US" sz="2200" i="1" noProof="0" dirty="0">
                  <a:latin typeface="Tahoma" pitchFamily="34" charset="0"/>
                </a:rPr>
                <a:t>f</a:t>
              </a:r>
              <a:endParaRPr lang="en-US" sz="1800" i="1" noProof="0" dirty="0">
                <a:latin typeface="Tahoma" pitchFamily="34" charset="0"/>
              </a:endParaRPr>
            </a:p>
          </p:txBody>
        </p:sp>
      </p:grpSp>
      <p:sp>
        <p:nvSpPr>
          <p:cNvPr id="203" name="Linkeraccolade 202"/>
          <p:cNvSpPr/>
          <p:nvPr/>
        </p:nvSpPr>
        <p:spPr>
          <a:xfrm>
            <a:off x="3048000" y="5194300"/>
            <a:ext cx="482600" cy="1143000"/>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500063" y="274638"/>
            <a:ext cx="8358187" cy="796925"/>
          </a:xfrm>
        </p:spPr>
        <p:txBody>
          <a:bodyPr/>
          <a:lstStyle/>
          <a:p>
            <a:pPr eaLnBrk="1" hangingPunct="1"/>
            <a:r>
              <a:rPr lang="en-US" noProof="0" dirty="0">
                <a:cs typeface="Arial" charset="0"/>
              </a:rPr>
              <a:t>Past operators</a:t>
            </a:r>
          </a:p>
        </p:txBody>
      </p:sp>
      <p:sp>
        <p:nvSpPr>
          <p:cNvPr id="29699" name="Content Placeholder 2"/>
          <p:cNvSpPr>
            <a:spLocks noGrp="1"/>
          </p:cNvSpPr>
          <p:nvPr>
            <p:ph sz="quarter" idx="1"/>
          </p:nvPr>
        </p:nvSpPr>
        <p:spPr>
          <a:xfrm>
            <a:off x="500063" y="1447800"/>
            <a:ext cx="8358187" cy="4572000"/>
          </a:xfrm>
        </p:spPr>
        <p:txBody>
          <a:bodyPr/>
          <a:lstStyle/>
          <a:p>
            <a:pPr eaLnBrk="1" hangingPunct="1"/>
            <a:r>
              <a:rPr lang="en-US" noProof="0" dirty="0">
                <a:cs typeface="Arial" charset="0"/>
                <a:sym typeface="Symbol" pitchFamily="18" charset="2"/>
              </a:rPr>
              <a:t>Useful, e.g. to say: if P is doing something with </a:t>
            </a:r>
            <a:r>
              <a:rPr lang="en-US" i="1" noProof="0" dirty="0">
                <a:cs typeface="Arial" charset="0"/>
                <a:sym typeface="Symbol" pitchFamily="18" charset="2"/>
              </a:rPr>
              <a:t>x, </a:t>
            </a:r>
            <a:r>
              <a:rPr lang="en-US" noProof="0" dirty="0">
                <a:cs typeface="Arial" charset="0"/>
                <a:sym typeface="Symbol" pitchFamily="18" charset="2"/>
              </a:rPr>
              <a:t>then it must have been given a permission to do so. </a:t>
            </a:r>
          </a:p>
          <a:p>
            <a:pPr eaLnBrk="1" hangingPunct="1"/>
            <a:endParaRPr lang="en-US" noProof="0" dirty="0">
              <a:cs typeface="Arial" charset="0"/>
            </a:endParaRPr>
          </a:p>
          <a:p>
            <a:pPr eaLnBrk="1" hangingPunct="1"/>
            <a:r>
              <a:rPr lang="en-US" noProof="0" dirty="0">
                <a:cs typeface="Arial" charset="0"/>
              </a:rPr>
              <a:t>“previous”</a:t>
            </a:r>
            <a:br>
              <a:rPr lang="en-US" noProof="0" dirty="0">
                <a:cs typeface="Arial" charset="0"/>
              </a:rPr>
            </a:br>
            <a:r>
              <a:rPr lang="en-US" noProof="0" dirty="0">
                <a:cs typeface="Arial" charset="0"/>
                <a:sym typeface="Symbol" pitchFamily="18" charset="2"/>
              </a:rPr>
              <a:t>,</a:t>
            </a:r>
            <a:r>
              <a:rPr lang="en-US" i="1" noProof="0" dirty="0" err="1">
                <a:cs typeface="Arial" charset="0"/>
                <a:sym typeface="Symbol" pitchFamily="18" charset="2"/>
              </a:rPr>
              <a:t>i</a:t>
            </a:r>
            <a:r>
              <a:rPr lang="en-US" noProof="0" dirty="0">
                <a:cs typeface="Arial" charset="0"/>
                <a:sym typeface="Symbol" pitchFamily="18" charset="2"/>
              </a:rPr>
              <a:t> |== </a:t>
            </a:r>
            <a:r>
              <a:rPr lang="en-US" noProof="0" dirty="0">
                <a:solidFill>
                  <a:srgbClr val="C00000"/>
                </a:solidFill>
                <a:cs typeface="Arial" charset="0"/>
                <a:sym typeface="Symbol" pitchFamily="18" charset="2"/>
              </a:rPr>
              <a:t>Y</a:t>
            </a:r>
            <a:r>
              <a:rPr lang="en-US" noProof="0" dirty="0">
                <a:cs typeface="Arial" charset="0"/>
                <a:sym typeface="Symbol" pitchFamily="18" charset="2"/>
              </a:rPr>
              <a:t>		=   holds in the previous state</a:t>
            </a:r>
          </a:p>
          <a:p>
            <a:pPr eaLnBrk="1" hangingPunct="1"/>
            <a:endParaRPr lang="en-US" noProof="0" dirty="0">
              <a:cs typeface="Arial" charset="0"/>
              <a:sym typeface="Symbol" pitchFamily="18" charset="2"/>
            </a:endParaRPr>
          </a:p>
          <a:p>
            <a:pPr eaLnBrk="1" hangingPunct="1"/>
            <a:r>
              <a:rPr lang="en-US" noProof="0" dirty="0">
                <a:cs typeface="Arial" charset="0"/>
                <a:sym typeface="Symbol" pitchFamily="18" charset="2"/>
              </a:rPr>
              <a:t>“since”</a:t>
            </a:r>
            <a:br>
              <a:rPr lang="en-US" noProof="0" dirty="0">
                <a:cs typeface="Arial" charset="0"/>
                <a:sym typeface="Symbol" pitchFamily="18" charset="2"/>
              </a:rPr>
            </a:br>
            <a:r>
              <a:rPr lang="en-US" noProof="0" dirty="0">
                <a:cs typeface="Arial" charset="0"/>
                <a:sym typeface="Symbol" pitchFamily="18" charset="2"/>
              </a:rPr>
              <a:t> ,</a:t>
            </a:r>
            <a:r>
              <a:rPr lang="en-US" i="1" noProof="0" dirty="0" err="1">
                <a:cs typeface="Arial" charset="0"/>
                <a:sym typeface="Symbol" pitchFamily="18" charset="2"/>
              </a:rPr>
              <a:t>i</a:t>
            </a:r>
            <a:r>
              <a:rPr lang="en-US" noProof="0" dirty="0">
                <a:cs typeface="Arial" charset="0"/>
                <a:sym typeface="Symbol" pitchFamily="18" charset="2"/>
              </a:rPr>
              <a:t> |==  </a:t>
            </a:r>
            <a:r>
              <a:rPr lang="en-US" noProof="0" dirty="0">
                <a:solidFill>
                  <a:srgbClr val="C00000"/>
                </a:solidFill>
                <a:cs typeface="Arial" charset="0"/>
                <a:sym typeface="Symbol" pitchFamily="18" charset="2"/>
              </a:rPr>
              <a:t>S</a:t>
            </a:r>
            <a:r>
              <a:rPr lang="en-US" noProof="0" dirty="0">
                <a:cs typeface="Arial" charset="0"/>
                <a:sym typeface="Symbol" pitchFamily="18" charset="2"/>
              </a:rPr>
              <a:t> 	= ,</a:t>
            </a:r>
            <a:r>
              <a:rPr lang="en-US" i="1" noProof="0" dirty="0">
                <a:cs typeface="Arial" charset="0"/>
                <a:sym typeface="Symbol" pitchFamily="18" charset="2"/>
              </a:rPr>
              <a:t>j</a:t>
            </a:r>
            <a:r>
              <a:rPr lang="en-US" noProof="0" dirty="0">
                <a:cs typeface="Arial" charset="0"/>
                <a:sym typeface="Symbol" pitchFamily="18" charset="2"/>
              </a:rPr>
              <a:t> |==  for some j  </a:t>
            </a:r>
            <a:r>
              <a:rPr lang="en-US" noProof="0" dirty="0" err="1">
                <a:cs typeface="Arial" charset="0"/>
                <a:sym typeface="Symbol" pitchFamily="18" charset="2"/>
              </a:rPr>
              <a:t>i</a:t>
            </a:r>
            <a:r>
              <a:rPr lang="en-US" noProof="0" dirty="0">
                <a:cs typeface="Arial" charset="0"/>
                <a:sym typeface="Symbol" pitchFamily="18" charset="2"/>
              </a:rPr>
              <a:t>, and for all</a:t>
            </a:r>
            <a:br>
              <a:rPr lang="en-US" noProof="0" dirty="0">
                <a:cs typeface="Arial" charset="0"/>
                <a:sym typeface="Symbol" pitchFamily="18" charset="2"/>
              </a:rPr>
            </a:br>
            <a:r>
              <a:rPr lang="en-US" noProof="0" dirty="0">
                <a:cs typeface="Arial" charset="0"/>
                <a:sym typeface="Symbol" pitchFamily="18" charset="2"/>
              </a:rPr>
              <a:t>                               j&lt;k  </a:t>
            </a:r>
            <a:r>
              <a:rPr lang="en-US" noProof="0" dirty="0" err="1">
                <a:cs typeface="Arial" charset="0"/>
                <a:sym typeface="Symbol" pitchFamily="18" charset="2"/>
              </a:rPr>
              <a:t>i</a:t>
            </a:r>
            <a:r>
              <a:rPr lang="en-US" noProof="0" dirty="0">
                <a:cs typeface="Arial" charset="0"/>
                <a:sym typeface="Symbol" pitchFamily="18" charset="2"/>
              </a:rPr>
              <a:t> we have ,</a:t>
            </a:r>
            <a:r>
              <a:rPr lang="en-US" i="1" noProof="0" dirty="0">
                <a:cs typeface="Arial" charset="0"/>
                <a:sym typeface="Symbol" pitchFamily="18" charset="2"/>
              </a:rPr>
              <a:t>j</a:t>
            </a:r>
            <a:r>
              <a:rPr lang="en-US" noProof="0" dirty="0">
                <a:cs typeface="Arial" charset="0"/>
                <a:sym typeface="Symbol" pitchFamily="18" charset="2"/>
              </a:rPr>
              <a:t> |== </a:t>
            </a:r>
          </a:p>
          <a:p>
            <a:pPr eaLnBrk="1" hangingPunct="1"/>
            <a:endParaRPr lang="en-US" noProof="0" dirty="0">
              <a:cs typeface="Arial" charset="0"/>
              <a:sym typeface="Symbol" pitchFamily="18" charset="2"/>
            </a:endParaRPr>
          </a:p>
          <a:p>
            <a:pPr eaLnBrk="1" hangingPunct="1"/>
            <a:r>
              <a:rPr lang="en-US" noProof="0" dirty="0">
                <a:cs typeface="Arial" charset="0"/>
                <a:sym typeface="Symbol" pitchFamily="18" charset="2"/>
              </a:rPr>
              <a:t>Unfortunately, not supported by SPIN.</a:t>
            </a:r>
            <a:endParaRPr lang="en-US" noProof="0" dirty="0">
              <a:cs typeface="Arial" charset="0"/>
            </a:endParaRPr>
          </a:p>
        </p:txBody>
      </p:sp>
      <p:sp>
        <p:nvSpPr>
          <p:cNvPr id="5" name="Tijdelijke aanduiding voor dianummer 4"/>
          <p:cNvSpPr>
            <a:spLocks noGrp="1"/>
          </p:cNvSpPr>
          <p:nvPr>
            <p:ph type="sldNum" sz="quarter" idx="12"/>
          </p:nvPr>
        </p:nvSpPr>
        <p:spPr/>
        <p:txBody>
          <a:bodyPr/>
          <a:lstStyle/>
          <a:p>
            <a:pPr>
              <a:defRPr/>
            </a:pPr>
            <a:fld id="{E8C402BB-D572-49A0-B1D5-A4F78BE85658}" type="slidenum">
              <a:rPr lang="en-US" noProof="0"/>
              <a:pPr>
                <a:defRPr/>
              </a:pPr>
              <a:t>24</a:t>
            </a:fld>
            <a:endParaRPr lang="en-US"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00063" y="274638"/>
            <a:ext cx="8358187" cy="796925"/>
          </a:xfrm>
        </p:spPr>
        <p:txBody>
          <a:bodyPr/>
          <a:lstStyle/>
          <a:p>
            <a:pPr eaLnBrk="1" hangingPunct="1"/>
            <a:r>
              <a:rPr lang="en-US" noProof="0" dirty="0">
                <a:cs typeface="Arial" charset="0"/>
              </a:rPr>
              <a:t>Ok, so how can I verify  </a:t>
            </a:r>
            <a:r>
              <a:rPr lang="en-US" i="1" noProof="0" dirty="0">
                <a:cs typeface="Arial" charset="0"/>
              </a:rPr>
              <a:t>M</a:t>
            </a:r>
            <a:r>
              <a:rPr lang="en-US" noProof="0" dirty="0">
                <a:cs typeface="Arial" charset="0"/>
              </a:rPr>
              <a:t> |== </a:t>
            </a:r>
            <a:r>
              <a:rPr lang="en-US" noProof="0" dirty="0">
                <a:cs typeface="Arial" charset="0"/>
                <a:sym typeface="Symbol" pitchFamily="18" charset="2"/>
              </a:rPr>
              <a:t>  ?</a:t>
            </a:r>
            <a:endParaRPr lang="en-US" noProof="0" dirty="0">
              <a:cs typeface="Arial" charset="0"/>
            </a:endParaRPr>
          </a:p>
        </p:txBody>
      </p:sp>
      <p:sp>
        <p:nvSpPr>
          <p:cNvPr id="30723" name="Content Placeholder 2"/>
          <p:cNvSpPr>
            <a:spLocks noGrp="1"/>
          </p:cNvSpPr>
          <p:nvPr>
            <p:ph sz="quarter" idx="1"/>
          </p:nvPr>
        </p:nvSpPr>
        <p:spPr>
          <a:xfrm>
            <a:off x="500063" y="1447800"/>
            <a:ext cx="8358187" cy="4572000"/>
          </a:xfrm>
        </p:spPr>
        <p:txBody>
          <a:bodyPr/>
          <a:lstStyle/>
          <a:p>
            <a:pPr eaLnBrk="1" hangingPunct="1"/>
            <a:r>
              <a:rPr lang="en-US" noProof="0" dirty="0">
                <a:cs typeface="Arial" charset="0"/>
              </a:rPr>
              <a:t>We can’t directly check all executions </a:t>
            </a:r>
            <a:r>
              <a:rPr lang="en-US" noProof="0" dirty="0">
                <a:cs typeface="Arial" charset="0"/>
                <a:sym typeface="Wingdings" pitchFamily="2" charset="2"/>
              </a:rPr>
              <a:t> infinite (in two dimensions).</a:t>
            </a:r>
          </a:p>
          <a:p>
            <a:pPr eaLnBrk="1" hangingPunct="1"/>
            <a:r>
              <a:rPr lang="en-US" noProof="0" dirty="0">
                <a:cs typeface="Arial" charset="0"/>
                <a:sym typeface="Wingdings" pitchFamily="2" charset="2"/>
              </a:rPr>
              <a:t>Try to prove it directly using the definitions? </a:t>
            </a:r>
            <a:endParaRPr lang="en-US" noProof="0" dirty="0">
              <a:cs typeface="Arial" charset="0"/>
            </a:endParaRPr>
          </a:p>
          <a:p>
            <a:pPr eaLnBrk="1" hangingPunct="1"/>
            <a:r>
              <a:rPr lang="en-US" noProof="0" dirty="0">
                <a:cs typeface="Arial" charset="0"/>
              </a:rPr>
              <a:t>We’ll take a look another strategy…</a:t>
            </a:r>
          </a:p>
          <a:p>
            <a:pPr eaLnBrk="1" hangingPunct="1"/>
            <a:r>
              <a:rPr lang="en-US" noProof="0" dirty="0">
                <a:cs typeface="Arial" charset="0"/>
              </a:rPr>
              <a:t>First, let’s view abstract executions as </a:t>
            </a:r>
            <a:r>
              <a:rPr lang="en-US" i="1" noProof="0" dirty="0">
                <a:cs typeface="Arial" charset="0"/>
              </a:rPr>
              <a:t>sentences</a:t>
            </a:r>
            <a:r>
              <a:rPr lang="en-US" noProof="0" dirty="0">
                <a:cs typeface="Arial" charset="0"/>
              </a:rPr>
              <a:t>.</a:t>
            </a:r>
            <a:br>
              <a:rPr lang="en-US" noProof="0" dirty="0">
                <a:cs typeface="Arial" charset="0"/>
              </a:rPr>
            </a:br>
            <a:br>
              <a:rPr lang="en-US" noProof="0" dirty="0">
                <a:cs typeface="Arial" charset="0"/>
              </a:rPr>
            </a:br>
            <a:r>
              <a:rPr lang="en-US" noProof="0" dirty="0">
                <a:cs typeface="Arial" charset="0"/>
                <a:sym typeface="Wingdings" pitchFamily="2" charset="2"/>
              </a:rPr>
              <a:t>View </a:t>
            </a:r>
            <a:r>
              <a:rPr lang="en-US" i="1" noProof="0" dirty="0">
                <a:cs typeface="Arial" charset="0"/>
                <a:sym typeface="Wingdings" pitchFamily="2" charset="2"/>
              </a:rPr>
              <a:t>M</a:t>
            </a:r>
            <a:r>
              <a:rPr lang="en-US" noProof="0" dirty="0">
                <a:cs typeface="Arial" charset="0"/>
                <a:sym typeface="Wingdings" pitchFamily="2" charset="2"/>
              </a:rPr>
              <a:t> as a sentence-generator. Define:</a:t>
            </a:r>
            <a:br>
              <a:rPr lang="en-US" noProof="0" dirty="0">
                <a:cs typeface="Arial" charset="0"/>
                <a:sym typeface="Wingdings" pitchFamily="2" charset="2"/>
              </a:rPr>
            </a:br>
            <a:br>
              <a:rPr lang="en-US" noProof="0" dirty="0">
                <a:cs typeface="Arial" charset="0"/>
                <a:sym typeface="Wingdings" pitchFamily="2" charset="2"/>
              </a:rPr>
            </a:br>
            <a:br>
              <a:rPr lang="en-US" noProof="0" dirty="0">
                <a:cs typeface="Arial" charset="0"/>
              </a:rPr>
            </a:br>
            <a:br>
              <a:rPr lang="en-US" noProof="0" dirty="0">
                <a:cs typeface="Arial" charset="0"/>
              </a:rPr>
            </a:br>
            <a:endParaRPr lang="en-US" sz="2000" noProof="0" dirty="0">
              <a:cs typeface="Arial" charset="0"/>
            </a:endParaRPr>
          </a:p>
        </p:txBody>
      </p:sp>
      <p:sp>
        <p:nvSpPr>
          <p:cNvPr id="5" name="TextBox 4"/>
          <p:cNvSpPr txBox="1"/>
          <p:nvPr/>
        </p:nvSpPr>
        <p:spPr>
          <a:xfrm>
            <a:off x="1250752" y="4851504"/>
            <a:ext cx="6667210" cy="523220"/>
          </a:xfrm>
          <a:prstGeom prst="rect">
            <a:avLst/>
          </a:prstGeom>
        </p:spPr>
        <p:style>
          <a:lnRef idx="1">
            <a:schemeClr val="dk1"/>
          </a:lnRef>
          <a:fillRef idx="2">
            <a:schemeClr val="dk1"/>
          </a:fillRef>
          <a:effectRef idx="1">
            <a:schemeClr val="dk1"/>
          </a:effectRef>
          <a:fontRef idx="minor">
            <a:schemeClr val="dk1"/>
          </a:fontRef>
        </p:style>
        <p:txBody>
          <a:bodyPr wrap="none">
            <a:spAutoFit/>
          </a:bodyPr>
          <a:lstStyle/>
          <a:p>
            <a:pPr>
              <a:defRPr/>
            </a:pPr>
            <a:r>
              <a:rPr lang="en-US" sz="2800" noProof="0" dirty="0">
                <a:cs typeface="Arial" pitchFamily="34" charset="0"/>
              </a:rPr>
              <a:t>L(</a:t>
            </a:r>
            <a:r>
              <a:rPr lang="en-US" sz="2800" i="1" noProof="0" dirty="0">
                <a:cs typeface="Arial" pitchFamily="34" charset="0"/>
              </a:rPr>
              <a:t>M</a:t>
            </a:r>
            <a:r>
              <a:rPr lang="en-US" sz="2800" noProof="0" dirty="0">
                <a:cs typeface="Arial" pitchFamily="34" charset="0"/>
              </a:rPr>
              <a:t>)    =    { </a:t>
            </a:r>
            <a:r>
              <a:rPr lang="en-US" sz="2800" noProof="0" dirty="0">
                <a:cs typeface="Arial" pitchFamily="34" charset="0"/>
                <a:sym typeface="Symbol"/>
              </a:rPr>
              <a:t>   |   is an abs-exec of </a:t>
            </a:r>
            <a:r>
              <a:rPr lang="en-US" sz="2800" i="1" noProof="0" dirty="0">
                <a:cs typeface="Arial" pitchFamily="34" charset="0"/>
                <a:sym typeface="Symbol"/>
              </a:rPr>
              <a:t>M</a:t>
            </a:r>
            <a:r>
              <a:rPr lang="en-US" sz="2800" noProof="0" dirty="0">
                <a:cs typeface="Arial" pitchFamily="34" charset="0"/>
                <a:sym typeface="Symbol"/>
              </a:rPr>
              <a:t> }</a:t>
            </a:r>
            <a:endParaRPr lang="en-US" sz="2800" noProof="0" dirty="0">
              <a:cs typeface="Arial" pitchFamily="34" charset="0"/>
            </a:endParaRPr>
          </a:p>
        </p:txBody>
      </p:sp>
      <p:sp>
        <p:nvSpPr>
          <p:cNvPr id="30727" name="TextBox 5"/>
          <p:cNvSpPr txBox="1">
            <a:spLocks noChangeArrowheads="1"/>
          </p:cNvSpPr>
          <p:nvPr/>
        </p:nvSpPr>
        <p:spPr bwMode="auto">
          <a:xfrm>
            <a:off x="4051300" y="6170613"/>
            <a:ext cx="3836563" cy="400110"/>
          </a:xfrm>
          <a:prstGeom prst="rect">
            <a:avLst/>
          </a:prstGeom>
          <a:noFill/>
          <a:ln w="9525">
            <a:noFill/>
            <a:miter lim="800000"/>
            <a:headEnd/>
            <a:tailEnd/>
          </a:ln>
        </p:spPr>
        <p:txBody>
          <a:bodyPr wrap="none">
            <a:spAutoFit/>
          </a:bodyPr>
          <a:lstStyle/>
          <a:p>
            <a:r>
              <a:rPr lang="en-US" sz="2000" i="1" noProof="0" dirty="0">
                <a:sym typeface="Wingdings" pitchFamily="2" charset="2"/>
              </a:rPr>
              <a:t>these are sentences over </a:t>
            </a:r>
            <a:r>
              <a:rPr lang="en-US" sz="2000" b="1" i="1" noProof="0" dirty="0">
                <a:sym typeface="Wingdings" pitchFamily="2" charset="2"/>
              </a:rPr>
              <a:t>pow</a:t>
            </a:r>
            <a:r>
              <a:rPr lang="en-US" sz="2000" i="1" noProof="0" dirty="0">
                <a:sym typeface="Wingdings" pitchFamily="2" charset="2"/>
              </a:rPr>
              <a:t>(Prop)</a:t>
            </a:r>
            <a:endParaRPr lang="en-US" sz="2000" i="1" noProof="0" dirty="0"/>
          </a:p>
        </p:txBody>
      </p:sp>
      <p:sp>
        <p:nvSpPr>
          <p:cNvPr id="7" name="Freeform 6"/>
          <p:cNvSpPr/>
          <p:nvPr/>
        </p:nvSpPr>
        <p:spPr>
          <a:xfrm>
            <a:off x="3132138" y="5459413"/>
            <a:ext cx="974725" cy="1100137"/>
          </a:xfrm>
          <a:custGeom>
            <a:avLst/>
            <a:gdLst>
              <a:gd name="connsiteX0" fmla="*/ 929793 w 929793"/>
              <a:gd name="connsiteY0" fmla="*/ 932873 h 1023697"/>
              <a:gd name="connsiteX1" fmla="*/ 153939 w 929793"/>
              <a:gd name="connsiteY1" fmla="*/ 868218 h 1023697"/>
              <a:gd name="connsiteX2" fmla="*/ 6157 w 929793"/>
              <a:gd name="connsiteY2" fmla="*/ 0 h 1023697"/>
            </a:gdLst>
            <a:ahLst/>
            <a:cxnLst>
              <a:cxn ang="0">
                <a:pos x="connsiteX0" y="connsiteY0"/>
              </a:cxn>
              <a:cxn ang="0">
                <a:pos x="connsiteX1" y="connsiteY1"/>
              </a:cxn>
              <a:cxn ang="0">
                <a:pos x="connsiteX2" y="connsiteY2"/>
              </a:cxn>
            </a:cxnLst>
            <a:rect l="l" t="t" r="r" b="b"/>
            <a:pathLst>
              <a:path w="929793" h="1023697">
                <a:moveTo>
                  <a:pt x="929793" y="932873"/>
                </a:moveTo>
                <a:cubicBezTo>
                  <a:pt x="618835" y="978285"/>
                  <a:pt x="307878" y="1023697"/>
                  <a:pt x="153939" y="868218"/>
                </a:cubicBezTo>
                <a:cubicBezTo>
                  <a:pt x="0" y="712739"/>
                  <a:pt x="3078" y="356369"/>
                  <a:pt x="6157" y="0"/>
                </a:cubicBezTo>
              </a:path>
            </a:pathLst>
          </a:custGeom>
          <a:ln>
            <a:headEnd type="none" w="med" len="med"/>
            <a:tailEnd type="triangle" w="med" len="med"/>
          </a:ln>
        </p:spPr>
        <p:style>
          <a:lnRef idx="2">
            <a:schemeClr val="dk1"/>
          </a:lnRef>
          <a:fillRef idx="0">
            <a:schemeClr val="dk1"/>
          </a:fillRef>
          <a:effectRef idx="1">
            <a:schemeClr val="dk1"/>
          </a:effectRef>
          <a:fontRef idx="minor">
            <a:schemeClr val="tx1"/>
          </a:fontRef>
        </p:style>
        <p:txBody>
          <a:bodyPr anchor="ctr"/>
          <a:lstStyle/>
          <a:p>
            <a:pPr algn="ctr">
              <a:defRPr/>
            </a:pPr>
            <a:endParaRPr lang="en-US" noProof="0" dirty="0"/>
          </a:p>
        </p:txBody>
      </p:sp>
      <p:sp>
        <p:nvSpPr>
          <p:cNvPr id="8" name="Tijdelijke aanduiding voor dianummer 7"/>
          <p:cNvSpPr>
            <a:spLocks noGrp="1"/>
          </p:cNvSpPr>
          <p:nvPr>
            <p:ph type="sldNum" sz="quarter" idx="12"/>
          </p:nvPr>
        </p:nvSpPr>
        <p:spPr/>
        <p:txBody>
          <a:bodyPr/>
          <a:lstStyle/>
          <a:p>
            <a:pPr>
              <a:defRPr/>
            </a:pPr>
            <a:fld id="{D75574E9-326B-40C1-A5BC-8D30C9E91D87}" type="slidenum">
              <a:rPr lang="en-US" noProof="0"/>
              <a:pPr>
                <a:defRPr/>
              </a:pPr>
              <a:t>25</a:t>
            </a:fld>
            <a:endParaRPr lang="en-US"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500063" y="274638"/>
            <a:ext cx="8358187" cy="796925"/>
          </a:xfrm>
        </p:spPr>
        <p:txBody>
          <a:bodyPr/>
          <a:lstStyle/>
          <a:p>
            <a:pPr eaLnBrk="1" hangingPunct="1"/>
            <a:r>
              <a:rPr lang="en-US" sz="3600" noProof="0" dirty="0">
                <a:cs typeface="Arial" charset="0"/>
              </a:rPr>
              <a:t>Representing </a:t>
            </a:r>
            <a:r>
              <a:rPr lang="en-US" sz="3600" noProof="0" dirty="0">
                <a:cs typeface="Arial" charset="0"/>
                <a:sym typeface="Symbol" pitchFamily="18" charset="2"/>
              </a:rPr>
              <a:t>  as an automaton …</a:t>
            </a:r>
            <a:endParaRPr lang="en-US" sz="3600" noProof="0" dirty="0">
              <a:cs typeface="Arial" charset="0"/>
            </a:endParaRPr>
          </a:p>
        </p:txBody>
      </p:sp>
      <p:sp>
        <p:nvSpPr>
          <p:cNvPr id="31747" name="Content Placeholder 2"/>
          <p:cNvSpPr>
            <a:spLocks noGrp="1"/>
          </p:cNvSpPr>
          <p:nvPr>
            <p:ph sz="quarter" idx="1"/>
          </p:nvPr>
        </p:nvSpPr>
        <p:spPr>
          <a:xfrm>
            <a:off x="500063" y="1447800"/>
            <a:ext cx="8643937" cy="4572000"/>
          </a:xfrm>
        </p:spPr>
        <p:txBody>
          <a:bodyPr/>
          <a:lstStyle/>
          <a:p>
            <a:pPr eaLnBrk="1" hangingPunct="1"/>
            <a:r>
              <a:rPr lang="en-US" noProof="0" dirty="0">
                <a:cs typeface="Arial" charset="0"/>
              </a:rPr>
              <a:t>Let </a:t>
            </a:r>
            <a:r>
              <a:rPr lang="en-US" noProof="0" dirty="0">
                <a:cs typeface="Arial" charset="0"/>
                <a:sym typeface="Symbol" pitchFamily="18" charset="2"/>
              </a:rPr>
              <a:t> be the temporal formula we want to verify.</a:t>
            </a:r>
          </a:p>
          <a:p>
            <a:pPr eaLnBrk="1" hangingPunct="1"/>
            <a:endParaRPr lang="en-US" noProof="0" dirty="0">
              <a:cs typeface="Arial" charset="0"/>
              <a:sym typeface="Symbol" pitchFamily="18" charset="2"/>
            </a:endParaRPr>
          </a:p>
          <a:p>
            <a:pPr eaLnBrk="1" hangingPunct="1"/>
            <a:r>
              <a:rPr lang="en-US" noProof="0" dirty="0">
                <a:cs typeface="Arial" charset="0"/>
                <a:sym typeface="Symbol" pitchFamily="18" charset="2"/>
              </a:rPr>
              <a:t>Suppose we can construct automaton </a:t>
            </a:r>
            <a:r>
              <a:rPr lang="en-US" i="1" noProof="0" dirty="0">
                <a:cs typeface="Arial" charset="0"/>
                <a:sym typeface="Symbol" pitchFamily="18" charset="2"/>
              </a:rPr>
              <a:t>B</a:t>
            </a:r>
            <a:r>
              <a:rPr lang="en-US" baseline="-25000" noProof="0" dirty="0">
                <a:cs typeface="Arial" charset="0"/>
                <a:sym typeface="Symbol" pitchFamily="18" charset="2"/>
              </a:rPr>
              <a:t></a:t>
            </a:r>
            <a:r>
              <a:rPr lang="en-US" noProof="0" dirty="0">
                <a:cs typeface="Arial" charset="0"/>
                <a:sym typeface="Symbol" pitchFamily="18" charset="2"/>
              </a:rPr>
              <a:t> that ‘accepts’ exactly those infinite sentences over </a:t>
            </a:r>
            <a:r>
              <a:rPr lang="en-US" b="1" noProof="0" dirty="0">
                <a:cs typeface="Arial" charset="0"/>
                <a:sym typeface="Symbol" pitchFamily="18" charset="2"/>
              </a:rPr>
              <a:t>pow</a:t>
            </a:r>
            <a:r>
              <a:rPr lang="en-US" noProof="0" dirty="0">
                <a:cs typeface="Arial" charset="0"/>
                <a:sym typeface="Symbol" pitchFamily="18" charset="2"/>
              </a:rPr>
              <a:t>(</a:t>
            </a:r>
            <a:r>
              <a:rPr lang="en-US" i="1" noProof="0" dirty="0">
                <a:cs typeface="Arial" charset="0"/>
                <a:sym typeface="Symbol" pitchFamily="18" charset="2"/>
              </a:rPr>
              <a:t>Prop</a:t>
            </a:r>
            <a:r>
              <a:rPr lang="en-US" noProof="0" dirty="0">
                <a:cs typeface="Arial" charset="0"/>
                <a:sym typeface="Symbol" pitchFamily="18" charset="2"/>
              </a:rPr>
              <a:t>) for which  holds.</a:t>
            </a:r>
            <a:br>
              <a:rPr lang="en-US" noProof="0" dirty="0">
                <a:cs typeface="Arial" charset="0"/>
                <a:sym typeface="Symbol" pitchFamily="18" charset="2"/>
              </a:rPr>
            </a:br>
            <a:endParaRPr lang="en-US" noProof="0" dirty="0">
              <a:cs typeface="Arial" charset="0"/>
              <a:sym typeface="Symbol" pitchFamily="18" charset="2"/>
            </a:endParaRPr>
          </a:p>
          <a:p>
            <a:pPr eaLnBrk="1" hangingPunct="1"/>
            <a:r>
              <a:rPr lang="en-US" noProof="0" dirty="0">
                <a:cs typeface="Arial" charset="0"/>
                <a:sym typeface="Symbol" pitchFamily="18" charset="2"/>
              </a:rPr>
              <a:t>So </a:t>
            </a:r>
            <a:r>
              <a:rPr lang="en-US" i="1" noProof="0" dirty="0">
                <a:cs typeface="Arial" charset="0"/>
                <a:sym typeface="Symbol" pitchFamily="18" charset="2"/>
              </a:rPr>
              <a:t>B</a:t>
            </a:r>
            <a:r>
              <a:rPr lang="en-US" baseline="-25000" noProof="0" dirty="0">
                <a:cs typeface="Arial" charset="0"/>
                <a:sym typeface="Symbol" pitchFamily="18" charset="2"/>
              </a:rPr>
              <a:t></a:t>
            </a:r>
            <a:r>
              <a:rPr lang="en-US" noProof="0" dirty="0">
                <a:cs typeface="Arial" charset="0"/>
                <a:sym typeface="Symbol" pitchFamily="18" charset="2"/>
              </a:rPr>
              <a:t> is such that :</a:t>
            </a:r>
            <a:br>
              <a:rPr lang="en-US" noProof="0" dirty="0">
                <a:cs typeface="Arial" charset="0"/>
                <a:sym typeface="Symbol" pitchFamily="18" charset="2"/>
              </a:rPr>
            </a:br>
            <a:br>
              <a:rPr lang="en-US" noProof="0" dirty="0">
                <a:cs typeface="Arial" charset="0"/>
                <a:sym typeface="Symbol" pitchFamily="18" charset="2"/>
              </a:rPr>
            </a:br>
            <a:r>
              <a:rPr lang="en-US" noProof="0" dirty="0">
                <a:cs typeface="Arial" charset="0"/>
                <a:sym typeface="Symbol" pitchFamily="18" charset="2"/>
              </a:rPr>
              <a:t>	</a:t>
            </a:r>
            <a:br>
              <a:rPr lang="en-US" noProof="0" dirty="0">
                <a:cs typeface="Arial" charset="0"/>
                <a:sym typeface="Symbol" pitchFamily="18" charset="2"/>
              </a:rPr>
            </a:br>
            <a:br>
              <a:rPr lang="en-US" noProof="0" dirty="0">
                <a:cs typeface="Arial" charset="0"/>
                <a:sym typeface="Symbol" pitchFamily="18" charset="2"/>
              </a:rPr>
            </a:br>
            <a:endParaRPr lang="en-US" noProof="0" dirty="0">
              <a:cs typeface="Arial" charset="0"/>
              <a:sym typeface="Symbol" pitchFamily="18" charset="2"/>
            </a:endParaRPr>
          </a:p>
        </p:txBody>
      </p:sp>
      <p:sp>
        <p:nvSpPr>
          <p:cNvPr id="6" name="TextBox 5"/>
          <p:cNvSpPr txBox="1"/>
          <p:nvPr/>
        </p:nvSpPr>
        <p:spPr>
          <a:xfrm>
            <a:off x="1928813" y="4968875"/>
            <a:ext cx="4919937" cy="523220"/>
          </a:xfrm>
          <a:prstGeom prst="rect">
            <a:avLst/>
          </a:prstGeom>
        </p:spPr>
        <p:style>
          <a:lnRef idx="1">
            <a:schemeClr val="dk1"/>
          </a:lnRef>
          <a:fillRef idx="2">
            <a:schemeClr val="dk1"/>
          </a:fillRef>
          <a:effectRef idx="1">
            <a:schemeClr val="dk1"/>
          </a:effectRef>
          <a:fontRef idx="minor">
            <a:schemeClr val="dk1"/>
          </a:fontRef>
        </p:style>
        <p:txBody>
          <a:bodyPr wrap="none">
            <a:spAutoFit/>
          </a:bodyPr>
          <a:lstStyle/>
          <a:p>
            <a:pPr>
              <a:defRPr/>
            </a:pPr>
            <a:r>
              <a:rPr lang="en-US" sz="2800" noProof="0" dirty="0">
                <a:cs typeface="Arial" pitchFamily="34" charset="0"/>
                <a:sym typeface="Symbol"/>
              </a:rPr>
              <a:t> L(</a:t>
            </a:r>
            <a:r>
              <a:rPr lang="en-US" sz="2800" i="1" noProof="0" dirty="0">
                <a:cs typeface="Arial" pitchFamily="34" charset="0"/>
                <a:sym typeface="Symbol"/>
              </a:rPr>
              <a:t>B</a:t>
            </a:r>
            <a:r>
              <a:rPr lang="en-US" sz="2800" baseline="-25000" noProof="0" dirty="0">
                <a:cs typeface="Arial" pitchFamily="34" charset="0"/>
                <a:sym typeface="Symbol"/>
              </a:rPr>
              <a:t></a:t>
            </a:r>
            <a:r>
              <a:rPr lang="en-US" sz="2800" noProof="0" dirty="0">
                <a:cs typeface="Arial" pitchFamily="34" charset="0"/>
                <a:sym typeface="Symbol"/>
              </a:rPr>
              <a:t>)   =    {    |      |==   }</a:t>
            </a:r>
            <a:endParaRPr lang="en-US" sz="2800" noProof="0" dirty="0">
              <a:cs typeface="Arial" pitchFamily="34" charset="0"/>
            </a:endParaRPr>
          </a:p>
        </p:txBody>
      </p:sp>
      <p:sp>
        <p:nvSpPr>
          <p:cNvPr id="7" name="Tijdelijke aanduiding voor dianummer 6"/>
          <p:cNvSpPr>
            <a:spLocks noGrp="1"/>
          </p:cNvSpPr>
          <p:nvPr>
            <p:ph type="sldNum" sz="quarter" idx="12"/>
          </p:nvPr>
        </p:nvSpPr>
        <p:spPr/>
        <p:txBody>
          <a:bodyPr/>
          <a:lstStyle/>
          <a:p>
            <a:pPr>
              <a:defRPr/>
            </a:pPr>
            <a:fld id="{295D2637-19A1-4244-BBE5-0F11253B7CC9}" type="slidenum">
              <a:rPr lang="en-US" noProof="0"/>
              <a:pPr>
                <a:defRPr/>
              </a:pPr>
              <a:t>26</a:t>
            </a:fld>
            <a:endParaRPr lang="en-US"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500063" y="274638"/>
            <a:ext cx="8643937" cy="796925"/>
          </a:xfrm>
        </p:spPr>
        <p:txBody>
          <a:bodyPr/>
          <a:lstStyle/>
          <a:p>
            <a:pPr eaLnBrk="1" hangingPunct="1"/>
            <a:r>
              <a:rPr lang="en-US" sz="3600" noProof="0" dirty="0"/>
              <a:t>Re-express as a language problem</a:t>
            </a:r>
          </a:p>
        </p:txBody>
      </p:sp>
      <p:sp>
        <p:nvSpPr>
          <p:cNvPr id="32771" name="Rectangle 3"/>
          <p:cNvSpPr>
            <a:spLocks noGrp="1" noChangeArrowheads="1"/>
          </p:cNvSpPr>
          <p:nvPr>
            <p:ph sz="quarter" idx="1"/>
          </p:nvPr>
        </p:nvSpPr>
        <p:spPr>
          <a:xfrm>
            <a:off x="500063" y="1447800"/>
            <a:ext cx="8358187" cy="4572000"/>
          </a:xfrm>
        </p:spPr>
        <p:txBody>
          <a:bodyPr/>
          <a:lstStyle/>
          <a:p>
            <a:pPr eaLnBrk="1" hangingPunct="1"/>
            <a:r>
              <a:rPr lang="en-US" noProof="0" dirty="0">
                <a:cs typeface="Arial" charset="0"/>
              </a:rPr>
              <a:t>Well,  </a:t>
            </a:r>
            <a:r>
              <a:rPr lang="en-US" i="1" noProof="0" dirty="0">
                <a:cs typeface="Arial" charset="0"/>
              </a:rPr>
              <a:t>M</a:t>
            </a:r>
            <a:r>
              <a:rPr lang="en-US" noProof="0" dirty="0">
                <a:cs typeface="Arial" charset="0"/>
              </a:rPr>
              <a:t> |== </a:t>
            </a:r>
            <a:r>
              <a:rPr lang="en-US" noProof="0" dirty="0">
                <a:cs typeface="Arial" charset="0"/>
                <a:sym typeface="Symbol" pitchFamily="18" charset="2"/>
              </a:rPr>
              <a:t>   </a:t>
            </a:r>
            <a:r>
              <a:rPr lang="en-US" noProof="0" dirty="0" err="1">
                <a:cs typeface="Arial" charset="0"/>
                <a:sym typeface="Symbol" pitchFamily="18" charset="2"/>
              </a:rPr>
              <a:t>iff</a:t>
            </a:r>
            <a:br>
              <a:rPr lang="en-US" noProof="0" dirty="0">
                <a:cs typeface="Arial" charset="0"/>
                <a:sym typeface="Symbol" pitchFamily="18" charset="2"/>
              </a:rPr>
            </a:br>
            <a:endParaRPr lang="en-US" noProof="0" dirty="0">
              <a:cs typeface="Arial" charset="0"/>
              <a:sym typeface="Symbol" pitchFamily="18" charset="2"/>
            </a:endParaRPr>
          </a:p>
          <a:p>
            <a:pPr lvl="1" eaLnBrk="1" hangingPunct="1"/>
            <a:r>
              <a:rPr lang="en-US" noProof="0" dirty="0">
                <a:cs typeface="Arial" charset="0"/>
                <a:sym typeface="Symbol" pitchFamily="18" charset="2"/>
              </a:rPr>
              <a:t>There is no L(</a:t>
            </a:r>
            <a:r>
              <a:rPr lang="en-US" i="1" noProof="0" dirty="0">
                <a:cs typeface="Arial" charset="0"/>
                <a:sym typeface="Symbol" pitchFamily="18" charset="2"/>
              </a:rPr>
              <a:t>M</a:t>
            </a:r>
            <a:r>
              <a:rPr lang="en-US" noProof="0" dirty="0">
                <a:cs typeface="Arial" charset="0"/>
                <a:sym typeface="Symbol" pitchFamily="18" charset="2"/>
              </a:rPr>
              <a:t>) where  does not hold.  </a:t>
            </a:r>
          </a:p>
          <a:p>
            <a:pPr lvl="1" eaLnBrk="1" hangingPunct="1"/>
            <a:endParaRPr lang="en-US" noProof="0" dirty="0">
              <a:cs typeface="Arial" charset="0"/>
              <a:sym typeface="Symbol" pitchFamily="18" charset="2"/>
            </a:endParaRPr>
          </a:p>
          <a:p>
            <a:pPr lvl="1" eaLnBrk="1" hangingPunct="1"/>
            <a:r>
              <a:rPr lang="en-US" noProof="0" dirty="0">
                <a:cs typeface="Arial" charset="0"/>
                <a:sym typeface="Symbol" pitchFamily="18" charset="2"/>
              </a:rPr>
              <a:t>In other words, there is no L(</a:t>
            </a:r>
            <a:r>
              <a:rPr lang="en-US" i="1" noProof="0" dirty="0">
                <a:cs typeface="Arial" charset="0"/>
                <a:sym typeface="Symbol" pitchFamily="18" charset="2"/>
              </a:rPr>
              <a:t>M</a:t>
            </a:r>
            <a:r>
              <a:rPr lang="en-US" noProof="0" dirty="0">
                <a:cs typeface="Arial" charset="0"/>
                <a:sym typeface="Symbol" pitchFamily="18" charset="2"/>
              </a:rPr>
              <a:t>) that will be accepted by L(</a:t>
            </a:r>
            <a:r>
              <a:rPr lang="en-US" i="1" noProof="0" dirty="0">
                <a:cs typeface="Arial" charset="0"/>
                <a:sym typeface="Symbol" pitchFamily="18" charset="2"/>
              </a:rPr>
              <a:t>B</a:t>
            </a:r>
            <a:r>
              <a:rPr lang="en-US" baseline="-25000" noProof="0" dirty="0">
                <a:cs typeface="Arial" charset="0"/>
                <a:sym typeface="Symbol" pitchFamily="18" charset="2"/>
              </a:rPr>
              <a:t></a:t>
            </a:r>
            <a:r>
              <a:rPr lang="en-US" noProof="0" dirty="0">
                <a:cs typeface="Arial" charset="0"/>
                <a:sym typeface="Symbol" pitchFamily="18" charset="2"/>
              </a:rPr>
              <a:t>).</a:t>
            </a:r>
            <a:br>
              <a:rPr lang="en-US" noProof="0" dirty="0">
                <a:cs typeface="Arial" charset="0"/>
                <a:sym typeface="Symbol" pitchFamily="18" charset="2"/>
              </a:rPr>
            </a:br>
            <a:r>
              <a:rPr lang="en-US" noProof="0" dirty="0">
                <a:cs typeface="Arial" charset="0"/>
                <a:sym typeface="Symbol" pitchFamily="18" charset="2"/>
              </a:rPr>
              <a:t> </a:t>
            </a:r>
            <a:endParaRPr lang="en-US" noProof="0" dirty="0">
              <a:cs typeface="Arial" charset="0"/>
            </a:endParaRPr>
          </a:p>
          <a:p>
            <a:pPr eaLnBrk="1" hangingPunct="1"/>
            <a:r>
              <a:rPr lang="en-US" noProof="0" dirty="0">
                <a:cs typeface="Arial" charset="0"/>
              </a:rPr>
              <a:t>So:</a:t>
            </a:r>
          </a:p>
          <a:p>
            <a:pPr eaLnBrk="1" hangingPunct="1"/>
            <a:endParaRPr lang="en-US" noProof="0" dirty="0">
              <a:cs typeface="Arial" charset="0"/>
              <a:sym typeface="Symbol" pitchFamily="18" charset="2"/>
            </a:endParaRPr>
          </a:p>
          <a:p>
            <a:pPr eaLnBrk="1" hangingPunct="1">
              <a:buFont typeface="Wingdings" pitchFamily="2" charset="2"/>
              <a:buNone/>
            </a:pPr>
            <a:br>
              <a:rPr lang="en-US" noProof="0" dirty="0">
                <a:cs typeface="Arial" charset="0"/>
                <a:sym typeface="Symbol" pitchFamily="18" charset="2"/>
              </a:rPr>
            </a:br>
            <a:br>
              <a:rPr lang="en-US" noProof="0" dirty="0">
                <a:cs typeface="Arial" charset="0"/>
                <a:sym typeface="Symbol" pitchFamily="18" charset="2"/>
              </a:rPr>
            </a:br>
            <a:endParaRPr lang="en-US" noProof="0" dirty="0">
              <a:cs typeface="Arial" charset="0"/>
              <a:sym typeface="Symbol" pitchFamily="18" charset="2"/>
            </a:endParaRPr>
          </a:p>
        </p:txBody>
      </p:sp>
      <p:sp>
        <p:nvSpPr>
          <p:cNvPr id="5" name="TextBox 4"/>
          <p:cNvSpPr txBox="1"/>
          <p:nvPr/>
        </p:nvSpPr>
        <p:spPr>
          <a:xfrm>
            <a:off x="1644650" y="4794250"/>
            <a:ext cx="5690917" cy="523220"/>
          </a:xfrm>
          <a:prstGeom prst="rect">
            <a:avLst/>
          </a:prstGeom>
        </p:spPr>
        <p:style>
          <a:lnRef idx="1">
            <a:schemeClr val="dk1"/>
          </a:lnRef>
          <a:fillRef idx="2">
            <a:schemeClr val="dk1"/>
          </a:fillRef>
          <a:effectRef idx="1">
            <a:schemeClr val="dk1"/>
          </a:effectRef>
          <a:fontRef idx="minor">
            <a:schemeClr val="dk1"/>
          </a:fontRef>
        </p:style>
        <p:txBody>
          <a:bodyPr wrap="none">
            <a:spAutoFit/>
          </a:bodyPr>
          <a:lstStyle/>
          <a:p>
            <a:pPr>
              <a:defRPr/>
            </a:pPr>
            <a:r>
              <a:rPr lang="en-US" sz="2800" i="1" noProof="0" dirty="0">
                <a:cs typeface="Arial" pitchFamily="34" charset="0"/>
              </a:rPr>
              <a:t>M</a:t>
            </a:r>
            <a:r>
              <a:rPr lang="en-US" sz="2800" noProof="0" dirty="0">
                <a:cs typeface="Arial" pitchFamily="34" charset="0"/>
              </a:rPr>
              <a:t> |== </a:t>
            </a:r>
            <a:r>
              <a:rPr lang="en-US" sz="2800" noProof="0" dirty="0">
                <a:cs typeface="Arial" pitchFamily="34" charset="0"/>
                <a:sym typeface="Symbol"/>
              </a:rPr>
              <a:t>     </a:t>
            </a:r>
            <a:r>
              <a:rPr lang="en-US" sz="2800" noProof="0" dirty="0" err="1">
                <a:cs typeface="Arial" pitchFamily="34" charset="0"/>
                <a:sym typeface="Symbol"/>
              </a:rPr>
              <a:t>iff</a:t>
            </a:r>
            <a:r>
              <a:rPr lang="en-US" sz="2800" noProof="0" dirty="0">
                <a:cs typeface="Arial" pitchFamily="34" charset="0"/>
                <a:sym typeface="Symbol"/>
              </a:rPr>
              <a:t>    L(</a:t>
            </a:r>
            <a:r>
              <a:rPr lang="en-US" sz="2800" i="1" noProof="0" dirty="0">
                <a:cs typeface="Arial" pitchFamily="34" charset="0"/>
                <a:sym typeface="Symbol"/>
              </a:rPr>
              <a:t>M</a:t>
            </a:r>
            <a:r>
              <a:rPr lang="en-US" sz="2800" noProof="0" dirty="0">
                <a:cs typeface="Arial" pitchFamily="34" charset="0"/>
                <a:sym typeface="Symbol"/>
              </a:rPr>
              <a:t>)  L(</a:t>
            </a:r>
            <a:r>
              <a:rPr lang="en-US" sz="2800" i="1" noProof="0" dirty="0">
                <a:cs typeface="Arial" pitchFamily="34" charset="0"/>
                <a:sym typeface="Symbol"/>
              </a:rPr>
              <a:t>B</a:t>
            </a:r>
            <a:r>
              <a:rPr lang="en-US" sz="2800" baseline="-25000" noProof="0" dirty="0">
                <a:cs typeface="Arial" pitchFamily="34" charset="0"/>
                <a:sym typeface="Symbol"/>
              </a:rPr>
              <a:t></a:t>
            </a:r>
            <a:r>
              <a:rPr lang="en-US" sz="2800" noProof="0" dirty="0">
                <a:cs typeface="Arial" pitchFamily="34" charset="0"/>
                <a:sym typeface="Symbol"/>
              </a:rPr>
              <a:t>)  =  </a:t>
            </a:r>
            <a:endParaRPr lang="en-US" sz="2800" noProof="0" dirty="0">
              <a:cs typeface="Arial" pitchFamily="34" charset="0"/>
            </a:endParaRPr>
          </a:p>
        </p:txBody>
      </p:sp>
      <p:sp>
        <p:nvSpPr>
          <p:cNvPr id="6" name="Tijdelijke aanduiding voor dianummer 5"/>
          <p:cNvSpPr>
            <a:spLocks noGrp="1"/>
          </p:cNvSpPr>
          <p:nvPr>
            <p:ph type="sldNum" sz="quarter" idx="12"/>
          </p:nvPr>
        </p:nvSpPr>
        <p:spPr/>
        <p:txBody>
          <a:bodyPr/>
          <a:lstStyle/>
          <a:p>
            <a:pPr>
              <a:defRPr/>
            </a:pPr>
            <a:fld id="{F5B26CA2-D9D7-410D-BE94-810C8D4212B7}" type="slidenum">
              <a:rPr lang="en-US" noProof="0"/>
              <a:pPr>
                <a:defRPr/>
              </a:pPr>
              <a:t>27</a:t>
            </a:fld>
            <a:endParaRPr lang="en-US"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500063" y="274638"/>
            <a:ext cx="8358187" cy="796925"/>
          </a:xfrm>
        </p:spPr>
        <p:txBody>
          <a:bodyPr/>
          <a:lstStyle/>
          <a:p>
            <a:pPr eaLnBrk="1" hangingPunct="1"/>
            <a:r>
              <a:rPr lang="en-US" noProof="0" dirty="0">
                <a:cs typeface="Arial" charset="0"/>
              </a:rPr>
              <a:t>Automaton with “acceptance”</a:t>
            </a:r>
          </a:p>
        </p:txBody>
      </p:sp>
      <p:sp>
        <p:nvSpPr>
          <p:cNvPr id="33795" name="Content Placeholder 3"/>
          <p:cNvSpPr>
            <a:spLocks noGrp="1"/>
          </p:cNvSpPr>
          <p:nvPr>
            <p:ph sz="quarter" idx="1"/>
          </p:nvPr>
        </p:nvSpPr>
        <p:spPr>
          <a:xfrm>
            <a:off x="3482975" y="1584325"/>
            <a:ext cx="5399088" cy="4979988"/>
          </a:xfrm>
        </p:spPr>
        <p:txBody>
          <a:bodyPr/>
          <a:lstStyle/>
          <a:p>
            <a:pPr eaLnBrk="1" hangingPunct="1"/>
            <a:r>
              <a:rPr lang="en-US" noProof="0" dirty="0">
                <a:cs typeface="Arial" charset="0"/>
              </a:rPr>
              <a:t>So far, all paths are accepted. What if we only want to accept some of them?</a:t>
            </a:r>
          </a:p>
          <a:p>
            <a:pPr eaLnBrk="1" hangingPunct="1"/>
            <a:r>
              <a:rPr lang="en-US" noProof="0" dirty="0">
                <a:cs typeface="Arial" charset="0"/>
              </a:rPr>
              <a:t>Add </a:t>
            </a:r>
            <a:r>
              <a:rPr lang="en-US" i="1" noProof="0" dirty="0">
                <a:cs typeface="Arial" charset="0"/>
              </a:rPr>
              <a:t>acceptance states</a:t>
            </a:r>
            <a:r>
              <a:rPr lang="en-US" noProof="0" dirty="0">
                <a:cs typeface="Arial" charset="0"/>
              </a:rPr>
              <a:t>.</a:t>
            </a:r>
          </a:p>
          <a:p>
            <a:pPr eaLnBrk="1" hangingPunct="1"/>
            <a:r>
              <a:rPr lang="en-US" noProof="0" dirty="0">
                <a:cs typeface="Arial" charset="0"/>
              </a:rPr>
              <a:t>Accepted sentence:</a:t>
            </a:r>
            <a:br>
              <a:rPr lang="en-US" noProof="0" dirty="0">
                <a:cs typeface="Arial" charset="0"/>
                <a:sym typeface="Symbol" pitchFamily="18" charset="2"/>
              </a:rPr>
            </a:br>
            <a:r>
              <a:rPr lang="en-US" noProof="0" dirty="0">
                <a:cs typeface="Arial" charset="0"/>
                <a:sym typeface="Symbol" pitchFamily="18" charset="2"/>
              </a:rPr>
              <a:t>	“</a:t>
            </a:r>
            <a:r>
              <a:rPr lang="en-US" i="1" noProof="0" dirty="0">
                <a:cs typeface="Arial" charset="0"/>
                <a:sym typeface="Symbol" pitchFamily="18" charset="2"/>
              </a:rPr>
              <a:t>aba</a:t>
            </a:r>
            <a:r>
              <a:rPr lang="en-US" noProof="0" dirty="0">
                <a:cs typeface="Arial" charset="0"/>
                <a:sym typeface="Symbol" pitchFamily="18" charset="2"/>
              </a:rPr>
              <a:t>” and “</a:t>
            </a:r>
            <a:r>
              <a:rPr lang="en-US" i="1" noProof="0" dirty="0">
                <a:cs typeface="Arial" charset="0"/>
                <a:sym typeface="Symbol" pitchFamily="18" charset="2"/>
              </a:rPr>
              <a:t>aa</a:t>
            </a:r>
            <a:r>
              <a:rPr lang="en-US" noProof="0" dirty="0">
                <a:cs typeface="Arial" charset="0"/>
                <a:sym typeface="Symbol" pitchFamily="18" charset="2"/>
              </a:rPr>
              <a:t>” is accepted</a:t>
            </a:r>
            <a:br>
              <a:rPr lang="en-US" noProof="0" dirty="0">
                <a:cs typeface="Arial" charset="0"/>
                <a:sym typeface="Symbol" pitchFamily="18" charset="2"/>
              </a:rPr>
            </a:br>
            <a:r>
              <a:rPr lang="en-US" noProof="0" dirty="0">
                <a:cs typeface="Arial" charset="0"/>
                <a:sym typeface="Symbol" pitchFamily="18" charset="2"/>
              </a:rPr>
              <a:t>	“</a:t>
            </a:r>
            <a:r>
              <a:rPr lang="en-US" i="1" noProof="0" dirty="0">
                <a:cs typeface="Arial" charset="0"/>
                <a:sym typeface="Symbol" pitchFamily="18" charset="2"/>
              </a:rPr>
              <a:t>bb</a:t>
            </a:r>
            <a:r>
              <a:rPr lang="en-US" noProof="0" dirty="0">
                <a:cs typeface="Arial" charset="0"/>
                <a:sym typeface="Symbol" pitchFamily="18" charset="2"/>
              </a:rPr>
              <a:t>” is </a:t>
            </a:r>
            <a:r>
              <a:rPr lang="en-US" u="sng" noProof="0" dirty="0">
                <a:cs typeface="Arial" charset="0"/>
                <a:sym typeface="Symbol" pitchFamily="18" charset="2"/>
              </a:rPr>
              <a:t>not</a:t>
            </a:r>
            <a:r>
              <a:rPr lang="en-US" noProof="0" dirty="0">
                <a:cs typeface="Arial" charset="0"/>
                <a:sym typeface="Symbol" pitchFamily="18" charset="2"/>
              </a:rPr>
              <a:t> accepted.</a:t>
            </a:r>
          </a:p>
          <a:p>
            <a:pPr eaLnBrk="1" hangingPunct="1"/>
            <a:endParaRPr lang="en-US" noProof="0" dirty="0">
              <a:cs typeface="Arial" charset="0"/>
              <a:sym typeface="Symbol" pitchFamily="18" charset="2"/>
            </a:endParaRPr>
          </a:p>
          <a:p>
            <a:pPr eaLnBrk="1" hangingPunct="1"/>
            <a:r>
              <a:rPr lang="en-US" noProof="0" dirty="0">
                <a:cs typeface="Arial" charset="0"/>
                <a:sym typeface="Symbol" pitchFamily="18" charset="2"/>
              </a:rPr>
              <a:t>But this is for finite sentences. For infinite ...?</a:t>
            </a:r>
            <a:endParaRPr lang="en-US" noProof="0" dirty="0">
              <a:cs typeface="Arial" charset="0"/>
            </a:endParaRPr>
          </a:p>
        </p:txBody>
      </p:sp>
      <p:sp>
        <p:nvSpPr>
          <p:cNvPr id="21" name="Tijdelijke aanduiding voor dianummer 20"/>
          <p:cNvSpPr>
            <a:spLocks noGrp="1"/>
          </p:cNvSpPr>
          <p:nvPr>
            <p:ph type="sldNum" sz="quarter" idx="12"/>
          </p:nvPr>
        </p:nvSpPr>
        <p:spPr/>
        <p:txBody>
          <a:bodyPr/>
          <a:lstStyle/>
          <a:p>
            <a:pPr>
              <a:defRPr/>
            </a:pPr>
            <a:fld id="{BA9AE36B-C60C-4B8A-AE50-A3A6EB6A8AF3}" type="slidenum">
              <a:rPr lang="en-US" noProof="0"/>
              <a:pPr>
                <a:defRPr/>
              </a:pPr>
              <a:t>28</a:t>
            </a:fld>
            <a:endParaRPr lang="en-US" noProof="0" dirty="0"/>
          </a:p>
        </p:txBody>
      </p:sp>
      <p:grpSp>
        <p:nvGrpSpPr>
          <p:cNvPr id="33797" name="Groep 22"/>
          <p:cNvGrpSpPr>
            <a:grpSpLocks/>
          </p:cNvGrpSpPr>
          <p:nvPr/>
        </p:nvGrpSpPr>
        <p:grpSpPr bwMode="auto">
          <a:xfrm>
            <a:off x="238125" y="1584325"/>
            <a:ext cx="3114675" cy="4306888"/>
            <a:chOff x="238125" y="1583871"/>
            <a:chExt cx="3114675" cy="4307342"/>
          </a:xfrm>
        </p:grpSpPr>
        <p:sp>
          <p:nvSpPr>
            <p:cNvPr id="24" name="Oval 11"/>
            <p:cNvSpPr>
              <a:spLocks noChangeArrowheads="1"/>
            </p:cNvSpPr>
            <p:nvPr/>
          </p:nvSpPr>
          <p:spPr bwMode="auto">
            <a:xfrm>
              <a:off x="1308100" y="2196711"/>
              <a:ext cx="936625" cy="725564"/>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noProof="0" dirty="0"/>
            </a:p>
          </p:txBody>
        </p:sp>
        <p:sp>
          <p:nvSpPr>
            <p:cNvPr id="25" name="Oval 12"/>
            <p:cNvSpPr>
              <a:spLocks noChangeArrowheads="1"/>
            </p:cNvSpPr>
            <p:nvPr/>
          </p:nvSpPr>
          <p:spPr bwMode="auto">
            <a:xfrm>
              <a:off x="1236663" y="2128441"/>
              <a:ext cx="1066800" cy="877980"/>
            </a:xfrm>
            <a:prstGeom prst="ellipse">
              <a:avLst/>
            </a:prstGeom>
            <a:ln w="57150" cmpd="dbl">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noProof="0" dirty="0"/>
            </a:p>
          </p:txBody>
        </p:sp>
        <p:sp>
          <p:nvSpPr>
            <p:cNvPr id="26" name="Oval 13"/>
            <p:cNvSpPr>
              <a:spLocks noChangeArrowheads="1"/>
            </p:cNvSpPr>
            <p:nvPr/>
          </p:nvSpPr>
          <p:spPr bwMode="auto">
            <a:xfrm>
              <a:off x="1163638" y="4894158"/>
              <a:ext cx="1066800" cy="877980"/>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noProof="0" dirty="0"/>
            </a:p>
          </p:txBody>
        </p:sp>
        <p:sp>
          <p:nvSpPr>
            <p:cNvPr id="27" name="Text Box 14"/>
            <p:cNvSpPr txBox="1">
              <a:spLocks noChangeArrowheads="1"/>
            </p:cNvSpPr>
            <p:nvPr/>
          </p:nvSpPr>
          <p:spPr bwMode="auto">
            <a:xfrm>
              <a:off x="876300" y="3717696"/>
              <a:ext cx="431800" cy="43978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solidFill>
                    <a:schemeClr val="accent2"/>
                  </a:solidFill>
                  <a:latin typeface="Comic Sans MS" pitchFamily="66" charset="0"/>
                </a:rPr>
                <a:t>a</a:t>
              </a:r>
            </a:p>
          </p:txBody>
        </p:sp>
        <p:sp>
          <p:nvSpPr>
            <p:cNvPr id="28" name="Text Box 15"/>
            <p:cNvSpPr txBox="1">
              <a:spLocks noChangeArrowheads="1"/>
            </p:cNvSpPr>
            <p:nvPr/>
          </p:nvSpPr>
          <p:spPr bwMode="auto">
            <a:xfrm>
              <a:off x="2819400" y="5032284"/>
              <a:ext cx="533400" cy="43978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solidFill>
                    <a:schemeClr val="accent2"/>
                  </a:solidFill>
                  <a:latin typeface="Comic Sans MS" pitchFamily="66" charset="0"/>
                </a:rPr>
                <a:t>b</a:t>
              </a:r>
            </a:p>
          </p:txBody>
        </p:sp>
        <p:sp>
          <p:nvSpPr>
            <p:cNvPr id="29" name="Text Box 16"/>
            <p:cNvSpPr txBox="1">
              <a:spLocks noChangeArrowheads="1"/>
            </p:cNvSpPr>
            <p:nvPr/>
          </p:nvSpPr>
          <p:spPr bwMode="auto">
            <a:xfrm>
              <a:off x="1524000" y="2334838"/>
              <a:ext cx="504825" cy="439783"/>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latin typeface="Comic Sans MS" pitchFamily="66" charset="0"/>
                </a:rPr>
                <a:t>q</a:t>
              </a:r>
              <a:r>
                <a:rPr lang="en-US" baseline="-25000" noProof="0" dirty="0">
                  <a:latin typeface="Comic Sans MS" pitchFamily="66" charset="0"/>
                </a:rPr>
                <a:t>1</a:t>
              </a:r>
            </a:p>
          </p:txBody>
        </p:sp>
        <p:sp>
          <p:nvSpPr>
            <p:cNvPr id="30" name="Text Box 17"/>
            <p:cNvSpPr txBox="1">
              <a:spLocks noChangeArrowheads="1"/>
            </p:cNvSpPr>
            <p:nvPr/>
          </p:nvSpPr>
          <p:spPr bwMode="auto">
            <a:xfrm>
              <a:off x="1452563" y="5032284"/>
              <a:ext cx="685800" cy="43978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latin typeface="Comic Sans MS" pitchFamily="66" charset="0"/>
                </a:rPr>
                <a:t>q</a:t>
              </a:r>
              <a:r>
                <a:rPr lang="en-US" baseline="-25000" noProof="0" dirty="0">
                  <a:latin typeface="Comic Sans MS" pitchFamily="66" charset="0"/>
                </a:rPr>
                <a:t>2</a:t>
              </a:r>
            </a:p>
          </p:txBody>
        </p:sp>
        <p:sp>
          <p:nvSpPr>
            <p:cNvPr id="31" name="Freeform 18"/>
            <p:cNvSpPr>
              <a:spLocks/>
            </p:cNvSpPr>
            <p:nvPr/>
          </p:nvSpPr>
          <p:spPr bwMode="auto">
            <a:xfrm flipH="1">
              <a:off x="2244725" y="4894158"/>
              <a:ext cx="647700" cy="874804"/>
            </a:xfrm>
            <a:custGeom>
              <a:avLst/>
              <a:gdLst>
                <a:gd name="T0" fmla="*/ 2147483647 w 392"/>
                <a:gd name="T1" fmla="*/ 2147483647 h 704"/>
                <a:gd name="T2" fmla="*/ 2147483647 w 392"/>
                <a:gd name="T3" fmla="*/ 2147483647 h 704"/>
                <a:gd name="T4" fmla="*/ 2147483647 w 392"/>
                <a:gd name="T5" fmla="*/ 2147483647 h 704"/>
                <a:gd name="T6" fmla="*/ 2147483647 w 392"/>
                <a:gd name="T7" fmla="*/ 2147483647 h 704"/>
                <a:gd name="T8" fmla="*/ 0 60000 65536"/>
                <a:gd name="T9" fmla="*/ 0 60000 65536"/>
                <a:gd name="T10" fmla="*/ 0 60000 65536"/>
                <a:gd name="T11" fmla="*/ 0 60000 65536"/>
                <a:gd name="T12" fmla="*/ 0 w 392"/>
                <a:gd name="T13" fmla="*/ 0 h 704"/>
                <a:gd name="T14" fmla="*/ 392 w 392"/>
                <a:gd name="T15" fmla="*/ 704 h 704"/>
              </a:gdLst>
              <a:ahLst/>
              <a:cxnLst>
                <a:cxn ang="T8">
                  <a:pos x="T0" y="T1"/>
                </a:cxn>
                <a:cxn ang="T9">
                  <a:pos x="T2" y="T3"/>
                </a:cxn>
                <a:cxn ang="T10">
                  <a:pos x="T4" y="T5"/>
                </a:cxn>
                <a:cxn ang="T11">
                  <a:pos x="T6" y="T7"/>
                </a:cxn>
              </a:cxnLst>
              <a:rect l="T12" t="T13" r="T14" b="T15"/>
              <a:pathLst>
                <a:path w="392" h="704">
                  <a:moveTo>
                    <a:pt x="392" y="448"/>
                  </a:moveTo>
                  <a:cubicBezTo>
                    <a:pt x="252" y="576"/>
                    <a:pt x="112" y="704"/>
                    <a:pt x="56" y="640"/>
                  </a:cubicBezTo>
                  <a:cubicBezTo>
                    <a:pt x="0" y="576"/>
                    <a:pt x="0" y="128"/>
                    <a:pt x="56" y="64"/>
                  </a:cubicBezTo>
                  <a:cubicBezTo>
                    <a:pt x="112" y="0"/>
                    <a:pt x="252" y="128"/>
                    <a:pt x="392" y="256"/>
                  </a:cubicBezTo>
                </a:path>
              </a:pathLst>
            </a:cu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2" name="Freeform 20"/>
            <p:cNvSpPr>
              <a:spLocks/>
            </p:cNvSpPr>
            <p:nvPr/>
          </p:nvSpPr>
          <p:spPr bwMode="auto">
            <a:xfrm rot="5400000">
              <a:off x="342794" y="3784390"/>
              <a:ext cx="2003636" cy="215900"/>
            </a:xfrm>
            <a:custGeom>
              <a:avLst/>
              <a:gdLst>
                <a:gd name="T0" fmla="*/ 2147483647 w 1543"/>
                <a:gd name="T1" fmla="*/ 0 h 279"/>
                <a:gd name="T2" fmla="*/ 2147483647 w 1543"/>
                <a:gd name="T3" fmla="*/ 2147483647 h 279"/>
                <a:gd name="T4" fmla="*/ 0 w 1543"/>
                <a:gd name="T5" fmla="*/ 2147483647 h 279"/>
                <a:gd name="T6" fmla="*/ 0 60000 65536"/>
                <a:gd name="T7" fmla="*/ 0 60000 65536"/>
                <a:gd name="T8" fmla="*/ 0 60000 65536"/>
                <a:gd name="T9" fmla="*/ 0 w 1543"/>
                <a:gd name="T10" fmla="*/ 0 h 279"/>
                <a:gd name="T11" fmla="*/ 1543 w 1543"/>
                <a:gd name="T12" fmla="*/ 279 h 279"/>
              </a:gdLst>
              <a:ahLst/>
              <a:cxnLst>
                <a:cxn ang="T6">
                  <a:pos x="T0" y="T1"/>
                </a:cxn>
                <a:cxn ang="T7">
                  <a:pos x="T2" y="T3"/>
                </a:cxn>
                <a:cxn ang="T8">
                  <a:pos x="T4" y="T5"/>
                </a:cxn>
              </a:cxnLst>
              <a:rect l="T9" t="T10" r="T11" b="T12"/>
              <a:pathLst>
                <a:path w="1543" h="279">
                  <a:moveTo>
                    <a:pt x="1543" y="0"/>
                  </a:moveTo>
                  <a:cubicBezTo>
                    <a:pt x="1308" y="132"/>
                    <a:pt x="1074" y="265"/>
                    <a:pt x="817" y="272"/>
                  </a:cubicBezTo>
                  <a:cubicBezTo>
                    <a:pt x="560" y="279"/>
                    <a:pt x="128" y="45"/>
                    <a:pt x="0" y="45"/>
                  </a:cubicBezTo>
                </a:path>
              </a:pathLst>
            </a:cu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3" name="Text Box 21"/>
            <p:cNvSpPr txBox="1">
              <a:spLocks noChangeArrowheads="1"/>
            </p:cNvSpPr>
            <p:nvPr/>
          </p:nvSpPr>
          <p:spPr bwMode="auto">
            <a:xfrm>
              <a:off x="300038" y="2334838"/>
              <a:ext cx="431800" cy="439783"/>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solidFill>
                    <a:schemeClr val="accent2"/>
                  </a:solidFill>
                  <a:latin typeface="Comic Sans MS" pitchFamily="66" charset="0"/>
                </a:rPr>
                <a:t>a</a:t>
              </a:r>
            </a:p>
          </p:txBody>
        </p:sp>
        <p:sp>
          <p:nvSpPr>
            <p:cNvPr id="34" name="Text Box 22"/>
            <p:cNvSpPr txBox="1">
              <a:spLocks noChangeArrowheads="1"/>
            </p:cNvSpPr>
            <p:nvPr/>
          </p:nvSpPr>
          <p:spPr bwMode="auto">
            <a:xfrm>
              <a:off x="2387600" y="3717696"/>
              <a:ext cx="533400" cy="43978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solidFill>
                    <a:schemeClr val="accent2"/>
                  </a:solidFill>
                  <a:latin typeface="Comic Sans MS" pitchFamily="66" charset="0"/>
                </a:rPr>
                <a:t>b</a:t>
              </a:r>
            </a:p>
          </p:txBody>
        </p:sp>
        <p:sp>
          <p:nvSpPr>
            <p:cNvPr id="35" name="Line 23"/>
            <p:cNvSpPr>
              <a:spLocks noChangeShapeType="1"/>
            </p:cNvSpPr>
            <p:nvPr/>
          </p:nvSpPr>
          <p:spPr bwMode="auto">
            <a:xfrm>
              <a:off x="1811338" y="1714060"/>
              <a:ext cx="0" cy="414382"/>
            </a:xfrm>
            <a:prstGeom prst="line">
              <a:avLst/>
            </a:pr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6" name="Freeform 10"/>
            <p:cNvSpPr>
              <a:spLocks/>
            </p:cNvSpPr>
            <p:nvPr/>
          </p:nvSpPr>
          <p:spPr bwMode="auto">
            <a:xfrm>
              <a:off x="660400" y="2128441"/>
              <a:ext cx="576263" cy="874804"/>
            </a:xfrm>
            <a:custGeom>
              <a:avLst/>
              <a:gdLst>
                <a:gd name="T0" fmla="*/ 2147483647 w 392"/>
                <a:gd name="T1" fmla="*/ 2147483647 h 704"/>
                <a:gd name="T2" fmla="*/ 2147483647 w 392"/>
                <a:gd name="T3" fmla="*/ 2147483647 h 704"/>
                <a:gd name="T4" fmla="*/ 2147483647 w 392"/>
                <a:gd name="T5" fmla="*/ 2147483647 h 704"/>
                <a:gd name="T6" fmla="*/ 2147483647 w 392"/>
                <a:gd name="T7" fmla="*/ 2147483647 h 704"/>
                <a:gd name="T8" fmla="*/ 0 60000 65536"/>
                <a:gd name="T9" fmla="*/ 0 60000 65536"/>
                <a:gd name="T10" fmla="*/ 0 60000 65536"/>
                <a:gd name="T11" fmla="*/ 0 60000 65536"/>
                <a:gd name="T12" fmla="*/ 0 w 392"/>
                <a:gd name="T13" fmla="*/ 0 h 704"/>
                <a:gd name="T14" fmla="*/ 392 w 392"/>
                <a:gd name="T15" fmla="*/ 704 h 704"/>
              </a:gdLst>
              <a:ahLst/>
              <a:cxnLst>
                <a:cxn ang="T8">
                  <a:pos x="T0" y="T1"/>
                </a:cxn>
                <a:cxn ang="T9">
                  <a:pos x="T2" y="T3"/>
                </a:cxn>
                <a:cxn ang="T10">
                  <a:pos x="T4" y="T5"/>
                </a:cxn>
                <a:cxn ang="T11">
                  <a:pos x="T6" y="T7"/>
                </a:cxn>
              </a:cxnLst>
              <a:rect l="T12" t="T13" r="T14" b="T15"/>
              <a:pathLst>
                <a:path w="392" h="704">
                  <a:moveTo>
                    <a:pt x="392" y="448"/>
                  </a:moveTo>
                  <a:cubicBezTo>
                    <a:pt x="252" y="576"/>
                    <a:pt x="112" y="704"/>
                    <a:pt x="56" y="640"/>
                  </a:cubicBezTo>
                  <a:cubicBezTo>
                    <a:pt x="0" y="576"/>
                    <a:pt x="0" y="128"/>
                    <a:pt x="56" y="64"/>
                  </a:cubicBezTo>
                  <a:cubicBezTo>
                    <a:pt x="112" y="0"/>
                    <a:pt x="252" y="128"/>
                    <a:pt x="392" y="256"/>
                  </a:cubicBezTo>
                </a:path>
              </a:pathLst>
            </a:cu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7" name="Freeform 19"/>
            <p:cNvSpPr>
              <a:spLocks/>
            </p:cNvSpPr>
            <p:nvPr/>
          </p:nvSpPr>
          <p:spPr bwMode="auto">
            <a:xfrm rot="5400000">
              <a:off x="1180193" y="3810591"/>
              <a:ext cx="2143351" cy="300038"/>
            </a:xfrm>
            <a:custGeom>
              <a:avLst/>
              <a:gdLst>
                <a:gd name="T0" fmla="*/ 0 w 1588"/>
                <a:gd name="T1" fmla="*/ 2147483647 h 235"/>
                <a:gd name="T2" fmla="*/ 2147483647 w 1588"/>
                <a:gd name="T3" fmla="*/ 2147483647 h 235"/>
                <a:gd name="T4" fmla="*/ 2147483647 w 1588"/>
                <a:gd name="T5" fmla="*/ 2147483647 h 235"/>
                <a:gd name="T6" fmla="*/ 0 60000 65536"/>
                <a:gd name="T7" fmla="*/ 0 60000 65536"/>
                <a:gd name="T8" fmla="*/ 0 60000 65536"/>
                <a:gd name="T9" fmla="*/ 0 w 1588"/>
                <a:gd name="T10" fmla="*/ 0 h 235"/>
                <a:gd name="T11" fmla="*/ 1588 w 1588"/>
                <a:gd name="T12" fmla="*/ 235 h 235"/>
              </a:gdLst>
              <a:ahLst/>
              <a:cxnLst>
                <a:cxn ang="T6">
                  <a:pos x="T0" y="T1"/>
                </a:cxn>
                <a:cxn ang="T7">
                  <a:pos x="T2" y="T3"/>
                </a:cxn>
                <a:cxn ang="T8">
                  <a:pos x="T4" y="T5"/>
                </a:cxn>
              </a:cxnLst>
              <a:rect l="T9" t="T10" r="T11" b="T12"/>
              <a:pathLst>
                <a:path w="1588" h="235">
                  <a:moveTo>
                    <a:pt x="0" y="235"/>
                  </a:moveTo>
                  <a:cubicBezTo>
                    <a:pt x="276" y="125"/>
                    <a:pt x="552" y="16"/>
                    <a:pt x="817" y="8"/>
                  </a:cubicBezTo>
                  <a:cubicBezTo>
                    <a:pt x="1082" y="0"/>
                    <a:pt x="1460" y="144"/>
                    <a:pt x="1588" y="189"/>
                  </a:cubicBezTo>
                </a:path>
              </a:pathLst>
            </a:cu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8" name="Rectangle 24"/>
            <p:cNvSpPr>
              <a:spLocks noChangeArrowheads="1"/>
            </p:cNvSpPr>
            <p:nvPr/>
          </p:nvSpPr>
          <p:spPr bwMode="auto">
            <a:xfrm>
              <a:off x="238125" y="1583871"/>
              <a:ext cx="3044825" cy="4307342"/>
            </a:xfrm>
            <a:prstGeom prst="rect">
              <a:avLst/>
            </a:prstGeom>
            <a:noFill/>
            <a:ln>
              <a:solidFill>
                <a:schemeClr val="tx1"/>
              </a:solidFill>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noProof="0"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500063" y="288926"/>
            <a:ext cx="8358187" cy="796925"/>
          </a:xfrm>
        </p:spPr>
        <p:txBody>
          <a:bodyPr/>
          <a:lstStyle/>
          <a:p>
            <a:pPr eaLnBrk="1" hangingPunct="1"/>
            <a:r>
              <a:rPr lang="en-US" noProof="0" dirty="0">
                <a:cs typeface="Arial" charset="0"/>
              </a:rPr>
              <a:t>Buchi Automaton</a:t>
            </a:r>
          </a:p>
        </p:txBody>
      </p:sp>
      <p:sp>
        <p:nvSpPr>
          <p:cNvPr id="34819" name="Content Placeholder 3"/>
          <p:cNvSpPr>
            <a:spLocks noGrp="1"/>
          </p:cNvSpPr>
          <p:nvPr>
            <p:ph sz="quarter" idx="1"/>
          </p:nvPr>
        </p:nvSpPr>
        <p:spPr>
          <a:xfrm>
            <a:off x="3748088" y="3314700"/>
            <a:ext cx="5073650" cy="3200400"/>
          </a:xfrm>
        </p:spPr>
        <p:txBody>
          <a:bodyPr/>
          <a:lstStyle/>
          <a:p>
            <a:pPr eaLnBrk="1" hangingPunct="1">
              <a:buFont typeface="Wingdings" pitchFamily="2" charset="2"/>
              <a:buNone/>
            </a:pPr>
            <a:r>
              <a:rPr lang="en-US" noProof="0" dirty="0">
                <a:cs typeface="Arial" charset="0"/>
                <a:sym typeface="Symbol" pitchFamily="18" charset="2"/>
              </a:rPr>
              <a:t>“</a:t>
            </a:r>
            <a:r>
              <a:rPr lang="en-US" i="1" noProof="0" dirty="0" err="1">
                <a:cs typeface="Arial" charset="0"/>
                <a:sym typeface="Symbol" pitchFamily="18" charset="2"/>
              </a:rPr>
              <a:t>ababa</a:t>
            </a:r>
            <a:r>
              <a:rPr lang="en-US" noProof="0" dirty="0">
                <a:cs typeface="Arial" charset="0"/>
                <a:sym typeface="Symbol" pitchFamily="18" charset="2"/>
              </a:rPr>
              <a:t>”   </a:t>
            </a:r>
            <a:r>
              <a:rPr lang="en-US" noProof="0" dirty="0">
                <a:cs typeface="Arial" charset="0"/>
                <a:sym typeface="Wingdings" pitchFamily="2" charset="2"/>
              </a:rPr>
              <a:t>  not an infinite</a:t>
            </a:r>
          </a:p>
          <a:p>
            <a:pPr eaLnBrk="1" hangingPunct="1">
              <a:buFont typeface="Wingdings" pitchFamily="2" charset="2"/>
              <a:buNone/>
            </a:pPr>
            <a:endParaRPr lang="en-US" noProof="0" dirty="0">
              <a:cs typeface="Arial" charset="0"/>
              <a:sym typeface="Wingdings" pitchFamily="2" charset="2"/>
            </a:endParaRPr>
          </a:p>
          <a:p>
            <a:pPr eaLnBrk="1" hangingPunct="1">
              <a:buFont typeface="Wingdings" pitchFamily="2" charset="2"/>
              <a:buNone/>
            </a:pPr>
            <a:r>
              <a:rPr lang="en-US" noProof="0" dirty="0">
                <a:cs typeface="Arial" charset="0"/>
                <a:sym typeface="Wingdings" pitchFamily="2" charset="2"/>
              </a:rPr>
              <a:t>“</a:t>
            </a:r>
            <a:r>
              <a:rPr lang="en-US" i="1" noProof="0" dirty="0" err="1">
                <a:cs typeface="Arial" charset="0"/>
                <a:sym typeface="Wingdings" pitchFamily="2" charset="2"/>
              </a:rPr>
              <a:t>ababab</a:t>
            </a:r>
            <a:r>
              <a:rPr lang="en-US" noProof="0" dirty="0">
                <a:cs typeface="Arial" charset="0"/>
                <a:sym typeface="Wingdings" pitchFamily="2" charset="2"/>
              </a:rPr>
              <a:t>…”   accepted</a:t>
            </a:r>
          </a:p>
          <a:p>
            <a:pPr eaLnBrk="1" hangingPunct="1">
              <a:buFont typeface="Wingdings" pitchFamily="2" charset="2"/>
              <a:buNone/>
            </a:pPr>
            <a:endParaRPr lang="en-US" noProof="0" dirty="0">
              <a:cs typeface="Arial" charset="0"/>
              <a:sym typeface="Wingdings" pitchFamily="2" charset="2"/>
            </a:endParaRPr>
          </a:p>
          <a:p>
            <a:pPr eaLnBrk="1" hangingPunct="1">
              <a:buFont typeface="Wingdings" pitchFamily="2" charset="2"/>
              <a:buNone/>
            </a:pPr>
            <a:r>
              <a:rPr lang="en-US" noProof="0" dirty="0">
                <a:cs typeface="Arial" charset="0"/>
                <a:sym typeface="Wingdings" pitchFamily="2" charset="2"/>
              </a:rPr>
              <a:t>“</a:t>
            </a:r>
            <a:r>
              <a:rPr lang="en-US" i="1" noProof="0" dirty="0" err="1">
                <a:cs typeface="Arial" charset="0"/>
                <a:sym typeface="Wingdings" pitchFamily="2" charset="2"/>
              </a:rPr>
              <a:t>abbbb</a:t>
            </a:r>
            <a:r>
              <a:rPr lang="en-US" noProof="0" dirty="0">
                <a:cs typeface="Arial" charset="0"/>
                <a:sym typeface="Wingdings" pitchFamily="2" charset="2"/>
              </a:rPr>
              <a:t>…”	  not accepted!</a:t>
            </a:r>
          </a:p>
        </p:txBody>
      </p:sp>
      <p:sp>
        <p:nvSpPr>
          <p:cNvPr id="34820" name="Content Placeholder 3"/>
          <p:cNvSpPr txBox="1">
            <a:spLocks/>
          </p:cNvSpPr>
          <p:nvPr/>
        </p:nvSpPr>
        <p:spPr bwMode="auto">
          <a:xfrm>
            <a:off x="3482975" y="1714500"/>
            <a:ext cx="5661025" cy="1163638"/>
          </a:xfrm>
          <a:prstGeom prst="rect">
            <a:avLst/>
          </a:prstGeom>
          <a:noFill/>
          <a:ln w="9525">
            <a:noFill/>
            <a:miter lim="800000"/>
            <a:headEnd/>
            <a:tailEnd/>
          </a:ln>
        </p:spPr>
        <p:txBody>
          <a:bodyPr/>
          <a:lstStyle/>
          <a:p>
            <a:pPr marL="319088" indent="-319088" eaLnBrk="0" hangingPunct="0">
              <a:spcBef>
                <a:spcPts val="700"/>
              </a:spcBef>
              <a:buClr>
                <a:schemeClr val="accent2"/>
              </a:buClr>
              <a:buSzPct val="60000"/>
              <a:buFont typeface="Wingdings" pitchFamily="2" charset="2"/>
              <a:buChar char=""/>
            </a:pPr>
            <a:r>
              <a:rPr lang="en-US" noProof="0" dirty="0">
                <a:latin typeface="Arial" charset="0"/>
                <a:cs typeface="Arial" charset="0"/>
                <a:sym typeface="Symbol" pitchFamily="18" charset="2"/>
              </a:rPr>
              <a:t>Pass an acceptance state infinitely many times.</a:t>
            </a:r>
          </a:p>
          <a:p>
            <a:pPr marL="319088" indent="-319088" eaLnBrk="0" hangingPunct="0">
              <a:spcBef>
                <a:spcPts val="700"/>
              </a:spcBef>
              <a:buClr>
                <a:schemeClr val="accent2"/>
              </a:buClr>
              <a:buSzPct val="60000"/>
              <a:buFont typeface="Wingdings" pitchFamily="2" charset="2"/>
              <a:buChar char=""/>
            </a:pPr>
            <a:r>
              <a:rPr lang="en-US" noProof="0" dirty="0">
                <a:latin typeface="Arial" charset="0"/>
                <a:cs typeface="Arial" charset="0"/>
                <a:sym typeface="Symbol" pitchFamily="18" charset="2"/>
              </a:rPr>
              <a:t>Examples</a:t>
            </a:r>
          </a:p>
        </p:txBody>
      </p:sp>
      <p:sp>
        <p:nvSpPr>
          <p:cNvPr id="23" name="Tijdelijke aanduiding voor dianummer 22"/>
          <p:cNvSpPr>
            <a:spLocks noGrp="1"/>
          </p:cNvSpPr>
          <p:nvPr>
            <p:ph type="sldNum" sz="quarter" idx="12"/>
          </p:nvPr>
        </p:nvSpPr>
        <p:spPr/>
        <p:txBody>
          <a:bodyPr/>
          <a:lstStyle/>
          <a:p>
            <a:pPr>
              <a:defRPr/>
            </a:pPr>
            <a:fld id="{B1C4BA1C-B2A4-4723-94B6-4E77697E6AD3}" type="slidenum">
              <a:rPr lang="en-US" noProof="0"/>
              <a:pPr>
                <a:defRPr/>
              </a:pPr>
              <a:t>29</a:t>
            </a:fld>
            <a:endParaRPr lang="en-US" noProof="0" dirty="0"/>
          </a:p>
        </p:txBody>
      </p:sp>
      <p:grpSp>
        <p:nvGrpSpPr>
          <p:cNvPr id="34822" name="Groep 39"/>
          <p:cNvGrpSpPr>
            <a:grpSpLocks/>
          </p:cNvGrpSpPr>
          <p:nvPr/>
        </p:nvGrpSpPr>
        <p:grpSpPr bwMode="auto">
          <a:xfrm>
            <a:off x="238125" y="1584325"/>
            <a:ext cx="3114675" cy="4306888"/>
            <a:chOff x="238125" y="1583871"/>
            <a:chExt cx="3114675" cy="4307342"/>
          </a:xfrm>
        </p:grpSpPr>
        <p:sp>
          <p:nvSpPr>
            <p:cNvPr id="25" name="Oval 11"/>
            <p:cNvSpPr>
              <a:spLocks noChangeArrowheads="1"/>
            </p:cNvSpPr>
            <p:nvPr/>
          </p:nvSpPr>
          <p:spPr bwMode="auto">
            <a:xfrm>
              <a:off x="1308100" y="2196711"/>
              <a:ext cx="936625" cy="725564"/>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noProof="0" dirty="0"/>
            </a:p>
          </p:txBody>
        </p:sp>
        <p:sp>
          <p:nvSpPr>
            <p:cNvPr id="26" name="Oval 12"/>
            <p:cNvSpPr>
              <a:spLocks noChangeArrowheads="1"/>
            </p:cNvSpPr>
            <p:nvPr/>
          </p:nvSpPr>
          <p:spPr bwMode="auto">
            <a:xfrm>
              <a:off x="1236663" y="2128441"/>
              <a:ext cx="1066800" cy="877980"/>
            </a:xfrm>
            <a:prstGeom prst="ellipse">
              <a:avLst/>
            </a:prstGeom>
            <a:ln w="57150" cmpd="dbl">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noProof="0" dirty="0"/>
            </a:p>
          </p:txBody>
        </p:sp>
        <p:sp>
          <p:nvSpPr>
            <p:cNvPr id="27" name="Oval 13"/>
            <p:cNvSpPr>
              <a:spLocks noChangeArrowheads="1"/>
            </p:cNvSpPr>
            <p:nvPr/>
          </p:nvSpPr>
          <p:spPr bwMode="auto">
            <a:xfrm>
              <a:off x="1163638" y="4894158"/>
              <a:ext cx="1066800" cy="877980"/>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noProof="0" dirty="0"/>
            </a:p>
          </p:txBody>
        </p:sp>
        <p:sp>
          <p:nvSpPr>
            <p:cNvPr id="28" name="Text Box 14"/>
            <p:cNvSpPr txBox="1">
              <a:spLocks noChangeArrowheads="1"/>
            </p:cNvSpPr>
            <p:nvPr/>
          </p:nvSpPr>
          <p:spPr bwMode="auto">
            <a:xfrm>
              <a:off x="876300" y="3717696"/>
              <a:ext cx="431800" cy="43978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solidFill>
                    <a:schemeClr val="accent2"/>
                  </a:solidFill>
                  <a:latin typeface="Comic Sans MS" pitchFamily="66" charset="0"/>
                </a:rPr>
                <a:t>a</a:t>
              </a:r>
            </a:p>
          </p:txBody>
        </p:sp>
        <p:sp>
          <p:nvSpPr>
            <p:cNvPr id="29" name="Text Box 15"/>
            <p:cNvSpPr txBox="1">
              <a:spLocks noChangeArrowheads="1"/>
            </p:cNvSpPr>
            <p:nvPr/>
          </p:nvSpPr>
          <p:spPr bwMode="auto">
            <a:xfrm>
              <a:off x="2819400" y="5032284"/>
              <a:ext cx="533400" cy="43978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solidFill>
                    <a:schemeClr val="accent2"/>
                  </a:solidFill>
                  <a:latin typeface="Comic Sans MS" pitchFamily="66" charset="0"/>
                </a:rPr>
                <a:t>b</a:t>
              </a:r>
            </a:p>
          </p:txBody>
        </p:sp>
        <p:sp>
          <p:nvSpPr>
            <p:cNvPr id="30" name="Text Box 16"/>
            <p:cNvSpPr txBox="1">
              <a:spLocks noChangeArrowheads="1"/>
            </p:cNvSpPr>
            <p:nvPr/>
          </p:nvSpPr>
          <p:spPr bwMode="auto">
            <a:xfrm>
              <a:off x="1524000" y="2334838"/>
              <a:ext cx="504825" cy="439783"/>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latin typeface="Comic Sans MS" pitchFamily="66" charset="0"/>
                </a:rPr>
                <a:t>q</a:t>
              </a:r>
              <a:r>
                <a:rPr lang="en-US" baseline="-25000" noProof="0" dirty="0">
                  <a:latin typeface="Comic Sans MS" pitchFamily="66" charset="0"/>
                </a:rPr>
                <a:t>1</a:t>
              </a:r>
            </a:p>
          </p:txBody>
        </p:sp>
        <p:sp>
          <p:nvSpPr>
            <p:cNvPr id="31" name="Text Box 17"/>
            <p:cNvSpPr txBox="1">
              <a:spLocks noChangeArrowheads="1"/>
            </p:cNvSpPr>
            <p:nvPr/>
          </p:nvSpPr>
          <p:spPr bwMode="auto">
            <a:xfrm>
              <a:off x="1452563" y="5032284"/>
              <a:ext cx="685800" cy="43978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latin typeface="Comic Sans MS" pitchFamily="66" charset="0"/>
                </a:rPr>
                <a:t>q</a:t>
              </a:r>
              <a:r>
                <a:rPr lang="en-US" baseline="-25000" noProof="0" dirty="0">
                  <a:latin typeface="Comic Sans MS" pitchFamily="66" charset="0"/>
                </a:rPr>
                <a:t>2</a:t>
              </a:r>
            </a:p>
          </p:txBody>
        </p:sp>
        <p:sp>
          <p:nvSpPr>
            <p:cNvPr id="32" name="Freeform 18"/>
            <p:cNvSpPr>
              <a:spLocks/>
            </p:cNvSpPr>
            <p:nvPr/>
          </p:nvSpPr>
          <p:spPr bwMode="auto">
            <a:xfrm flipH="1">
              <a:off x="2244725" y="4894158"/>
              <a:ext cx="647700" cy="874804"/>
            </a:xfrm>
            <a:custGeom>
              <a:avLst/>
              <a:gdLst>
                <a:gd name="T0" fmla="*/ 2147483647 w 392"/>
                <a:gd name="T1" fmla="*/ 2147483647 h 704"/>
                <a:gd name="T2" fmla="*/ 2147483647 w 392"/>
                <a:gd name="T3" fmla="*/ 2147483647 h 704"/>
                <a:gd name="T4" fmla="*/ 2147483647 w 392"/>
                <a:gd name="T5" fmla="*/ 2147483647 h 704"/>
                <a:gd name="T6" fmla="*/ 2147483647 w 392"/>
                <a:gd name="T7" fmla="*/ 2147483647 h 704"/>
                <a:gd name="T8" fmla="*/ 0 60000 65536"/>
                <a:gd name="T9" fmla="*/ 0 60000 65536"/>
                <a:gd name="T10" fmla="*/ 0 60000 65536"/>
                <a:gd name="T11" fmla="*/ 0 60000 65536"/>
                <a:gd name="T12" fmla="*/ 0 w 392"/>
                <a:gd name="T13" fmla="*/ 0 h 704"/>
                <a:gd name="T14" fmla="*/ 392 w 392"/>
                <a:gd name="T15" fmla="*/ 704 h 704"/>
              </a:gdLst>
              <a:ahLst/>
              <a:cxnLst>
                <a:cxn ang="T8">
                  <a:pos x="T0" y="T1"/>
                </a:cxn>
                <a:cxn ang="T9">
                  <a:pos x="T2" y="T3"/>
                </a:cxn>
                <a:cxn ang="T10">
                  <a:pos x="T4" y="T5"/>
                </a:cxn>
                <a:cxn ang="T11">
                  <a:pos x="T6" y="T7"/>
                </a:cxn>
              </a:cxnLst>
              <a:rect l="T12" t="T13" r="T14" b="T15"/>
              <a:pathLst>
                <a:path w="392" h="704">
                  <a:moveTo>
                    <a:pt x="392" y="448"/>
                  </a:moveTo>
                  <a:cubicBezTo>
                    <a:pt x="252" y="576"/>
                    <a:pt x="112" y="704"/>
                    <a:pt x="56" y="640"/>
                  </a:cubicBezTo>
                  <a:cubicBezTo>
                    <a:pt x="0" y="576"/>
                    <a:pt x="0" y="128"/>
                    <a:pt x="56" y="64"/>
                  </a:cubicBezTo>
                  <a:cubicBezTo>
                    <a:pt x="112" y="0"/>
                    <a:pt x="252" y="128"/>
                    <a:pt x="392" y="256"/>
                  </a:cubicBezTo>
                </a:path>
              </a:pathLst>
            </a:cu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3" name="Freeform 20"/>
            <p:cNvSpPr>
              <a:spLocks/>
            </p:cNvSpPr>
            <p:nvPr/>
          </p:nvSpPr>
          <p:spPr bwMode="auto">
            <a:xfrm rot="5400000">
              <a:off x="342794" y="3784390"/>
              <a:ext cx="2003636" cy="215900"/>
            </a:xfrm>
            <a:custGeom>
              <a:avLst/>
              <a:gdLst>
                <a:gd name="T0" fmla="*/ 2147483647 w 1543"/>
                <a:gd name="T1" fmla="*/ 0 h 279"/>
                <a:gd name="T2" fmla="*/ 2147483647 w 1543"/>
                <a:gd name="T3" fmla="*/ 2147483647 h 279"/>
                <a:gd name="T4" fmla="*/ 0 w 1543"/>
                <a:gd name="T5" fmla="*/ 2147483647 h 279"/>
                <a:gd name="T6" fmla="*/ 0 60000 65536"/>
                <a:gd name="T7" fmla="*/ 0 60000 65536"/>
                <a:gd name="T8" fmla="*/ 0 60000 65536"/>
                <a:gd name="T9" fmla="*/ 0 w 1543"/>
                <a:gd name="T10" fmla="*/ 0 h 279"/>
                <a:gd name="T11" fmla="*/ 1543 w 1543"/>
                <a:gd name="T12" fmla="*/ 279 h 279"/>
              </a:gdLst>
              <a:ahLst/>
              <a:cxnLst>
                <a:cxn ang="T6">
                  <a:pos x="T0" y="T1"/>
                </a:cxn>
                <a:cxn ang="T7">
                  <a:pos x="T2" y="T3"/>
                </a:cxn>
                <a:cxn ang="T8">
                  <a:pos x="T4" y="T5"/>
                </a:cxn>
              </a:cxnLst>
              <a:rect l="T9" t="T10" r="T11" b="T12"/>
              <a:pathLst>
                <a:path w="1543" h="279">
                  <a:moveTo>
                    <a:pt x="1543" y="0"/>
                  </a:moveTo>
                  <a:cubicBezTo>
                    <a:pt x="1308" y="132"/>
                    <a:pt x="1074" y="265"/>
                    <a:pt x="817" y="272"/>
                  </a:cubicBezTo>
                  <a:cubicBezTo>
                    <a:pt x="560" y="279"/>
                    <a:pt x="128" y="45"/>
                    <a:pt x="0" y="45"/>
                  </a:cubicBezTo>
                </a:path>
              </a:pathLst>
            </a:cu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4" name="Text Box 21"/>
            <p:cNvSpPr txBox="1">
              <a:spLocks noChangeArrowheads="1"/>
            </p:cNvSpPr>
            <p:nvPr/>
          </p:nvSpPr>
          <p:spPr bwMode="auto">
            <a:xfrm>
              <a:off x="300038" y="2334838"/>
              <a:ext cx="431800" cy="439783"/>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solidFill>
                    <a:schemeClr val="accent2"/>
                  </a:solidFill>
                  <a:latin typeface="Comic Sans MS" pitchFamily="66" charset="0"/>
                </a:rPr>
                <a:t>a</a:t>
              </a:r>
            </a:p>
          </p:txBody>
        </p:sp>
        <p:sp>
          <p:nvSpPr>
            <p:cNvPr id="35" name="Text Box 22"/>
            <p:cNvSpPr txBox="1">
              <a:spLocks noChangeArrowheads="1"/>
            </p:cNvSpPr>
            <p:nvPr/>
          </p:nvSpPr>
          <p:spPr bwMode="auto">
            <a:xfrm>
              <a:off x="2387600" y="3717696"/>
              <a:ext cx="533400" cy="43978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defRPr/>
              </a:pPr>
              <a:r>
                <a:rPr lang="en-US" noProof="0" dirty="0">
                  <a:solidFill>
                    <a:schemeClr val="accent2"/>
                  </a:solidFill>
                  <a:latin typeface="Comic Sans MS" pitchFamily="66" charset="0"/>
                </a:rPr>
                <a:t>b</a:t>
              </a:r>
            </a:p>
          </p:txBody>
        </p:sp>
        <p:sp>
          <p:nvSpPr>
            <p:cNvPr id="36" name="Line 23"/>
            <p:cNvSpPr>
              <a:spLocks noChangeShapeType="1"/>
            </p:cNvSpPr>
            <p:nvPr/>
          </p:nvSpPr>
          <p:spPr bwMode="auto">
            <a:xfrm>
              <a:off x="1811338" y="1714060"/>
              <a:ext cx="0" cy="414382"/>
            </a:xfrm>
            <a:prstGeom prst="line">
              <a:avLst/>
            </a:pr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7" name="Freeform 10"/>
            <p:cNvSpPr>
              <a:spLocks/>
            </p:cNvSpPr>
            <p:nvPr/>
          </p:nvSpPr>
          <p:spPr bwMode="auto">
            <a:xfrm>
              <a:off x="660400" y="2128441"/>
              <a:ext cx="576263" cy="874804"/>
            </a:xfrm>
            <a:custGeom>
              <a:avLst/>
              <a:gdLst>
                <a:gd name="T0" fmla="*/ 2147483647 w 392"/>
                <a:gd name="T1" fmla="*/ 2147483647 h 704"/>
                <a:gd name="T2" fmla="*/ 2147483647 w 392"/>
                <a:gd name="T3" fmla="*/ 2147483647 h 704"/>
                <a:gd name="T4" fmla="*/ 2147483647 w 392"/>
                <a:gd name="T5" fmla="*/ 2147483647 h 704"/>
                <a:gd name="T6" fmla="*/ 2147483647 w 392"/>
                <a:gd name="T7" fmla="*/ 2147483647 h 704"/>
                <a:gd name="T8" fmla="*/ 0 60000 65536"/>
                <a:gd name="T9" fmla="*/ 0 60000 65536"/>
                <a:gd name="T10" fmla="*/ 0 60000 65536"/>
                <a:gd name="T11" fmla="*/ 0 60000 65536"/>
                <a:gd name="T12" fmla="*/ 0 w 392"/>
                <a:gd name="T13" fmla="*/ 0 h 704"/>
                <a:gd name="T14" fmla="*/ 392 w 392"/>
                <a:gd name="T15" fmla="*/ 704 h 704"/>
              </a:gdLst>
              <a:ahLst/>
              <a:cxnLst>
                <a:cxn ang="T8">
                  <a:pos x="T0" y="T1"/>
                </a:cxn>
                <a:cxn ang="T9">
                  <a:pos x="T2" y="T3"/>
                </a:cxn>
                <a:cxn ang="T10">
                  <a:pos x="T4" y="T5"/>
                </a:cxn>
                <a:cxn ang="T11">
                  <a:pos x="T6" y="T7"/>
                </a:cxn>
              </a:cxnLst>
              <a:rect l="T12" t="T13" r="T14" b="T15"/>
              <a:pathLst>
                <a:path w="392" h="704">
                  <a:moveTo>
                    <a:pt x="392" y="448"/>
                  </a:moveTo>
                  <a:cubicBezTo>
                    <a:pt x="252" y="576"/>
                    <a:pt x="112" y="704"/>
                    <a:pt x="56" y="640"/>
                  </a:cubicBezTo>
                  <a:cubicBezTo>
                    <a:pt x="0" y="576"/>
                    <a:pt x="0" y="128"/>
                    <a:pt x="56" y="64"/>
                  </a:cubicBezTo>
                  <a:cubicBezTo>
                    <a:pt x="112" y="0"/>
                    <a:pt x="252" y="128"/>
                    <a:pt x="392" y="256"/>
                  </a:cubicBezTo>
                </a:path>
              </a:pathLst>
            </a:cu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8" name="Freeform 19"/>
            <p:cNvSpPr>
              <a:spLocks/>
            </p:cNvSpPr>
            <p:nvPr/>
          </p:nvSpPr>
          <p:spPr bwMode="auto">
            <a:xfrm rot="5400000">
              <a:off x="1180193" y="3810591"/>
              <a:ext cx="2143351" cy="300038"/>
            </a:xfrm>
            <a:custGeom>
              <a:avLst/>
              <a:gdLst>
                <a:gd name="T0" fmla="*/ 0 w 1588"/>
                <a:gd name="T1" fmla="*/ 2147483647 h 235"/>
                <a:gd name="T2" fmla="*/ 2147483647 w 1588"/>
                <a:gd name="T3" fmla="*/ 2147483647 h 235"/>
                <a:gd name="T4" fmla="*/ 2147483647 w 1588"/>
                <a:gd name="T5" fmla="*/ 2147483647 h 235"/>
                <a:gd name="T6" fmla="*/ 0 60000 65536"/>
                <a:gd name="T7" fmla="*/ 0 60000 65536"/>
                <a:gd name="T8" fmla="*/ 0 60000 65536"/>
                <a:gd name="T9" fmla="*/ 0 w 1588"/>
                <a:gd name="T10" fmla="*/ 0 h 235"/>
                <a:gd name="T11" fmla="*/ 1588 w 1588"/>
                <a:gd name="T12" fmla="*/ 235 h 235"/>
              </a:gdLst>
              <a:ahLst/>
              <a:cxnLst>
                <a:cxn ang="T6">
                  <a:pos x="T0" y="T1"/>
                </a:cxn>
                <a:cxn ang="T7">
                  <a:pos x="T2" y="T3"/>
                </a:cxn>
                <a:cxn ang="T8">
                  <a:pos x="T4" y="T5"/>
                </a:cxn>
              </a:cxnLst>
              <a:rect l="T9" t="T10" r="T11" b="T12"/>
              <a:pathLst>
                <a:path w="1588" h="235">
                  <a:moveTo>
                    <a:pt x="0" y="235"/>
                  </a:moveTo>
                  <a:cubicBezTo>
                    <a:pt x="276" y="125"/>
                    <a:pt x="552" y="16"/>
                    <a:pt x="817" y="8"/>
                  </a:cubicBezTo>
                  <a:cubicBezTo>
                    <a:pt x="1082" y="0"/>
                    <a:pt x="1460" y="144"/>
                    <a:pt x="1588" y="189"/>
                  </a:cubicBezTo>
                </a:path>
              </a:pathLst>
            </a:custGeom>
            <a:ln>
              <a:headEnd/>
              <a:tailEnd type="arrow" w="med" len="med"/>
            </a:ln>
          </p:spPr>
          <p:style>
            <a:lnRef idx="2">
              <a:schemeClr val="dk1"/>
            </a:lnRef>
            <a:fillRef idx="1">
              <a:schemeClr val="lt1"/>
            </a:fillRef>
            <a:effectRef idx="0">
              <a:schemeClr val="dk1"/>
            </a:effectRef>
            <a:fontRef idx="minor">
              <a:schemeClr val="dk1"/>
            </a:fontRef>
          </p:style>
          <p:txBody>
            <a:bodyPr/>
            <a:lstStyle/>
            <a:p>
              <a:pPr>
                <a:defRPr/>
              </a:pPr>
              <a:endParaRPr lang="en-US" noProof="0" dirty="0"/>
            </a:p>
          </p:txBody>
        </p:sp>
        <p:sp>
          <p:nvSpPr>
            <p:cNvPr id="39" name="Rectangle 24"/>
            <p:cNvSpPr>
              <a:spLocks noChangeArrowheads="1"/>
            </p:cNvSpPr>
            <p:nvPr/>
          </p:nvSpPr>
          <p:spPr bwMode="auto">
            <a:xfrm>
              <a:off x="238125" y="1583871"/>
              <a:ext cx="3044825" cy="4307342"/>
            </a:xfrm>
            <a:prstGeom prst="rect">
              <a:avLst/>
            </a:prstGeom>
            <a:noFill/>
            <a:ln>
              <a:solidFill>
                <a:schemeClr val="tx1"/>
              </a:solidFill>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noProof="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4"/>
          <p:cNvSpPr>
            <a:spLocks noGrp="1"/>
          </p:cNvSpPr>
          <p:nvPr>
            <p:ph type="title"/>
          </p:nvPr>
        </p:nvSpPr>
        <p:spPr>
          <a:xfrm>
            <a:off x="244475" y="274638"/>
            <a:ext cx="8442325" cy="787400"/>
          </a:xfrm>
        </p:spPr>
        <p:txBody>
          <a:bodyPr/>
          <a:lstStyle/>
          <a:p>
            <a:pPr eaLnBrk="1" hangingPunct="1"/>
            <a:r>
              <a:rPr lang="en-US" sz="3600" noProof="0" dirty="0">
                <a:cs typeface="Arial" charset="0"/>
              </a:rPr>
              <a:t>Expressing temporal formulas as Buchi</a:t>
            </a:r>
          </a:p>
        </p:txBody>
      </p:sp>
      <p:sp>
        <p:nvSpPr>
          <p:cNvPr id="6" name="Oval 5"/>
          <p:cNvSpPr/>
          <p:nvPr/>
        </p:nvSpPr>
        <p:spPr>
          <a:xfrm>
            <a:off x="1785938" y="4473575"/>
            <a:ext cx="304800" cy="293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7" name="Oval 6"/>
          <p:cNvSpPr/>
          <p:nvPr/>
        </p:nvSpPr>
        <p:spPr>
          <a:xfrm>
            <a:off x="3189288" y="4473575"/>
            <a:ext cx="304800" cy="293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8" name="Oval 7"/>
          <p:cNvSpPr/>
          <p:nvPr/>
        </p:nvSpPr>
        <p:spPr>
          <a:xfrm>
            <a:off x="4625975" y="4462463"/>
            <a:ext cx="304800" cy="295275"/>
          </a:xfrm>
          <a:prstGeom prst="ellipse">
            <a:avLst/>
          </a:prstGeom>
          <a:solidFill>
            <a:schemeClr val="accent1"/>
          </a:solidFill>
          <a:ln w="76200" cmpd="dbl">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9" name="Oval 8"/>
          <p:cNvSpPr/>
          <p:nvPr/>
        </p:nvSpPr>
        <p:spPr>
          <a:xfrm>
            <a:off x="3211513" y="5508625"/>
            <a:ext cx="304800" cy="2936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11" name="Straight Arrow Connector 10"/>
          <p:cNvCxnSpPr>
            <a:stCxn id="6" idx="6"/>
            <a:endCxn id="7" idx="2"/>
          </p:cNvCxnSpPr>
          <p:nvPr/>
        </p:nvCxnSpPr>
        <p:spPr>
          <a:xfrm>
            <a:off x="2090738" y="4621213"/>
            <a:ext cx="1098550" cy="15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a:stCxn id="7" idx="6"/>
            <a:endCxn id="8" idx="2"/>
          </p:cNvCxnSpPr>
          <p:nvPr/>
        </p:nvCxnSpPr>
        <p:spPr>
          <a:xfrm flipV="1">
            <a:off x="3494088" y="4610100"/>
            <a:ext cx="1131887" cy="111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a:stCxn id="7" idx="4"/>
            <a:endCxn id="9" idx="0"/>
          </p:cNvCxnSpPr>
          <p:nvPr/>
        </p:nvCxnSpPr>
        <p:spPr>
          <a:xfrm rot="16200000" flipH="1">
            <a:off x="2982120" y="5126831"/>
            <a:ext cx="741362" cy="2222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Curved Connector 24"/>
          <p:cNvCxnSpPr>
            <a:stCxn id="8" idx="4"/>
            <a:endCxn id="8" idx="6"/>
          </p:cNvCxnSpPr>
          <p:nvPr/>
        </p:nvCxnSpPr>
        <p:spPr>
          <a:xfrm rot="5400000" flipH="1" flipV="1">
            <a:off x="4780756" y="4607719"/>
            <a:ext cx="147638" cy="152400"/>
          </a:xfrm>
          <a:prstGeom prst="curvedConnector4">
            <a:avLst>
              <a:gd name="adj1" fmla="val -154839"/>
              <a:gd name="adj2" fmla="val 250000"/>
            </a:avLst>
          </a:prstGeom>
          <a:ln>
            <a:tailEnd type="arrow"/>
          </a:ln>
        </p:spPr>
        <p:style>
          <a:lnRef idx="2">
            <a:schemeClr val="dk1"/>
          </a:lnRef>
          <a:fillRef idx="0">
            <a:schemeClr val="dk1"/>
          </a:fillRef>
          <a:effectRef idx="1">
            <a:schemeClr val="dk1"/>
          </a:effectRef>
          <a:fontRef idx="minor">
            <a:schemeClr val="tx1"/>
          </a:fontRef>
        </p:style>
      </p:cxnSp>
      <p:sp>
        <p:nvSpPr>
          <p:cNvPr id="49165" name="TextBox 35"/>
          <p:cNvSpPr txBox="1">
            <a:spLocks noChangeArrowheads="1"/>
          </p:cNvSpPr>
          <p:nvPr/>
        </p:nvSpPr>
        <p:spPr bwMode="auto">
          <a:xfrm>
            <a:off x="865188" y="2713038"/>
            <a:ext cx="3146425" cy="461962"/>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noProof="0" dirty="0">
                <a:sym typeface="Symbol" pitchFamily="18" charset="2"/>
              </a:rPr>
              <a:t>We’ll take </a:t>
            </a:r>
            <a:r>
              <a:rPr lang="en-US" i="1" noProof="0" dirty="0">
                <a:sym typeface="Symbol" pitchFamily="18" charset="2"/>
              </a:rPr>
              <a:t>Prop</a:t>
            </a:r>
            <a:r>
              <a:rPr lang="en-US" noProof="0" dirty="0">
                <a:sym typeface="Symbol" pitchFamily="18" charset="2"/>
              </a:rPr>
              <a:t> = { </a:t>
            </a:r>
            <a:r>
              <a:rPr lang="en-US" i="1" noProof="0" dirty="0">
                <a:sym typeface="Symbol" pitchFamily="18" charset="2"/>
              </a:rPr>
              <a:t>p </a:t>
            </a:r>
            <a:r>
              <a:rPr lang="en-US" noProof="0" dirty="0">
                <a:sym typeface="Symbol" pitchFamily="18" charset="2"/>
              </a:rPr>
              <a:t>}</a:t>
            </a:r>
            <a:endParaRPr lang="en-US" noProof="0" dirty="0"/>
          </a:p>
        </p:txBody>
      </p:sp>
      <p:cxnSp>
        <p:nvCxnSpPr>
          <p:cNvPr id="38" name="Straight Arrow Connector 37"/>
          <p:cNvCxnSpPr/>
          <p:nvPr/>
        </p:nvCxnSpPr>
        <p:spPr>
          <a:xfrm>
            <a:off x="1317625" y="4332288"/>
            <a:ext cx="401638" cy="152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5853" name="TextBox 38"/>
          <p:cNvSpPr txBox="1">
            <a:spLocks noChangeArrowheads="1"/>
          </p:cNvSpPr>
          <p:nvPr/>
        </p:nvSpPr>
        <p:spPr bwMode="auto">
          <a:xfrm>
            <a:off x="2249488" y="4191000"/>
            <a:ext cx="633412" cy="461963"/>
          </a:xfrm>
          <a:prstGeom prst="rect">
            <a:avLst/>
          </a:prstGeom>
          <a:noFill/>
          <a:ln w="9525">
            <a:noFill/>
            <a:miter lim="800000"/>
            <a:headEnd/>
            <a:tailEnd/>
          </a:ln>
        </p:spPr>
        <p:txBody>
          <a:bodyPr wrap="none">
            <a:spAutoFit/>
          </a:bodyPr>
          <a:lstStyle/>
          <a:p>
            <a:r>
              <a:rPr lang="en-US" noProof="0" dirty="0"/>
              <a:t>{</a:t>
            </a:r>
            <a:r>
              <a:rPr lang="en-US" i="1" noProof="0" dirty="0"/>
              <a:t>p</a:t>
            </a:r>
            <a:r>
              <a:rPr lang="en-US" noProof="0" dirty="0"/>
              <a:t>}</a:t>
            </a:r>
          </a:p>
        </p:txBody>
      </p:sp>
      <p:sp>
        <p:nvSpPr>
          <p:cNvPr id="35854" name="TextBox 39"/>
          <p:cNvSpPr txBox="1">
            <a:spLocks noChangeArrowheads="1"/>
          </p:cNvSpPr>
          <p:nvPr/>
        </p:nvSpPr>
        <p:spPr bwMode="auto">
          <a:xfrm>
            <a:off x="3744913" y="4168775"/>
            <a:ext cx="438150" cy="461963"/>
          </a:xfrm>
          <a:prstGeom prst="rect">
            <a:avLst/>
          </a:prstGeom>
          <a:noFill/>
          <a:ln w="9525">
            <a:noFill/>
            <a:miter lim="800000"/>
            <a:headEnd/>
            <a:tailEnd/>
          </a:ln>
        </p:spPr>
        <p:txBody>
          <a:bodyPr wrap="none">
            <a:spAutoFit/>
          </a:bodyPr>
          <a:lstStyle/>
          <a:p>
            <a:r>
              <a:rPr lang="en-US" noProof="0" dirty="0">
                <a:sym typeface="Symbol" pitchFamily="18" charset="2"/>
              </a:rPr>
              <a:t></a:t>
            </a:r>
            <a:endParaRPr lang="en-US" noProof="0" dirty="0"/>
          </a:p>
        </p:txBody>
      </p:sp>
      <p:sp>
        <p:nvSpPr>
          <p:cNvPr id="35855" name="TextBox 40"/>
          <p:cNvSpPr txBox="1">
            <a:spLocks noChangeArrowheads="1"/>
          </p:cNvSpPr>
          <p:nvPr/>
        </p:nvSpPr>
        <p:spPr bwMode="auto">
          <a:xfrm>
            <a:off x="3375025" y="4789488"/>
            <a:ext cx="685800" cy="461962"/>
          </a:xfrm>
          <a:prstGeom prst="rect">
            <a:avLst/>
          </a:prstGeom>
          <a:noFill/>
          <a:ln w="9525">
            <a:noFill/>
            <a:miter lim="800000"/>
            <a:headEnd/>
            <a:tailEnd/>
          </a:ln>
        </p:spPr>
        <p:txBody>
          <a:bodyPr>
            <a:spAutoFit/>
          </a:bodyPr>
          <a:lstStyle/>
          <a:p>
            <a:r>
              <a:rPr lang="en-US" noProof="0" dirty="0">
                <a:sym typeface="Symbol" pitchFamily="18" charset="2"/>
              </a:rPr>
              <a:t>{</a:t>
            </a:r>
            <a:r>
              <a:rPr lang="en-US" i="1" noProof="0" dirty="0">
                <a:sym typeface="Symbol" pitchFamily="18" charset="2"/>
              </a:rPr>
              <a:t>p</a:t>
            </a:r>
            <a:r>
              <a:rPr lang="en-US" noProof="0" dirty="0">
                <a:sym typeface="Symbol" pitchFamily="18" charset="2"/>
              </a:rPr>
              <a:t>}</a:t>
            </a:r>
            <a:endParaRPr lang="en-US" noProof="0" dirty="0"/>
          </a:p>
        </p:txBody>
      </p:sp>
      <p:sp>
        <p:nvSpPr>
          <p:cNvPr id="35856" name="TextBox 44"/>
          <p:cNvSpPr txBox="1">
            <a:spLocks noChangeArrowheads="1"/>
          </p:cNvSpPr>
          <p:nvPr/>
        </p:nvSpPr>
        <p:spPr bwMode="auto">
          <a:xfrm>
            <a:off x="174625" y="1252538"/>
            <a:ext cx="8555038" cy="1200150"/>
          </a:xfrm>
          <a:prstGeom prst="rect">
            <a:avLst/>
          </a:prstGeom>
          <a:noFill/>
          <a:ln w="9525">
            <a:noFill/>
            <a:miter lim="800000"/>
            <a:headEnd/>
            <a:tailEnd/>
          </a:ln>
        </p:spPr>
        <p:txBody>
          <a:bodyPr>
            <a:spAutoFit/>
          </a:bodyPr>
          <a:lstStyle/>
          <a:p>
            <a:r>
              <a:rPr lang="en-US" noProof="0" dirty="0"/>
              <a:t>Use </a:t>
            </a:r>
            <a:r>
              <a:rPr lang="en-US" b="1" noProof="0" dirty="0"/>
              <a:t>pow</a:t>
            </a:r>
            <a:r>
              <a:rPr lang="en-US" noProof="0" dirty="0"/>
              <a:t>(</a:t>
            </a:r>
            <a:r>
              <a:rPr lang="en-US" i="1" noProof="0" dirty="0"/>
              <a:t>Prop</a:t>
            </a:r>
            <a:r>
              <a:rPr lang="en-US" noProof="0" dirty="0"/>
              <a:t>) as the alphabet </a:t>
            </a:r>
            <a:r>
              <a:rPr lang="en-US" noProof="0" dirty="0">
                <a:sym typeface="Symbol" pitchFamily="18" charset="2"/>
              </a:rPr>
              <a:t> of arrow-labels.</a:t>
            </a:r>
          </a:p>
          <a:p>
            <a:endParaRPr lang="en-US" noProof="0" dirty="0">
              <a:sym typeface="Symbol" pitchFamily="18" charset="2"/>
            </a:endParaRPr>
          </a:p>
          <a:p>
            <a:r>
              <a:rPr lang="en-US" noProof="0" dirty="0">
                <a:sym typeface="Symbol" pitchFamily="18" charset="2"/>
              </a:rPr>
              <a:t>Example: </a:t>
            </a:r>
            <a:r>
              <a:rPr lang="en-US" noProof="0" dirty="0" err="1">
                <a:solidFill>
                  <a:srgbClr val="C00000"/>
                </a:solidFill>
                <a:sym typeface="Symbol" pitchFamily="18" charset="2"/>
              </a:rPr>
              <a:t>X</a:t>
            </a:r>
            <a:r>
              <a:rPr lang="en-US" i="1" noProof="0" dirty="0" err="1">
                <a:sym typeface="Symbol" pitchFamily="18" charset="2"/>
              </a:rPr>
              <a:t>p</a:t>
            </a:r>
            <a:r>
              <a:rPr lang="en-US" noProof="0" dirty="0">
                <a:sym typeface="Symbol" pitchFamily="18" charset="2"/>
              </a:rPr>
              <a:t>      ( =  </a:t>
            </a:r>
            <a:r>
              <a:rPr lang="en-US" noProof="0" dirty="0" err="1">
                <a:sym typeface="Symbol" pitchFamily="18" charset="2"/>
              </a:rPr>
              <a:t>X</a:t>
            </a:r>
            <a:r>
              <a:rPr lang="en-US" i="1" noProof="0" dirty="0" err="1">
                <a:sym typeface="Symbol" pitchFamily="18" charset="2"/>
              </a:rPr>
              <a:t>p</a:t>
            </a:r>
            <a:r>
              <a:rPr lang="en-US" noProof="0" dirty="0">
                <a:sym typeface="Symbol" pitchFamily="18" charset="2"/>
              </a:rPr>
              <a:t>)</a:t>
            </a:r>
            <a:endParaRPr lang="en-US" noProof="0" dirty="0"/>
          </a:p>
        </p:txBody>
      </p:sp>
      <p:sp>
        <p:nvSpPr>
          <p:cNvPr id="46" name="TextBox 45"/>
          <p:cNvSpPr txBox="1"/>
          <p:nvPr/>
        </p:nvSpPr>
        <p:spPr>
          <a:xfrm>
            <a:off x="5443538" y="3146425"/>
            <a:ext cx="3325812" cy="36830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en-US" sz="1800" i="1" noProof="0" dirty="0">
                <a:cs typeface="Arial" pitchFamily="34" charset="0"/>
              </a:rPr>
              <a:t>Indirectly saying that p is false.</a:t>
            </a:r>
          </a:p>
        </p:txBody>
      </p:sp>
      <p:sp>
        <p:nvSpPr>
          <p:cNvPr id="47" name="Freeform 46"/>
          <p:cNvSpPr/>
          <p:nvPr/>
        </p:nvSpPr>
        <p:spPr>
          <a:xfrm>
            <a:off x="3940175" y="3298825"/>
            <a:ext cx="1470025" cy="903288"/>
          </a:xfrm>
          <a:custGeom>
            <a:avLst/>
            <a:gdLst>
              <a:gd name="connsiteX0" fmla="*/ 1469571 w 1469571"/>
              <a:gd name="connsiteY0" fmla="*/ 0 h 903515"/>
              <a:gd name="connsiteX1" fmla="*/ 283028 w 1469571"/>
              <a:gd name="connsiteY1" fmla="*/ 228600 h 903515"/>
              <a:gd name="connsiteX2" fmla="*/ 0 w 1469571"/>
              <a:gd name="connsiteY2" fmla="*/ 903515 h 903515"/>
            </a:gdLst>
            <a:ahLst/>
            <a:cxnLst>
              <a:cxn ang="0">
                <a:pos x="connsiteX0" y="connsiteY0"/>
              </a:cxn>
              <a:cxn ang="0">
                <a:pos x="connsiteX1" y="connsiteY1"/>
              </a:cxn>
              <a:cxn ang="0">
                <a:pos x="connsiteX2" y="connsiteY2"/>
              </a:cxn>
            </a:cxnLst>
            <a:rect l="l" t="t" r="r" b="b"/>
            <a:pathLst>
              <a:path w="1469571" h="903515">
                <a:moveTo>
                  <a:pt x="1469571" y="0"/>
                </a:moveTo>
                <a:cubicBezTo>
                  <a:pt x="998764" y="39007"/>
                  <a:pt x="527957" y="78014"/>
                  <a:pt x="283028" y="228600"/>
                </a:cubicBezTo>
                <a:cubicBezTo>
                  <a:pt x="38100" y="379186"/>
                  <a:pt x="0" y="903515"/>
                  <a:pt x="0" y="903515"/>
                </a:cubicBezTo>
              </a:path>
            </a:pathLst>
          </a:cu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en-US" noProof="0" dirty="0"/>
          </a:p>
        </p:txBody>
      </p:sp>
      <p:sp>
        <p:nvSpPr>
          <p:cNvPr id="23" name="Rectangle 22"/>
          <p:cNvSpPr/>
          <p:nvPr/>
        </p:nvSpPr>
        <p:spPr>
          <a:xfrm>
            <a:off x="2438400" y="4849813"/>
            <a:ext cx="1874838" cy="1157287"/>
          </a:xfrm>
          <a:prstGeom prst="rect">
            <a:avLst/>
          </a:prstGeom>
          <a:noFill/>
          <a:ln>
            <a:prstDash val="dash"/>
          </a:ln>
        </p:spPr>
        <p:style>
          <a:lnRef idx="2">
            <a:schemeClr val="accent2"/>
          </a:lnRef>
          <a:fillRef idx="1">
            <a:schemeClr val="lt1"/>
          </a:fillRef>
          <a:effectRef idx="0">
            <a:schemeClr val="accent2"/>
          </a:effectRef>
          <a:fontRef idx="minor">
            <a:schemeClr val="dk1"/>
          </a:fontRef>
        </p:style>
        <p:txBody>
          <a:bodyPr anchor="ctr"/>
          <a:lstStyle/>
          <a:p>
            <a:pPr algn="ctr">
              <a:defRPr/>
            </a:pPr>
            <a:endParaRPr lang="en-US" noProof="0" dirty="0"/>
          </a:p>
        </p:txBody>
      </p:sp>
      <p:sp>
        <p:nvSpPr>
          <p:cNvPr id="24" name="TextBox 23"/>
          <p:cNvSpPr txBox="1">
            <a:spLocks noChangeArrowheads="1"/>
          </p:cNvSpPr>
          <p:nvPr/>
        </p:nvSpPr>
        <p:spPr bwMode="auto">
          <a:xfrm>
            <a:off x="5227638" y="5726113"/>
            <a:ext cx="3398837" cy="923925"/>
          </a:xfrm>
          <a:prstGeom prst="rect">
            <a:avLst/>
          </a:prstGeom>
          <a:noFill/>
          <a:ln w="9525">
            <a:noFill/>
            <a:miter lim="800000"/>
            <a:headEnd/>
            <a:tailEnd/>
          </a:ln>
        </p:spPr>
        <p:txBody>
          <a:bodyPr>
            <a:spAutoFit/>
          </a:bodyPr>
          <a:lstStyle/>
          <a:p>
            <a:r>
              <a:rPr lang="en-US" sz="1800" i="1" noProof="0" dirty="0"/>
              <a:t>We can drop this, since we only need to (fully) cover accepted sentences.</a:t>
            </a:r>
          </a:p>
        </p:txBody>
      </p:sp>
      <p:cxnSp>
        <p:nvCxnSpPr>
          <p:cNvPr id="27" name="Straight Arrow Connector 26"/>
          <p:cNvCxnSpPr/>
          <p:nvPr/>
        </p:nvCxnSpPr>
        <p:spPr>
          <a:xfrm>
            <a:off x="4381500" y="5778500"/>
            <a:ext cx="800100" cy="282575"/>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30" name="Gekromde verbindingslijn 29"/>
          <p:cNvCxnSpPr>
            <a:stCxn id="6" idx="7"/>
            <a:endCxn id="7" idx="1"/>
          </p:cNvCxnSpPr>
          <p:nvPr/>
        </p:nvCxnSpPr>
        <p:spPr>
          <a:xfrm rot="5400000" flipH="1" flipV="1">
            <a:off x="2640013" y="3922713"/>
            <a:ext cx="1587" cy="1189037"/>
          </a:xfrm>
          <a:prstGeom prst="curvedConnector3">
            <a:avLst>
              <a:gd name="adj1" fmla="val 33098877"/>
            </a:avLst>
          </a:prstGeom>
          <a:ln>
            <a:tailEnd type="arrow"/>
          </a:ln>
        </p:spPr>
        <p:style>
          <a:lnRef idx="2">
            <a:schemeClr val="dk1"/>
          </a:lnRef>
          <a:fillRef idx="0">
            <a:schemeClr val="dk1"/>
          </a:fillRef>
          <a:effectRef idx="1">
            <a:schemeClr val="dk1"/>
          </a:effectRef>
          <a:fontRef idx="minor">
            <a:schemeClr val="tx1"/>
          </a:fontRef>
        </p:style>
      </p:cxnSp>
      <p:sp>
        <p:nvSpPr>
          <p:cNvPr id="35863" name="TextBox 39"/>
          <p:cNvSpPr txBox="1">
            <a:spLocks noChangeArrowheads="1"/>
          </p:cNvSpPr>
          <p:nvPr/>
        </p:nvSpPr>
        <p:spPr bwMode="auto">
          <a:xfrm>
            <a:off x="2220913" y="3622675"/>
            <a:ext cx="438150" cy="461963"/>
          </a:xfrm>
          <a:prstGeom prst="rect">
            <a:avLst/>
          </a:prstGeom>
          <a:noFill/>
          <a:ln w="9525">
            <a:noFill/>
            <a:miter lim="800000"/>
            <a:headEnd/>
            <a:tailEnd/>
          </a:ln>
        </p:spPr>
        <p:txBody>
          <a:bodyPr wrap="none">
            <a:spAutoFit/>
          </a:bodyPr>
          <a:lstStyle/>
          <a:p>
            <a:r>
              <a:rPr lang="en-US" noProof="0" dirty="0">
                <a:sym typeface="Symbol" pitchFamily="18" charset="2"/>
              </a:rPr>
              <a:t></a:t>
            </a:r>
            <a:endParaRPr lang="en-US" noProof="0" dirty="0"/>
          </a:p>
        </p:txBody>
      </p:sp>
      <p:sp>
        <p:nvSpPr>
          <p:cNvPr id="35864" name="TextBox 39"/>
          <p:cNvSpPr txBox="1">
            <a:spLocks noChangeArrowheads="1"/>
          </p:cNvSpPr>
          <p:nvPr/>
        </p:nvSpPr>
        <p:spPr bwMode="auto">
          <a:xfrm>
            <a:off x="5103813" y="4778375"/>
            <a:ext cx="438150" cy="461963"/>
          </a:xfrm>
          <a:prstGeom prst="rect">
            <a:avLst/>
          </a:prstGeom>
          <a:noFill/>
          <a:ln w="9525">
            <a:noFill/>
            <a:miter lim="800000"/>
            <a:headEnd/>
            <a:tailEnd/>
          </a:ln>
        </p:spPr>
        <p:txBody>
          <a:bodyPr wrap="none">
            <a:spAutoFit/>
          </a:bodyPr>
          <a:lstStyle/>
          <a:p>
            <a:r>
              <a:rPr lang="en-US" noProof="0" dirty="0">
                <a:sym typeface="Symbol" pitchFamily="18" charset="2"/>
              </a:rPr>
              <a:t></a:t>
            </a:r>
            <a:endParaRPr lang="en-US" noProof="0" dirty="0"/>
          </a:p>
        </p:txBody>
      </p:sp>
      <p:cxnSp>
        <p:nvCxnSpPr>
          <p:cNvPr id="36" name="Curved Connector 24"/>
          <p:cNvCxnSpPr>
            <a:stCxn id="8" idx="7"/>
            <a:endCxn id="8" idx="1"/>
          </p:cNvCxnSpPr>
          <p:nvPr/>
        </p:nvCxnSpPr>
        <p:spPr>
          <a:xfrm rot="16200000" flipV="1">
            <a:off x="4778375" y="4398963"/>
            <a:ext cx="1588" cy="214312"/>
          </a:xfrm>
          <a:prstGeom prst="curvedConnector3">
            <a:avLst>
              <a:gd name="adj1" fmla="val 27515248"/>
            </a:avLst>
          </a:prstGeom>
          <a:ln>
            <a:tailEnd type="arrow"/>
          </a:ln>
        </p:spPr>
        <p:style>
          <a:lnRef idx="2">
            <a:schemeClr val="dk1"/>
          </a:lnRef>
          <a:fillRef idx="0">
            <a:schemeClr val="dk1"/>
          </a:fillRef>
          <a:effectRef idx="1">
            <a:schemeClr val="dk1"/>
          </a:effectRef>
          <a:fontRef idx="minor">
            <a:schemeClr val="tx1"/>
          </a:fontRef>
        </p:style>
      </p:cxnSp>
      <p:sp>
        <p:nvSpPr>
          <p:cNvPr id="35866" name="TextBox 38"/>
          <p:cNvSpPr txBox="1">
            <a:spLocks noChangeArrowheads="1"/>
          </p:cNvSpPr>
          <p:nvPr/>
        </p:nvSpPr>
        <p:spPr bwMode="auto">
          <a:xfrm>
            <a:off x="4802188" y="3898900"/>
            <a:ext cx="633412" cy="461963"/>
          </a:xfrm>
          <a:prstGeom prst="rect">
            <a:avLst/>
          </a:prstGeom>
          <a:noFill/>
          <a:ln w="9525">
            <a:noFill/>
            <a:miter lim="800000"/>
            <a:headEnd/>
            <a:tailEnd/>
          </a:ln>
        </p:spPr>
        <p:txBody>
          <a:bodyPr wrap="none">
            <a:spAutoFit/>
          </a:bodyPr>
          <a:lstStyle/>
          <a:p>
            <a:r>
              <a:rPr lang="en-US" noProof="0" dirty="0"/>
              <a:t>{</a:t>
            </a:r>
            <a:r>
              <a:rPr lang="en-US" i="1" noProof="0" dirty="0"/>
              <a:t>p</a:t>
            </a:r>
            <a:r>
              <a:rPr lang="en-US" noProof="0" dirty="0"/>
              <a:t>}</a:t>
            </a:r>
          </a:p>
        </p:txBody>
      </p:sp>
      <p:sp>
        <p:nvSpPr>
          <p:cNvPr id="28" name="Tijdelijke aanduiding voor dianummer 27"/>
          <p:cNvSpPr>
            <a:spLocks noGrp="1"/>
          </p:cNvSpPr>
          <p:nvPr>
            <p:ph type="sldNum" sz="quarter" idx="12"/>
          </p:nvPr>
        </p:nvSpPr>
        <p:spPr/>
        <p:txBody>
          <a:bodyPr/>
          <a:lstStyle/>
          <a:p>
            <a:pPr>
              <a:defRPr/>
            </a:pPr>
            <a:fld id="{C529F79D-D5DD-49B3-B78C-6BEC5E677DED}" type="slidenum">
              <a:rPr lang="en-US" noProof="0"/>
              <a:pPr>
                <a:defRPr/>
              </a:pPr>
              <a:t>30</a:t>
            </a:fld>
            <a:endParaRPr lang="en-US"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500063" y="274638"/>
            <a:ext cx="8358187" cy="796925"/>
          </a:xfrm>
        </p:spPr>
        <p:txBody>
          <a:bodyPr/>
          <a:lstStyle/>
          <a:p>
            <a:pPr eaLnBrk="1" hangingPunct="1"/>
            <a:r>
              <a:rPr lang="en-US" sz="3600" noProof="0" dirty="0">
                <a:cs typeface="Arial" charset="0"/>
              </a:rPr>
              <a:t>To make the drawing less verbose...</a:t>
            </a:r>
          </a:p>
        </p:txBody>
      </p:sp>
      <p:sp>
        <p:nvSpPr>
          <p:cNvPr id="41" name="Tijdelijke aanduiding voor dianummer 40"/>
          <p:cNvSpPr>
            <a:spLocks noGrp="1"/>
          </p:cNvSpPr>
          <p:nvPr>
            <p:ph type="sldNum" sz="quarter" idx="12"/>
          </p:nvPr>
        </p:nvSpPr>
        <p:spPr/>
        <p:txBody>
          <a:bodyPr/>
          <a:lstStyle/>
          <a:p>
            <a:pPr>
              <a:defRPr/>
            </a:pPr>
            <a:fld id="{8AB222F1-E377-42A7-9237-B412B27F30E1}" type="slidenum">
              <a:rPr lang="en-US" noProof="0"/>
              <a:pPr>
                <a:defRPr/>
              </a:pPr>
              <a:t>31</a:t>
            </a:fld>
            <a:endParaRPr lang="en-US" noProof="0" dirty="0"/>
          </a:p>
        </p:txBody>
      </p:sp>
      <p:sp>
        <p:nvSpPr>
          <p:cNvPr id="36868" name="TextBox 3"/>
          <p:cNvSpPr txBox="1">
            <a:spLocks noChangeArrowheads="1"/>
          </p:cNvSpPr>
          <p:nvPr/>
        </p:nvSpPr>
        <p:spPr bwMode="auto">
          <a:xfrm>
            <a:off x="434975" y="1501775"/>
            <a:ext cx="3190875" cy="461963"/>
          </a:xfrm>
          <a:prstGeom prst="rect">
            <a:avLst/>
          </a:prstGeom>
          <a:noFill/>
          <a:ln w="9525">
            <a:noFill/>
            <a:miter lim="800000"/>
            <a:headEnd/>
            <a:tailEnd/>
          </a:ln>
        </p:spPr>
        <p:txBody>
          <a:bodyPr wrap="none">
            <a:spAutoFit/>
          </a:bodyPr>
          <a:lstStyle/>
          <a:p>
            <a:r>
              <a:rPr lang="en-US" noProof="0" dirty="0">
                <a:sym typeface="Symbol" pitchFamily="18" charset="2"/>
              </a:rPr>
              <a:t></a:t>
            </a:r>
            <a:r>
              <a:rPr lang="en-US" noProof="0" dirty="0" err="1">
                <a:solidFill>
                  <a:srgbClr val="C00000"/>
                </a:solidFill>
                <a:sym typeface="Symbol" pitchFamily="18" charset="2"/>
              </a:rPr>
              <a:t>X</a:t>
            </a:r>
            <a:r>
              <a:rPr lang="en-US" i="1" noProof="0" dirty="0" err="1">
                <a:sym typeface="Symbol" pitchFamily="18" charset="2"/>
              </a:rPr>
              <a:t>p</a:t>
            </a:r>
            <a:r>
              <a:rPr lang="en-US" noProof="0" dirty="0">
                <a:sym typeface="Symbol" pitchFamily="18" charset="2"/>
              </a:rPr>
              <a:t>,  using  </a:t>
            </a:r>
            <a:r>
              <a:rPr lang="en-US" i="1" noProof="0" dirty="0">
                <a:sym typeface="Symbol" pitchFamily="18" charset="2"/>
              </a:rPr>
              <a:t>Prop</a:t>
            </a:r>
            <a:r>
              <a:rPr lang="en-US" noProof="0" dirty="0">
                <a:sym typeface="Symbol" pitchFamily="18" charset="2"/>
              </a:rPr>
              <a:t> = {</a:t>
            </a:r>
            <a:r>
              <a:rPr lang="en-US" i="1" noProof="0" dirty="0">
                <a:sym typeface="Symbol" pitchFamily="18" charset="2"/>
              </a:rPr>
              <a:t>p</a:t>
            </a:r>
            <a:r>
              <a:rPr lang="en-US" noProof="0" dirty="0">
                <a:sym typeface="Symbol" pitchFamily="18" charset="2"/>
              </a:rPr>
              <a:t>}</a:t>
            </a:r>
            <a:endParaRPr lang="en-US" noProof="0" dirty="0"/>
          </a:p>
        </p:txBody>
      </p:sp>
      <p:sp>
        <p:nvSpPr>
          <p:cNvPr id="5" name="Oval 4"/>
          <p:cNvSpPr/>
          <p:nvPr/>
        </p:nvSpPr>
        <p:spPr>
          <a:xfrm>
            <a:off x="1458913" y="2481263"/>
            <a:ext cx="304800" cy="2936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6" name="Oval 5"/>
          <p:cNvSpPr/>
          <p:nvPr/>
        </p:nvSpPr>
        <p:spPr>
          <a:xfrm>
            <a:off x="2862263" y="2481263"/>
            <a:ext cx="304800" cy="2936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7" name="Oval 6"/>
          <p:cNvSpPr/>
          <p:nvPr/>
        </p:nvSpPr>
        <p:spPr>
          <a:xfrm>
            <a:off x="4298950" y="2470150"/>
            <a:ext cx="304800" cy="295275"/>
          </a:xfrm>
          <a:prstGeom prst="ellipse">
            <a:avLst/>
          </a:prstGeom>
          <a:solidFill>
            <a:schemeClr val="accent1"/>
          </a:solidFill>
          <a:ln w="76200" cmpd="dbl">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8" name="Straight Arrow Connector 7"/>
          <p:cNvCxnSpPr>
            <a:stCxn id="5" idx="6"/>
            <a:endCxn id="6" idx="2"/>
          </p:cNvCxnSpPr>
          <p:nvPr/>
        </p:nvCxnSpPr>
        <p:spPr>
          <a:xfrm>
            <a:off x="1763713" y="2628900"/>
            <a:ext cx="109855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 name="Straight Arrow Connector 8"/>
          <p:cNvCxnSpPr>
            <a:stCxn id="6" idx="6"/>
            <a:endCxn id="7" idx="2"/>
          </p:cNvCxnSpPr>
          <p:nvPr/>
        </p:nvCxnSpPr>
        <p:spPr>
          <a:xfrm flipV="1">
            <a:off x="3167063" y="2617788"/>
            <a:ext cx="1131887" cy="111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Curved Connector 24"/>
          <p:cNvCxnSpPr>
            <a:stCxn id="7" idx="4"/>
            <a:endCxn id="7" idx="0"/>
          </p:cNvCxnSpPr>
          <p:nvPr/>
        </p:nvCxnSpPr>
        <p:spPr>
          <a:xfrm rot="5400000" flipH="1">
            <a:off x="4305300" y="2617788"/>
            <a:ext cx="293687" cy="1588"/>
          </a:xfrm>
          <a:prstGeom prst="curvedConnector5">
            <a:avLst>
              <a:gd name="adj1" fmla="val -77778"/>
              <a:gd name="adj2" fmla="val -34960401"/>
              <a:gd name="adj3" fmla="val 177778"/>
            </a:avLst>
          </a:prstGeom>
          <a:ln>
            <a:tailEnd type="arrow"/>
          </a:ln>
        </p:spPr>
        <p:style>
          <a:lnRef idx="2">
            <a:schemeClr val="dk1"/>
          </a:lnRef>
          <a:fillRef idx="0">
            <a:schemeClr val="dk1"/>
          </a:fillRef>
          <a:effectRef idx="1">
            <a:schemeClr val="dk1"/>
          </a:effectRef>
          <a:fontRef idx="minor">
            <a:schemeClr val="tx1"/>
          </a:fontRef>
        </p:style>
      </p:cxnSp>
      <p:cxnSp>
        <p:nvCxnSpPr>
          <p:cNvPr id="11" name="Straight Arrow Connector 10"/>
          <p:cNvCxnSpPr/>
          <p:nvPr/>
        </p:nvCxnSpPr>
        <p:spPr>
          <a:xfrm>
            <a:off x="990600" y="2339975"/>
            <a:ext cx="401638" cy="152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6876" name="TextBox 38"/>
          <p:cNvSpPr txBox="1">
            <a:spLocks noChangeArrowheads="1"/>
          </p:cNvSpPr>
          <p:nvPr/>
        </p:nvSpPr>
        <p:spPr bwMode="auto">
          <a:xfrm>
            <a:off x="2100263" y="2274888"/>
            <a:ext cx="338137" cy="461962"/>
          </a:xfrm>
          <a:prstGeom prst="rect">
            <a:avLst/>
          </a:prstGeom>
          <a:noFill/>
          <a:ln w="9525">
            <a:noFill/>
            <a:miter lim="800000"/>
            <a:headEnd/>
            <a:tailEnd/>
          </a:ln>
        </p:spPr>
        <p:txBody>
          <a:bodyPr wrap="none">
            <a:spAutoFit/>
          </a:bodyPr>
          <a:lstStyle/>
          <a:p>
            <a:r>
              <a:rPr lang="en-US" noProof="0" dirty="0"/>
              <a:t>*</a:t>
            </a:r>
          </a:p>
        </p:txBody>
      </p:sp>
      <p:sp>
        <p:nvSpPr>
          <p:cNvPr id="36877" name="TextBox 39"/>
          <p:cNvSpPr txBox="1">
            <a:spLocks noChangeArrowheads="1"/>
          </p:cNvSpPr>
          <p:nvPr/>
        </p:nvSpPr>
        <p:spPr bwMode="auto">
          <a:xfrm>
            <a:off x="3417888" y="2176463"/>
            <a:ext cx="438150" cy="461962"/>
          </a:xfrm>
          <a:prstGeom prst="rect">
            <a:avLst/>
          </a:prstGeom>
          <a:noFill/>
          <a:ln w="9525">
            <a:noFill/>
            <a:miter lim="800000"/>
            <a:headEnd/>
            <a:tailEnd/>
          </a:ln>
        </p:spPr>
        <p:txBody>
          <a:bodyPr wrap="none">
            <a:spAutoFit/>
          </a:bodyPr>
          <a:lstStyle/>
          <a:p>
            <a:r>
              <a:rPr lang="en-US" noProof="0" dirty="0">
                <a:sym typeface="Symbol" pitchFamily="18" charset="2"/>
              </a:rPr>
              <a:t></a:t>
            </a:r>
            <a:endParaRPr lang="en-US" noProof="0" dirty="0"/>
          </a:p>
        </p:txBody>
      </p:sp>
      <p:sp>
        <p:nvSpPr>
          <p:cNvPr id="36878" name="TextBox 41"/>
          <p:cNvSpPr txBox="1">
            <a:spLocks noChangeArrowheads="1"/>
          </p:cNvSpPr>
          <p:nvPr/>
        </p:nvSpPr>
        <p:spPr bwMode="auto">
          <a:xfrm>
            <a:off x="4964113" y="2405063"/>
            <a:ext cx="338137" cy="461962"/>
          </a:xfrm>
          <a:prstGeom prst="rect">
            <a:avLst/>
          </a:prstGeom>
          <a:noFill/>
          <a:ln w="9525">
            <a:noFill/>
            <a:miter lim="800000"/>
            <a:headEnd/>
            <a:tailEnd/>
          </a:ln>
        </p:spPr>
        <p:txBody>
          <a:bodyPr wrap="none">
            <a:spAutoFit/>
          </a:bodyPr>
          <a:lstStyle/>
          <a:p>
            <a:r>
              <a:rPr lang="en-US" noProof="0" dirty="0"/>
              <a:t>*</a:t>
            </a:r>
          </a:p>
        </p:txBody>
      </p:sp>
      <p:sp>
        <p:nvSpPr>
          <p:cNvPr id="16" name="TextBox 15"/>
          <p:cNvSpPr txBox="1">
            <a:spLocks noChangeArrowheads="1"/>
          </p:cNvSpPr>
          <p:nvPr/>
        </p:nvSpPr>
        <p:spPr bwMode="auto">
          <a:xfrm>
            <a:off x="598488" y="3341688"/>
            <a:ext cx="3421062" cy="461962"/>
          </a:xfrm>
          <a:prstGeom prst="rect">
            <a:avLst/>
          </a:prstGeom>
          <a:noFill/>
          <a:ln w="9525">
            <a:noFill/>
            <a:miter lim="800000"/>
            <a:headEnd/>
            <a:tailEnd/>
          </a:ln>
        </p:spPr>
        <p:txBody>
          <a:bodyPr wrap="none">
            <a:spAutoFit/>
          </a:bodyPr>
          <a:lstStyle/>
          <a:p>
            <a:r>
              <a:rPr lang="en-US" noProof="0" dirty="0">
                <a:sym typeface="Symbol" pitchFamily="18" charset="2"/>
              </a:rPr>
              <a:t></a:t>
            </a:r>
            <a:r>
              <a:rPr lang="en-US" noProof="0" dirty="0" err="1">
                <a:solidFill>
                  <a:srgbClr val="C00000"/>
                </a:solidFill>
                <a:sym typeface="Symbol" pitchFamily="18" charset="2"/>
              </a:rPr>
              <a:t>X</a:t>
            </a:r>
            <a:r>
              <a:rPr lang="en-US" i="1" noProof="0" dirty="0" err="1">
                <a:sym typeface="Symbol" pitchFamily="18" charset="2"/>
              </a:rPr>
              <a:t>p</a:t>
            </a:r>
            <a:r>
              <a:rPr lang="en-US" noProof="0" dirty="0">
                <a:sym typeface="Symbol" pitchFamily="18" charset="2"/>
              </a:rPr>
              <a:t>,  using  </a:t>
            </a:r>
            <a:r>
              <a:rPr lang="en-US" i="1" noProof="0" dirty="0">
                <a:sym typeface="Symbol" pitchFamily="18" charset="2"/>
              </a:rPr>
              <a:t>Prop</a:t>
            </a:r>
            <a:r>
              <a:rPr lang="en-US" noProof="0" dirty="0">
                <a:sym typeface="Symbol" pitchFamily="18" charset="2"/>
              </a:rPr>
              <a:t> = {</a:t>
            </a:r>
            <a:r>
              <a:rPr lang="en-US" i="1" noProof="0" dirty="0" err="1">
                <a:sym typeface="Symbol" pitchFamily="18" charset="2"/>
              </a:rPr>
              <a:t>p,q</a:t>
            </a:r>
            <a:r>
              <a:rPr lang="en-US" noProof="0" dirty="0">
                <a:sym typeface="Symbol" pitchFamily="18" charset="2"/>
              </a:rPr>
              <a:t>}</a:t>
            </a:r>
            <a:endParaRPr lang="en-US" noProof="0" dirty="0"/>
          </a:p>
        </p:txBody>
      </p:sp>
      <p:sp>
        <p:nvSpPr>
          <p:cNvPr id="18" name="Oval 17"/>
          <p:cNvSpPr/>
          <p:nvPr/>
        </p:nvSpPr>
        <p:spPr>
          <a:xfrm>
            <a:off x="1371600" y="4430713"/>
            <a:ext cx="304800" cy="2936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19" name="Oval 18"/>
          <p:cNvSpPr/>
          <p:nvPr/>
        </p:nvSpPr>
        <p:spPr>
          <a:xfrm>
            <a:off x="2774950" y="4430713"/>
            <a:ext cx="304800" cy="2936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20" name="Oval 19"/>
          <p:cNvSpPr/>
          <p:nvPr/>
        </p:nvSpPr>
        <p:spPr>
          <a:xfrm>
            <a:off x="4211638" y="4419600"/>
            <a:ext cx="304800" cy="295275"/>
          </a:xfrm>
          <a:prstGeom prst="ellipse">
            <a:avLst/>
          </a:prstGeom>
          <a:solidFill>
            <a:schemeClr val="accent1"/>
          </a:solidFill>
          <a:ln w="76200" cmpd="dbl">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21" name="Straight Arrow Connector 20"/>
          <p:cNvCxnSpPr>
            <a:stCxn id="18" idx="6"/>
            <a:endCxn id="19" idx="2"/>
          </p:cNvCxnSpPr>
          <p:nvPr/>
        </p:nvCxnSpPr>
        <p:spPr>
          <a:xfrm>
            <a:off x="1676400" y="4578350"/>
            <a:ext cx="109855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a:stCxn id="19" idx="6"/>
            <a:endCxn id="20" idx="2"/>
          </p:cNvCxnSpPr>
          <p:nvPr/>
        </p:nvCxnSpPr>
        <p:spPr>
          <a:xfrm flipV="1">
            <a:off x="3079750" y="4567238"/>
            <a:ext cx="1131888" cy="111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Curved Connector 24"/>
          <p:cNvCxnSpPr>
            <a:stCxn id="20" idx="4"/>
            <a:endCxn id="20" idx="0"/>
          </p:cNvCxnSpPr>
          <p:nvPr/>
        </p:nvCxnSpPr>
        <p:spPr>
          <a:xfrm rot="5400000" flipH="1">
            <a:off x="4217988" y="4567238"/>
            <a:ext cx="293687" cy="1587"/>
          </a:xfrm>
          <a:prstGeom prst="curvedConnector5">
            <a:avLst>
              <a:gd name="adj1" fmla="val -77778"/>
              <a:gd name="adj2" fmla="val -34960401"/>
              <a:gd name="adj3" fmla="val 177778"/>
            </a:avLst>
          </a:prstGeom>
          <a:ln>
            <a:tailEnd type="arrow"/>
          </a:ln>
        </p:spPr>
        <p:style>
          <a:lnRef idx="2">
            <a:schemeClr val="dk1"/>
          </a:lnRef>
          <a:fillRef idx="0">
            <a:schemeClr val="dk1"/>
          </a:fillRef>
          <a:effectRef idx="1">
            <a:schemeClr val="dk1"/>
          </a:effectRef>
          <a:fontRef idx="minor">
            <a:schemeClr val="tx1"/>
          </a:fontRef>
        </p:style>
      </p:cxnSp>
      <p:cxnSp>
        <p:nvCxnSpPr>
          <p:cNvPr id="24" name="Straight Arrow Connector 23"/>
          <p:cNvCxnSpPr/>
          <p:nvPr/>
        </p:nvCxnSpPr>
        <p:spPr>
          <a:xfrm>
            <a:off x="903288" y="4289425"/>
            <a:ext cx="401637" cy="152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TextBox 38"/>
          <p:cNvSpPr txBox="1">
            <a:spLocks noChangeArrowheads="1"/>
          </p:cNvSpPr>
          <p:nvPr/>
        </p:nvSpPr>
        <p:spPr bwMode="auto">
          <a:xfrm>
            <a:off x="2012950" y="4224338"/>
            <a:ext cx="338138" cy="461962"/>
          </a:xfrm>
          <a:prstGeom prst="rect">
            <a:avLst/>
          </a:prstGeom>
          <a:noFill/>
          <a:ln w="9525">
            <a:noFill/>
            <a:miter lim="800000"/>
            <a:headEnd/>
            <a:tailEnd/>
          </a:ln>
        </p:spPr>
        <p:txBody>
          <a:bodyPr wrap="none">
            <a:spAutoFit/>
          </a:bodyPr>
          <a:lstStyle/>
          <a:p>
            <a:r>
              <a:rPr lang="en-US" noProof="0" dirty="0"/>
              <a:t>*</a:t>
            </a:r>
          </a:p>
        </p:txBody>
      </p:sp>
      <p:sp>
        <p:nvSpPr>
          <p:cNvPr id="27" name="TextBox 41"/>
          <p:cNvSpPr txBox="1">
            <a:spLocks noChangeArrowheads="1"/>
          </p:cNvSpPr>
          <p:nvPr/>
        </p:nvSpPr>
        <p:spPr bwMode="auto">
          <a:xfrm>
            <a:off x="4876800" y="4354513"/>
            <a:ext cx="338138" cy="461962"/>
          </a:xfrm>
          <a:prstGeom prst="rect">
            <a:avLst/>
          </a:prstGeom>
          <a:noFill/>
          <a:ln w="9525">
            <a:noFill/>
            <a:miter lim="800000"/>
            <a:headEnd/>
            <a:tailEnd/>
          </a:ln>
        </p:spPr>
        <p:txBody>
          <a:bodyPr wrap="none">
            <a:spAutoFit/>
          </a:bodyPr>
          <a:lstStyle/>
          <a:p>
            <a:r>
              <a:rPr lang="en-US" noProof="0" dirty="0"/>
              <a:t>*</a:t>
            </a:r>
          </a:p>
        </p:txBody>
      </p:sp>
      <p:sp>
        <p:nvSpPr>
          <p:cNvPr id="33" name="TextBox 39"/>
          <p:cNvSpPr txBox="1">
            <a:spLocks noChangeArrowheads="1"/>
          </p:cNvSpPr>
          <p:nvPr/>
        </p:nvSpPr>
        <p:spPr bwMode="auto">
          <a:xfrm>
            <a:off x="5519738" y="3536950"/>
            <a:ext cx="652462" cy="461963"/>
          </a:xfrm>
          <a:prstGeom prst="rect">
            <a:avLst/>
          </a:prstGeom>
          <a:noFill/>
          <a:ln w="9525">
            <a:noFill/>
            <a:miter lim="800000"/>
            <a:headEnd/>
            <a:tailEnd/>
          </a:ln>
        </p:spPr>
        <p:txBody>
          <a:bodyPr wrap="none">
            <a:spAutoFit/>
          </a:bodyPr>
          <a:lstStyle/>
          <a:p>
            <a:r>
              <a:rPr lang="en-US" b="1" i="1" noProof="0" dirty="0">
                <a:solidFill>
                  <a:srgbClr val="C00000"/>
                </a:solidFill>
              </a:rPr>
              <a:t>p</a:t>
            </a:r>
            <a:r>
              <a:rPr lang="en-US" b="1" noProof="0" dirty="0">
                <a:solidFill>
                  <a:srgbClr val="C00000"/>
                </a:solidFill>
                <a:sym typeface="Symbol" pitchFamily="18" charset="2"/>
              </a:rPr>
              <a:t> </a:t>
            </a:r>
          </a:p>
        </p:txBody>
      </p:sp>
      <p:sp>
        <p:nvSpPr>
          <p:cNvPr id="34" name="TextBox 33"/>
          <p:cNvSpPr txBox="1"/>
          <p:nvPr/>
        </p:nvSpPr>
        <p:spPr>
          <a:xfrm>
            <a:off x="6237288" y="3319463"/>
            <a:ext cx="2482850" cy="1077912"/>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1600" i="1" noProof="0" dirty="0">
                <a:latin typeface="Times New Roman" pitchFamily="18" charset="0"/>
                <a:cs typeface="Times New Roman" pitchFamily="18" charset="0"/>
              </a:rPr>
              <a:t>Stands for all subsets of Prop that do not contain p; thus implying “p does not hold”.</a:t>
            </a:r>
          </a:p>
        </p:txBody>
      </p:sp>
      <p:sp>
        <p:nvSpPr>
          <p:cNvPr id="35" name="TextBox 34"/>
          <p:cNvSpPr txBox="1"/>
          <p:nvPr/>
        </p:nvSpPr>
        <p:spPr>
          <a:xfrm>
            <a:off x="6248400" y="4854575"/>
            <a:ext cx="2481263" cy="8318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1600" i="1" noProof="0" dirty="0">
                <a:latin typeface="Times New Roman" pitchFamily="18" charset="0"/>
                <a:cs typeface="Times New Roman" pitchFamily="18" charset="0"/>
              </a:rPr>
              <a:t>Stands for all subsets of Prop that contain p; thus implying “p holds”.</a:t>
            </a:r>
          </a:p>
        </p:txBody>
      </p:sp>
      <p:sp>
        <p:nvSpPr>
          <p:cNvPr id="36" name="TextBox 35"/>
          <p:cNvSpPr txBox="1">
            <a:spLocks noChangeArrowheads="1"/>
          </p:cNvSpPr>
          <p:nvPr/>
        </p:nvSpPr>
        <p:spPr bwMode="auto">
          <a:xfrm>
            <a:off x="5540375" y="5029200"/>
            <a:ext cx="577850" cy="461963"/>
          </a:xfrm>
          <a:prstGeom prst="rect">
            <a:avLst/>
          </a:prstGeom>
          <a:noFill/>
          <a:ln w="9525">
            <a:noFill/>
            <a:miter lim="800000"/>
            <a:headEnd/>
            <a:tailEnd/>
          </a:ln>
        </p:spPr>
        <p:txBody>
          <a:bodyPr wrap="none">
            <a:spAutoFit/>
          </a:bodyPr>
          <a:lstStyle/>
          <a:p>
            <a:r>
              <a:rPr lang="en-US" b="1" i="1" noProof="0" dirty="0">
                <a:solidFill>
                  <a:srgbClr val="C00000"/>
                </a:solidFill>
              </a:rPr>
              <a:t>p</a:t>
            </a:r>
            <a:r>
              <a:rPr lang="en-US" b="1" noProof="0" dirty="0">
                <a:solidFill>
                  <a:srgbClr val="C00000"/>
                </a:solidFill>
                <a:sym typeface="Symbol" pitchFamily="18" charset="2"/>
              </a:rPr>
              <a:t></a:t>
            </a:r>
            <a:endParaRPr lang="en-US" b="1" noProof="0" dirty="0">
              <a:solidFill>
                <a:srgbClr val="C00000"/>
              </a:solidFill>
            </a:endParaRPr>
          </a:p>
        </p:txBody>
      </p:sp>
      <p:sp>
        <p:nvSpPr>
          <p:cNvPr id="37" name="Freeform 36"/>
          <p:cNvSpPr/>
          <p:nvPr/>
        </p:nvSpPr>
        <p:spPr>
          <a:xfrm>
            <a:off x="3798888" y="3697288"/>
            <a:ext cx="1730375" cy="608012"/>
          </a:xfrm>
          <a:custGeom>
            <a:avLst/>
            <a:gdLst>
              <a:gd name="connsiteX0" fmla="*/ 1730829 w 1730829"/>
              <a:gd name="connsiteY0" fmla="*/ 156029 h 765629"/>
              <a:gd name="connsiteX1" fmla="*/ 566057 w 1730829"/>
              <a:gd name="connsiteY1" fmla="*/ 101600 h 765629"/>
              <a:gd name="connsiteX2" fmla="*/ 0 w 1730829"/>
              <a:gd name="connsiteY2" fmla="*/ 765629 h 765629"/>
            </a:gdLst>
            <a:ahLst/>
            <a:cxnLst>
              <a:cxn ang="0">
                <a:pos x="connsiteX0" y="connsiteY0"/>
              </a:cxn>
              <a:cxn ang="0">
                <a:pos x="connsiteX1" y="connsiteY1"/>
              </a:cxn>
              <a:cxn ang="0">
                <a:pos x="connsiteX2" y="connsiteY2"/>
              </a:cxn>
            </a:cxnLst>
            <a:rect l="l" t="t" r="r" b="b"/>
            <a:pathLst>
              <a:path w="1730829" h="765629">
                <a:moveTo>
                  <a:pt x="1730829" y="156029"/>
                </a:moveTo>
                <a:cubicBezTo>
                  <a:pt x="1292678" y="78014"/>
                  <a:pt x="854528" y="0"/>
                  <a:pt x="566057" y="101600"/>
                </a:cubicBezTo>
                <a:cubicBezTo>
                  <a:pt x="277586" y="203200"/>
                  <a:pt x="96157" y="656772"/>
                  <a:pt x="0" y="765629"/>
                </a:cubicBezTo>
              </a:path>
            </a:pathLst>
          </a:custGeom>
          <a:ln>
            <a:prstDash val="dash"/>
            <a:headEnd type="none" w="med" len="med"/>
            <a:tailEnd type="triangle" w="med" len="med"/>
          </a:ln>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en-US" noProof="0" dirty="0"/>
          </a:p>
        </p:txBody>
      </p:sp>
      <p:sp>
        <p:nvSpPr>
          <p:cNvPr id="38" name="TextBox 37"/>
          <p:cNvSpPr txBox="1"/>
          <p:nvPr/>
        </p:nvSpPr>
        <p:spPr>
          <a:xfrm>
            <a:off x="6237288" y="2503488"/>
            <a:ext cx="2200275" cy="646112"/>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1800" i="1" noProof="0" dirty="0"/>
              <a:t>So we have 4 subsets.</a:t>
            </a:r>
          </a:p>
        </p:txBody>
      </p:sp>
      <p:cxnSp>
        <p:nvCxnSpPr>
          <p:cNvPr id="39" name="Straight Arrow Connector 38"/>
          <p:cNvCxnSpPr/>
          <p:nvPr/>
        </p:nvCxnSpPr>
        <p:spPr>
          <a:xfrm rot="10800000" flipV="1">
            <a:off x="3875088" y="2884488"/>
            <a:ext cx="2373312" cy="5873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40" name="TextBox 39"/>
          <p:cNvSpPr txBox="1">
            <a:spLocks noChangeArrowheads="1"/>
          </p:cNvSpPr>
          <p:nvPr/>
        </p:nvSpPr>
        <p:spPr bwMode="auto">
          <a:xfrm>
            <a:off x="3335338" y="4133850"/>
            <a:ext cx="652462" cy="461963"/>
          </a:xfrm>
          <a:prstGeom prst="rect">
            <a:avLst/>
          </a:prstGeom>
          <a:noFill/>
          <a:ln w="9525">
            <a:noFill/>
            <a:miter lim="800000"/>
            <a:headEnd/>
            <a:tailEnd/>
          </a:ln>
        </p:spPr>
        <p:txBody>
          <a:bodyPr wrap="none">
            <a:spAutoFit/>
          </a:bodyPr>
          <a:lstStyle/>
          <a:p>
            <a:r>
              <a:rPr lang="en-US" b="1" i="1" noProof="0" dirty="0">
                <a:solidFill>
                  <a:srgbClr val="C00000"/>
                </a:solidFill>
              </a:rPr>
              <a:t>p</a:t>
            </a:r>
            <a:r>
              <a:rPr lang="en-US" b="1" noProof="0" dirty="0">
                <a:solidFill>
                  <a:srgbClr val="C00000"/>
                </a:solidFill>
                <a:sym typeface="Symbol"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animBg="1"/>
      <p:bldP spid="19" grpId="0" animBg="1"/>
      <p:bldP spid="20" grpId="0" animBg="1"/>
      <p:bldP spid="25" grpId="0"/>
      <p:bldP spid="27" grpId="0"/>
      <p:bldP spid="33" grpId="0"/>
      <p:bldP spid="34" grpId="0" animBg="1"/>
      <p:bldP spid="35" grpId="0" animBg="1"/>
      <p:bldP spid="36" grpId="0"/>
      <p:bldP spid="38" grpId="0" animBg="1"/>
      <p:bldP spid="4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500063" y="274638"/>
            <a:ext cx="8358187" cy="796925"/>
          </a:xfrm>
        </p:spPr>
        <p:txBody>
          <a:bodyPr/>
          <a:lstStyle/>
          <a:p>
            <a:pPr eaLnBrk="1" hangingPunct="1"/>
            <a:r>
              <a:rPr lang="en-US" noProof="0" dirty="0">
                <a:cs typeface="Arial" charset="0"/>
              </a:rPr>
              <a:t>Always and Eventually</a:t>
            </a:r>
          </a:p>
        </p:txBody>
      </p:sp>
      <p:sp>
        <p:nvSpPr>
          <p:cNvPr id="34" name="Tijdelijke aanduiding voor dianummer 33"/>
          <p:cNvSpPr>
            <a:spLocks noGrp="1"/>
          </p:cNvSpPr>
          <p:nvPr>
            <p:ph type="sldNum" sz="quarter" idx="12"/>
          </p:nvPr>
        </p:nvSpPr>
        <p:spPr/>
        <p:txBody>
          <a:bodyPr/>
          <a:lstStyle/>
          <a:p>
            <a:pPr>
              <a:defRPr/>
            </a:pPr>
            <a:fld id="{005664F2-36BE-4FC7-9F28-24EF95D64EDF}" type="slidenum">
              <a:rPr lang="en-US" noProof="0"/>
              <a:pPr>
                <a:defRPr/>
              </a:pPr>
              <a:t>32</a:t>
            </a:fld>
            <a:endParaRPr lang="en-US" noProof="0" dirty="0"/>
          </a:p>
        </p:txBody>
      </p:sp>
      <p:sp>
        <p:nvSpPr>
          <p:cNvPr id="37892" name="TextBox 4"/>
          <p:cNvSpPr txBox="1">
            <a:spLocks noChangeArrowheads="1"/>
          </p:cNvSpPr>
          <p:nvPr/>
        </p:nvSpPr>
        <p:spPr bwMode="auto">
          <a:xfrm>
            <a:off x="1565275" y="3017838"/>
            <a:ext cx="935038" cy="646112"/>
          </a:xfrm>
          <a:prstGeom prst="rect">
            <a:avLst/>
          </a:prstGeom>
          <a:noFill/>
          <a:ln w="9525">
            <a:noFill/>
            <a:miter lim="800000"/>
            <a:headEnd/>
            <a:tailEnd/>
          </a:ln>
        </p:spPr>
        <p:txBody>
          <a:bodyPr wrap="none">
            <a:spAutoFit/>
          </a:bodyPr>
          <a:lstStyle/>
          <a:p>
            <a:r>
              <a:rPr lang="en-US" sz="3600" noProof="0" dirty="0">
                <a:sym typeface="Symbol" pitchFamily="18" charset="2"/>
              </a:rPr>
              <a:t>&lt;&gt;</a:t>
            </a:r>
            <a:r>
              <a:rPr lang="en-US" sz="3600" i="1" noProof="0" dirty="0">
                <a:sym typeface="Symbol" pitchFamily="18" charset="2"/>
              </a:rPr>
              <a:t>p</a:t>
            </a:r>
            <a:endParaRPr lang="en-US" sz="3600" i="1" noProof="0" dirty="0"/>
          </a:p>
        </p:txBody>
      </p:sp>
      <p:sp>
        <p:nvSpPr>
          <p:cNvPr id="6" name="Oval 5"/>
          <p:cNvSpPr/>
          <p:nvPr/>
        </p:nvSpPr>
        <p:spPr>
          <a:xfrm>
            <a:off x="4184650" y="3279775"/>
            <a:ext cx="304800" cy="293688"/>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7" name="Oval 6"/>
          <p:cNvSpPr/>
          <p:nvPr/>
        </p:nvSpPr>
        <p:spPr>
          <a:xfrm>
            <a:off x="5621338" y="3268663"/>
            <a:ext cx="304800" cy="293687"/>
          </a:xfrm>
          <a:prstGeom prst="ellipse">
            <a:avLst/>
          </a:prstGeom>
          <a:solidFill>
            <a:schemeClr val="accent1"/>
          </a:solidFill>
          <a:ln w="7620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9" name="Straight Arrow Connector 8"/>
          <p:cNvCxnSpPr>
            <a:stCxn id="6" idx="6"/>
            <a:endCxn id="7" idx="2"/>
          </p:cNvCxnSpPr>
          <p:nvPr/>
        </p:nvCxnSpPr>
        <p:spPr>
          <a:xfrm flipV="1">
            <a:off x="4489450" y="3414713"/>
            <a:ext cx="1131888" cy="111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1" name="Curved Connector 24"/>
          <p:cNvCxnSpPr>
            <a:stCxn id="7" idx="4"/>
            <a:endCxn id="7" idx="0"/>
          </p:cNvCxnSpPr>
          <p:nvPr/>
        </p:nvCxnSpPr>
        <p:spPr>
          <a:xfrm rot="5400000" flipH="1">
            <a:off x="5626894" y="3415507"/>
            <a:ext cx="295275" cy="1587"/>
          </a:xfrm>
          <a:prstGeom prst="curvedConnector5">
            <a:avLst>
              <a:gd name="adj1" fmla="val -77778"/>
              <a:gd name="adj2" fmla="val -34960401"/>
              <a:gd name="adj3" fmla="val 177778"/>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rot="5400000">
            <a:off x="4364832" y="2967831"/>
            <a:ext cx="293688" cy="21907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7898" name="TextBox 13"/>
          <p:cNvSpPr txBox="1">
            <a:spLocks noChangeArrowheads="1"/>
          </p:cNvSpPr>
          <p:nvPr/>
        </p:nvSpPr>
        <p:spPr bwMode="auto">
          <a:xfrm>
            <a:off x="4740275" y="2974975"/>
            <a:ext cx="558800" cy="461963"/>
          </a:xfrm>
          <a:prstGeom prst="rect">
            <a:avLst/>
          </a:prstGeom>
          <a:noFill/>
          <a:ln w="9525">
            <a:noFill/>
            <a:miter lim="800000"/>
            <a:headEnd/>
            <a:tailEnd/>
          </a:ln>
        </p:spPr>
        <p:txBody>
          <a:bodyPr wrap="none">
            <a:spAutoFit/>
          </a:bodyPr>
          <a:lstStyle/>
          <a:p>
            <a:r>
              <a:rPr lang="en-US" i="1" noProof="0" dirty="0">
                <a:sym typeface="Symbol" pitchFamily="18" charset="2"/>
              </a:rPr>
              <a:t>p</a:t>
            </a:r>
            <a:r>
              <a:rPr lang="en-US" noProof="0" dirty="0">
                <a:sym typeface="Symbol" pitchFamily="18" charset="2"/>
              </a:rPr>
              <a:t></a:t>
            </a:r>
            <a:endParaRPr lang="en-US" noProof="0" dirty="0"/>
          </a:p>
        </p:txBody>
      </p:sp>
      <p:sp>
        <p:nvSpPr>
          <p:cNvPr id="37899" name="TextBox 15"/>
          <p:cNvSpPr txBox="1">
            <a:spLocks noChangeArrowheads="1"/>
          </p:cNvSpPr>
          <p:nvPr/>
        </p:nvSpPr>
        <p:spPr bwMode="auto">
          <a:xfrm>
            <a:off x="6286500" y="3203575"/>
            <a:ext cx="338138" cy="461963"/>
          </a:xfrm>
          <a:prstGeom prst="rect">
            <a:avLst/>
          </a:prstGeom>
          <a:noFill/>
          <a:ln w="9525">
            <a:noFill/>
            <a:miter lim="800000"/>
            <a:headEnd/>
            <a:tailEnd/>
          </a:ln>
        </p:spPr>
        <p:txBody>
          <a:bodyPr wrap="none">
            <a:spAutoFit/>
          </a:bodyPr>
          <a:lstStyle/>
          <a:p>
            <a:r>
              <a:rPr lang="en-US" noProof="0" dirty="0"/>
              <a:t>*</a:t>
            </a:r>
          </a:p>
        </p:txBody>
      </p:sp>
      <p:cxnSp>
        <p:nvCxnSpPr>
          <p:cNvPr id="18" name="Curved Connector 24"/>
          <p:cNvCxnSpPr>
            <a:stCxn id="6" idx="3"/>
            <a:endCxn id="6" idx="1"/>
          </p:cNvCxnSpPr>
          <p:nvPr/>
        </p:nvCxnSpPr>
        <p:spPr>
          <a:xfrm rot="5400000" flipH="1">
            <a:off x="4125913" y="3425825"/>
            <a:ext cx="207962" cy="1588"/>
          </a:xfrm>
          <a:prstGeom prst="curvedConnector5">
            <a:avLst>
              <a:gd name="adj1" fmla="val -109995"/>
              <a:gd name="adj2" fmla="val 43803036"/>
              <a:gd name="adj3" fmla="val 209995"/>
            </a:avLst>
          </a:prstGeom>
          <a:ln>
            <a:tailEnd type="arrow"/>
          </a:ln>
        </p:spPr>
        <p:style>
          <a:lnRef idx="2">
            <a:schemeClr val="dk1"/>
          </a:lnRef>
          <a:fillRef idx="0">
            <a:schemeClr val="dk1"/>
          </a:fillRef>
          <a:effectRef idx="1">
            <a:schemeClr val="dk1"/>
          </a:effectRef>
          <a:fontRef idx="minor">
            <a:schemeClr val="tx1"/>
          </a:fontRef>
        </p:style>
      </p:cxnSp>
      <p:sp>
        <p:nvSpPr>
          <p:cNvPr id="37901" name="TextBox 18"/>
          <p:cNvSpPr txBox="1">
            <a:spLocks noChangeArrowheads="1"/>
          </p:cNvSpPr>
          <p:nvPr/>
        </p:nvSpPr>
        <p:spPr bwMode="auto">
          <a:xfrm>
            <a:off x="3184525" y="3201988"/>
            <a:ext cx="685800" cy="461962"/>
          </a:xfrm>
          <a:prstGeom prst="rect">
            <a:avLst/>
          </a:prstGeom>
          <a:noFill/>
          <a:ln w="9525">
            <a:noFill/>
            <a:miter lim="800000"/>
            <a:headEnd/>
            <a:tailEnd/>
          </a:ln>
        </p:spPr>
        <p:txBody>
          <a:bodyPr>
            <a:spAutoFit/>
          </a:bodyPr>
          <a:lstStyle/>
          <a:p>
            <a:r>
              <a:rPr lang="en-US" noProof="0" dirty="0">
                <a:sym typeface="Symbol" pitchFamily="18" charset="2"/>
              </a:rPr>
              <a:t>*</a:t>
            </a:r>
            <a:endParaRPr lang="en-US" noProof="0" dirty="0"/>
          </a:p>
        </p:txBody>
      </p:sp>
      <p:sp>
        <p:nvSpPr>
          <p:cNvPr id="37902" name="TextBox 20"/>
          <p:cNvSpPr txBox="1">
            <a:spLocks noChangeArrowheads="1"/>
          </p:cNvSpPr>
          <p:nvPr/>
        </p:nvSpPr>
        <p:spPr bwMode="auto">
          <a:xfrm>
            <a:off x="1828800" y="1662113"/>
            <a:ext cx="661988" cy="584200"/>
          </a:xfrm>
          <a:prstGeom prst="rect">
            <a:avLst/>
          </a:prstGeom>
          <a:noFill/>
          <a:ln w="9525">
            <a:noFill/>
            <a:miter lim="800000"/>
            <a:headEnd/>
            <a:tailEnd/>
          </a:ln>
        </p:spPr>
        <p:txBody>
          <a:bodyPr wrap="none">
            <a:spAutoFit/>
          </a:bodyPr>
          <a:lstStyle/>
          <a:p>
            <a:r>
              <a:rPr lang="en-US" sz="3200" noProof="0" dirty="0">
                <a:sym typeface="Symbol" pitchFamily="18" charset="2"/>
              </a:rPr>
              <a:t>[]</a:t>
            </a:r>
            <a:r>
              <a:rPr lang="en-US" sz="3200" i="1" noProof="0" dirty="0">
                <a:sym typeface="Symbol" pitchFamily="18" charset="2"/>
              </a:rPr>
              <a:t>p</a:t>
            </a:r>
            <a:endParaRPr lang="en-US" sz="3200" i="1" noProof="0" dirty="0"/>
          </a:p>
        </p:txBody>
      </p:sp>
      <p:sp>
        <p:nvSpPr>
          <p:cNvPr id="22" name="Oval 21"/>
          <p:cNvSpPr/>
          <p:nvPr/>
        </p:nvSpPr>
        <p:spPr>
          <a:xfrm>
            <a:off x="4381500" y="1733550"/>
            <a:ext cx="304800" cy="293688"/>
          </a:xfrm>
          <a:prstGeom prst="ellipse">
            <a:avLst/>
          </a:prstGeom>
          <a:solidFill>
            <a:schemeClr val="accent1"/>
          </a:solidFill>
          <a:ln w="7620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26" name="Straight Arrow Connector 25"/>
          <p:cNvCxnSpPr/>
          <p:nvPr/>
        </p:nvCxnSpPr>
        <p:spPr>
          <a:xfrm rot="5400000">
            <a:off x="4560888" y="1423988"/>
            <a:ext cx="293687" cy="2174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7905" name="TextBox 26"/>
          <p:cNvSpPr txBox="1">
            <a:spLocks noChangeArrowheads="1"/>
          </p:cNvSpPr>
          <p:nvPr/>
        </p:nvSpPr>
        <p:spPr bwMode="auto">
          <a:xfrm>
            <a:off x="3292475" y="1635125"/>
            <a:ext cx="558800" cy="461963"/>
          </a:xfrm>
          <a:prstGeom prst="rect">
            <a:avLst/>
          </a:prstGeom>
          <a:noFill/>
          <a:ln w="9525">
            <a:noFill/>
            <a:miter lim="800000"/>
            <a:headEnd/>
            <a:tailEnd/>
          </a:ln>
        </p:spPr>
        <p:txBody>
          <a:bodyPr wrap="none">
            <a:spAutoFit/>
          </a:bodyPr>
          <a:lstStyle/>
          <a:p>
            <a:r>
              <a:rPr lang="en-US" i="1" noProof="0" dirty="0">
                <a:sym typeface="Symbol" pitchFamily="18" charset="2"/>
              </a:rPr>
              <a:t>p</a:t>
            </a:r>
            <a:r>
              <a:rPr lang="en-US" noProof="0" dirty="0">
                <a:sym typeface="Symbol" pitchFamily="18" charset="2"/>
              </a:rPr>
              <a:t></a:t>
            </a:r>
            <a:endParaRPr lang="en-US" noProof="0" dirty="0"/>
          </a:p>
        </p:txBody>
      </p:sp>
      <p:cxnSp>
        <p:nvCxnSpPr>
          <p:cNvPr id="29" name="Curved Connector 24"/>
          <p:cNvCxnSpPr>
            <a:stCxn id="22" idx="3"/>
            <a:endCxn id="22" idx="1"/>
          </p:cNvCxnSpPr>
          <p:nvPr/>
        </p:nvCxnSpPr>
        <p:spPr>
          <a:xfrm rot="5400000" flipH="1">
            <a:off x="4322762" y="1881188"/>
            <a:ext cx="207963" cy="1588"/>
          </a:xfrm>
          <a:prstGeom prst="curvedConnector5">
            <a:avLst>
              <a:gd name="adj1" fmla="val -109995"/>
              <a:gd name="adj2" fmla="val 43803036"/>
              <a:gd name="adj3" fmla="val 209995"/>
            </a:avLst>
          </a:prstGeom>
          <a:ln>
            <a:tailEnd type="arrow"/>
          </a:ln>
        </p:spPr>
        <p:style>
          <a:lnRef idx="2">
            <a:schemeClr val="dk1"/>
          </a:lnRef>
          <a:fillRef idx="0">
            <a:schemeClr val="dk1"/>
          </a:fillRef>
          <a:effectRef idx="1">
            <a:schemeClr val="dk1"/>
          </a:effectRef>
          <a:fontRef idx="minor">
            <a:schemeClr val="tx1"/>
          </a:fontRef>
        </p:style>
      </p:cxnSp>
      <p:sp>
        <p:nvSpPr>
          <p:cNvPr id="37907" name="TextBox 4"/>
          <p:cNvSpPr txBox="1">
            <a:spLocks noChangeArrowheads="1"/>
          </p:cNvSpPr>
          <p:nvPr/>
        </p:nvSpPr>
        <p:spPr bwMode="auto">
          <a:xfrm>
            <a:off x="1481138" y="5151438"/>
            <a:ext cx="1243012" cy="646112"/>
          </a:xfrm>
          <a:prstGeom prst="rect">
            <a:avLst/>
          </a:prstGeom>
          <a:noFill/>
          <a:ln w="9525">
            <a:noFill/>
            <a:miter lim="800000"/>
            <a:headEnd/>
            <a:tailEnd/>
          </a:ln>
        </p:spPr>
        <p:txBody>
          <a:bodyPr wrap="none">
            <a:spAutoFit/>
          </a:bodyPr>
          <a:lstStyle/>
          <a:p>
            <a:r>
              <a:rPr lang="en-US" sz="3600" noProof="0" dirty="0">
                <a:sym typeface="Symbol" pitchFamily="18" charset="2"/>
              </a:rPr>
              <a:t>&lt;&gt;[]</a:t>
            </a:r>
            <a:r>
              <a:rPr lang="en-US" sz="3600" i="1" noProof="0" dirty="0">
                <a:sym typeface="Symbol" pitchFamily="18" charset="2"/>
              </a:rPr>
              <a:t>p</a:t>
            </a:r>
            <a:endParaRPr lang="en-US" sz="3600" i="1" noProof="0" dirty="0"/>
          </a:p>
        </p:txBody>
      </p:sp>
      <p:sp>
        <p:nvSpPr>
          <p:cNvPr id="28" name="Oval 27"/>
          <p:cNvSpPr/>
          <p:nvPr/>
        </p:nvSpPr>
        <p:spPr>
          <a:xfrm>
            <a:off x="4206875" y="5283200"/>
            <a:ext cx="304800" cy="293688"/>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30" name="Oval 29"/>
          <p:cNvSpPr/>
          <p:nvPr/>
        </p:nvSpPr>
        <p:spPr>
          <a:xfrm>
            <a:off x="5643563" y="5272088"/>
            <a:ext cx="304800" cy="293687"/>
          </a:xfrm>
          <a:prstGeom prst="ellipse">
            <a:avLst/>
          </a:prstGeom>
          <a:solidFill>
            <a:schemeClr val="accent1"/>
          </a:solidFill>
          <a:ln w="7620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31" name="Straight Arrow Connector 30"/>
          <p:cNvCxnSpPr>
            <a:stCxn id="28" idx="6"/>
            <a:endCxn id="30" idx="2"/>
          </p:cNvCxnSpPr>
          <p:nvPr/>
        </p:nvCxnSpPr>
        <p:spPr>
          <a:xfrm flipV="1">
            <a:off x="4511675" y="5418138"/>
            <a:ext cx="1131888" cy="111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2" name="Curved Connector 24"/>
          <p:cNvCxnSpPr>
            <a:stCxn id="30" idx="4"/>
            <a:endCxn id="30" idx="0"/>
          </p:cNvCxnSpPr>
          <p:nvPr/>
        </p:nvCxnSpPr>
        <p:spPr>
          <a:xfrm rot="5400000" flipH="1">
            <a:off x="5649119" y="5418932"/>
            <a:ext cx="295275" cy="1587"/>
          </a:xfrm>
          <a:prstGeom prst="curvedConnector5">
            <a:avLst>
              <a:gd name="adj1" fmla="val -77778"/>
              <a:gd name="adj2" fmla="val -34960401"/>
              <a:gd name="adj3" fmla="val 177778"/>
            </a:avLst>
          </a:prstGeom>
          <a:ln>
            <a:tailEnd type="arrow"/>
          </a:ln>
        </p:spPr>
        <p:style>
          <a:lnRef idx="2">
            <a:schemeClr val="dk1"/>
          </a:lnRef>
          <a:fillRef idx="0">
            <a:schemeClr val="dk1"/>
          </a:fillRef>
          <a:effectRef idx="1">
            <a:schemeClr val="dk1"/>
          </a:effectRef>
          <a:fontRef idx="minor">
            <a:schemeClr val="tx1"/>
          </a:fontRef>
        </p:style>
      </p:cxnSp>
      <p:cxnSp>
        <p:nvCxnSpPr>
          <p:cNvPr id="33" name="Straight Arrow Connector 32"/>
          <p:cNvCxnSpPr/>
          <p:nvPr/>
        </p:nvCxnSpPr>
        <p:spPr>
          <a:xfrm rot="5400000">
            <a:off x="4387057" y="4971256"/>
            <a:ext cx="293688" cy="21907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7913" name="TextBox 13"/>
          <p:cNvSpPr txBox="1">
            <a:spLocks noChangeArrowheads="1"/>
          </p:cNvSpPr>
          <p:nvPr/>
        </p:nvSpPr>
        <p:spPr bwMode="auto">
          <a:xfrm>
            <a:off x="4762500" y="4978400"/>
            <a:ext cx="558800" cy="461963"/>
          </a:xfrm>
          <a:prstGeom prst="rect">
            <a:avLst/>
          </a:prstGeom>
          <a:noFill/>
          <a:ln w="9525">
            <a:noFill/>
            <a:miter lim="800000"/>
            <a:headEnd/>
            <a:tailEnd/>
          </a:ln>
        </p:spPr>
        <p:txBody>
          <a:bodyPr wrap="none">
            <a:spAutoFit/>
          </a:bodyPr>
          <a:lstStyle/>
          <a:p>
            <a:r>
              <a:rPr lang="en-US" i="1" noProof="0" dirty="0">
                <a:sym typeface="Symbol" pitchFamily="18" charset="2"/>
              </a:rPr>
              <a:t>p</a:t>
            </a:r>
            <a:r>
              <a:rPr lang="en-US" noProof="0" dirty="0">
                <a:sym typeface="Symbol" pitchFamily="18" charset="2"/>
              </a:rPr>
              <a:t></a:t>
            </a:r>
            <a:endParaRPr lang="en-US" noProof="0" dirty="0"/>
          </a:p>
        </p:txBody>
      </p:sp>
      <p:sp>
        <p:nvSpPr>
          <p:cNvPr id="37914" name="TextBox 15"/>
          <p:cNvSpPr txBox="1">
            <a:spLocks noChangeArrowheads="1"/>
          </p:cNvSpPr>
          <p:nvPr/>
        </p:nvSpPr>
        <p:spPr bwMode="auto">
          <a:xfrm>
            <a:off x="6308725" y="5207000"/>
            <a:ext cx="577850" cy="461963"/>
          </a:xfrm>
          <a:prstGeom prst="rect">
            <a:avLst/>
          </a:prstGeom>
          <a:noFill/>
          <a:ln w="9525">
            <a:noFill/>
            <a:miter lim="800000"/>
            <a:headEnd/>
            <a:tailEnd/>
          </a:ln>
        </p:spPr>
        <p:txBody>
          <a:bodyPr wrap="none">
            <a:spAutoFit/>
          </a:bodyPr>
          <a:lstStyle/>
          <a:p>
            <a:r>
              <a:rPr lang="en-US" i="1" noProof="0" dirty="0"/>
              <a:t>p</a:t>
            </a:r>
            <a:r>
              <a:rPr lang="en-US" noProof="0" dirty="0">
                <a:sym typeface="Symbol" pitchFamily="18" charset="2"/>
              </a:rPr>
              <a:t></a:t>
            </a:r>
            <a:endParaRPr lang="en-US" noProof="0" dirty="0"/>
          </a:p>
        </p:txBody>
      </p:sp>
      <p:cxnSp>
        <p:nvCxnSpPr>
          <p:cNvPr id="36" name="Curved Connector 24"/>
          <p:cNvCxnSpPr>
            <a:stCxn id="28" idx="3"/>
            <a:endCxn id="28" idx="1"/>
          </p:cNvCxnSpPr>
          <p:nvPr/>
        </p:nvCxnSpPr>
        <p:spPr>
          <a:xfrm rot="5400000" flipH="1">
            <a:off x="4148138" y="5429250"/>
            <a:ext cx="207962" cy="1588"/>
          </a:xfrm>
          <a:prstGeom prst="curvedConnector5">
            <a:avLst>
              <a:gd name="adj1" fmla="val -109995"/>
              <a:gd name="adj2" fmla="val 43803036"/>
              <a:gd name="adj3" fmla="val 209995"/>
            </a:avLst>
          </a:prstGeom>
          <a:ln>
            <a:tailEnd type="arrow"/>
          </a:ln>
        </p:spPr>
        <p:style>
          <a:lnRef idx="2">
            <a:schemeClr val="dk1"/>
          </a:lnRef>
          <a:fillRef idx="0">
            <a:schemeClr val="dk1"/>
          </a:fillRef>
          <a:effectRef idx="1">
            <a:schemeClr val="dk1"/>
          </a:effectRef>
          <a:fontRef idx="minor">
            <a:schemeClr val="tx1"/>
          </a:fontRef>
        </p:style>
      </p:cxnSp>
      <p:sp>
        <p:nvSpPr>
          <p:cNvPr id="37916" name="TextBox 18"/>
          <p:cNvSpPr txBox="1">
            <a:spLocks noChangeArrowheads="1"/>
          </p:cNvSpPr>
          <p:nvPr/>
        </p:nvSpPr>
        <p:spPr bwMode="auto">
          <a:xfrm>
            <a:off x="3206750" y="5205413"/>
            <a:ext cx="685800" cy="461962"/>
          </a:xfrm>
          <a:prstGeom prst="rect">
            <a:avLst/>
          </a:prstGeom>
          <a:noFill/>
          <a:ln w="9525">
            <a:noFill/>
            <a:miter lim="800000"/>
            <a:headEnd/>
            <a:tailEnd/>
          </a:ln>
        </p:spPr>
        <p:txBody>
          <a:bodyPr>
            <a:spAutoFit/>
          </a:bodyPr>
          <a:lstStyle/>
          <a:p>
            <a:r>
              <a:rPr lang="en-US" noProof="0" dirty="0">
                <a:sym typeface="Symbol" pitchFamily="18" charset="2"/>
              </a:rPr>
              <a:t>*</a:t>
            </a:r>
            <a:endParaRPr lang="en-US"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500063" y="274638"/>
            <a:ext cx="8358187" cy="796925"/>
          </a:xfrm>
        </p:spPr>
        <p:txBody>
          <a:bodyPr/>
          <a:lstStyle/>
          <a:p>
            <a:pPr eaLnBrk="1" hangingPunct="1"/>
            <a:r>
              <a:rPr lang="en-US" noProof="0" dirty="0">
                <a:cs typeface="Arial" charset="0"/>
              </a:rPr>
              <a:t>Until</a:t>
            </a:r>
          </a:p>
        </p:txBody>
      </p:sp>
      <p:sp>
        <p:nvSpPr>
          <p:cNvPr id="27" name="Tijdelijke aanduiding voor dianummer 26"/>
          <p:cNvSpPr>
            <a:spLocks noGrp="1"/>
          </p:cNvSpPr>
          <p:nvPr>
            <p:ph type="sldNum" sz="quarter" idx="12"/>
          </p:nvPr>
        </p:nvSpPr>
        <p:spPr/>
        <p:txBody>
          <a:bodyPr/>
          <a:lstStyle/>
          <a:p>
            <a:pPr>
              <a:defRPr/>
            </a:pPr>
            <a:fld id="{902DFBC7-4CF0-4744-8C0E-B7891DCD83D7}" type="slidenum">
              <a:rPr lang="en-US" noProof="0"/>
              <a:pPr>
                <a:defRPr/>
              </a:pPr>
              <a:t>33</a:t>
            </a:fld>
            <a:endParaRPr lang="en-US" noProof="0" dirty="0"/>
          </a:p>
        </p:txBody>
      </p:sp>
      <p:sp>
        <p:nvSpPr>
          <p:cNvPr id="38916" name="TextBox 4"/>
          <p:cNvSpPr txBox="1">
            <a:spLocks noChangeArrowheads="1"/>
          </p:cNvSpPr>
          <p:nvPr/>
        </p:nvSpPr>
        <p:spPr bwMode="auto">
          <a:xfrm>
            <a:off x="1127125" y="1946275"/>
            <a:ext cx="1684338" cy="646113"/>
          </a:xfrm>
          <a:prstGeom prst="rect">
            <a:avLst/>
          </a:prstGeom>
          <a:noFill/>
          <a:ln w="9525">
            <a:noFill/>
            <a:miter lim="800000"/>
            <a:headEnd/>
            <a:tailEnd/>
          </a:ln>
        </p:spPr>
        <p:txBody>
          <a:bodyPr wrap="none">
            <a:spAutoFit/>
          </a:bodyPr>
          <a:lstStyle/>
          <a:p>
            <a:r>
              <a:rPr lang="en-US" sz="3600" i="1" noProof="0" dirty="0">
                <a:sym typeface="Symbol" pitchFamily="18" charset="2"/>
              </a:rPr>
              <a:t>p</a:t>
            </a:r>
            <a:r>
              <a:rPr lang="en-US" sz="3600" noProof="0" dirty="0">
                <a:sym typeface="Symbol" pitchFamily="18" charset="2"/>
              </a:rPr>
              <a:t> </a:t>
            </a:r>
            <a:r>
              <a:rPr lang="en-US" sz="3600" noProof="0" dirty="0">
                <a:solidFill>
                  <a:srgbClr val="C00000"/>
                </a:solidFill>
                <a:sym typeface="Symbol" pitchFamily="18" charset="2"/>
              </a:rPr>
              <a:t>U</a:t>
            </a:r>
            <a:r>
              <a:rPr lang="en-US" sz="3600" noProof="0" dirty="0">
                <a:sym typeface="Symbol" pitchFamily="18" charset="2"/>
              </a:rPr>
              <a:t> </a:t>
            </a:r>
            <a:r>
              <a:rPr lang="en-US" sz="3600" i="1" noProof="0" dirty="0">
                <a:sym typeface="Symbol" pitchFamily="18" charset="2"/>
              </a:rPr>
              <a:t>q   </a:t>
            </a:r>
            <a:r>
              <a:rPr lang="en-US" sz="3600" noProof="0" dirty="0">
                <a:sym typeface="Symbol" pitchFamily="18" charset="2"/>
              </a:rPr>
              <a:t>:</a:t>
            </a:r>
            <a:endParaRPr lang="en-US" sz="3600" noProof="0" dirty="0"/>
          </a:p>
        </p:txBody>
      </p:sp>
      <p:sp>
        <p:nvSpPr>
          <p:cNvPr id="6" name="Oval 5"/>
          <p:cNvSpPr/>
          <p:nvPr/>
        </p:nvSpPr>
        <p:spPr>
          <a:xfrm>
            <a:off x="4487863" y="2328863"/>
            <a:ext cx="304800" cy="2936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7" name="Oval 6"/>
          <p:cNvSpPr/>
          <p:nvPr/>
        </p:nvSpPr>
        <p:spPr>
          <a:xfrm>
            <a:off x="5924550" y="2317750"/>
            <a:ext cx="304800" cy="295275"/>
          </a:xfrm>
          <a:prstGeom prst="ellipse">
            <a:avLst/>
          </a:prstGeom>
          <a:solidFill>
            <a:schemeClr val="accent1"/>
          </a:solidFill>
          <a:ln w="76200" cmpd="dbl">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9" name="Straight Arrow Connector 8"/>
          <p:cNvCxnSpPr>
            <a:stCxn id="6" idx="6"/>
            <a:endCxn id="7" idx="2"/>
          </p:cNvCxnSpPr>
          <p:nvPr/>
        </p:nvCxnSpPr>
        <p:spPr>
          <a:xfrm flipV="1">
            <a:off x="4792663" y="2465388"/>
            <a:ext cx="1131887" cy="111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0" name="Curved Connector 24"/>
          <p:cNvCxnSpPr>
            <a:stCxn id="7" idx="4"/>
            <a:endCxn id="7" idx="0"/>
          </p:cNvCxnSpPr>
          <p:nvPr/>
        </p:nvCxnSpPr>
        <p:spPr>
          <a:xfrm rot="5400000" flipH="1">
            <a:off x="5930900" y="2465388"/>
            <a:ext cx="293687" cy="1588"/>
          </a:xfrm>
          <a:prstGeom prst="curvedConnector5">
            <a:avLst>
              <a:gd name="adj1" fmla="val -77778"/>
              <a:gd name="adj2" fmla="val -34960401"/>
              <a:gd name="adj3" fmla="val 177778"/>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1" name="Straight Arrow Connector 10"/>
          <p:cNvCxnSpPr/>
          <p:nvPr/>
        </p:nvCxnSpPr>
        <p:spPr>
          <a:xfrm rot="5400000">
            <a:off x="4553744" y="1883569"/>
            <a:ext cx="565150" cy="2174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922" name="TextBox 39"/>
          <p:cNvSpPr txBox="1">
            <a:spLocks noChangeArrowheads="1"/>
          </p:cNvSpPr>
          <p:nvPr/>
        </p:nvSpPr>
        <p:spPr bwMode="auto">
          <a:xfrm>
            <a:off x="3540125" y="2427288"/>
            <a:ext cx="558800" cy="461962"/>
          </a:xfrm>
          <a:prstGeom prst="rect">
            <a:avLst/>
          </a:prstGeom>
          <a:noFill/>
          <a:ln w="9525">
            <a:noFill/>
            <a:miter lim="800000"/>
            <a:headEnd/>
            <a:tailEnd/>
          </a:ln>
        </p:spPr>
        <p:txBody>
          <a:bodyPr wrap="none">
            <a:spAutoFit/>
          </a:bodyPr>
          <a:lstStyle/>
          <a:p>
            <a:r>
              <a:rPr lang="en-US" i="1" noProof="0" dirty="0">
                <a:sym typeface="Symbol" pitchFamily="18" charset="2"/>
              </a:rPr>
              <a:t>p</a:t>
            </a:r>
            <a:r>
              <a:rPr lang="en-US" noProof="0" dirty="0">
                <a:sym typeface="Symbol" pitchFamily="18" charset="2"/>
              </a:rPr>
              <a:t></a:t>
            </a:r>
            <a:endParaRPr lang="en-US" noProof="0" dirty="0"/>
          </a:p>
        </p:txBody>
      </p:sp>
      <p:sp>
        <p:nvSpPr>
          <p:cNvPr id="38923" name="TextBox 41"/>
          <p:cNvSpPr txBox="1">
            <a:spLocks noChangeArrowheads="1"/>
          </p:cNvSpPr>
          <p:nvPr/>
        </p:nvSpPr>
        <p:spPr bwMode="auto">
          <a:xfrm>
            <a:off x="6589713" y="2252663"/>
            <a:ext cx="338137" cy="461962"/>
          </a:xfrm>
          <a:prstGeom prst="rect">
            <a:avLst/>
          </a:prstGeom>
          <a:noFill/>
          <a:ln w="9525">
            <a:noFill/>
            <a:miter lim="800000"/>
            <a:headEnd/>
            <a:tailEnd/>
          </a:ln>
        </p:spPr>
        <p:txBody>
          <a:bodyPr wrap="none">
            <a:spAutoFit/>
          </a:bodyPr>
          <a:lstStyle/>
          <a:p>
            <a:r>
              <a:rPr lang="en-US" noProof="0" dirty="0"/>
              <a:t>*</a:t>
            </a:r>
          </a:p>
        </p:txBody>
      </p:sp>
      <p:cxnSp>
        <p:nvCxnSpPr>
          <p:cNvPr id="18" name="Curved Connector 24"/>
          <p:cNvCxnSpPr>
            <a:stCxn id="6" idx="4"/>
            <a:endCxn id="6" idx="0"/>
          </p:cNvCxnSpPr>
          <p:nvPr/>
        </p:nvCxnSpPr>
        <p:spPr>
          <a:xfrm rot="5400000" flipH="1">
            <a:off x="4492625" y="2476500"/>
            <a:ext cx="293688" cy="1588"/>
          </a:xfrm>
          <a:prstGeom prst="curvedConnector5">
            <a:avLst>
              <a:gd name="adj1" fmla="val -77838"/>
              <a:gd name="adj2" fmla="val 38387921"/>
              <a:gd name="adj3" fmla="val 177838"/>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8925" name="TextBox 39"/>
          <p:cNvSpPr txBox="1">
            <a:spLocks noChangeArrowheads="1"/>
          </p:cNvSpPr>
          <p:nvPr/>
        </p:nvSpPr>
        <p:spPr bwMode="auto">
          <a:xfrm>
            <a:off x="5010150" y="2012950"/>
            <a:ext cx="558800" cy="461963"/>
          </a:xfrm>
          <a:prstGeom prst="rect">
            <a:avLst/>
          </a:prstGeom>
          <a:noFill/>
          <a:ln w="9525">
            <a:noFill/>
            <a:miter lim="800000"/>
            <a:headEnd/>
            <a:tailEnd/>
          </a:ln>
        </p:spPr>
        <p:txBody>
          <a:bodyPr wrap="none">
            <a:spAutoFit/>
          </a:bodyPr>
          <a:lstStyle/>
          <a:p>
            <a:r>
              <a:rPr lang="en-US" i="1" noProof="0" dirty="0">
                <a:sym typeface="Symbol" pitchFamily="18" charset="2"/>
              </a:rPr>
              <a:t>q</a:t>
            </a:r>
            <a:r>
              <a:rPr lang="en-US" noProof="0" dirty="0">
                <a:sym typeface="Symbol" pitchFamily="18" charset="2"/>
              </a:rPr>
              <a:t></a:t>
            </a:r>
            <a:endParaRPr lang="en-US" noProof="0" dirty="0"/>
          </a:p>
        </p:txBody>
      </p:sp>
      <p:sp>
        <p:nvSpPr>
          <p:cNvPr id="38926" name="TextBox 4"/>
          <p:cNvSpPr txBox="1">
            <a:spLocks noChangeArrowheads="1"/>
          </p:cNvSpPr>
          <p:nvPr/>
        </p:nvSpPr>
        <p:spPr bwMode="auto">
          <a:xfrm>
            <a:off x="719138" y="4616450"/>
            <a:ext cx="2365375" cy="646113"/>
          </a:xfrm>
          <a:prstGeom prst="rect">
            <a:avLst/>
          </a:prstGeom>
          <a:noFill/>
          <a:ln w="9525">
            <a:noFill/>
            <a:miter lim="800000"/>
            <a:headEnd/>
            <a:tailEnd/>
          </a:ln>
        </p:spPr>
        <p:txBody>
          <a:bodyPr wrap="none">
            <a:spAutoFit/>
          </a:bodyPr>
          <a:lstStyle/>
          <a:p>
            <a:r>
              <a:rPr lang="en-US" sz="3600" noProof="0" dirty="0">
                <a:sym typeface="Symbol" pitchFamily="18" charset="2"/>
              </a:rPr>
              <a:t> </a:t>
            </a:r>
            <a:r>
              <a:rPr lang="en-US" sz="3600" i="1" noProof="0" dirty="0">
                <a:sym typeface="Symbol" pitchFamily="18" charset="2"/>
              </a:rPr>
              <a:t>p</a:t>
            </a:r>
            <a:r>
              <a:rPr lang="en-US" sz="3600" noProof="0" dirty="0">
                <a:sym typeface="Symbol" pitchFamily="18" charset="2"/>
              </a:rPr>
              <a:t>  </a:t>
            </a:r>
            <a:r>
              <a:rPr lang="en-US" sz="3600" noProof="0" dirty="0">
                <a:solidFill>
                  <a:srgbClr val="C00000"/>
                </a:solidFill>
                <a:sym typeface="Symbol" pitchFamily="18" charset="2"/>
              </a:rPr>
              <a:t>U</a:t>
            </a:r>
            <a:r>
              <a:rPr lang="en-US" sz="3600" noProof="0" dirty="0">
                <a:sym typeface="Symbol" pitchFamily="18" charset="2"/>
              </a:rPr>
              <a:t>  </a:t>
            </a:r>
            <a:r>
              <a:rPr lang="en-US" sz="3600" noProof="0" dirty="0" err="1">
                <a:solidFill>
                  <a:srgbClr val="C00000"/>
                </a:solidFill>
                <a:sym typeface="Symbol" pitchFamily="18" charset="2"/>
              </a:rPr>
              <a:t>X</a:t>
            </a:r>
            <a:r>
              <a:rPr lang="en-US" sz="3600" i="1" noProof="0" dirty="0" err="1">
                <a:sym typeface="Symbol" pitchFamily="18" charset="2"/>
              </a:rPr>
              <a:t>q</a:t>
            </a:r>
            <a:r>
              <a:rPr lang="en-US" sz="3600" i="1" noProof="0" dirty="0">
                <a:sym typeface="Symbol" pitchFamily="18" charset="2"/>
              </a:rPr>
              <a:t>   </a:t>
            </a:r>
            <a:r>
              <a:rPr lang="en-US" sz="3600" noProof="0" dirty="0">
                <a:sym typeface="Symbol" pitchFamily="18" charset="2"/>
              </a:rPr>
              <a:t>:</a:t>
            </a:r>
            <a:endParaRPr lang="en-US" sz="3600" i="1" noProof="0" dirty="0"/>
          </a:p>
        </p:txBody>
      </p:sp>
      <p:sp>
        <p:nvSpPr>
          <p:cNvPr id="30" name="Oval 29"/>
          <p:cNvSpPr/>
          <p:nvPr/>
        </p:nvSpPr>
        <p:spPr>
          <a:xfrm>
            <a:off x="4552950" y="4919663"/>
            <a:ext cx="304800" cy="2936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31" name="Oval 30"/>
          <p:cNvSpPr/>
          <p:nvPr/>
        </p:nvSpPr>
        <p:spPr>
          <a:xfrm>
            <a:off x="6881813" y="4919663"/>
            <a:ext cx="304800" cy="295275"/>
          </a:xfrm>
          <a:prstGeom prst="ellipse">
            <a:avLst/>
          </a:prstGeom>
          <a:solidFill>
            <a:schemeClr val="accent1"/>
          </a:solidFill>
          <a:ln w="76200" cmpd="dbl">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32" name="Straight Arrow Connector 31"/>
          <p:cNvCxnSpPr>
            <a:stCxn id="30" idx="6"/>
            <a:endCxn id="41" idx="2"/>
          </p:cNvCxnSpPr>
          <p:nvPr/>
        </p:nvCxnSpPr>
        <p:spPr>
          <a:xfrm>
            <a:off x="4857750" y="5067300"/>
            <a:ext cx="869950"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3" name="Curved Connector 24"/>
          <p:cNvCxnSpPr>
            <a:stCxn id="31" idx="4"/>
            <a:endCxn id="31" idx="0"/>
          </p:cNvCxnSpPr>
          <p:nvPr/>
        </p:nvCxnSpPr>
        <p:spPr>
          <a:xfrm rot="5400000" flipH="1">
            <a:off x="6887369" y="5066507"/>
            <a:ext cx="295275" cy="1587"/>
          </a:xfrm>
          <a:prstGeom prst="curvedConnector5">
            <a:avLst>
              <a:gd name="adj1" fmla="val -77419"/>
              <a:gd name="adj2" fmla="val -32218587"/>
              <a:gd name="adj3" fmla="val 177419"/>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4" name="Straight Arrow Connector 33"/>
          <p:cNvCxnSpPr/>
          <p:nvPr/>
        </p:nvCxnSpPr>
        <p:spPr>
          <a:xfrm rot="5400000">
            <a:off x="4618832" y="4474369"/>
            <a:ext cx="565150" cy="2174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932" name="TextBox 39"/>
          <p:cNvSpPr txBox="1">
            <a:spLocks noChangeArrowheads="1"/>
          </p:cNvSpPr>
          <p:nvPr/>
        </p:nvSpPr>
        <p:spPr bwMode="auto">
          <a:xfrm>
            <a:off x="3606800" y="5018088"/>
            <a:ext cx="557213" cy="461962"/>
          </a:xfrm>
          <a:prstGeom prst="rect">
            <a:avLst/>
          </a:prstGeom>
          <a:noFill/>
          <a:ln w="9525">
            <a:noFill/>
            <a:miter lim="800000"/>
            <a:headEnd/>
            <a:tailEnd/>
          </a:ln>
        </p:spPr>
        <p:txBody>
          <a:bodyPr wrap="none">
            <a:spAutoFit/>
          </a:bodyPr>
          <a:lstStyle/>
          <a:p>
            <a:r>
              <a:rPr lang="en-US" i="1" noProof="0" dirty="0">
                <a:sym typeface="Symbol" pitchFamily="18" charset="2"/>
              </a:rPr>
              <a:t>p</a:t>
            </a:r>
            <a:r>
              <a:rPr lang="en-US" noProof="0" dirty="0">
                <a:sym typeface="Symbol" pitchFamily="18" charset="2"/>
              </a:rPr>
              <a:t></a:t>
            </a:r>
            <a:endParaRPr lang="en-US" noProof="0" dirty="0"/>
          </a:p>
        </p:txBody>
      </p:sp>
      <p:sp>
        <p:nvSpPr>
          <p:cNvPr id="38933" name="TextBox 41"/>
          <p:cNvSpPr txBox="1">
            <a:spLocks noChangeArrowheads="1"/>
          </p:cNvSpPr>
          <p:nvPr/>
        </p:nvSpPr>
        <p:spPr bwMode="auto">
          <a:xfrm flipH="1">
            <a:off x="5141913" y="4713288"/>
            <a:ext cx="292100" cy="461962"/>
          </a:xfrm>
          <a:prstGeom prst="rect">
            <a:avLst/>
          </a:prstGeom>
          <a:noFill/>
          <a:ln w="9525">
            <a:noFill/>
            <a:miter lim="800000"/>
            <a:headEnd/>
            <a:tailEnd/>
          </a:ln>
        </p:spPr>
        <p:txBody>
          <a:bodyPr>
            <a:spAutoFit/>
          </a:bodyPr>
          <a:lstStyle/>
          <a:p>
            <a:r>
              <a:rPr lang="en-US" noProof="0" dirty="0"/>
              <a:t>*</a:t>
            </a:r>
          </a:p>
        </p:txBody>
      </p:sp>
      <p:cxnSp>
        <p:nvCxnSpPr>
          <p:cNvPr id="37" name="Curved Connector 24"/>
          <p:cNvCxnSpPr>
            <a:stCxn id="30" idx="4"/>
            <a:endCxn id="30" idx="0"/>
          </p:cNvCxnSpPr>
          <p:nvPr/>
        </p:nvCxnSpPr>
        <p:spPr>
          <a:xfrm rot="5400000" flipH="1">
            <a:off x="4557713" y="5067300"/>
            <a:ext cx="293688" cy="1587"/>
          </a:xfrm>
          <a:prstGeom prst="curvedConnector5">
            <a:avLst>
              <a:gd name="adj1" fmla="val -77838"/>
              <a:gd name="adj2" fmla="val 38387921"/>
              <a:gd name="adj3" fmla="val 177838"/>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8935" name="TextBox 39"/>
          <p:cNvSpPr txBox="1">
            <a:spLocks noChangeArrowheads="1"/>
          </p:cNvSpPr>
          <p:nvPr/>
        </p:nvSpPr>
        <p:spPr bwMode="auto">
          <a:xfrm>
            <a:off x="6099175" y="4603750"/>
            <a:ext cx="558800" cy="461963"/>
          </a:xfrm>
          <a:prstGeom prst="rect">
            <a:avLst/>
          </a:prstGeom>
          <a:noFill/>
          <a:ln w="9525">
            <a:noFill/>
            <a:miter lim="800000"/>
            <a:headEnd/>
            <a:tailEnd/>
          </a:ln>
        </p:spPr>
        <p:txBody>
          <a:bodyPr wrap="none">
            <a:spAutoFit/>
          </a:bodyPr>
          <a:lstStyle/>
          <a:p>
            <a:r>
              <a:rPr lang="en-US" i="1" noProof="0" dirty="0">
                <a:sym typeface="Symbol" pitchFamily="18" charset="2"/>
              </a:rPr>
              <a:t>q</a:t>
            </a:r>
            <a:r>
              <a:rPr lang="en-US" noProof="0" dirty="0">
                <a:sym typeface="Symbol" pitchFamily="18" charset="2"/>
              </a:rPr>
              <a:t></a:t>
            </a:r>
          </a:p>
        </p:txBody>
      </p:sp>
      <p:sp>
        <p:nvSpPr>
          <p:cNvPr id="41" name="Oval 40"/>
          <p:cNvSpPr/>
          <p:nvPr/>
        </p:nvSpPr>
        <p:spPr>
          <a:xfrm>
            <a:off x="5727700" y="4919663"/>
            <a:ext cx="304800" cy="2936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46" name="Straight Arrow Connector 45"/>
          <p:cNvCxnSpPr>
            <a:stCxn id="41" idx="6"/>
            <a:endCxn id="31" idx="2"/>
          </p:cNvCxnSpPr>
          <p:nvPr/>
        </p:nvCxnSpPr>
        <p:spPr>
          <a:xfrm>
            <a:off x="6032500" y="5067300"/>
            <a:ext cx="849313"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8938" name="TextBox 41"/>
          <p:cNvSpPr txBox="1">
            <a:spLocks noChangeArrowheads="1"/>
          </p:cNvSpPr>
          <p:nvPr/>
        </p:nvSpPr>
        <p:spPr bwMode="auto">
          <a:xfrm>
            <a:off x="7569200" y="4778375"/>
            <a:ext cx="338138" cy="461963"/>
          </a:xfrm>
          <a:prstGeom prst="rect">
            <a:avLst/>
          </a:prstGeom>
          <a:noFill/>
          <a:ln w="9525">
            <a:noFill/>
            <a:miter lim="800000"/>
            <a:headEnd/>
            <a:tailEnd/>
          </a:ln>
        </p:spPr>
        <p:txBody>
          <a:bodyPr wrap="none">
            <a:spAutoFit/>
          </a:bodyPr>
          <a:lstStyle/>
          <a:p>
            <a:r>
              <a:rPr lang="en-US" noProof="0"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5"/>
          <p:cNvSpPr>
            <a:spLocks noGrp="1"/>
          </p:cNvSpPr>
          <p:nvPr>
            <p:ph type="title"/>
          </p:nvPr>
        </p:nvSpPr>
        <p:spPr>
          <a:xfrm>
            <a:off x="500063" y="274638"/>
            <a:ext cx="8358187" cy="796925"/>
          </a:xfrm>
        </p:spPr>
        <p:txBody>
          <a:bodyPr/>
          <a:lstStyle/>
          <a:p>
            <a:pPr eaLnBrk="1" hangingPunct="1"/>
            <a:r>
              <a:rPr lang="en-US" noProof="0" dirty="0">
                <a:cs typeface="Arial" charset="0"/>
              </a:rPr>
              <a:t>Not Until</a:t>
            </a:r>
          </a:p>
        </p:txBody>
      </p:sp>
      <p:sp>
        <p:nvSpPr>
          <p:cNvPr id="16" name="Tijdelijke aanduiding voor dianummer 15"/>
          <p:cNvSpPr>
            <a:spLocks noGrp="1"/>
          </p:cNvSpPr>
          <p:nvPr>
            <p:ph type="sldNum" sz="quarter" idx="12"/>
          </p:nvPr>
        </p:nvSpPr>
        <p:spPr/>
        <p:txBody>
          <a:bodyPr/>
          <a:lstStyle/>
          <a:p>
            <a:pPr>
              <a:defRPr/>
            </a:pPr>
            <a:fld id="{C179DBC9-1811-4A03-828E-AC38B14FE97B}" type="slidenum">
              <a:rPr lang="en-US" noProof="0"/>
              <a:pPr>
                <a:defRPr/>
              </a:pPr>
              <a:t>34</a:t>
            </a:fld>
            <a:endParaRPr lang="en-US" noProof="0" dirty="0"/>
          </a:p>
        </p:txBody>
      </p:sp>
      <p:sp>
        <p:nvSpPr>
          <p:cNvPr id="39940" name="TextBox 4"/>
          <p:cNvSpPr txBox="1">
            <a:spLocks noChangeArrowheads="1"/>
          </p:cNvSpPr>
          <p:nvPr/>
        </p:nvSpPr>
        <p:spPr bwMode="auto">
          <a:xfrm>
            <a:off x="708025" y="1527175"/>
            <a:ext cx="3781425" cy="584200"/>
          </a:xfrm>
          <a:prstGeom prst="rect">
            <a:avLst/>
          </a:prstGeom>
          <a:noFill/>
          <a:ln w="9525">
            <a:noFill/>
            <a:miter lim="800000"/>
            <a:headEnd/>
            <a:tailEnd/>
          </a:ln>
        </p:spPr>
        <p:txBody>
          <a:bodyPr wrap="none">
            <a:spAutoFit/>
          </a:bodyPr>
          <a:lstStyle/>
          <a:p>
            <a:r>
              <a:rPr lang="en-US" sz="3200" noProof="0" dirty="0">
                <a:sym typeface="Symbol" pitchFamily="18" charset="2"/>
              </a:rPr>
              <a:t>Formula:   ( </a:t>
            </a:r>
            <a:r>
              <a:rPr lang="en-US" sz="3200" i="1" noProof="0" dirty="0">
                <a:sym typeface="Symbol" pitchFamily="18" charset="2"/>
              </a:rPr>
              <a:t>p </a:t>
            </a:r>
            <a:r>
              <a:rPr lang="en-US" sz="3200" noProof="0" dirty="0">
                <a:sym typeface="Symbol" pitchFamily="18" charset="2"/>
              </a:rPr>
              <a:t> </a:t>
            </a:r>
            <a:r>
              <a:rPr lang="en-US" sz="3200" noProof="0" dirty="0">
                <a:solidFill>
                  <a:srgbClr val="C00000"/>
                </a:solidFill>
                <a:sym typeface="Symbol" pitchFamily="18" charset="2"/>
              </a:rPr>
              <a:t>U</a:t>
            </a:r>
            <a:r>
              <a:rPr lang="en-US" sz="3200" noProof="0" dirty="0">
                <a:sym typeface="Symbol" pitchFamily="18" charset="2"/>
              </a:rPr>
              <a:t> </a:t>
            </a:r>
            <a:r>
              <a:rPr lang="en-US" sz="3200" i="1" noProof="0" dirty="0">
                <a:sym typeface="Symbol" pitchFamily="18" charset="2"/>
              </a:rPr>
              <a:t>q </a:t>
            </a:r>
            <a:r>
              <a:rPr lang="en-US" sz="3200" noProof="0" dirty="0">
                <a:sym typeface="Symbol" pitchFamily="18" charset="2"/>
              </a:rPr>
              <a:t>)</a:t>
            </a:r>
            <a:endParaRPr lang="en-US" sz="3200" noProof="0" dirty="0"/>
          </a:p>
        </p:txBody>
      </p:sp>
      <p:sp>
        <p:nvSpPr>
          <p:cNvPr id="11" name="Oval 10"/>
          <p:cNvSpPr/>
          <p:nvPr/>
        </p:nvSpPr>
        <p:spPr>
          <a:xfrm>
            <a:off x="3656013" y="5632450"/>
            <a:ext cx="304800" cy="295275"/>
          </a:xfrm>
          <a:prstGeom prst="ellipse">
            <a:avLst/>
          </a:prstGeom>
          <a:solidFill>
            <a:schemeClr val="accent1"/>
          </a:solidFill>
          <a:ln w="76200" cmpd="dbl">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sp>
        <p:nvSpPr>
          <p:cNvPr id="12" name="Oval 11"/>
          <p:cNvSpPr/>
          <p:nvPr/>
        </p:nvSpPr>
        <p:spPr>
          <a:xfrm>
            <a:off x="5092700" y="5622925"/>
            <a:ext cx="304800" cy="293688"/>
          </a:xfrm>
          <a:prstGeom prst="ellipse">
            <a:avLst/>
          </a:prstGeom>
          <a:solidFill>
            <a:schemeClr val="accent1"/>
          </a:solidFill>
          <a:ln w="76200" cmpd="dbl">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noProof="0" dirty="0"/>
          </a:p>
        </p:txBody>
      </p:sp>
      <p:cxnSp>
        <p:nvCxnSpPr>
          <p:cNvPr id="15" name="Straight Arrow Connector 14"/>
          <p:cNvCxnSpPr>
            <a:stCxn id="11" idx="6"/>
            <a:endCxn id="12" idx="2"/>
          </p:cNvCxnSpPr>
          <p:nvPr/>
        </p:nvCxnSpPr>
        <p:spPr>
          <a:xfrm flipV="1">
            <a:off x="3960813" y="5768975"/>
            <a:ext cx="1131887" cy="11113"/>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7" name="Curved Connector 24"/>
          <p:cNvCxnSpPr>
            <a:stCxn id="12" idx="4"/>
            <a:endCxn id="12" idx="0"/>
          </p:cNvCxnSpPr>
          <p:nvPr/>
        </p:nvCxnSpPr>
        <p:spPr>
          <a:xfrm rot="5400000" flipH="1">
            <a:off x="5097463" y="5768975"/>
            <a:ext cx="293688" cy="1587"/>
          </a:xfrm>
          <a:prstGeom prst="curvedConnector5">
            <a:avLst>
              <a:gd name="adj1" fmla="val -77778"/>
              <a:gd name="adj2" fmla="val -34960401"/>
              <a:gd name="adj3" fmla="val 177778"/>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rot="5400000">
            <a:off x="3835400" y="5322888"/>
            <a:ext cx="293687" cy="2174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9946" name="TextBox 20"/>
          <p:cNvSpPr txBox="1">
            <a:spLocks noChangeArrowheads="1"/>
          </p:cNvSpPr>
          <p:nvPr/>
        </p:nvSpPr>
        <p:spPr bwMode="auto">
          <a:xfrm>
            <a:off x="4210050" y="5327650"/>
            <a:ext cx="788988" cy="461963"/>
          </a:xfrm>
          <a:prstGeom prst="rect">
            <a:avLst/>
          </a:prstGeom>
          <a:noFill/>
          <a:ln w="9525">
            <a:noFill/>
            <a:miter lim="800000"/>
            <a:headEnd/>
            <a:tailEnd/>
          </a:ln>
        </p:spPr>
        <p:txBody>
          <a:bodyPr wrap="none">
            <a:spAutoFit/>
          </a:bodyPr>
          <a:lstStyle/>
          <a:p>
            <a:r>
              <a:rPr lang="en-US" i="1" noProof="0" dirty="0" err="1">
                <a:sym typeface="Symbol" pitchFamily="18" charset="2"/>
              </a:rPr>
              <a:t>p,q</a:t>
            </a:r>
            <a:r>
              <a:rPr lang="en-US" noProof="0" dirty="0">
                <a:sym typeface="Symbol" pitchFamily="18" charset="2"/>
              </a:rPr>
              <a:t></a:t>
            </a:r>
            <a:endParaRPr lang="en-US" noProof="0" dirty="0"/>
          </a:p>
        </p:txBody>
      </p:sp>
      <p:sp>
        <p:nvSpPr>
          <p:cNvPr id="39947" name="TextBox 22"/>
          <p:cNvSpPr txBox="1">
            <a:spLocks noChangeArrowheads="1"/>
          </p:cNvSpPr>
          <p:nvPr/>
        </p:nvSpPr>
        <p:spPr bwMode="auto">
          <a:xfrm>
            <a:off x="5756275" y="5556250"/>
            <a:ext cx="338138" cy="461963"/>
          </a:xfrm>
          <a:prstGeom prst="rect">
            <a:avLst/>
          </a:prstGeom>
          <a:noFill/>
          <a:ln w="9525">
            <a:noFill/>
            <a:miter lim="800000"/>
            <a:headEnd/>
            <a:tailEnd/>
          </a:ln>
        </p:spPr>
        <p:txBody>
          <a:bodyPr wrap="none">
            <a:spAutoFit/>
          </a:bodyPr>
          <a:lstStyle/>
          <a:p>
            <a:r>
              <a:rPr lang="en-US" noProof="0" dirty="0"/>
              <a:t>*</a:t>
            </a:r>
          </a:p>
        </p:txBody>
      </p:sp>
      <p:cxnSp>
        <p:nvCxnSpPr>
          <p:cNvPr id="27" name="Curved Connector 24"/>
          <p:cNvCxnSpPr>
            <a:stCxn id="11" idx="3"/>
            <a:endCxn id="11" idx="1"/>
          </p:cNvCxnSpPr>
          <p:nvPr/>
        </p:nvCxnSpPr>
        <p:spPr>
          <a:xfrm rot="5400000" flipH="1">
            <a:off x="3595687" y="5780088"/>
            <a:ext cx="207963" cy="1588"/>
          </a:xfrm>
          <a:prstGeom prst="curvedConnector5">
            <a:avLst>
              <a:gd name="adj1" fmla="val -109995"/>
              <a:gd name="adj2" fmla="val 43803036"/>
              <a:gd name="adj3" fmla="val 209995"/>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9949" name="TextBox 31"/>
          <p:cNvSpPr txBox="1">
            <a:spLocks noChangeArrowheads="1"/>
          </p:cNvSpPr>
          <p:nvPr/>
        </p:nvSpPr>
        <p:spPr bwMode="auto">
          <a:xfrm>
            <a:off x="2433638" y="5418138"/>
            <a:ext cx="685800" cy="830262"/>
          </a:xfrm>
          <a:prstGeom prst="rect">
            <a:avLst/>
          </a:prstGeom>
          <a:noFill/>
          <a:ln w="9525">
            <a:noFill/>
            <a:miter lim="800000"/>
            <a:headEnd/>
            <a:tailEnd/>
          </a:ln>
        </p:spPr>
        <p:txBody>
          <a:bodyPr>
            <a:spAutoFit/>
          </a:bodyPr>
          <a:lstStyle/>
          <a:p>
            <a:r>
              <a:rPr lang="en-US" i="1" noProof="0" dirty="0">
                <a:sym typeface="Symbol" pitchFamily="18" charset="2"/>
              </a:rPr>
              <a:t>p</a:t>
            </a:r>
            <a:br>
              <a:rPr lang="en-US" i="1" noProof="0" dirty="0">
                <a:sym typeface="Symbol" pitchFamily="18" charset="2"/>
              </a:rPr>
            </a:br>
            <a:r>
              <a:rPr lang="en-US" i="1" noProof="0" dirty="0">
                <a:sym typeface="Symbol" pitchFamily="18" charset="2"/>
              </a:rPr>
              <a:t>q</a:t>
            </a:r>
            <a:r>
              <a:rPr lang="en-US" noProof="0" dirty="0">
                <a:sym typeface="Symbol" pitchFamily="18" charset="2"/>
              </a:rPr>
              <a:t></a:t>
            </a:r>
            <a:endParaRPr lang="en-US" noProof="0" dirty="0"/>
          </a:p>
        </p:txBody>
      </p:sp>
      <p:sp>
        <p:nvSpPr>
          <p:cNvPr id="39950" name="TextBox 24"/>
          <p:cNvSpPr txBox="1">
            <a:spLocks noChangeArrowheads="1"/>
          </p:cNvSpPr>
          <p:nvPr/>
        </p:nvSpPr>
        <p:spPr bwMode="auto">
          <a:xfrm>
            <a:off x="739775" y="2278063"/>
            <a:ext cx="6005513" cy="2678112"/>
          </a:xfrm>
          <a:prstGeom prst="rect">
            <a:avLst/>
          </a:prstGeom>
          <a:noFill/>
          <a:ln w="9525">
            <a:noFill/>
            <a:miter lim="800000"/>
            <a:headEnd/>
            <a:tailEnd/>
          </a:ln>
        </p:spPr>
        <p:txBody>
          <a:bodyPr wrap="none">
            <a:spAutoFit/>
          </a:bodyPr>
          <a:lstStyle/>
          <a:p>
            <a:r>
              <a:rPr lang="en-US" noProof="0" dirty="0">
                <a:latin typeface="Arial" charset="0"/>
                <a:cs typeface="Arial" charset="0"/>
                <a:sym typeface="Symbol" pitchFamily="18" charset="2"/>
              </a:rPr>
              <a:t>Note first these properties:</a:t>
            </a:r>
          </a:p>
          <a:p>
            <a:endParaRPr lang="en-US" noProof="0" dirty="0">
              <a:latin typeface="Arial" charset="0"/>
              <a:cs typeface="Arial" charset="0"/>
              <a:sym typeface="Symbol" pitchFamily="18" charset="2"/>
            </a:endParaRPr>
          </a:p>
          <a:p>
            <a:r>
              <a:rPr lang="en-US" noProof="0" dirty="0">
                <a:latin typeface="Arial" charset="0"/>
                <a:cs typeface="Arial" charset="0"/>
                <a:sym typeface="Symbol" pitchFamily="18" charset="2"/>
              </a:rPr>
              <a:t>(</a:t>
            </a:r>
            <a:r>
              <a:rPr lang="en-US" i="1" noProof="0" dirty="0">
                <a:latin typeface="Arial" charset="0"/>
                <a:cs typeface="Arial" charset="0"/>
                <a:sym typeface="Symbol" pitchFamily="18" charset="2"/>
              </a:rPr>
              <a:t>p</a:t>
            </a:r>
            <a:r>
              <a:rPr lang="en-US" noProof="0" dirty="0">
                <a:latin typeface="Arial" charset="0"/>
                <a:cs typeface="Arial" charset="0"/>
                <a:sym typeface="Symbol" pitchFamily="18" charset="2"/>
              </a:rPr>
              <a:t> </a:t>
            </a:r>
            <a:r>
              <a:rPr lang="en-US" b="1" noProof="0" dirty="0">
                <a:latin typeface="Arial" charset="0"/>
                <a:cs typeface="Arial" charset="0"/>
                <a:sym typeface="Symbol" pitchFamily="18" charset="2"/>
              </a:rPr>
              <a:t>U</a:t>
            </a:r>
            <a:r>
              <a:rPr lang="en-US" noProof="0" dirty="0">
                <a:latin typeface="Arial" charset="0"/>
                <a:cs typeface="Arial" charset="0"/>
                <a:sym typeface="Symbol" pitchFamily="18" charset="2"/>
              </a:rPr>
              <a:t> </a:t>
            </a:r>
            <a:r>
              <a:rPr lang="en-US" i="1" noProof="0" dirty="0">
                <a:latin typeface="Arial" charset="0"/>
                <a:cs typeface="Arial" charset="0"/>
                <a:sym typeface="Symbol" pitchFamily="18" charset="2"/>
              </a:rPr>
              <a:t>q</a:t>
            </a:r>
            <a:r>
              <a:rPr lang="en-US" noProof="0" dirty="0">
                <a:latin typeface="Arial" charset="0"/>
                <a:cs typeface="Arial" charset="0"/>
                <a:sym typeface="Symbol" pitchFamily="18" charset="2"/>
              </a:rPr>
              <a:t>)          =   </a:t>
            </a:r>
            <a:r>
              <a:rPr lang="en-US" i="1" noProof="0" dirty="0">
                <a:latin typeface="Arial" charset="0"/>
                <a:cs typeface="Arial" charset="0"/>
                <a:sym typeface="Symbol" pitchFamily="18" charset="2"/>
              </a:rPr>
              <a:t>p</a:t>
            </a:r>
            <a:r>
              <a:rPr lang="en-US" noProof="0" dirty="0">
                <a:latin typeface="Arial" charset="0"/>
                <a:cs typeface="Arial" charset="0"/>
                <a:sym typeface="Symbol" pitchFamily="18" charset="2"/>
              </a:rPr>
              <a:t> /\ </a:t>
            </a:r>
            <a:r>
              <a:rPr lang="en-US" i="1" noProof="0" dirty="0">
                <a:latin typeface="Arial" charset="0"/>
                <a:cs typeface="Arial" charset="0"/>
                <a:sym typeface="Symbol" pitchFamily="18" charset="2"/>
              </a:rPr>
              <a:t>q</a:t>
            </a:r>
            <a:r>
              <a:rPr lang="en-US" noProof="0" dirty="0">
                <a:latin typeface="Arial" charset="0"/>
                <a:cs typeface="Arial" charset="0"/>
                <a:sym typeface="Symbol" pitchFamily="18" charset="2"/>
              </a:rPr>
              <a:t>  </a:t>
            </a:r>
            <a:r>
              <a:rPr lang="en-US" b="1" noProof="0" dirty="0">
                <a:latin typeface="Arial" charset="0"/>
                <a:cs typeface="Arial" charset="0"/>
                <a:sym typeface="Symbol" pitchFamily="18" charset="2"/>
              </a:rPr>
              <a:t>W</a:t>
            </a:r>
            <a:r>
              <a:rPr lang="en-US" noProof="0" dirty="0">
                <a:latin typeface="Arial" charset="0"/>
                <a:cs typeface="Arial" charset="0"/>
                <a:sym typeface="Symbol" pitchFamily="18" charset="2"/>
              </a:rPr>
              <a:t>  </a:t>
            </a:r>
            <a:r>
              <a:rPr lang="en-US" i="1" noProof="0" dirty="0">
                <a:latin typeface="Arial" charset="0"/>
                <a:cs typeface="Arial" charset="0"/>
                <a:sym typeface="Symbol" pitchFamily="18" charset="2"/>
              </a:rPr>
              <a:t>p</a:t>
            </a:r>
            <a:r>
              <a:rPr lang="en-US" noProof="0" dirty="0">
                <a:latin typeface="Arial" charset="0"/>
                <a:cs typeface="Arial" charset="0"/>
                <a:sym typeface="Symbol" pitchFamily="18" charset="2"/>
              </a:rPr>
              <a:t> /\ </a:t>
            </a:r>
            <a:r>
              <a:rPr lang="en-US" i="1" noProof="0" dirty="0">
                <a:latin typeface="Arial" charset="0"/>
                <a:cs typeface="Arial" charset="0"/>
                <a:sym typeface="Symbol" pitchFamily="18" charset="2"/>
              </a:rPr>
              <a:t>q</a:t>
            </a:r>
          </a:p>
          <a:p>
            <a:endParaRPr lang="en-US" noProof="0" dirty="0">
              <a:latin typeface="Arial" charset="0"/>
              <a:cs typeface="Arial" charset="0"/>
              <a:sym typeface="Symbol" pitchFamily="18" charset="2"/>
            </a:endParaRPr>
          </a:p>
          <a:p>
            <a:r>
              <a:rPr lang="en-US" noProof="0" dirty="0">
                <a:latin typeface="Arial" charset="0"/>
                <a:cs typeface="Arial" charset="0"/>
                <a:sym typeface="Symbol" pitchFamily="18" charset="2"/>
              </a:rPr>
              <a:t>(</a:t>
            </a:r>
            <a:r>
              <a:rPr lang="en-US" i="1" noProof="0" dirty="0">
                <a:latin typeface="Arial" charset="0"/>
                <a:cs typeface="Arial" charset="0"/>
                <a:sym typeface="Symbol" pitchFamily="18" charset="2"/>
              </a:rPr>
              <a:t>p</a:t>
            </a:r>
            <a:r>
              <a:rPr lang="en-US" noProof="0" dirty="0">
                <a:latin typeface="Arial" charset="0"/>
                <a:cs typeface="Arial" charset="0"/>
                <a:sym typeface="Symbol" pitchFamily="18" charset="2"/>
              </a:rPr>
              <a:t>  </a:t>
            </a:r>
            <a:r>
              <a:rPr lang="en-US" b="1" noProof="0" dirty="0">
                <a:latin typeface="Arial" charset="0"/>
                <a:cs typeface="Arial" charset="0"/>
                <a:sym typeface="Symbol" pitchFamily="18" charset="2"/>
              </a:rPr>
              <a:t>W</a:t>
            </a:r>
            <a:r>
              <a:rPr lang="en-US" noProof="0" dirty="0">
                <a:latin typeface="Arial" charset="0"/>
                <a:cs typeface="Arial" charset="0"/>
                <a:sym typeface="Symbol" pitchFamily="18" charset="2"/>
              </a:rPr>
              <a:t>  </a:t>
            </a:r>
            <a:r>
              <a:rPr lang="en-US" i="1" noProof="0" dirty="0">
                <a:latin typeface="Arial" charset="0"/>
                <a:cs typeface="Arial" charset="0"/>
                <a:sym typeface="Symbol" pitchFamily="18" charset="2"/>
              </a:rPr>
              <a:t>q</a:t>
            </a:r>
            <a:r>
              <a:rPr lang="en-US" noProof="0" dirty="0">
                <a:latin typeface="Arial" charset="0"/>
                <a:cs typeface="Arial" charset="0"/>
                <a:sym typeface="Symbol" pitchFamily="18" charset="2"/>
              </a:rPr>
              <a:t>)       =    </a:t>
            </a:r>
            <a:r>
              <a:rPr lang="en-US" i="1" noProof="0" dirty="0">
                <a:latin typeface="Arial" charset="0"/>
                <a:cs typeface="Arial" charset="0"/>
                <a:sym typeface="Symbol" pitchFamily="18" charset="2"/>
              </a:rPr>
              <a:t>p</a:t>
            </a:r>
            <a:r>
              <a:rPr lang="en-US" noProof="0" dirty="0">
                <a:latin typeface="Arial" charset="0"/>
                <a:cs typeface="Arial" charset="0"/>
                <a:sym typeface="Symbol" pitchFamily="18" charset="2"/>
              </a:rPr>
              <a:t> /\ </a:t>
            </a:r>
            <a:r>
              <a:rPr lang="en-US" i="1" noProof="0" dirty="0">
                <a:latin typeface="Arial" charset="0"/>
                <a:cs typeface="Arial" charset="0"/>
                <a:sym typeface="Symbol" pitchFamily="18" charset="2"/>
              </a:rPr>
              <a:t>q</a:t>
            </a:r>
            <a:r>
              <a:rPr lang="en-US" noProof="0" dirty="0">
                <a:latin typeface="Arial" charset="0"/>
                <a:cs typeface="Arial" charset="0"/>
                <a:sym typeface="Symbol" pitchFamily="18" charset="2"/>
              </a:rPr>
              <a:t>  </a:t>
            </a:r>
            <a:r>
              <a:rPr lang="en-US" b="1" noProof="0" dirty="0">
                <a:latin typeface="Arial" charset="0"/>
                <a:cs typeface="Arial" charset="0"/>
                <a:sym typeface="Symbol" pitchFamily="18" charset="2"/>
              </a:rPr>
              <a:t>U</a:t>
            </a:r>
            <a:r>
              <a:rPr lang="en-US" noProof="0" dirty="0">
                <a:latin typeface="Arial" charset="0"/>
                <a:cs typeface="Arial" charset="0"/>
                <a:sym typeface="Symbol" pitchFamily="18" charset="2"/>
              </a:rPr>
              <a:t>  </a:t>
            </a:r>
            <a:r>
              <a:rPr lang="en-US" i="1" noProof="0" dirty="0">
                <a:latin typeface="Arial" charset="0"/>
                <a:cs typeface="Arial" charset="0"/>
                <a:sym typeface="Symbol" pitchFamily="18" charset="2"/>
              </a:rPr>
              <a:t>p</a:t>
            </a:r>
            <a:r>
              <a:rPr lang="en-US" noProof="0" dirty="0">
                <a:latin typeface="Arial" charset="0"/>
                <a:cs typeface="Arial" charset="0"/>
                <a:sym typeface="Symbol" pitchFamily="18" charset="2"/>
              </a:rPr>
              <a:t> /\ </a:t>
            </a:r>
            <a:r>
              <a:rPr lang="en-US" i="1" noProof="0" dirty="0">
                <a:latin typeface="Arial" charset="0"/>
                <a:cs typeface="Arial" charset="0"/>
                <a:sym typeface="Symbol" pitchFamily="18" charset="2"/>
              </a:rPr>
              <a:t>q</a:t>
            </a:r>
            <a:br>
              <a:rPr lang="en-US" noProof="0" dirty="0">
                <a:latin typeface="Arial" charset="0"/>
                <a:cs typeface="Arial" charset="0"/>
                <a:sym typeface="Symbol" pitchFamily="18" charset="2"/>
              </a:rPr>
            </a:br>
            <a:br>
              <a:rPr lang="en-US" noProof="0" dirty="0">
                <a:latin typeface="Arial" charset="0"/>
                <a:cs typeface="Arial" charset="0"/>
                <a:sym typeface="Symbol" pitchFamily="18" charset="2"/>
              </a:rPr>
            </a:br>
            <a:r>
              <a:rPr lang="en-US" noProof="0" dirty="0">
                <a:latin typeface="Arial" charset="0"/>
                <a:cs typeface="Arial" charset="0"/>
                <a:sym typeface="Symbol" pitchFamily="18" charset="2"/>
              </a:rPr>
              <a:t>(also generally when </a:t>
            </a:r>
            <a:r>
              <a:rPr lang="en-US" i="1" noProof="0" dirty="0" err="1">
                <a:latin typeface="Arial" charset="0"/>
                <a:cs typeface="Arial" charset="0"/>
                <a:sym typeface="Symbol" pitchFamily="18" charset="2"/>
              </a:rPr>
              <a:t>p,q</a:t>
            </a:r>
            <a:r>
              <a:rPr lang="en-US" i="1" noProof="0" dirty="0">
                <a:latin typeface="Arial" charset="0"/>
                <a:cs typeface="Arial" charset="0"/>
                <a:sym typeface="Symbol" pitchFamily="18" charset="2"/>
              </a:rPr>
              <a:t> </a:t>
            </a:r>
            <a:r>
              <a:rPr lang="en-US" noProof="0" dirty="0">
                <a:latin typeface="Arial" charset="0"/>
                <a:cs typeface="Arial" charset="0"/>
                <a:sym typeface="Symbol" pitchFamily="18" charset="2"/>
              </a:rPr>
              <a:t>are LTL formulas)</a:t>
            </a:r>
          </a:p>
        </p:txBody>
      </p:sp>
      <p:sp>
        <p:nvSpPr>
          <p:cNvPr id="18" name="TextBox 17"/>
          <p:cNvSpPr txBox="1">
            <a:spLocks noChangeArrowheads="1"/>
          </p:cNvSpPr>
          <p:nvPr/>
        </p:nvSpPr>
        <p:spPr bwMode="auto">
          <a:xfrm>
            <a:off x="6457950" y="2324100"/>
            <a:ext cx="2168525" cy="369888"/>
          </a:xfrm>
          <a:prstGeom prst="rect">
            <a:avLst/>
          </a:prstGeom>
          <a:noFill/>
          <a:ln w="9525">
            <a:noFill/>
            <a:miter lim="800000"/>
            <a:headEnd/>
            <a:tailEnd/>
          </a:ln>
        </p:spPr>
        <p:txBody>
          <a:bodyPr wrap="none">
            <a:spAutoFit/>
          </a:bodyPr>
          <a:lstStyle/>
          <a:p>
            <a:r>
              <a:rPr lang="en-US" sz="1800" noProof="0" dirty="0"/>
              <a:t>= </a:t>
            </a:r>
            <a:r>
              <a:rPr lang="en-US" sz="1800" i="1" noProof="0" dirty="0">
                <a:latin typeface="Arial" charset="0"/>
                <a:cs typeface="Arial" charset="0"/>
                <a:sym typeface="Symbol" pitchFamily="18" charset="2"/>
              </a:rPr>
              <a:t>  </a:t>
            </a:r>
            <a:r>
              <a:rPr lang="en-US" sz="1800" noProof="0" dirty="0">
                <a:latin typeface="Arial" charset="0"/>
                <a:cs typeface="Arial" charset="0"/>
                <a:sym typeface="Symbol" pitchFamily="18" charset="2"/>
              </a:rPr>
              <a:t></a:t>
            </a:r>
            <a:r>
              <a:rPr lang="en-US" sz="1800" i="1" noProof="0" dirty="0">
                <a:latin typeface="Arial" charset="0"/>
                <a:cs typeface="Arial" charset="0"/>
                <a:sym typeface="Symbol" pitchFamily="18" charset="2"/>
              </a:rPr>
              <a:t>q</a:t>
            </a:r>
            <a:r>
              <a:rPr lang="en-US" sz="1800" noProof="0" dirty="0">
                <a:latin typeface="Arial" charset="0"/>
                <a:cs typeface="Arial" charset="0"/>
                <a:sym typeface="Symbol" pitchFamily="18" charset="2"/>
              </a:rPr>
              <a:t>  </a:t>
            </a:r>
            <a:r>
              <a:rPr lang="en-US" sz="1800" b="1" noProof="0" dirty="0">
                <a:latin typeface="Arial" charset="0"/>
                <a:cs typeface="Arial" charset="0"/>
                <a:sym typeface="Symbol" pitchFamily="18" charset="2"/>
              </a:rPr>
              <a:t>W</a:t>
            </a:r>
            <a:r>
              <a:rPr lang="en-US" sz="1800" noProof="0" dirty="0">
                <a:latin typeface="Arial" charset="0"/>
                <a:cs typeface="Arial" charset="0"/>
                <a:sym typeface="Symbol" pitchFamily="18" charset="2"/>
              </a:rPr>
              <a:t>  </a:t>
            </a:r>
            <a:r>
              <a:rPr lang="en-US" sz="1800" i="1" noProof="0" dirty="0">
                <a:latin typeface="Arial" charset="0"/>
                <a:cs typeface="Arial" charset="0"/>
                <a:sym typeface="Symbol" pitchFamily="18" charset="2"/>
              </a:rPr>
              <a:t>p</a:t>
            </a:r>
            <a:r>
              <a:rPr lang="en-US" sz="1800" noProof="0" dirty="0">
                <a:latin typeface="Arial" charset="0"/>
                <a:cs typeface="Arial" charset="0"/>
                <a:sym typeface="Symbol" pitchFamily="18" charset="2"/>
              </a:rPr>
              <a:t> /\ </a:t>
            </a:r>
            <a:r>
              <a:rPr lang="en-US" sz="1800" i="1" noProof="0" dirty="0">
                <a:latin typeface="Arial" charset="0"/>
                <a:cs typeface="Arial" charset="0"/>
                <a:sym typeface="Symbol" pitchFamily="18" charset="2"/>
              </a:rPr>
              <a:t>q</a:t>
            </a:r>
            <a:r>
              <a:rPr lang="en-US" sz="1800" noProof="0" dirty="0"/>
              <a:t> </a:t>
            </a:r>
          </a:p>
        </p:txBody>
      </p:sp>
      <p:cxnSp>
        <p:nvCxnSpPr>
          <p:cNvPr id="21" name="Straight Arrow Connector 20"/>
          <p:cNvCxnSpPr/>
          <p:nvPr/>
        </p:nvCxnSpPr>
        <p:spPr>
          <a:xfrm flipV="1">
            <a:off x="6057900" y="2628900"/>
            <a:ext cx="438150" cy="495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a:spLocks noChangeArrowheads="1"/>
          </p:cNvSpPr>
          <p:nvPr/>
        </p:nvSpPr>
        <p:spPr bwMode="auto">
          <a:xfrm>
            <a:off x="6724650" y="4057650"/>
            <a:ext cx="2117725" cy="369888"/>
          </a:xfrm>
          <a:prstGeom prst="rect">
            <a:avLst/>
          </a:prstGeom>
          <a:noFill/>
          <a:ln w="9525">
            <a:noFill/>
            <a:miter lim="800000"/>
            <a:headEnd/>
            <a:tailEnd/>
          </a:ln>
        </p:spPr>
        <p:txBody>
          <a:bodyPr wrap="none">
            <a:spAutoFit/>
          </a:bodyPr>
          <a:lstStyle/>
          <a:p>
            <a:r>
              <a:rPr lang="en-US" sz="1800" noProof="0" dirty="0"/>
              <a:t>= </a:t>
            </a:r>
            <a:r>
              <a:rPr lang="en-US" sz="1800" i="1" noProof="0" dirty="0">
                <a:latin typeface="Arial" charset="0"/>
                <a:cs typeface="Arial" charset="0"/>
                <a:sym typeface="Symbol" pitchFamily="18" charset="2"/>
              </a:rPr>
              <a:t>  </a:t>
            </a:r>
            <a:r>
              <a:rPr lang="en-US" sz="1800" noProof="0" dirty="0">
                <a:latin typeface="Arial" charset="0"/>
                <a:cs typeface="Arial" charset="0"/>
                <a:sym typeface="Symbol" pitchFamily="18" charset="2"/>
              </a:rPr>
              <a:t></a:t>
            </a:r>
            <a:r>
              <a:rPr lang="en-US" sz="1800" i="1" noProof="0" dirty="0">
                <a:latin typeface="Arial" charset="0"/>
                <a:cs typeface="Arial" charset="0"/>
                <a:sym typeface="Symbol" pitchFamily="18" charset="2"/>
              </a:rPr>
              <a:t>q</a:t>
            </a:r>
            <a:r>
              <a:rPr lang="en-US" sz="1800" noProof="0" dirty="0">
                <a:latin typeface="Arial" charset="0"/>
                <a:cs typeface="Arial" charset="0"/>
                <a:sym typeface="Symbol" pitchFamily="18" charset="2"/>
              </a:rPr>
              <a:t>  </a:t>
            </a:r>
            <a:r>
              <a:rPr lang="en-US" sz="1800" b="1" noProof="0" dirty="0">
                <a:latin typeface="Arial" charset="0"/>
                <a:cs typeface="Arial" charset="0"/>
                <a:sym typeface="Symbol" pitchFamily="18" charset="2"/>
              </a:rPr>
              <a:t>U</a:t>
            </a:r>
            <a:r>
              <a:rPr lang="en-US" sz="1800" noProof="0" dirty="0">
                <a:latin typeface="Arial" charset="0"/>
                <a:cs typeface="Arial" charset="0"/>
                <a:sym typeface="Symbol" pitchFamily="18" charset="2"/>
              </a:rPr>
              <a:t>  </a:t>
            </a:r>
            <a:r>
              <a:rPr lang="en-US" sz="1800" i="1" noProof="0" dirty="0">
                <a:latin typeface="Arial" charset="0"/>
                <a:cs typeface="Arial" charset="0"/>
                <a:sym typeface="Symbol" pitchFamily="18" charset="2"/>
              </a:rPr>
              <a:t>p</a:t>
            </a:r>
            <a:r>
              <a:rPr lang="en-US" sz="1800" noProof="0" dirty="0">
                <a:latin typeface="Arial" charset="0"/>
                <a:cs typeface="Arial" charset="0"/>
                <a:sym typeface="Symbol" pitchFamily="18" charset="2"/>
              </a:rPr>
              <a:t> /\ </a:t>
            </a:r>
            <a:r>
              <a:rPr lang="en-US" sz="1800" i="1" noProof="0" dirty="0">
                <a:latin typeface="Arial" charset="0"/>
                <a:cs typeface="Arial" charset="0"/>
                <a:sym typeface="Symbol" pitchFamily="18" charset="2"/>
              </a:rPr>
              <a:t>q</a:t>
            </a:r>
            <a:r>
              <a:rPr lang="en-US" sz="1800" noProof="0" dirty="0"/>
              <a:t> </a:t>
            </a:r>
          </a:p>
        </p:txBody>
      </p:sp>
      <p:cxnSp>
        <p:nvCxnSpPr>
          <p:cNvPr id="23" name="Straight Arrow Connector 22"/>
          <p:cNvCxnSpPr/>
          <p:nvPr/>
        </p:nvCxnSpPr>
        <p:spPr>
          <a:xfrm>
            <a:off x="5981700" y="3981450"/>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el 1"/>
          <p:cNvSpPr>
            <a:spLocks noGrp="1"/>
          </p:cNvSpPr>
          <p:nvPr>
            <p:ph type="title"/>
          </p:nvPr>
        </p:nvSpPr>
        <p:spPr>
          <a:xfrm>
            <a:off x="500063" y="274638"/>
            <a:ext cx="8358187" cy="796925"/>
          </a:xfrm>
        </p:spPr>
        <p:txBody>
          <a:bodyPr/>
          <a:lstStyle/>
          <a:p>
            <a:pPr eaLnBrk="1" hangingPunct="1"/>
            <a:r>
              <a:rPr lang="en-US" noProof="0" dirty="0">
                <a:cs typeface="Arial" charset="0"/>
              </a:rPr>
              <a:t>Generalized Buchi Automaton</a:t>
            </a:r>
          </a:p>
        </p:txBody>
      </p:sp>
      <p:sp>
        <p:nvSpPr>
          <p:cNvPr id="20" name="Tijdelijke aanduiding voor dianummer 19"/>
          <p:cNvSpPr>
            <a:spLocks noGrp="1"/>
          </p:cNvSpPr>
          <p:nvPr>
            <p:ph type="sldNum" sz="quarter" idx="12"/>
          </p:nvPr>
        </p:nvSpPr>
        <p:spPr/>
        <p:txBody>
          <a:bodyPr/>
          <a:lstStyle/>
          <a:p>
            <a:pPr>
              <a:defRPr/>
            </a:pPr>
            <a:fld id="{3838A7EB-BCC9-49BB-A91F-2390BD423722}" type="slidenum">
              <a:rPr lang="en-US" noProof="0"/>
              <a:pPr>
                <a:defRPr/>
              </a:pPr>
              <a:t>35</a:t>
            </a:fld>
            <a:endParaRPr lang="en-US" noProof="0" dirty="0"/>
          </a:p>
        </p:txBody>
      </p:sp>
      <p:sp>
        <p:nvSpPr>
          <p:cNvPr id="40964" name="TextBox 4"/>
          <p:cNvSpPr txBox="1">
            <a:spLocks noChangeArrowheads="1"/>
          </p:cNvSpPr>
          <p:nvPr/>
        </p:nvSpPr>
        <p:spPr bwMode="auto">
          <a:xfrm>
            <a:off x="517525" y="1677988"/>
            <a:ext cx="2928938" cy="523875"/>
          </a:xfrm>
          <a:prstGeom prst="rect">
            <a:avLst/>
          </a:prstGeom>
          <a:noFill/>
          <a:ln w="9525">
            <a:noFill/>
            <a:miter lim="800000"/>
            <a:headEnd/>
            <a:tailEnd/>
          </a:ln>
        </p:spPr>
        <p:txBody>
          <a:bodyPr wrap="none">
            <a:spAutoFit/>
          </a:bodyPr>
          <a:lstStyle/>
          <a:p>
            <a:r>
              <a:rPr lang="en-US" sz="2800" noProof="0" dirty="0">
                <a:sym typeface="Symbol" pitchFamily="18" charset="2"/>
              </a:rPr>
              <a:t>[]&lt;&gt;</a:t>
            </a:r>
            <a:r>
              <a:rPr lang="en-US" sz="2800" i="1" noProof="0" dirty="0">
                <a:sym typeface="Symbol" pitchFamily="18" charset="2"/>
              </a:rPr>
              <a:t>p</a:t>
            </a:r>
            <a:r>
              <a:rPr lang="en-US" sz="2800" noProof="0" dirty="0">
                <a:sym typeface="Symbol" pitchFamily="18" charset="2"/>
              </a:rPr>
              <a:t>     /\     []&lt;&gt;</a:t>
            </a:r>
            <a:r>
              <a:rPr lang="en-US" sz="2800" i="1" noProof="0" dirty="0">
                <a:sym typeface="Symbol" pitchFamily="18" charset="2"/>
              </a:rPr>
              <a:t>q</a:t>
            </a:r>
            <a:endParaRPr lang="en-US" sz="2800" i="1" noProof="0" dirty="0"/>
          </a:p>
        </p:txBody>
      </p:sp>
      <p:sp>
        <p:nvSpPr>
          <p:cNvPr id="5" name="Oval 27"/>
          <p:cNvSpPr/>
          <p:nvPr/>
        </p:nvSpPr>
        <p:spPr>
          <a:xfrm>
            <a:off x="3743325" y="3359150"/>
            <a:ext cx="304800" cy="293688"/>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noProof="0" dirty="0"/>
              <a:t>0</a:t>
            </a:r>
          </a:p>
        </p:txBody>
      </p:sp>
      <p:sp>
        <p:nvSpPr>
          <p:cNvPr id="6" name="Oval 29"/>
          <p:cNvSpPr/>
          <p:nvPr/>
        </p:nvSpPr>
        <p:spPr>
          <a:xfrm>
            <a:off x="5459413" y="3335338"/>
            <a:ext cx="304800" cy="293687"/>
          </a:xfrm>
          <a:prstGeom prst="ellipse">
            <a:avLst/>
          </a:prstGeom>
          <a:solidFill>
            <a:schemeClr val="bg2">
              <a:lumMod val="50000"/>
            </a:schemeClr>
          </a:solidFill>
          <a:ln w="76200" cmpd="dbl">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noProof="0" dirty="0"/>
              <a:t>2</a:t>
            </a:r>
          </a:p>
        </p:txBody>
      </p:sp>
      <p:cxnSp>
        <p:nvCxnSpPr>
          <p:cNvPr id="7" name="Straight Arrow Connector 30"/>
          <p:cNvCxnSpPr>
            <a:stCxn id="14" idx="6"/>
            <a:endCxn id="5" idx="2"/>
          </p:cNvCxnSpPr>
          <p:nvPr/>
        </p:nvCxnSpPr>
        <p:spPr>
          <a:xfrm flipV="1">
            <a:off x="2309813" y="3506788"/>
            <a:ext cx="1433512" cy="396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 name="Curved Connector 24"/>
          <p:cNvCxnSpPr>
            <a:stCxn id="5" idx="3"/>
            <a:endCxn id="5" idx="5"/>
          </p:cNvCxnSpPr>
          <p:nvPr/>
        </p:nvCxnSpPr>
        <p:spPr>
          <a:xfrm rot="16200000" flipH="1">
            <a:off x="3895725" y="3502026"/>
            <a:ext cx="1587" cy="214312"/>
          </a:xfrm>
          <a:prstGeom prst="curvedConnector3">
            <a:avLst>
              <a:gd name="adj1" fmla="val 41096360"/>
            </a:avLst>
          </a:prstGeom>
          <a:ln>
            <a:tailEnd type="arrow"/>
          </a:ln>
        </p:spPr>
        <p:style>
          <a:lnRef idx="2">
            <a:schemeClr val="dk1"/>
          </a:lnRef>
          <a:fillRef idx="0">
            <a:schemeClr val="dk1"/>
          </a:fillRef>
          <a:effectRef idx="1">
            <a:schemeClr val="dk1"/>
          </a:effectRef>
          <a:fontRef idx="minor">
            <a:schemeClr val="tx1"/>
          </a:fontRef>
        </p:style>
      </p:cxnSp>
      <p:cxnSp>
        <p:nvCxnSpPr>
          <p:cNvPr id="9" name="Straight Arrow Connector 32"/>
          <p:cNvCxnSpPr/>
          <p:nvPr/>
        </p:nvCxnSpPr>
        <p:spPr>
          <a:xfrm rot="16200000" flipH="1">
            <a:off x="3494088" y="2887662"/>
            <a:ext cx="750888" cy="476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0970" name="TextBox 13"/>
          <p:cNvSpPr txBox="1">
            <a:spLocks noChangeArrowheads="1"/>
          </p:cNvSpPr>
          <p:nvPr/>
        </p:nvSpPr>
        <p:spPr bwMode="auto">
          <a:xfrm>
            <a:off x="4464050" y="2482850"/>
            <a:ext cx="558166" cy="461665"/>
          </a:xfrm>
          <a:prstGeom prst="rect">
            <a:avLst/>
          </a:prstGeom>
          <a:noFill/>
          <a:ln w="9525">
            <a:noFill/>
            <a:miter lim="800000"/>
            <a:headEnd/>
            <a:tailEnd/>
          </a:ln>
        </p:spPr>
        <p:txBody>
          <a:bodyPr wrap="none">
            <a:spAutoFit/>
          </a:bodyPr>
          <a:lstStyle/>
          <a:p>
            <a:r>
              <a:rPr lang="en-US" i="1" noProof="0" dirty="0">
                <a:sym typeface="Symbol" pitchFamily="18" charset="2"/>
              </a:rPr>
              <a:t>q</a:t>
            </a:r>
            <a:r>
              <a:rPr lang="en-US" noProof="0" dirty="0">
                <a:sym typeface="Symbol" pitchFamily="18" charset="2"/>
              </a:rPr>
              <a:t></a:t>
            </a:r>
            <a:endParaRPr lang="en-US" noProof="0" dirty="0"/>
          </a:p>
        </p:txBody>
      </p:sp>
      <p:sp>
        <p:nvSpPr>
          <p:cNvPr id="40971" name="TextBox 15"/>
          <p:cNvSpPr txBox="1">
            <a:spLocks noChangeArrowheads="1"/>
          </p:cNvSpPr>
          <p:nvPr/>
        </p:nvSpPr>
        <p:spPr bwMode="auto">
          <a:xfrm>
            <a:off x="2670175" y="2470150"/>
            <a:ext cx="558166" cy="461665"/>
          </a:xfrm>
          <a:prstGeom prst="rect">
            <a:avLst/>
          </a:prstGeom>
          <a:noFill/>
          <a:ln w="9525">
            <a:noFill/>
            <a:miter lim="800000"/>
            <a:headEnd/>
            <a:tailEnd/>
          </a:ln>
        </p:spPr>
        <p:txBody>
          <a:bodyPr wrap="none">
            <a:spAutoFit/>
          </a:bodyPr>
          <a:lstStyle/>
          <a:p>
            <a:r>
              <a:rPr lang="en-US" i="1" noProof="0" dirty="0">
                <a:sym typeface="Symbol" pitchFamily="18" charset="2"/>
              </a:rPr>
              <a:t>p</a:t>
            </a:r>
            <a:r>
              <a:rPr lang="en-US" noProof="0" dirty="0">
                <a:sym typeface="Symbol" pitchFamily="18" charset="2"/>
              </a:rPr>
              <a:t></a:t>
            </a:r>
            <a:endParaRPr lang="en-US" noProof="0" dirty="0"/>
          </a:p>
        </p:txBody>
      </p:sp>
      <p:sp>
        <p:nvSpPr>
          <p:cNvPr id="40972" name="TextBox 18"/>
          <p:cNvSpPr txBox="1">
            <a:spLocks noChangeArrowheads="1"/>
          </p:cNvSpPr>
          <p:nvPr/>
        </p:nvSpPr>
        <p:spPr bwMode="auto">
          <a:xfrm>
            <a:off x="2819400" y="3497263"/>
            <a:ext cx="685800" cy="461962"/>
          </a:xfrm>
          <a:prstGeom prst="rect">
            <a:avLst/>
          </a:prstGeom>
          <a:noFill/>
          <a:ln w="9525">
            <a:noFill/>
            <a:miter lim="800000"/>
            <a:headEnd/>
            <a:tailEnd/>
          </a:ln>
        </p:spPr>
        <p:txBody>
          <a:bodyPr>
            <a:spAutoFit/>
          </a:bodyPr>
          <a:lstStyle/>
          <a:p>
            <a:r>
              <a:rPr lang="en-US" noProof="0" dirty="0">
                <a:sym typeface="Symbol" pitchFamily="18" charset="2"/>
              </a:rPr>
              <a:t>*</a:t>
            </a:r>
            <a:endParaRPr lang="en-US" noProof="0" dirty="0"/>
          </a:p>
        </p:txBody>
      </p:sp>
      <p:sp>
        <p:nvSpPr>
          <p:cNvPr id="14" name="Oval 29"/>
          <p:cNvSpPr/>
          <p:nvPr/>
        </p:nvSpPr>
        <p:spPr>
          <a:xfrm>
            <a:off x="2005013" y="3398838"/>
            <a:ext cx="304800" cy="293687"/>
          </a:xfrm>
          <a:prstGeom prst="ellipse">
            <a:avLst/>
          </a:prstGeom>
          <a:solidFill>
            <a:schemeClr val="accent2"/>
          </a:solidFill>
          <a:ln w="76200" cmpd="dbl">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noProof="0" dirty="0"/>
              <a:t>1</a:t>
            </a:r>
          </a:p>
        </p:txBody>
      </p:sp>
      <p:cxnSp>
        <p:nvCxnSpPr>
          <p:cNvPr id="16" name="Gekromde verbindingslijn 15"/>
          <p:cNvCxnSpPr>
            <a:stCxn id="5" idx="7"/>
            <a:endCxn id="6" idx="1"/>
          </p:cNvCxnSpPr>
          <p:nvPr/>
        </p:nvCxnSpPr>
        <p:spPr>
          <a:xfrm rot="5400000" flipH="1" flipV="1">
            <a:off x="4741862" y="2640013"/>
            <a:ext cx="23813" cy="1500188"/>
          </a:xfrm>
          <a:prstGeom prst="curvedConnector3">
            <a:avLst>
              <a:gd name="adj1" fmla="val 2093907"/>
            </a:avLst>
          </a:prstGeom>
          <a:ln>
            <a:tailEnd type="arrow"/>
          </a:ln>
        </p:spPr>
        <p:style>
          <a:lnRef idx="2">
            <a:schemeClr val="dk1"/>
          </a:lnRef>
          <a:fillRef idx="0">
            <a:schemeClr val="dk1"/>
          </a:fillRef>
          <a:effectRef idx="1">
            <a:schemeClr val="dk1"/>
          </a:effectRef>
          <a:fontRef idx="minor">
            <a:schemeClr val="tx1"/>
          </a:fontRef>
        </p:style>
      </p:cxnSp>
      <p:cxnSp>
        <p:nvCxnSpPr>
          <p:cNvPr id="17" name="Gekromde verbindingslijn 16"/>
          <p:cNvCxnSpPr>
            <a:stCxn id="5" idx="1"/>
            <a:endCxn id="14" idx="7"/>
          </p:cNvCxnSpPr>
          <p:nvPr/>
        </p:nvCxnSpPr>
        <p:spPr>
          <a:xfrm rot="16200000" flipH="1" flipV="1">
            <a:off x="3006725" y="2660651"/>
            <a:ext cx="39687" cy="1522412"/>
          </a:xfrm>
          <a:prstGeom prst="curvedConnector3">
            <a:avLst>
              <a:gd name="adj1" fmla="val -1228390"/>
            </a:avLst>
          </a:prstGeom>
          <a:ln>
            <a:tailEnd type="arrow"/>
          </a:ln>
        </p:spPr>
        <p:style>
          <a:lnRef idx="2">
            <a:schemeClr val="dk1"/>
          </a:lnRef>
          <a:fillRef idx="0">
            <a:schemeClr val="dk1"/>
          </a:fillRef>
          <a:effectRef idx="1">
            <a:schemeClr val="dk1"/>
          </a:effectRef>
          <a:fontRef idx="minor">
            <a:schemeClr val="tx1"/>
          </a:fontRef>
        </p:style>
      </p:cxnSp>
      <p:cxnSp>
        <p:nvCxnSpPr>
          <p:cNvPr id="25" name="Straight Arrow Connector 30"/>
          <p:cNvCxnSpPr>
            <a:stCxn id="6" idx="2"/>
            <a:endCxn id="5" idx="6"/>
          </p:cNvCxnSpPr>
          <p:nvPr/>
        </p:nvCxnSpPr>
        <p:spPr>
          <a:xfrm rot="10800000" flipV="1">
            <a:off x="4048125" y="3482975"/>
            <a:ext cx="1411288" cy="2381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0977" name="TextBox 18"/>
          <p:cNvSpPr txBox="1">
            <a:spLocks noChangeArrowheads="1"/>
          </p:cNvSpPr>
          <p:nvPr/>
        </p:nvSpPr>
        <p:spPr bwMode="auto">
          <a:xfrm>
            <a:off x="4622800" y="3446463"/>
            <a:ext cx="685800" cy="461962"/>
          </a:xfrm>
          <a:prstGeom prst="rect">
            <a:avLst/>
          </a:prstGeom>
          <a:noFill/>
          <a:ln w="9525">
            <a:noFill/>
            <a:miter lim="800000"/>
            <a:headEnd/>
            <a:tailEnd/>
          </a:ln>
        </p:spPr>
        <p:txBody>
          <a:bodyPr>
            <a:spAutoFit/>
          </a:bodyPr>
          <a:lstStyle/>
          <a:p>
            <a:r>
              <a:rPr lang="en-US" noProof="0" dirty="0">
                <a:sym typeface="Symbol" pitchFamily="18" charset="2"/>
              </a:rPr>
              <a:t>*</a:t>
            </a:r>
            <a:endParaRPr lang="en-US" noProof="0" dirty="0"/>
          </a:p>
        </p:txBody>
      </p:sp>
      <p:sp>
        <p:nvSpPr>
          <p:cNvPr id="40978" name="TextBox 18"/>
          <p:cNvSpPr txBox="1">
            <a:spLocks noChangeArrowheads="1"/>
          </p:cNvSpPr>
          <p:nvPr/>
        </p:nvSpPr>
        <p:spPr bwMode="auto">
          <a:xfrm>
            <a:off x="3987800" y="3814763"/>
            <a:ext cx="685800" cy="461962"/>
          </a:xfrm>
          <a:prstGeom prst="rect">
            <a:avLst/>
          </a:prstGeom>
          <a:noFill/>
          <a:ln w="9525">
            <a:noFill/>
            <a:miter lim="800000"/>
            <a:headEnd/>
            <a:tailEnd/>
          </a:ln>
        </p:spPr>
        <p:txBody>
          <a:bodyPr>
            <a:spAutoFit/>
          </a:bodyPr>
          <a:lstStyle/>
          <a:p>
            <a:r>
              <a:rPr lang="en-US" noProof="0" dirty="0">
                <a:sym typeface="Symbol" pitchFamily="18" charset="2"/>
              </a:rPr>
              <a:t>*</a:t>
            </a:r>
            <a:endParaRPr lang="en-US" noProof="0" dirty="0"/>
          </a:p>
        </p:txBody>
      </p:sp>
      <p:sp>
        <p:nvSpPr>
          <p:cNvPr id="40979" name="Tekstvak 39"/>
          <p:cNvSpPr txBox="1">
            <a:spLocks noChangeArrowheads="1"/>
          </p:cNvSpPr>
          <p:nvPr/>
        </p:nvSpPr>
        <p:spPr bwMode="auto">
          <a:xfrm>
            <a:off x="571500" y="4521200"/>
            <a:ext cx="7650163" cy="1938338"/>
          </a:xfrm>
          <a:prstGeom prst="rect">
            <a:avLst/>
          </a:prstGeom>
          <a:noFill/>
          <a:ln w="9525">
            <a:noFill/>
            <a:miter lim="800000"/>
            <a:headEnd/>
            <a:tailEnd/>
          </a:ln>
        </p:spPr>
        <p:txBody>
          <a:bodyPr wrap="none">
            <a:spAutoFit/>
          </a:bodyPr>
          <a:lstStyle/>
          <a:p>
            <a:r>
              <a:rPr lang="en-US" b="1" noProof="0" dirty="0"/>
              <a:t>Sets</a:t>
            </a:r>
            <a:r>
              <a:rPr lang="en-US" noProof="0" dirty="0"/>
              <a:t> of accepting states:   </a:t>
            </a:r>
            <a:r>
              <a:rPr lang="en-US" b="1" noProof="0" dirty="0"/>
              <a:t>F</a:t>
            </a:r>
            <a:r>
              <a:rPr lang="en-US" noProof="0" dirty="0"/>
              <a:t>  =  { {1} , {2} }</a:t>
            </a:r>
            <a:br>
              <a:rPr lang="en-US" noProof="0" dirty="0"/>
            </a:br>
            <a:br>
              <a:rPr lang="en-US" noProof="0" dirty="0"/>
            </a:br>
            <a:r>
              <a:rPr lang="en-US" noProof="0" dirty="0"/>
              <a:t>which is different than just F = { 1, 2 } in an ordinary Buchi.</a:t>
            </a:r>
          </a:p>
          <a:p>
            <a:endParaRPr lang="en-US" noProof="0" dirty="0"/>
          </a:p>
          <a:p>
            <a:r>
              <a:rPr lang="en-US" noProof="0" dirty="0"/>
              <a:t>Every GBA can be converted to BA.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3"/>
          <p:cNvSpPr>
            <a:spLocks noGrp="1"/>
          </p:cNvSpPr>
          <p:nvPr>
            <p:ph type="title"/>
          </p:nvPr>
        </p:nvSpPr>
        <p:spPr>
          <a:xfrm>
            <a:off x="500063" y="274638"/>
            <a:ext cx="8358187" cy="796925"/>
          </a:xfrm>
        </p:spPr>
        <p:txBody>
          <a:bodyPr/>
          <a:lstStyle/>
          <a:p>
            <a:pPr eaLnBrk="1" hangingPunct="1"/>
            <a:r>
              <a:rPr lang="en-US" noProof="0" dirty="0">
                <a:cs typeface="Arial" charset="0"/>
              </a:rPr>
              <a:t>Difficult cases</a:t>
            </a:r>
          </a:p>
        </p:txBody>
      </p:sp>
      <p:sp>
        <p:nvSpPr>
          <p:cNvPr id="41987" name="Content Placeholder 4"/>
          <p:cNvSpPr>
            <a:spLocks noGrp="1"/>
          </p:cNvSpPr>
          <p:nvPr>
            <p:ph sz="quarter" idx="1"/>
          </p:nvPr>
        </p:nvSpPr>
        <p:spPr>
          <a:xfrm>
            <a:off x="500063" y="1447800"/>
            <a:ext cx="8358187" cy="4572000"/>
          </a:xfrm>
        </p:spPr>
        <p:txBody>
          <a:bodyPr/>
          <a:lstStyle/>
          <a:p>
            <a:pPr eaLnBrk="1" hangingPunct="1"/>
            <a:r>
              <a:rPr lang="en-US" noProof="0" dirty="0">
                <a:cs typeface="Arial" charset="0"/>
              </a:rPr>
              <a:t>How about nested formulas like:</a:t>
            </a:r>
            <a:br>
              <a:rPr lang="en-US" noProof="0" dirty="0">
                <a:cs typeface="Arial" charset="0"/>
              </a:rPr>
            </a:br>
            <a:br>
              <a:rPr lang="en-US" noProof="0" dirty="0">
                <a:cs typeface="Arial" charset="0"/>
              </a:rPr>
            </a:br>
            <a:r>
              <a:rPr lang="en-US" noProof="0" dirty="0">
                <a:cs typeface="Arial" charset="0"/>
              </a:rPr>
              <a:t>	(</a:t>
            </a:r>
            <a:r>
              <a:rPr lang="en-US" b="1" noProof="0" dirty="0" err="1">
                <a:cs typeface="Arial" charset="0"/>
              </a:rPr>
              <a:t>X</a:t>
            </a:r>
            <a:r>
              <a:rPr lang="en-US" i="1" noProof="0" dirty="0" err="1">
                <a:cs typeface="Arial" charset="0"/>
              </a:rPr>
              <a:t>p</a:t>
            </a:r>
            <a:r>
              <a:rPr lang="en-US" noProof="0" dirty="0">
                <a:cs typeface="Arial" charset="0"/>
              </a:rPr>
              <a:t>) </a:t>
            </a:r>
            <a:r>
              <a:rPr lang="en-US" b="1" noProof="0" dirty="0">
                <a:cs typeface="Arial" charset="0"/>
              </a:rPr>
              <a:t>U </a:t>
            </a:r>
            <a:r>
              <a:rPr lang="en-US" noProof="0" dirty="0">
                <a:cs typeface="Arial" charset="0"/>
              </a:rPr>
              <a:t> </a:t>
            </a:r>
            <a:r>
              <a:rPr lang="en-US" i="1" noProof="0" dirty="0">
                <a:cs typeface="Arial" charset="0"/>
              </a:rPr>
              <a:t>q</a:t>
            </a:r>
            <a:br>
              <a:rPr lang="en-US" noProof="0" dirty="0">
                <a:cs typeface="Arial" charset="0"/>
              </a:rPr>
            </a:br>
            <a:r>
              <a:rPr lang="en-US" noProof="0" dirty="0">
                <a:cs typeface="Arial" charset="0"/>
              </a:rPr>
              <a:t>	( </a:t>
            </a:r>
            <a:r>
              <a:rPr lang="en-US" i="1" noProof="0" dirty="0">
                <a:cs typeface="Arial" charset="0"/>
              </a:rPr>
              <a:t>p</a:t>
            </a:r>
            <a:r>
              <a:rPr lang="en-US" noProof="0" dirty="0">
                <a:cs typeface="Arial" charset="0"/>
              </a:rPr>
              <a:t>  </a:t>
            </a:r>
            <a:r>
              <a:rPr lang="en-US" b="1" noProof="0" dirty="0">
                <a:cs typeface="Arial" charset="0"/>
              </a:rPr>
              <a:t>U</a:t>
            </a:r>
            <a:r>
              <a:rPr lang="en-US" noProof="0" dirty="0">
                <a:cs typeface="Arial" charset="0"/>
              </a:rPr>
              <a:t> </a:t>
            </a:r>
            <a:r>
              <a:rPr lang="en-US" i="1" noProof="0" dirty="0">
                <a:cs typeface="Arial" charset="0"/>
              </a:rPr>
              <a:t>q </a:t>
            </a:r>
            <a:r>
              <a:rPr lang="en-US" noProof="0" dirty="0">
                <a:cs typeface="Arial" charset="0"/>
              </a:rPr>
              <a:t>)  </a:t>
            </a:r>
            <a:r>
              <a:rPr lang="en-US" b="1" noProof="0" dirty="0">
                <a:cs typeface="Arial" charset="0"/>
              </a:rPr>
              <a:t>U</a:t>
            </a:r>
            <a:r>
              <a:rPr lang="en-US" noProof="0" dirty="0">
                <a:cs typeface="Arial" charset="0"/>
              </a:rPr>
              <a:t>  </a:t>
            </a:r>
            <a:r>
              <a:rPr lang="en-US" i="1" noProof="0" dirty="0">
                <a:cs typeface="Arial" charset="0"/>
              </a:rPr>
              <a:t>r</a:t>
            </a:r>
            <a:br>
              <a:rPr lang="en-US" noProof="0" dirty="0">
                <a:cs typeface="Arial" charset="0"/>
              </a:rPr>
            </a:br>
            <a:br>
              <a:rPr lang="en-US" noProof="0" dirty="0">
                <a:cs typeface="Arial" charset="0"/>
              </a:rPr>
            </a:br>
            <a:r>
              <a:rPr lang="en-US" noProof="0" dirty="0">
                <a:cs typeface="Arial" charset="0"/>
              </a:rPr>
              <a:t>Their Buchi is not trivial to construct.</a:t>
            </a:r>
          </a:p>
          <a:p>
            <a:pPr eaLnBrk="1" hangingPunct="1"/>
            <a:endParaRPr lang="en-US" noProof="0" dirty="0">
              <a:cs typeface="Arial" charset="0"/>
            </a:endParaRPr>
          </a:p>
          <a:p>
            <a:pPr eaLnBrk="1" hangingPunct="1"/>
            <a:r>
              <a:rPr lang="en-US" noProof="0" dirty="0">
                <a:cs typeface="Arial" charset="0"/>
              </a:rPr>
              <a:t>Still, any LTL formula can be converted to a Buchi. SPIN implements an automated conversion algorithm; unfortunately it is quite complicated. </a:t>
            </a:r>
          </a:p>
        </p:txBody>
      </p:sp>
      <p:sp>
        <p:nvSpPr>
          <p:cNvPr id="5" name="Tijdelijke aanduiding voor dianummer 4"/>
          <p:cNvSpPr>
            <a:spLocks noGrp="1"/>
          </p:cNvSpPr>
          <p:nvPr>
            <p:ph type="sldNum" sz="quarter" idx="12"/>
          </p:nvPr>
        </p:nvSpPr>
        <p:spPr/>
        <p:txBody>
          <a:bodyPr/>
          <a:lstStyle/>
          <a:p>
            <a:pPr>
              <a:defRPr/>
            </a:pPr>
            <a:fld id="{2FD08464-29DC-466D-AAD7-89DF9B7516CE}" type="slidenum">
              <a:rPr lang="en-US" noProof="0"/>
              <a:pPr>
                <a:defRPr/>
              </a:pPr>
              <a:t>36</a:t>
            </a:fld>
            <a:endParaRPr lang="en-US" noProof="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Check list</a:t>
            </a:r>
          </a:p>
        </p:txBody>
      </p:sp>
      <p:sp>
        <p:nvSpPr>
          <p:cNvPr id="49155" name="Rectangle 3"/>
          <p:cNvSpPr>
            <a:spLocks noGrp="1" noChangeArrowheads="1"/>
          </p:cNvSpPr>
          <p:nvPr>
            <p:ph sz="quarter" idx="1"/>
          </p:nvPr>
        </p:nvSpPr>
        <p:spPr>
          <a:xfrm>
            <a:off x="849313" y="2405063"/>
            <a:ext cx="7821612" cy="4219575"/>
          </a:xfrm>
        </p:spPr>
        <p:txBody>
          <a:bodyPr/>
          <a:lstStyle/>
          <a:p>
            <a:pPr marL="457200" indent="-457200" eaLnBrk="1" hangingPunct="1">
              <a:buSzPct val="100000"/>
              <a:buFont typeface="+mj-lt"/>
              <a:buAutoNum type="arabicPeriod"/>
              <a:defRPr/>
            </a:pPr>
            <a:r>
              <a:rPr lang="en-US" sz="2400" noProof="0" dirty="0"/>
              <a:t>How to construct  </a:t>
            </a:r>
            <a:r>
              <a:rPr lang="en-US" sz="2400" i="1" noProof="0" dirty="0">
                <a:sym typeface="Symbol"/>
              </a:rPr>
              <a:t>B</a:t>
            </a:r>
            <a:r>
              <a:rPr lang="en-US" sz="2400" baseline="-25000" noProof="0" dirty="0">
                <a:sym typeface="Symbol"/>
              </a:rPr>
              <a:t>  </a:t>
            </a:r>
            <a:r>
              <a:rPr lang="en-US" sz="2400" noProof="0" dirty="0"/>
              <a:t>?  </a:t>
            </a:r>
            <a:r>
              <a:rPr lang="en-US" sz="2400" noProof="0" dirty="0">
                <a:sym typeface="Wingdings" pitchFamily="2" charset="2"/>
              </a:rPr>
              <a:t>  Buchi   </a:t>
            </a:r>
            <a:r>
              <a:rPr lang="en-US" sz="2400" noProof="0" dirty="0">
                <a:solidFill>
                  <a:srgbClr val="C00000"/>
                </a:solidFill>
                <a:sym typeface="Wingdings"/>
              </a:rPr>
              <a:t></a:t>
            </a:r>
            <a:endParaRPr lang="en-US" sz="2400" noProof="0" dirty="0">
              <a:solidFill>
                <a:srgbClr val="C00000"/>
              </a:solidFill>
              <a:sym typeface="Wingdings" pitchFamily="2" charset="2"/>
            </a:endParaRPr>
          </a:p>
          <a:p>
            <a:pPr marL="457200" indent="-457200" eaLnBrk="1" hangingPunct="1">
              <a:buSzPct val="100000"/>
              <a:buFont typeface="Wingdings" pitchFamily="2" charset="2"/>
              <a:buNone/>
              <a:defRPr/>
            </a:pPr>
            <a:r>
              <a:rPr lang="en-US" sz="2400" noProof="0" dirty="0">
                <a:sym typeface="Wingdings" pitchFamily="2" charset="2"/>
              </a:rPr>
              <a:t> </a:t>
            </a:r>
            <a:endParaRPr lang="en-US" sz="2400" noProof="0" dirty="0"/>
          </a:p>
          <a:p>
            <a:pPr marL="457200" indent="-457200" eaLnBrk="1" hangingPunct="1">
              <a:buSzPct val="100000"/>
              <a:buFont typeface="+mj-lt"/>
              <a:buAutoNum type="arabicPeriod" startAt="2"/>
              <a:defRPr/>
            </a:pPr>
            <a:r>
              <a:rPr lang="en-US" sz="2400" noProof="0" dirty="0"/>
              <a:t>We still have a mismatch, because </a:t>
            </a:r>
            <a:r>
              <a:rPr lang="en-US" sz="2400" i="1" noProof="0" dirty="0"/>
              <a:t>M</a:t>
            </a:r>
            <a:r>
              <a:rPr lang="en-US" sz="2400" noProof="0" dirty="0"/>
              <a:t> is a Kripke structure!</a:t>
            </a:r>
          </a:p>
          <a:p>
            <a:pPr lvl="1" eaLnBrk="1" hangingPunct="1">
              <a:defRPr/>
            </a:pPr>
            <a:r>
              <a:rPr lang="en-US" sz="2000" noProof="0" dirty="0"/>
              <a:t>Fortunately, we can easily convert it to a Buchi.</a:t>
            </a:r>
          </a:p>
          <a:p>
            <a:pPr lvl="1" eaLnBrk="1" hangingPunct="1">
              <a:defRPr/>
            </a:pPr>
            <a:endParaRPr lang="en-US" sz="2000" noProof="0" dirty="0"/>
          </a:p>
          <a:p>
            <a:pPr marL="457200" indent="-457200" eaLnBrk="1" hangingPunct="1">
              <a:buSzPct val="100000"/>
              <a:buFont typeface="+mj-lt"/>
              <a:buAutoNum type="arabicPeriod" startAt="2"/>
              <a:defRPr/>
            </a:pPr>
            <a:r>
              <a:rPr lang="en-US" sz="2400" noProof="0" dirty="0"/>
              <a:t>We still have to construct the intersection.</a:t>
            </a:r>
          </a:p>
          <a:p>
            <a:pPr marL="457200" indent="-457200" eaLnBrk="1" hangingPunct="1">
              <a:buSzPct val="100000"/>
              <a:buFont typeface="+mj-lt"/>
              <a:buAutoNum type="arabicPeriod" startAt="2"/>
              <a:defRPr/>
            </a:pPr>
            <a:endParaRPr lang="en-US" sz="2400" noProof="0" dirty="0"/>
          </a:p>
          <a:p>
            <a:pPr marL="457200" indent="-457200" eaLnBrk="1" hangingPunct="1">
              <a:buSzPct val="100000"/>
              <a:buFont typeface="+mj-lt"/>
              <a:buAutoNum type="arabicPeriod" startAt="2"/>
              <a:defRPr/>
            </a:pPr>
            <a:r>
              <a:rPr lang="en-US" sz="2400" noProof="0" dirty="0"/>
              <a:t>We still to figure out a way to check emptiness.</a:t>
            </a:r>
          </a:p>
          <a:p>
            <a:pPr eaLnBrk="1" hangingPunct="1">
              <a:defRPr/>
            </a:pPr>
            <a:endParaRPr lang="en-US" sz="2400" noProof="0" dirty="0">
              <a:sym typeface="Symbol" pitchFamily="18" charset="2"/>
            </a:endParaRPr>
          </a:p>
          <a:p>
            <a:pPr eaLnBrk="1" hangingPunct="1">
              <a:buFont typeface="Wingdings" pitchFamily="2" charset="2"/>
              <a:buNone/>
              <a:defRPr/>
            </a:pPr>
            <a:br>
              <a:rPr lang="en-US" sz="2400" noProof="0" dirty="0">
                <a:sym typeface="Symbol" pitchFamily="18" charset="2"/>
              </a:rPr>
            </a:br>
            <a:br>
              <a:rPr lang="en-US" sz="2400" noProof="0" dirty="0">
                <a:sym typeface="Symbol" pitchFamily="18" charset="2"/>
              </a:rPr>
            </a:br>
            <a:endParaRPr lang="en-US" sz="2400" noProof="0" dirty="0">
              <a:sym typeface="Symbol" pitchFamily="18" charset="2"/>
            </a:endParaRPr>
          </a:p>
        </p:txBody>
      </p:sp>
      <p:sp>
        <p:nvSpPr>
          <p:cNvPr id="5" name="TextBox 4"/>
          <p:cNvSpPr txBox="1"/>
          <p:nvPr/>
        </p:nvSpPr>
        <p:spPr>
          <a:xfrm>
            <a:off x="1020309" y="1598613"/>
            <a:ext cx="5690917" cy="523220"/>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sz="2800" i="1" noProof="0" dirty="0">
                <a:cs typeface="Arial" pitchFamily="34" charset="0"/>
              </a:rPr>
              <a:t>M</a:t>
            </a:r>
            <a:r>
              <a:rPr lang="en-US" sz="2800" noProof="0" dirty="0">
                <a:cs typeface="Arial" pitchFamily="34" charset="0"/>
              </a:rPr>
              <a:t> |== </a:t>
            </a:r>
            <a:r>
              <a:rPr lang="en-US" sz="2800" noProof="0" dirty="0">
                <a:cs typeface="Arial" pitchFamily="34" charset="0"/>
                <a:sym typeface="Symbol"/>
              </a:rPr>
              <a:t>     </a:t>
            </a:r>
            <a:r>
              <a:rPr lang="en-US" sz="2800" noProof="0" dirty="0" err="1">
                <a:cs typeface="Arial" pitchFamily="34" charset="0"/>
                <a:sym typeface="Symbol"/>
              </a:rPr>
              <a:t>iff</a:t>
            </a:r>
            <a:r>
              <a:rPr lang="en-US" sz="2800" noProof="0" dirty="0">
                <a:cs typeface="Arial" pitchFamily="34" charset="0"/>
                <a:sym typeface="Symbol"/>
              </a:rPr>
              <a:t>    L(</a:t>
            </a:r>
            <a:r>
              <a:rPr lang="en-US" sz="2800" i="1" noProof="0" dirty="0">
                <a:cs typeface="Arial" pitchFamily="34" charset="0"/>
                <a:sym typeface="Symbol"/>
              </a:rPr>
              <a:t>M</a:t>
            </a:r>
            <a:r>
              <a:rPr lang="en-US" sz="2800" noProof="0" dirty="0">
                <a:cs typeface="Arial" pitchFamily="34" charset="0"/>
                <a:sym typeface="Symbol"/>
              </a:rPr>
              <a:t>)  L(</a:t>
            </a:r>
            <a:r>
              <a:rPr lang="en-US" sz="2800" i="1" noProof="0" dirty="0">
                <a:cs typeface="Arial" pitchFamily="34" charset="0"/>
                <a:sym typeface="Symbol"/>
              </a:rPr>
              <a:t>B</a:t>
            </a:r>
            <a:r>
              <a:rPr lang="en-US" sz="2800" baseline="-25000" noProof="0" dirty="0">
                <a:cs typeface="Arial" pitchFamily="34" charset="0"/>
                <a:sym typeface="Symbol"/>
              </a:rPr>
              <a:t></a:t>
            </a:r>
            <a:r>
              <a:rPr lang="en-US" sz="2800" noProof="0" dirty="0">
                <a:cs typeface="Arial" pitchFamily="34" charset="0"/>
                <a:sym typeface="Symbol"/>
              </a:rPr>
              <a:t>)  =  </a:t>
            </a:r>
            <a:endParaRPr lang="en-US" sz="2800" noProof="0" dirty="0">
              <a:cs typeface="Arial" pitchFamily="34" charset="0"/>
            </a:endParaRPr>
          </a:p>
        </p:txBody>
      </p:sp>
      <p:sp>
        <p:nvSpPr>
          <p:cNvPr id="6" name="Tijdelijke aanduiding voor dianummer 5"/>
          <p:cNvSpPr>
            <a:spLocks noGrp="1"/>
          </p:cNvSpPr>
          <p:nvPr>
            <p:ph type="sldNum" sz="quarter" idx="12"/>
          </p:nvPr>
        </p:nvSpPr>
        <p:spPr/>
        <p:txBody>
          <a:bodyPr/>
          <a:lstStyle/>
          <a:p>
            <a:pPr>
              <a:defRPr/>
            </a:pPr>
            <a:fld id="{9DE71EA0-4EDD-4727-BE62-B1A79100A07F}" type="slidenum">
              <a:rPr lang="en-US" noProof="0"/>
              <a:pPr>
                <a:defRPr/>
              </a:pPr>
              <a:t>37</a:t>
            </a:fld>
            <a:endParaRPr lang="en-US"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4"/>
          <p:cNvSpPr>
            <a:spLocks noGrp="1"/>
          </p:cNvSpPr>
          <p:nvPr>
            <p:ph type="title"/>
          </p:nvPr>
        </p:nvSpPr>
        <p:spPr>
          <a:xfrm>
            <a:off x="358775" y="274638"/>
            <a:ext cx="8328025" cy="582612"/>
          </a:xfrm>
        </p:spPr>
        <p:txBody>
          <a:bodyPr/>
          <a:lstStyle/>
          <a:p>
            <a:pPr eaLnBrk="1" hangingPunct="1"/>
            <a:r>
              <a:rPr lang="en-US" noProof="0" dirty="0">
                <a:cs typeface="Arial" charset="0"/>
              </a:rPr>
              <a:t>Label on state or label on arrow...</a:t>
            </a:r>
          </a:p>
        </p:txBody>
      </p:sp>
      <p:sp>
        <p:nvSpPr>
          <p:cNvPr id="52" name="Right Arrow 51"/>
          <p:cNvSpPr/>
          <p:nvPr/>
        </p:nvSpPr>
        <p:spPr>
          <a:xfrm>
            <a:off x="3936473" y="1851378"/>
            <a:ext cx="680683" cy="488774"/>
          </a:xfrm>
          <a:prstGeom prst="rightArrow">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en-US" noProof="0" dirty="0"/>
          </a:p>
        </p:txBody>
      </p:sp>
      <p:sp>
        <p:nvSpPr>
          <p:cNvPr id="29" name="Tijdelijke aanduiding voor dianummer 28"/>
          <p:cNvSpPr>
            <a:spLocks noGrp="1"/>
          </p:cNvSpPr>
          <p:nvPr>
            <p:ph type="sldNum" sz="quarter" idx="12"/>
          </p:nvPr>
        </p:nvSpPr>
        <p:spPr/>
        <p:txBody>
          <a:bodyPr/>
          <a:lstStyle/>
          <a:p>
            <a:pPr>
              <a:defRPr/>
            </a:pPr>
            <a:fld id="{9B990885-F4B5-434A-B2FD-7C23D322BA9A}" type="slidenum">
              <a:rPr lang="en-US" noProof="0"/>
              <a:pPr>
                <a:defRPr/>
              </a:pPr>
              <a:t>38</a:t>
            </a:fld>
            <a:endParaRPr lang="en-US" noProof="0" dirty="0"/>
          </a:p>
        </p:txBody>
      </p:sp>
      <p:sp>
        <p:nvSpPr>
          <p:cNvPr id="31" name="Ovaal 30"/>
          <p:cNvSpPr/>
          <p:nvPr/>
        </p:nvSpPr>
        <p:spPr>
          <a:xfrm>
            <a:off x="1873955" y="1682044"/>
            <a:ext cx="406400" cy="383822"/>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i="1" noProof="0" dirty="0"/>
              <a:t>a</a:t>
            </a:r>
          </a:p>
        </p:txBody>
      </p:sp>
      <p:sp>
        <p:nvSpPr>
          <p:cNvPr id="32" name="Ovaal 31"/>
          <p:cNvSpPr/>
          <p:nvPr/>
        </p:nvSpPr>
        <p:spPr>
          <a:xfrm>
            <a:off x="1326444" y="2477911"/>
            <a:ext cx="406400" cy="383822"/>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i="1" noProof="0" dirty="0"/>
              <a:t>b</a:t>
            </a:r>
          </a:p>
        </p:txBody>
      </p:sp>
      <p:sp>
        <p:nvSpPr>
          <p:cNvPr id="33" name="Ovaal 32"/>
          <p:cNvSpPr/>
          <p:nvPr/>
        </p:nvSpPr>
        <p:spPr>
          <a:xfrm>
            <a:off x="2692400" y="2884311"/>
            <a:ext cx="406400" cy="383822"/>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i="1" noProof="0" dirty="0"/>
              <a:t>c</a:t>
            </a:r>
          </a:p>
        </p:txBody>
      </p:sp>
      <p:sp>
        <p:nvSpPr>
          <p:cNvPr id="34" name="Ovaal 33"/>
          <p:cNvSpPr/>
          <p:nvPr/>
        </p:nvSpPr>
        <p:spPr>
          <a:xfrm>
            <a:off x="6118577" y="1174045"/>
            <a:ext cx="146756" cy="158045"/>
          </a:xfrm>
          <a:prstGeom prst="ellipse">
            <a:avLst/>
          </a:prstGeom>
        </p:spPr>
        <p:style>
          <a:lnRef idx="1">
            <a:schemeClr val="dk1"/>
          </a:lnRef>
          <a:fillRef idx="2">
            <a:schemeClr val="dk1"/>
          </a:fillRef>
          <a:effectRef idx="1">
            <a:schemeClr val="dk1"/>
          </a:effectRef>
          <a:fontRef idx="minor">
            <a:schemeClr val="dk1"/>
          </a:fontRef>
        </p:style>
        <p:txBody>
          <a:bodyPr anchor="ctr"/>
          <a:lstStyle/>
          <a:p>
            <a:pPr algn="ctr">
              <a:defRPr/>
            </a:pPr>
            <a:endParaRPr lang="en-US" noProof="0" dirty="0"/>
          </a:p>
        </p:txBody>
      </p:sp>
      <p:sp>
        <p:nvSpPr>
          <p:cNvPr id="35" name="Ovaal 34"/>
          <p:cNvSpPr/>
          <p:nvPr/>
        </p:nvSpPr>
        <p:spPr>
          <a:xfrm>
            <a:off x="6113463" y="1709738"/>
            <a:ext cx="146050" cy="15875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noProof="0" dirty="0"/>
          </a:p>
        </p:txBody>
      </p:sp>
      <p:sp>
        <p:nvSpPr>
          <p:cNvPr id="36" name="Ovaal 35"/>
          <p:cNvSpPr/>
          <p:nvPr/>
        </p:nvSpPr>
        <p:spPr>
          <a:xfrm>
            <a:off x="6965950" y="3014663"/>
            <a:ext cx="146050" cy="15716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noProof="0" dirty="0"/>
          </a:p>
        </p:txBody>
      </p:sp>
      <p:sp>
        <p:nvSpPr>
          <p:cNvPr id="37" name="Ovaal 36"/>
          <p:cNvSpPr/>
          <p:nvPr/>
        </p:nvSpPr>
        <p:spPr>
          <a:xfrm>
            <a:off x="5435600" y="2511425"/>
            <a:ext cx="146050" cy="15875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noProof="0" dirty="0"/>
          </a:p>
        </p:txBody>
      </p:sp>
      <p:cxnSp>
        <p:nvCxnSpPr>
          <p:cNvPr id="39" name="Rechte verbindingslijn met pijl 38"/>
          <p:cNvCxnSpPr>
            <a:stCxn id="0" idx="3"/>
            <a:endCxn id="32" idx="7"/>
          </p:cNvCxnSpPr>
          <p:nvPr/>
        </p:nvCxnSpPr>
        <p:spPr>
          <a:xfrm rot="5400000">
            <a:off x="1541462" y="2141538"/>
            <a:ext cx="523875" cy="2603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41" name="Rechte verbindingslijn met pijl 40"/>
          <p:cNvCxnSpPr>
            <a:stCxn id="31" idx="5"/>
            <a:endCxn id="33" idx="1"/>
          </p:cNvCxnSpPr>
          <p:nvPr/>
        </p:nvCxnSpPr>
        <p:spPr>
          <a:xfrm rot="16200000" flipH="1">
            <a:off x="2020888" y="2209800"/>
            <a:ext cx="930275" cy="5302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49" name="Rechte verbindingslijn met pijl 48"/>
          <p:cNvCxnSpPr>
            <a:endCxn id="0" idx="0"/>
          </p:cNvCxnSpPr>
          <p:nvPr/>
        </p:nvCxnSpPr>
        <p:spPr>
          <a:xfrm rot="5400000">
            <a:off x="1958181" y="1551782"/>
            <a:ext cx="249237" cy="127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53" name="Rechte verbindingslijn met pijl 52"/>
          <p:cNvCxnSpPr>
            <a:stCxn id="34" idx="4"/>
            <a:endCxn id="35" idx="0"/>
          </p:cNvCxnSpPr>
          <p:nvPr/>
        </p:nvCxnSpPr>
        <p:spPr>
          <a:xfrm rot="5400000">
            <a:off x="5999956" y="1518445"/>
            <a:ext cx="377825" cy="4762"/>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54" name="Rechte verbindingslijn met pijl 53"/>
          <p:cNvCxnSpPr>
            <a:stCxn id="35" idx="5"/>
            <a:endCxn id="36" idx="1"/>
          </p:cNvCxnSpPr>
          <p:nvPr/>
        </p:nvCxnSpPr>
        <p:spPr>
          <a:xfrm rot="16200000" flipH="1">
            <a:off x="6016625" y="2066925"/>
            <a:ext cx="1192213" cy="7477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57" name="Rechte verbindingslijn met pijl 56"/>
          <p:cNvCxnSpPr>
            <a:stCxn id="35" idx="3"/>
            <a:endCxn id="37" idx="7"/>
          </p:cNvCxnSpPr>
          <p:nvPr/>
        </p:nvCxnSpPr>
        <p:spPr>
          <a:xfrm rot="5400000">
            <a:off x="5502275" y="1903413"/>
            <a:ext cx="690563" cy="573087"/>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61" name="Rechte verbindingslijn met pijl 60"/>
          <p:cNvCxnSpPr/>
          <p:nvPr/>
        </p:nvCxnSpPr>
        <p:spPr>
          <a:xfrm rot="5400000">
            <a:off x="6061869" y="1039019"/>
            <a:ext cx="247650" cy="11112"/>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4061" name="Tekstvak 61"/>
          <p:cNvSpPr txBox="1">
            <a:spLocks noChangeArrowheads="1"/>
          </p:cNvSpPr>
          <p:nvPr/>
        </p:nvSpPr>
        <p:spPr bwMode="auto">
          <a:xfrm>
            <a:off x="6186488" y="1162050"/>
            <a:ext cx="338137" cy="461963"/>
          </a:xfrm>
          <a:prstGeom prst="rect">
            <a:avLst/>
          </a:prstGeom>
          <a:noFill/>
          <a:ln w="9525">
            <a:noFill/>
            <a:miter lim="800000"/>
            <a:headEnd/>
            <a:tailEnd/>
          </a:ln>
        </p:spPr>
        <p:txBody>
          <a:bodyPr wrap="none">
            <a:spAutoFit/>
          </a:bodyPr>
          <a:lstStyle/>
          <a:p>
            <a:r>
              <a:rPr lang="en-US" i="1" noProof="0" dirty="0"/>
              <a:t>a</a:t>
            </a:r>
          </a:p>
        </p:txBody>
      </p:sp>
      <p:sp>
        <p:nvSpPr>
          <p:cNvPr id="44062" name="Tekstvak 62"/>
          <p:cNvSpPr txBox="1">
            <a:spLocks noChangeArrowheads="1"/>
          </p:cNvSpPr>
          <p:nvPr/>
        </p:nvSpPr>
        <p:spPr bwMode="auto">
          <a:xfrm>
            <a:off x="5576888" y="1795463"/>
            <a:ext cx="338137" cy="460375"/>
          </a:xfrm>
          <a:prstGeom prst="rect">
            <a:avLst/>
          </a:prstGeom>
          <a:noFill/>
          <a:ln w="9525">
            <a:noFill/>
            <a:miter lim="800000"/>
            <a:headEnd/>
            <a:tailEnd/>
          </a:ln>
        </p:spPr>
        <p:txBody>
          <a:bodyPr wrap="none">
            <a:spAutoFit/>
          </a:bodyPr>
          <a:lstStyle/>
          <a:p>
            <a:r>
              <a:rPr lang="en-US" i="1" noProof="0" dirty="0"/>
              <a:t>b</a:t>
            </a:r>
          </a:p>
        </p:txBody>
      </p:sp>
      <p:sp>
        <p:nvSpPr>
          <p:cNvPr id="44063" name="Tekstvak 63"/>
          <p:cNvSpPr txBox="1">
            <a:spLocks noChangeArrowheads="1"/>
          </p:cNvSpPr>
          <p:nvPr/>
        </p:nvSpPr>
        <p:spPr bwMode="auto">
          <a:xfrm>
            <a:off x="6524625" y="2020888"/>
            <a:ext cx="320675" cy="461962"/>
          </a:xfrm>
          <a:prstGeom prst="rect">
            <a:avLst/>
          </a:prstGeom>
          <a:noFill/>
          <a:ln w="9525">
            <a:noFill/>
            <a:miter lim="800000"/>
            <a:headEnd/>
            <a:tailEnd/>
          </a:ln>
        </p:spPr>
        <p:txBody>
          <a:bodyPr wrap="none">
            <a:spAutoFit/>
          </a:bodyPr>
          <a:lstStyle/>
          <a:p>
            <a:r>
              <a:rPr lang="en-US" i="1" noProof="0" dirty="0"/>
              <a:t>c</a:t>
            </a:r>
          </a:p>
        </p:txBody>
      </p:sp>
      <p:sp>
        <p:nvSpPr>
          <p:cNvPr id="65" name="Ovaal 64"/>
          <p:cNvSpPr/>
          <p:nvPr/>
        </p:nvSpPr>
        <p:spPr>
          <a:xfrm>
            <a:off x="6513513" y="3680343"/>
            <a:ext cx="147637" cy="157163"/>
          </a:xfrm>
          <a:prstGeom prst="ellipse">
            <a:avLst/>
          </a:prstGeom>
        </p:spPr>
        <p:style>
          <a:lnRef idx="1">
            <a:schemeClr val="dk1"/>
          </a:lnRef>
          <a:fillRef idx="2">
            <a:schemeClr val="dk1"/>
          </a:fillRef>
          <a:effectRef idx="1">
            <a:schemeClr val="dk1"/>
          </a:effectRef>
          <a:fontRef idx="minor">
            <a:schemeClr val="dk1"/>
          </a:fontRef>
        </p:style>
        <p:txBody>
          <a:bodyPr anchor="ctr"/>
          <a:lstStyle/>
          <a:p>
            <a:pPr algn="ctr">
              <a:defRPr/>
            </a:pPr>
            <a:endParaRPr lang="en-US" noProof="0" dirty="0"/>
          </a:p>
        </p:txBody>
      </p:sp>
      <p:sp>
        <p:nvSpPr>
          <p:cNvPr id="66" name="Ovaal 65"/>
          <p:cNvSpPr/>
          <p:nvPr/>
        </p:nvSpPr>
        <p:spPr>
          <a:xfrm>
            <a:off x="7366000" y="4983681"/>
            <a:ext cx="146050" cy="15716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noProof="0" dirty="0"/>
          </a:p>
        </p:txBody>
      </p:sp>
      <p:sp>
        <p:nvSpPr>
          <p:cNvPr id="67" name="Ovaal 66"/>
          <p:cNvSpPr/>
          <p:nvPr/>
        </p:nvSpPr>
        <p:spPr>
          <a:xfrm>
            <a:off x="5835650" y="4480443"/>
            <a:ext cx="147638" cy="15875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noProof="0" dirty="0"/>
          </a:p>
        </p:txBody>
      </p:sp>
      <p:cxnSp>
        <p:nvCxnSpPr>
          <p:cNvPr id="68" name="Rechte verbindingslijn met pijl 67"/>
          <p:cNvCxnSpPr>
            <a:stCxn id="65" idx="5"/>
            <a:endCxn id="66" idx="1"/>
          </p:cNvCxnSpPr>
          <p:nvPr/>
        </p:nvCxnSpPr>
        <p:spPr>
          <a:xfrm rot="16200000" flipH="1">
            <a:off x="6418262" y="4035944"/>
            <a:ext cx="1190625" cy="7493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69" name="Rechte verbindingslijn met pijl 68"/>
          <p:cNvCxnSpPr>
            <a:stCxn id="65" idx="3"/>
            <a:endCxn id="67" idx="7"/>
          </p:cNvCxnSpPr>
          <p:nvPr/>
        </p:nvCxnSpPr>
        <p:spPr>
          <a:xfrm rot="5400000">
            <a:off x="5903913" y="3872431"/>
            <a:ext cx="688975" cy="5746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4069" name="Tekstvak 69"/>
          <p:cNvSpPr txBox="1">
            <a:spLocks noChangeArrowheads="1"/>
          </p:cNvSpPr>
          <p:nvPr/>
        </p:nvSpPr>
        <p:spPr bwMode="auto">
          <a:xfrm>
            <a:off x="5976938" y="3764481"/>
            <a:ext cx="339725" cy="461962"/>
          </a:xfrm>
          <a:prstGeom prst="rect">
            <a:avLst/>
          </a:prstGeom>
          <a:noFill/>
          <a:ln w="9525">
            <a:noFill/>
            <a:miter lim="800000"/>
            <a:headEnd/>
            <a:tailEnd/>
          </a:ln>
        </p:spPr>
        <p:txBody>
          <a:bodyPr wrap="none">
            <a:spAutoFit/>
          </a:bodyPr>
          <a:lstStyle/>
          <a:p>
            <a:r>
              <a:rPr lang="en-US" i="1" noProof="0" dirty="0"/>
              <a:t>b</a:t>
            </a:r>
          </a:p>
        </p:txBody>
      </p:sp>
      <p:sp>
        <p:nvSpPr>
          <p:cNvPr id="44070" name="Tekstvak 70"/>
          <p:cNvSpPr txBox="1">
            <a:spLocks noChangeArrowheads="1"/>
          </p:cNvSpPr>
          <p:nvPr/>
        </p:nvSpPr>
        <p:spPr bwMode="auto">
          <a:xfrm>
            <a:off x="6926263" y="3989906"/>
            <a:ext cx="320675" cy="461962"/>
          </a:xfrm>
          <a:prstGeom prst="rect">
            <a:avLst/>
          </a:prstGeom>
          <a:noFill/>
          <a:ln w="9525">
            <a:noFill/>
            <a:miter lim="800000"/>
            <a:headEnd/>
            <a:tailEnd/>
          </a:ln>
        </p:spPr>
        <p:txBody>
          <a:bodyPr wrap="none">
            <a:spAutoFit/>
          </a:bodyPr>
          <a:lstStyle/>
          <a:p>
            <a:r>
              <a:rPr lang="en-US" i="1" noProof="0" dirty="0"/>
              <a:t>c</a:t>
            </a:r>
          </a:p>
        </p:txBody>
      </p:sp>
      <p:sp>
        <p:nvSpPr>
          <p:cNvPr id="72" name="Right Arrow 51"/>
          <p:cNvSpPr/>
          <p:nvPr/>
        </p:nvSpPr>
        <p:spPr>
          <a:xfrm flipH="1">
            <a:off x="3908250" y="4035238"/>
            <a:ext cx="680683" cy="488774"/>
          </a:xfrm>
          <a:prstGeom prst="rightArrow">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en-US" noProof="0" dirty="0"/>
          </a:p>
        </p:txBody>
      </p:sp>
      <p:sp>
        <p:nvSpPr>
          <p:cNvPr id="73" name="Ovaal 72"/>
          <p:cNvSpPr/>
          <p:nvPr/>
        </p:nvSpPr>
        <p:spPr>
          <a:xfrm>
            <a:off x="1586088" y="4091680"/>
            <a:ext cx="406400" cy="383822"/>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i="1" noProof="0" dirty="0"/>
              <a:t>b</a:t>
            </a:r>
          </a:p>
        </p:txBody>
      </p:sp>
      <p:sp>
        <p:nvSpPr>
          <p:cNvPr id="74" name="Ovaal 73"/>
          <p:cNvSpPr/>
          <p:nvPr/>
        </p:nvSpPr>
        <p:spPr>
          <a:xfrm>
            <a:off x="1038577" y="4887547"/>
            <a:ext cx="406400" cy="383822"/>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i="1" noProof="0" dirty="0"/>
              <a:t>d</a:t>
            </a:r>
          </a:p>
        </p:txBody>
      </p:sp>
      <p:sp>
        <p:nvSpPr>
          <p:cNvPr id="75" name="Ovaal 74"/>
          <p:cNvSpPr/>
          <p:nvPr/>
        </p:nvSpPr>
        <p:spPr>
          <a:xfrm>
            <a:off x="2404533" y="5293947"/>
            <a:ext cx="406400" cy="383822"/>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i="1" noProof="0" dirty="0"/>
              <a:t>e</a:t>
            </a:r>
          </a:p>
        </p:txBody>
      </p:sp>
      <p:cxnSp>
        <p:nvCxnSpPr>
          <p:cNvPr id="76" name="Rechte verbindingslijn met pijl 75"/>
          <p:cNvCxnSpPr>
            <a:cxnSpLocks/>
            <a:endCxn id="74" idx="7"/>
          </p:cNvCxnSpPr>
          <p:nvPr/>
        </p:nvCxnSpPr>
        <p:spPr>
          <a:xfrm rot="5400000">
            <a:off x="1253332" y="4551087"/>
            <a:ext cx="525462" cy="2603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7" name="Rechte verbindingslijn met pijl 76"/>
          <p:cNvCxnSpPr>
            <a:stCxn id="73" idx="5"/>
            <a:endCxn id="75" idx="1"/>
          </p:cNvCxnSpPr>
          <p:nvPr/>
        </p:nvCxnSpPr>
        <p:spPr>
          <a:xfrm rot="16200000" flipH="1">
            <a:off x="1732757" y="4619349"/>
            <a:ext cx="931862" cy="5302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8" name="Rechte verbindingslijn met pijl 77"/>
          <p:cNvCxnSpPr>
            <a:cxnSpLocks/>
          </p:cNvCxnSpPr>
          <p:nvPr/>
        </p:nvCxnSpPr>
        <p:spPr>
          <a:xfrm rot="5400000">
            <a:off x="1670844" y="3962125"/>
            <a:ext cx="247650" cy="11112"/>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79" name="Ovaal 78"/>
          <p:cNvSpPr/>
          <p:nvPr/>
        </p:nvSpPr>
        <p:spPr>
          <a:xfrm>
            <a:off x="6305550" y="5175768"/>
            <a:ext cx="146050" cy="15716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noProof="0" dirty="0"/>
          </a:p>
        </p:txBody>
      </p:sp>
      <p:cxnSp>
        <p:nvCxnSpPr>
          <p:cNvPr id="80" name="Rechte verbindingslijn met pijl 79"/>
          <p:cNvCxnSpPr>
            <a:stCxn id="67" idx="5"/>
            <a:endCxn id="79" idx="1"/>
          </p:cNvCxnSpPr>
          <p:nvPr/>
        </p:nvCxnSpPr>
        <p:spPr>
          <a:xfrm rot="16200000" flipH="1">
            <a:off x="5852320" y="4724124"/>
            <a:ext cx="582612" cy="36512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5" name="Ovaal 84"/>
          <p:cNvSpPr/>
          <p:nvPr/>
        </p:nvSpPr>
        <p:spPr>
          <a:xfrm>
            <a:off x="5373688" y="5090043"/>
            <a:ext cx="146050" cy="15875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noProof="0" dirty="0"/>
          </a:p>
        </p:txBody>
      </p:sp>
      <p:cxnSp>
        <p:nvCxnSpPr>
          <p:cNvPr id="86" name="Rechte verbindingslijn met pijl 85"/>
          <p:cNvCxnSpPr>
            <a:stCxn id="67" idx="3"/>
            <a:endCxn id="85" idx="7"/>
          </p:cNvCxnSpPr>
          <p:nvPr/>
        </p:nvCxnSpPr>
        <p:spPr>
          <a:xfrm rot="5400000">
            <a:off x="5429250" y="4685231"/>
            <a:ext cx="498475" cy="3587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4090" name="Tekstvak 92"/>
          <p:cNvSpPr txBox="1">
            <a:spLocks noChangeArrowheads="1"/>
          </p:cNvSpPr>
          <p:nvPr/>
        </p:nvSpPr>
        <p:spPr bwMode="auto">
          <a:xfrm>
            <a:off x="5395913" y="4402656"/>
            <a:ext cx="338137" cy="460375"/>
          </a:xfrm>
          <a:prstGeom prst="rect">
            <a:avLst/>
          </a:prstGeom>
          <a:noFill/>
          <a:ln w="9525">
            <a:noFill/>
            <a:miter lim="800000"/>
            <a:headEnd/>
            <a:tailEnd/>
          </a:ln>
        </p:spPr>
        <p:txBody>
          <a:bodyPr wrap="none">
            <a:spAutoFit/>
          </a:bodyPr>
          <a:lstStyle/>
          <a:p>
            <a:r>
              <a:rPr lang="en-US" i="1" noProof="0" dirty="0"/>
              <a:t>d</a:t>
            </a:r>
          </a:p>
        </p:txBody>
      </p:sp>
      <p:sp>
        <p:nvSpPr>
          <p:cNvPr id="44091" name="Tekstvak 93"/>
          <p:cNvSpPr txBox="1">
            <a:spLocks noChangeArrowheads="1"/>
          </p:cNvSpPr>
          <p:nvPr/>
        </p:nvSpPr>
        <p:spPr bwMode="auto">
          <a:xfrm>
            <a:off x="6084888" y="4515368"/>
            <a:ext cx="320675" cy="461963"/>
          </a:xfrm>
          <a:prstGeom prst="rect">
            <a:avLst/>
          </a:prstGeom>
          <a:noFill/>
          <a:ln w="9525">
            <a:noFill/>
            <a:miter lim="800000"/>
            <a:headEnd/>
            <a:tailEnd/>
          </a:ln>
        </p:spPr>
        <p:txBody>
          <a:bodyPr wrap="none">
            <a:spAutoFit/>
          </a:bodyPr>
          <a:lstStyle/>
          <a:p>
            <a:r>
              <a:rPr lang="en-US" i="1" noProof="0" dirty="0"/>
              <a:t>e</a:t>
            </a:r>
          </a:p>
        </p:txBody>
      </p:sp>
      <p:sp>
        <p:nvSpPr>
          <p:cNvPr id="95" name="Ovaal 94"/>
          <p:cNvSpPr/>
          <p:nvPr/>
        </p:nvSpPr>
        <p:spPr>
          <a:xfrm>
            <a:off x="2709332" y="4029591"/>
            <a:ext cx="406400" cy="383822"/>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i="1" noProof="0" dirty="0"/>
              <a:t>c</a:t>
            </a:r>
          </a:p>
        </p:txBody>
      </p:sp>
      <p:cxnSp>
        <p:nvCxnSpPr>
          <p:cNvPr id="96" name="Rechte verbindingslijn met pijl 95"/>
          <p:cNvCxnSpPr/>
          <p:nvPr/>
        </p:nvCxnSpPr>
        <p:spPr>
          <a:xfrm rot="5400000">
            <a:off x="2747963" y="3888305"/>
            <a:ext cx="249238" cy="111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4096" name="Tekstvak 96"/>
          <p:cNvSpPr txBox="1">
            <a:spLocks noChangeArrowheads="1"/>
          </p:cNvSpPr>
          <p:nvPr/>
        </p:nvSpPr>
        <p:spPr bwMode="auto">
          <a:xfrm>
            <a:off x="3330575" y="2303463"/>
            <a:ext cx="1670050" cy="584200"/>
          </a:xfrm>
          <a:prstGeom prst="rect">
            <a:avLst/>
          </a:prstGeom>
          <a:noFill/>
          <a:ln w="9525">
            <a:noFill/>
            <a:miter lim="800000"/>
            <a:headEnd/>
            <a:tailEnd/>
          </a:ln>
        </p:spPr>
        <p:txBody>
          <a:bodyPr>
            <a:spAutoFit/>
          </a:bodyPr>
          <a:lstStyle/>
          <a:p>
            <a:pPr algn="ctr"/>
            <a:r>
              <a:rPr lang="en-US" sz="1600" i="1" noProof="0" dirty="0"/>
              <a:t>generate the same sentences</a:t>
            </a:r>
          </a:p>
        </p:txBody>
      </p:sp>
      <p:sp>
        <p:nvSpPr>
          <p:cNvPr id="44097" name="Tekstvak 97"/>
          <p:cNvSpPr txBox="1">
            <a:spLocks noChangeArrowheads="1"/>
          </p:cNvSpPr>
          <p:nvPr/>
        </p:nvSpPr>
        <p:spPr bwMode="auto">
          <a:xfrm>
            <a:off x="3448050" y="4520131"/>
            <a:ext cx="1671638" cy="585787"/>
          </a:xfrm>
          <a:prstGeom prst="rect">
            <a:avLst/>
          </a:prstGeom>
          <a:noFill/>
          <a:ln w="9525">
            <a:noFill/>
            <a:miter lim="800000"/>
            <a:headEnd/>
            <a:tailEnd/>
          </a:ln>
        </p:spPr>
        <p:txBody>
          <a:bodyPr>
            <a:spAutoFit/>
          </a:bodyPr>
          <a:lstStyle/>
          <a:p>
            <a:pPr algn="ctr"/>
            <a:r>
              <a:rPr lang="en-US" sz="1600" i="1" noProof="0" dirty="0"/>
              <a:t>generate the same sentences</a:t>
            </a:r>
          </a:p>
        </p:txBody>
      </p:sp>
      <p:sp>
        <p:nvSpPr>
          <p:cNvPr id="2" name="TextBox 1">
            <a:extLst>
              <a:ext uri="{FF2B5EF4-FFF2-40B4-BE49-F238E27FC236}">
                <a16:creationId xmlns:a16="http://schemas.microsoft.com/office/drawing/2014/main" id="{FAEDFEAD-6F94-63A7-FFE4-847BB91C06F4}"/>
              </a:ext>
            </a:extLst>
          </p:cNvPr>
          <p:cNvSpPr txBox="1"/>
          <p:nvPr/>
        </p:nvSpPr>
        <p:spPr>
          <a:xfrm>
            <a:off x="1824448" y="5986714"/>
            <a:ext cx="5939446" cy="461665"/>
          </a:xfrm>
          <a:prstGeom prst="rect">
            <a:avLst/>
          </a:prstGeom>
          <a:noFill/>
          <a:ln>
            <a:solidFill>
              <a:schemeClr val="tx1"/>
            </a:solidFill>
          </a:ln>
        </p:spPr>
        <p:txBody>
          <a:bodyPr wrap="none" rtlCol="0">
            <a:spAutoFit/>
          </a:bodyPr>
          <a:lstStyle/>
          <a:p>
            <a:r>
              <a:rPr lang="en-US" noProof="0" dirty="0"/>
              <a:t>L(M) before and after should remain the same.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4"/>
          <p:cNvSpPr>
            <a:spLocks noGrp="1"/>
          </p:cNvSpPr>
          <p:nvPr>
            <p:ph type="title"/>
          </p:nvPr>
        </p:nvSpPr>
        <p:spPr>
          <a:xfrm>
            <a:off x="500063" y="274638"/>
            <a:ext cx="8358187" cy="796925"/>
          </a:xfrm>
        </p:spPr>
        <p:txBody>
          <a:bodyPr/>
          <a:lstStyle/>
          <a:p>
            <a:pPr eaLnBrk="1" hangingPunct="1"/>
            <a:r>
              <a:rPr lang="en-US" noProof="0" dirty="0">
                <a:cs typeface="Arial" charset="0"/>
              </a:rPr>
              <a:t>Converting Kripke to Buchi</a:t>
            </a:r>
          </a:p>
        </p:txBody>
      </p:sp>
      <p:sp>
        <p:nvSpPr>
          <p:cNvPr id="29" name="Tijdelijke aanduiding voor dianummer 28"/>
          <p:cNvSpPr>
            <a:spLocks noGrp="1"/>
          </p:cNvSpPr>
          <p:nvPr>
            <p:ph type="sldNum" sz="quarter" idx="12"/>
          </p:nvPr>
        </p:nvSpPr>
        <p:spPr/>
        <p:txBody>
          <a:bodyPr/>
          <a:lstStyle/>
          <a:p>
            <a:pPr>
              <a:defRPr/>
            </a:pPr>
            <a:fld id="{5EA63C93-6530-4708-8E34-9F7069C7B49C}" type="slidenum">
              <a:rPr lang="en-US" noProof="0"/>
              <a:pPr>
                <a:defRPr/>
              </a:pPr>
              <a:t>39</a:t>
            </a:fld>
            <a:endParaRPr lang="en-US" noProof="0" dirty="0"/>
          </a:p>
        </p:txBody>
      </p:sp>
      <p:sp>
        <p:nvSpPr>
          <p:cNvPr id="43" name="Rounded Rectangle 42"/>
          <p:cNvSpPr/>
          <p:nvPr/>
        </p:nvSpPr>
        <p:spPr>
          <a:xfrm>
            <a:off x="4876800" y="4233863"/>
            <a:ext cx="690563" cy="457200"/>
          </a:xfrm>
          <a:prstGeom prst="roundRect">
            <a:avLst>
              <a:gd name="adj" fmla="val 37006"/>
            </a:avLst>
          </a:prstGeom>
          <a:solidFill>
            <a:schemeClr val="accent3">
              <a:lumMod val="60000"/>
              <a:lumOff val="40000"/>
            </a:schemeClr>
          </a:solidFill>
          <a:ln w="76200" cmpd="dbl"/>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sz="2000" noProof="0" dirty="0">
                <a:cs typeface="Arial" pitchFamily="34" charset="0"/>
              </a:rPr>
              <a:t>0</a:t>
            </a:r>
          </a:p>
        </p:txBody>
      </p:sp>
      <p:sp>
        <p:nvSpPr>
          <p:cNvPr id="44" name="Rounded Rectangle 43"/>
          <p:cNvSpPr/>
          <p:nvPr/>
        </p:nvSpPr>
        <p:spPr>
          <a:xfrm>
            <a:off x="4910138" y="5311775"/>
            <a:ext cx="636587" cy="425450"/>
          </a:xfrm>
          <a:prstGeom prst="roundRect">
            <a:avLst>
              <a:gd name="adj" fmla="val 37006"/>
            </a:avLst>
          </a:prstGeom>
          <a:solidFill>
            <a:schemeClr val="accent3">
              <a:lumMod val="60000"/>
              <a:lumOff val="40000"/>
            </a:schemeClr>
          </a:solidFill>
          <a:ln w="76200" cmpd="dbl"/>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sz="2000" noProof="0" dirty="0">
                <a:cs typeface="Arial" pitchFamily="34" charset="0"/>
              </a:rPr>
              <a:t>1</a:t>
            </a:r>
          </a:p>
        </p:txBody>
      </p:sp>
      <p:cxnSp>
        <p:nvCxnSpPr>
          <p:cNvPr id="45" name="Curved Connector 8"/>
          <p:cNvCxnSpPr>
            <a:stCxn id="43" idx="0"/>
            <a:endCxn id="43" idx="3"/>
          </p:cNvCxnSpPr>
          <p:nvPr/>
        </p:nvCxnSpPr>
        <p:spPr>
          <a:xfrm rot="16200000" flipH="1">
            <a:off x="5280026" y="4175125"/>
            <a:ext cx="228600" cy="346075"/>
          </a:xfrm>
          <a:prstGeom prst="curvedConnector4">
            <a:avLst>
              <a:gd name="adj1" fmla="val -100000"/>
              <a:gd name="adj2" fmla="val 166207"/>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a:stCxn id="43" idx="2"/>
            <a:endCxn id="44" idx="0"/>
          </p:cNvCxnSpPr>
          <p:nvPr/>
        </p:nvCxnSpPr>
        <p:spPr>
          <a:xfrm rot="16200000" flipH="1">
            <a:off x="4914901" y="4999037"/>
            <a:ext cx="620712" cy="476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7" name="Curved Connector 8"/>
          <p:cNvCxnSpPr>
            <a:stCxn id="44" idx="3"/>
            <a:endCxn id="44" idx="1"/>
          </p:cNvCxnSpPr>
          <p:nvPr/>
        </p:nvCxnSpPr>
        <p:spPr>
          <a:xfrm flipH="1">
            <a:off x="4910138" y="5524500"/>
            <a:ext cx="636587" cy="1588"/>
          </a:xfrm>
          <a:prstGeom prst="curvedConnector5">
            <a:avLst>
              <a:gd name="adj1" fmla="val -35910"/>
              <a:gd name="adj2" fmla="val 38052342"/>
              <a:gd name="adj3" fmla="val 135910"/>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8" name="Straight Arrow Connector 47"/>
          <p:cNvCxnSpPr/>
          <p:nvPr/>
        </p:nvCxnSpPr>
        <p:spPr>
          <a:xfrm rot="5400000">
            <a:off x="4961732" y="2455069"/>
            <a:ext cx="446087" cy="31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5080" name="TextBox 48"/>
          <p:cNvSpPr txBox="1">
            <a:spLocks noChangeArrowheads="1"/>
          </p:cNvSpPr>
          <p:nvPr/>
        </p:nvSpPr>
        <p:spPr bwMode="auto">
          <a:xfrm>
            <a:off x="5864342" y="3897313"/>
            <a:ext cx="1133644" cy="338554"/>
          </a:xfrm>
          <a:prstGeom prst="rect">
            <a:avLst/>
          </a:prstGeom>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en-US" sz="1600" noProof="0" dirty="0"/>
              <a:t>{ </a:t>
            </a:r>
            <a:r>
              <a:rPr lang="en-US" sz="1600" noProof="0" dirty="0" err="1"/>
              <a:t>isOdd</a:t>
            </a:r>
            <a:r>
              <a:rPr lang="en-US" sz="1600" noProof="0" dirty="0"/>
              <a:t> x }</a:t>
            </a:r>
          </a:p>
        </p:txBody>
      </p:sp>
      <p:sp>
        <p:nvSpPr>
          <p:cNvPr id="45081" name="TextBox 50"/>
          <p:cNvSpPr txBox="1">
            <a:spLocks noChangeArrowheads="1"/>
          </p:cNvSpPr>
          <p:nvPr/>
        </p:nvSpPr>
        <p:spPr bwMode="auto">
          <a:xfrm>
            <a:off x="5854188" y="5584825"/>
            <a:ext cx="1585690" cy="338554"/>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sz="1600" noProof="0" dirty="0"/>
              <a:t>{ </a:t>
            </a:r>
            <a:r>
              <a:rPr lang="en-US" sz="1600" noProof="0" dirty="0" err="1"/>
              <a:t>isOdd</a:t>
            </a:r>
            <a:r>
              <a:rPr lang="en-US" sz="1600" noProof="0" dirty="0"/>
              <a:t> x, x&gt;0 }</a:t>
            </a:r>
          </a:p>
        </p:txBody>
      </p:sp>
      <p:sp>
        <p:nvSpPr>
          <p:cNvPr id="52" name="Right Arrow 51"/>
          <p:cNvSpPr/>
          <p:nvPr/>
        </p:nvSpPr>
        <p:spPr>
          <a:xfrm>
            <a:off x="2101370" y="3593326"/>
            <a:ext cx="1273175" cy="815975"/>
          </a:xfrm>
          <a:prstGeom prst="right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noProof="0" dirty="0"/>
          </a:p>
        </p:txBody>
      </p:sp>
      <p:sp>
        <p:nvSpPr>
          <p:cNvPr id="24" name="Rounded Rectangle 42"/>
          <p:cNvSpPr/>
          <p:nvPr/>
        </p:nvSpPr>
        <p:spPr>
          <a:xfrm>
            <a:off x="4876800" y="2862263"/>
            <a:ext cx="690563" cy="457200"/>
          </a:xfrm>
          <a:prstGeom prst="roundRect">
            <a:avLst>
              <a:gd name="adj" fmla="val 37006"/>
            </a:avLst>
          </a:prstGeom>
          <a:solidFill>
            <a:schemeClr val="accent3">
              <a:lumMod val="60000"/>
              <a:lumOff val="40000"/>
            </a:schemeClr>
          </a:solidFill>
          <a:ln w="76200" cmpd="dbl"/>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sz="2000" noProof="0" dirty="0">
                <a:cs typeface="Arial" pitchFamily="34" charset="0"/>
              </a:rPr>
              <a:t>z</a:t>
            </a:r>
          </a:p>
        </p:txBody>
      </p:sp>
      <p:cxnSp>
        <p:nvCxnSpPr>
          <p:cNvPr id="30" name="Straight Arrow Connector 45"/>
          <p:cNvCxnSpPr>
            <a:stCxn id="24" idx="2"/>
            <a:endCxn id="43" idx="0"/>
          </p:cNvCxnSpPr>
          <p:nvPr/>
        </p:nvCxnSpPr>
        <p:spPr>
          <a:xfrm rot="5400000">
            <a:off x="4764882" y="3777456"/>
            <a:ext cx="914400" cy="1587"/>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45085" name="TextBox 48"/>
          <p:cNvSpPr txBox="1">
            <a:spLocks noChangeArrowheads="1"/>
          </p:cNvSpPr>
          <p:nvPr/>
        </p:nvSpPr>
        <p:spPr bwMode="auto">
          <a:xfrm>
            <a:off x="4034648" y="3478213"/>
            <a:ext cx="1133644" cy="338554"/>
          </a:xfrm>
          <a:prstGeom prst="rect">
            <a:avLst/>
          </a:prstGeom>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en-US" sz="1600" noProof="0" dirty="0"/>
              <a:t>{ </a:t>
            </a:r>
            <a:r>
              <a:rPr lang="en-US" sz="1600" noProof="0" dirty="0" err="1"/>
              <a:t>isOdd</a:t>
            </a:r>
            <a:r>
              <a:rPr lang="en-US" sz="1600" noProof="0" dirty="0"/>
              <a:t> x }</a:t>
            </a:r>
          </a:p>
        </p:txBody>
      </p:sp>
      <p:sp>
        <p:nvSpPr>
          <p:cNvPr id="45086" name="TextBox 50"/>
          <p:cNvSpPr txBox="1">
            <a:spLocks noChangeArrowheads="1"/>
          </p:cNvSpPr>
          <p:nvPr/>
        </p:nvSpPr>
        <p:spPr bwMode="auto">
          <a:xfrm>
            <a:off x="5337920" y="4769958"/>
            <a:ext cx="1585690" cy="338554"/>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sz="1600" noProof="0" dirty="0"/>
              <a:t>{ </a:t>
            </a:r>
            <a:r>
              <a:rPr lang="en-US" sz="1600" noProof="0" dirty="0" err="1"/>
              <a:t>isOdd</a:t>
            </a:r>
            <a:r>
              <a:rPr lang="en-US" sz="1600" noProof="0" dirty="0"/>
              <a:t> x, x&gt;0 }</a:t>
            </a:r>
          </a:p>
        </p:txBody>
      </p:sp>
      <p:sp>
        <p:nvSpPr>
          <p:cNvPr id="45087" name="Tekstvak 28"/>
          <p:cNvSpPr txBox="1">
            <a:spLocks noChangeArrowheads="1"/>
          </p:cNvSpPr>
          <p:nvPr/>
        </p:nvSpPr>
        <p:spPr bwMode="auto">
          <a:xfrm>
            <a:off x="603250" y="5024533"/>
            <a:ext cx="3934027" cy="830997"/>
          </a:xfrm>
          <a:prstGeom prst="rect">
            <a:avLst/>
          </a:prstGeom>
          <a:noFill/>
          <a:ln w="9525">
            <a:noFill/>
            <a:miter lim="800000"/>
            <a:headEnd/>
            <a:tailEnd/>
          </a:ln>
        </p:spPr>
        <p:txBody>
          <a:bodyPr wrap="square">
            <a:spAutoFit/>
          </a:bodyPr>
          <a:lstStyle/>
          <a:p>
            <a:r>
              <a:rPr lang="en-US" noProof="0" dirty="0"/>
              <a:t>Generate the same (infinite) sentences!</a:t>
            </a:r>
          </a:p>
        </p:txBody>
      </p:sp>
      <p:sp>
        <p:nvSpPr>
          <p:cNvPr id="45088" name="TextBox 30"/>
          <p:cNvSpPr txBox="1">
            <a:spLocks noChangeArrowheads="1"/>
          </p:cNvSpPr>
          <p:nvPr/>
        </p:nvSpPr>
        <p:spPr bwMode="auto">
          <a:xfrm>
            <a:off x="6210300" y="2609850"/>
            <a:ext cx="2647950" cy="708025"/>
          </a:xfrm>
          <a:prstGeom prst="rect">
            <a:avLst/>
          </a:prstGeom>
          <a:noFill/>
          <a:ln w="9525">
            <a:noFill/>
            <a:miter lim="800000"/>
            <a:headEnd/>
            <a:tailEnd/>
          </a:ln>
        </p:spPr>
        <p:txBody>
          <a:bodyPr>
            <a:spAutoFit/>
          </a:bodyPr>
          <a:lstStyle/>
          <a:p>
            <a:r>
              <a:rPr lang="en-US" sz="2000" i="1" noProof="0" dirty="0"/>
              <a:t>Single accepting set F, containing all states.</a:t>
            </a:r>
          </a:p>
        </p:txBody>
      </p:sp>
      <p:sp>
        <p:nvSpPr>
          <p:cNvPr id="31" name="Rounded Rectangle 30"/>
          <p:cNvSpPr/>
          <p:nvPr/>
        </p:nvSpPr>
        <p:spPr>
          <a:xfrm>
            <a:off x="660492" y="1869745"/>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32" name="Rounded Rectangle 31"/>
          <p:cNvSpPr/>
          <p:nvPr/>
        </p:nvSpPr>
        <p:spPr>
          <a:xfrm>
            <a:off x="698591" y="2884157"/>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33" name="Curved Connector 8"/>
          <p:cNvCxnSpPr>
            <a:endCxn id="31" idx="0"/>
          </p:cNvCxnSpPr>
          <p:nvPr/>
        </p:nvCxnSpPr>
        <p:spPr>
          <a:xfrm rot="10800000">
            <a:off x="1012125" y="1869745"/>
            <a:ext cx="351631" cy="296862"/>
          </a:xfrm>
          <a:prstGeom prst="curvedConnector4">
            <a:avLst>
              <a:gd name="adj1" fmla="val -103386"/>
              <a:gd name="adj2" fmla="val 247593"/>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4" name="Straight Arrow Connector 33"/>
          <p:cNvCxnSpPr>
            <a:stCxn id="31" idx="2"/>
            <a:endCxn id="32" idx="0"/>
          </p:cNvCxnSpPr>
          <p:nvPr/>
        </p:nvCxnSpPr>
        <p:spPr>
          <a:xfrm>
            <a:off x="1012124" y="2463470"/>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5" name="Curved Connector 8"/>
          <p:cNvCxnSpPr>
            <a:endCxn id="32" idx="2"/>
          </p:cNvCxnSpPr>
          <p:nvPr/>
        </p:nvCxnSpPr>
        <p:spPr>
          <a:xfrm rot="10800000" flipV="1">
            <a:off x="1027205" y="3181020"/>
            <a:ext cx="328613" cy="296862"/>
          </a:xfrm>
          <a:prstGeom prst="curvedConnector4">
            <a:avLst>
              <a:gd name="adj1" fmla="val -110144"/>
              <a:gd name="adj2" fmla="val 247594"/>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6" name="Straight Arrow Connector 35"/>
          <p:cNvCxnSpPr/>
          <p:nvPr/>
        </p:nvCxnSpPr>
        <p:spPr>
          <a:xfrm>
            <a:off x="374745" y="1814185"/>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7" name="TextBox 36"/>
          <p:cNvSpPr txBox="1"/>
          <p:nvPr/>
        </p:nvSpPr>
        <p:spPr>
          <a:xfrm>
            <a:off x="2089242" y="1985632"/>
            <a:ext cx="1582484"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noProof="0" dirty="0">
                <a:cs typeface="Arial" pitchFamily="34" charset="0"/>
              </a:rPr>
              <a:t>{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endParaRPr lang="en-US" noProof="0" dirty="0"/>
          </a:p>
        </p:txBody>
      </p:sp>
      <p:sp>
        <p:nvSpPr>
          <p:cNvPr id="38" name="TextBox 37"/>
          <p:cNvSpPr txBox="1"/>
          <p:nvPr/>
        </p:nvSpPr>
        <p:spPr>
          <a:xfrm>
            <a:off x="2013042" y="2633332"/>
            <a:ext cx="227658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noProof="0" dirty="0">
                <a:cs typeface="Arial" pitchFamily="34" charset="0"/>
              </a:rPr>
              <a:t>{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r>
              <a:rPr lang="en-US" i="1" noProof="0" dirty="0">
                <a:cs typeface="Arial" pitchFamily="34" charset="0"/>
              </a:rPr>
              <a:t>x</a:t>
            </a:r>
            <a:r>
              <a:rPr lang="en-US" noProof="0" dirty="0">
                <a:cs typeface="Arial" pitchFamily="34" charset="0"/>
              </a:rPr>
              <a:t>&gt;0 }</a:t>
            </a:r>
          </a:p>
        </p:txBody>
      </p:sp>
      <p:cxnSp>
        <p:nvCxnSpPr>
          <p:cNvPr id="39" name="Straight Connector 38"/>
          <p:cNvCxnSpPr>
            <a:stCxn id="37" idx="1"/>
          </p:cNvCxnSpPr>
          <p:nvPr/>
        </p:nvCxnSpPr>
        <p:spPr>
          <a:xfrm flipH="1">
            <a:off x="1193892" y="2216465"/>
            <a:ext cx="895350" cy="9301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8" idx="1"/>
          </p:cNvCxnSpPr>
          <p:nvPr/>
        </p:nvCxnSpPr>
        <p:spPr>
          <a:xfrm flipH="1">
            <a:off x="1289142" y="2864165"/>
            <a:ext cx="723900" cy="169217"/>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A3AF-6439-7CFC-795A-D6F85963383B}"/>
            </a:ext>
          </a:extLst>
        </p:cNvPr>
        <p:cNvGrpSpPr/>
        <p:nvPr/>
      </p:nvGrpSpPr>
      <p:grpSpPr>
        <a:xfrm>
          <a:off x="0" y="0"/>
          <a:ext cx="0" cy="0"/>
          <a:chOff x="0" y="0"/>
          <a:chExt cx="0" cy="0"/>
        </a:xfrm>
      </p:grpSpPr>
      <p:sp>
        <p:nvSpPr>
          <p:cNvPr id="45058" name="Title 4">
            <a:extLst>
              <a:ext uri="{FF2B5EF4-FFF2-40B4-BE49-F238E27FC236}">
                <a16:creationId xmlns:a16="http://schemas.microsoft.com/office/drawing/2014/main" id="{9512423D-B691-B287-A5AC-3D35F840EE56}"/>
              </a:ext>
            </a:extLst>
          </p:cNvPr>
          <p:cNvSpPr>
            <a:spLocks noGrp="1"/>
          </p:cNvSpPr>
          <p:nvPr>
            <p:ph type="title"/>
          </p:nvPr>
        </p:nvSpPr>
        <p:spPr>
          <a:xfrm>
            <a:off x="500063" y="274638"/>
            <a:ext cx="8358187" cy="796925"/>
          </a:xfrm>
        </p:spPr>
        <p:txBody>
          <a:bodyPr/>
          <a:lstStyle/>
          <a:p>
            <a:pPr eaLnBrk="1" hangingPunct="1"/>
            <a:r>
              <a:rPr lang="en-US" noProof="0" dirty="0">
                <a:cs typeface="Arial" charset="0"/>
              </a:rPr>
              <a:t>Converting Kripke to Buchi</a:t>
            </a:r>
          </a:p>
        </p:txBody>
      </p:sp>
      <p:sp>
        <p:nvSpPr>
          <p:cNvPr id="29" name="Tijdelijke aanduiding voor dianummer 28">
            <a:extLst>
              <a:ext uri="{FF2B5EF4-FFF2-40B4-BE49-F238E27FC236}">
                <a16:creationId xmlns:a16="http://schemas.microsoft.com/office/drawing/2014/main" id="{5037201E-C844-F314-EB4E-C165722F5FBF}"/>
              </a:ext>
            </a:extLst>
          </p:cNvPr>
          <p:cNvSpPr>
            <a:spLocks noGrp="1"/>
          </p:cNvSpPr>
          <p:nvPr>
            <p:ph type="sldNum" sz="quarter" idx="12"/>
          </p:nvPr>
        </p:nvSpPr>
        <p:spPr/>
        <p:txBody>
          <a:bodyPr/>
          <a:lstStyle/>
          <a:p>
            <a:pPr>
              <a:defRPr/>
            </a:pPr>
            <a:fld id="{5EA63C93-6530-4708-8E34-9F7069C7B49C}" type="slidenum">
              <a:rPr lang="en-US" noProof="0"/>
              <a:pPr>
                <a:defRPr/>
              </a:pPr>
              <a:t>40</a:t>
            </a:fld>
            <a:endParaRPr lang="en-US" noProof="0" dirty="0"/>
          </a:p>
        </p:txBody>
      </p:sp>
      <p:sp>
        <p:nvSpPr>
          <p:cNvPr id="43" name="Rounded Rectangle 42">
            <a:extLst>
              <a:ext uri="{FF2B5EF4-FFF2-40B4-BE49-F238E27FC236}">
                <a16:creationId xmlns:a16="http://schemas.microsoft.com/office/drawing/2014/main" id="{CB6950B7-8755-6809-722C-4A187A8A93AA}"/>
              </a:ext>
            </a:extLst>
          </p:cNvPr>
          <p:cNvSpPr/>
          <p:nvPr/>
        </p:nvSpPr>
        <p:spPr>
          <a:xfrm>
            <a:off x="6295172" y="2479470"/>
            <a:ext cx="690563" cy="457200"/>
          </a:xfrm>
          <a:prstGeom prst="roundRect">
            <a:avLst>
              <a:gd name="adj" fmla="val 37006"/>
            </a:avLst>
          </a:prstGeom>
          <a:solidFill>
            <a:schemeClr val="accent3">
              <a:lumMod val="60000"/>
              <a:lumOff val="40000"/>
            </a:schemeClr>
          </a:solidFill>
          <a:ln w="76200" cmpd="dbl"/>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sz="2000" noProof="0" dirty="0">
                <a:cs typeface="Arial" pitchFamily="34" charset="0"/>
              </a:rPr>
              <a:t>0</a:t>
            </a:r>
          </a:p>
        </p:txBody>
      </p:sp>
      <p:sp>
        <p:nvSpPr>
          <p:cNvPr id="44" name="Rounded Rectangle 43">
            <a:extLst>
              <a:ext uri="{FF2B5EF4-FFF2-40B4-BE49-F238E27FC236}">
                <a16:creationId xmlns:a16="http://schemas.microsoft.com/office/drawing/2014/main" id="{F8B74BB5-1C74-C961-EDAD-355AD6C87EBA}"/>
              </a:ext>
            </a:extLst>
          </p:cNvPr>
          <p:cNvSpPr/>
          <p:nvPr/>
        </p:nvSpPr>
        <p:spPr>
          <a:xfrm>
            <a:off x="6328510" y="3557382"/>
            <a:ext cx="636587" cy="425450"/>
          </a:xfrm>
          <a:prstGeom prst="roundRect">
            <a:avLst>
              <a:gd name="adj" fmla="val 37006"/>
            </a:avLst>
          </a:prstGeom>
          <a:solidFill>
            <a:schemeClr val="accent3">
              <a:lumMod val="60000"/>
              <a:lumOff val="40000"/>
            </a:schemeClr>
          </a:solidFill>
          <a:ln w="76200" cmpd="dbl"/>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sz="2000" noProof="0" dirty="0">
                <a:cs typeface="Arial" pitchFamily="34" charset="0"/>
              </a:rPr>
              <a:t>1</a:t>
            </a:r>
          </a:p>
        </p:txBody>
      </p:sp>
      <p:cxnSp>
        <p:nvCxnSpPr>
          <p:cNvPr id="45" name="Curved Connector 8">
            <a:extLst>
              <a:ext uri="{FF2B5EF4-FFF2-40B4-BE49-F238E27FC236}">
                <a16:creationId xmlns:a16="http://schemas.microsoft.com/office/drawing/2014/main" id="{EC6EAE15-30C4-451C-0589-C1FDBCCC533F}"/>
              </a:ext>
            </a:extLst>
          </p:cNvPr>
          <p:cNvCxnSpPr>
            <a:stCxn id="43" idx="0"/>
            <a:endCxn id="43" idx="3"/>
          </p:cNvCxnSpPr>
          <p:nvPr/>
        </p:nvCxnSpPr>
        <p:spPr>
          <a:xfrm rot="16200000" flipH="1">
            <a:off x="6698398" y="2420732"/>
            <a:ext cx="228600" cy="346075"/>
          </a:xfrm>
          <a:prstGeom prst="curvedConnector4">
            <a:avLst>
              <a:gd name="adj1" fmla="val -100000"/>
              <a:gd name="adj2" fmla="val 166207"/>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a:extLst>
              <a:ext uri="{FF2B5EF4-FFF2-40B4-BE49-F238E27FC236}">
                <a16:creationId xmlns:a16="http://schemas.microsoft.com/office/drawing/2014/main" id="{90EC0310-8D96-49CB-35BA-B2F02B77FC9A}"/>
              </a:ext>
            </a:extLst>
          </p:cNvPr>
          <p:cNvCxnSpPr>
            <a:stCxn id="43" idx="2"/>
            <a:endCxn id="44" idx="0"/>
          </p:cNvCxnSpPr>
          <p:nvPr/>
        </p:nvCxnSpPr>
        <p:spPr>
          <a:xfrm rot="16200000" flipH="1">
            <a:off x="6333273" y="3244644"/>
            <a:ext cx="620712" cy="476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7" name="Curved Connector 8">
            <a:extLst>
              <a:ext uri="{FF2B5EF4-FFF2-40B4-BE49-F238E27FC236}">
                <a16:creationId xmlns:a16="http://schemas.microsoft.com/office/drawing/2014/main" id="{AEE9FAC5-EBD9-64E4-15F0-451CC4A2E155}"/>
              </a:ext>
            </a:extLst>
          </p:cNvPr>
          <p:cNvCxnSpPr>
            <a:stCxn id="44" idx="3"/>
            <a:endCxn id="44" idx="1"/>
          </p:cNvCxnSpPr>
          <p:nvPr/>
        </p:nvCxnSpPr>
        <p:spPr>
          <a:xfrm flipH="1">
            <a:off x="6328510" y="3770107"/>
            <a:ext cx="636587" cy="1588"/>
          </a:xfrm>
          <a:prstGeom prst="curvedConnector5">
            <a:avLst>
              <a:gd name="adj1" fmla="val -35910"/>
              <a:gd name="adj2" fmla="val 38052342"/>
              <a:gd name="adj3" fmla="val 135910"/>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8" name="Straight Arrow Connector 47">
            <a:extLst>
              <a:ext uri="{FF2B5EF4-FFF2-40B4-BE49-F238E27FC236}">
                <a16:creationId xmlns:a16="http://schemas.microsoft.com/office/drawing/2014/main" id="{99778840-2AA0-1113-A65C-319EFCED4ECE}"/>
              </a:ext>
            </a:extLst>
          </p:cNvPr>
          <p:cNvCxnSpPr>
            <a:cxnSpLocks/>
          </p:cNvCxnSpPr>
          <p:nvPr/>
        </p:nvCxnSpPr>
        <p:spPr>
          <a:xfrm>
            <a:off x="6097528" y="2142920"/>
            <a:ext cx="194470" cy="27154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5080" name="TextBox 48">
            <a:extLst>
              <a:ext uri="{FF2B5EF4-FFF2-40B4-BE49-F238E27FC236}">
                <a16:creationId xmlns:a16="http://schemas.microsoft.com/office/drawing/2014/main" id="{3CFAA131-C58C-CFFC-E3FE-F9507BA818E4}"/>
              </a:ext>
            </a:extLst>
          </p:cNvPr>
          <p:cNvSpPr txBox="1">
            <a:spLocks noChangeArrowheads="1"/>
          </p:cNvSpPr>
          <p:nvPr/>
        </p:nvSpPr>
        <p:spPr bwMode="auto">
          <a:xfrm>
            <a:off x="7282714" y="2142920"/>
            <a:ext cx="1133644" cy="338554"/>
          </a:xfrm>
          <a:prstGeom prst="rect">
            <a:avLst/>
          </a:prstGeom>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en-US" sz="1600" noProof="0" dirty="0"/>
              <a:t>{ </a:t>
            </a:r>
            <a:r>
              <a:rPr lang="en-US" sz="1600" noProof="0" dirty="0" err="1"/>
              <a:t>isOdd</a:t>
            </a:r>
            <a:r>
              <a:rPr lang="en-US" sz="1600" noProof="0" dirty="0"/>
              <a:t> x }</a:t>
            </a:r>
          </a:p>
        </p:txBody>
      </p:sp>
      <p:sp>
        <p:nvSpPr>
          <p:cNvPr id="45081" name="TextBox 50">
            <a:extLst>
              <a:ext uri="{FF2B5EF4-FFF2-40B4-BE49-F238E27FC236}">
                <a16:creationId xmlns:a16="http://schemas.microsoft.com/office/drawing/2014/main" id="{AACB02EA-91E6-AE17-20B7-01DB6C74D519}"/>
              </a:ext>
            </a:extLst>
          </p:cNvPr>
          <p:cNvSpPr txBox="1">
            <a:spLocks noChangeArrowheads="1"/>
          </p:cNvSpPr>
          <p:nvPr/>
        </p:nvSpPr>
        <p:spPr bwMode="auto">
          <a:xfrm>
            <a:off x="7272560" y="3830432"/>
            <a:ext cx="1585690" cy="338554"/>
          </a:xfrm>
          <a:prstGeom prst="rect">
            <a:avLst/>
          </a:prstGeom>
          <a:ln>
            <a:no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sz="1600" noProof="0" dirty="0"/>
              <a:t>{ </a:t>
            </a:r>
            <a:r>
              <a:rPr lang="en-US" sz="1600" noProof="0" dirty="0" err="1"/>
              <a:t>isOdd</a:t>
            </a:r>
            <a:r>
              <a:rPr lang="en-US" sz="1600" noProof="0" dirty="0"/>
              <a:t> x, x&gt;0 }</a:t>
            </a:r>
          </a:p>
        </p:txBody>
      </p:sp>
      <p:sp>
        <p:nvSpPr>
          <p:cNvPr id="52" name="Right Arrow 51">
            <a:extLst>
              <a:ext uri="{FF2B5EF4-FFF2-40B4-BE49-F238E27FC236}">
                <a16:creationId xmlns:a16="http://schemas.microsoft.com/office/drawing/2014/main" id="{1D658078-1DC0-11AF-0511-9613166E8EE1}"/>
              </a:ext>
            </a:extLst>
          </p:cNvPr>
          <p:cNvSpPr/>
          <p:nvPr/>
        </p:nvSpPr>
        <p:spPr>
          <a:xfrm>
            <a:off x="4750171" y="2609059"/>
            <a:ext cx="1273175" cy="815975"/>
          </a:xfrm>
          <a:prstGeom prst="rightArrow">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noProof="0" dirty="0"/>
          </a:p>
        </p:txBody>
      </p:sp>
      <p:sp>
        <p:nvSpPr>
          <p:cNvPr id="45087" name="Tekstvak 28">
            <a:extLst>
              <a:ext uri="{FF2B5EF4-FFF2-40B4-BE49-F238E27FC236}">
                <a16:creationId xmlns:a16="http://schemas.microsoft.com/office/drawing/2014/main" id="{6955D5B7-381D-181A-4E25-D9A9D710F5E1}"/>
              </a:ext>
            </a:extLst>
          </p:cNvPr>
          <p:cNvSpPr txBox="1">
            <a:spLocks noChangeArrowheads="1"/>
          </p:cNvSpPr>
          <p:nvPr/>
        </p:nvSpPr>
        <p:spPr bwMode="auto">
          <a:xfrm>
            <a:off x="1822406" y="4745275"/>
            <a:ext cx="6373615" cy="707886"/>
          </a:xfrm>
          <a:prstGeom prst="rect">
            <a:avLst/>
          </a:prstGeom>
          <a:noFill/>
          <a:ln w="9525">
            <a:noFill/>
            <a:miter lim="800000"/>
            <a:headEnd/>
            <a:tailEnd/>
          </a:ln>
        </p:spPr>
        <p:txBody>
          <a:bodyPr wrap="square">
            <a:spAutoFit/>
          </a:bodyPr>
          <a:lstStyle/>
          <a:p>
            <a:r>
              <a:rPr lang="en-US" sz="2000" noProof="0" dirty="0"/>
              <a:t>Alternatively, since M has no terminal state, we can move the label of state s to all outgoing arrows of s.</a:t>
            </a:r>
          </a:p>
        </p:txBody>
      </p:sp>
      <p:sp>
        <p:nvSpPr>
          <p:cNvPr id="31" name="Rounded Rectangle 30">
            <a:extLst>
              <a:ext uri="{FF2B5EF4-FFF2-40B4-BE49-F238E27FC236}">
                <a16:creationId xmlns:a16="http://schemas.microsoft.com/office/drawing/2014/main" id="{99FACBC5-1797-FC4D-DA8F-BC128F7574AE}"/>
              </a:ext>
            </a:extLst>
          </p:cNvPr>
          <p:cNvSpPr/>
          <p:nvPr/>
        </p:nvSpPr>
        <p:spPr>
          <a:xfrm>
            <a:off x="812248" y="2312197"/>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32" name="Rounded Rectangle 31">
            <a:extLst>
              <a:ext uri="{FF2B5EF4-FFF2-40B4-BE49-F238E27FC236}">
                <a16:creationId xmlns:a16="http://schemas.microsoft.com/office/drawing/2014/main" id="{AB415B49-F118-7569-B95A-E15D120A85F5}"/>
              </a:ext>
            </a:extLst>
          </p:cNvPr>
          <p:cNvSpPr/>
          <p:nvPr/>
        </p:nvSpPr>
        <p:spPr>
          <a:xfrm>
            <a:off x="850347" y="3326609"/>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33" name="Curved Connector 8">
            <a:extLst>
              <a:ext uri="{FF2B5EF4-FFF2-40B4-BE49-F238E27FC236}">
                <a16:creationId xmlns:a16="http://schemas.microsoft.com/office/drawing/2014/main" id="{0F8ADA45-C222-E4F2-2EE4-3E12AC642E71}"/>
              </a:ext>
            </a:extLst>
          </p:cNvPr>
          <p:cNvCxnSpPr>
            <a:endCxn id="31" idx="0"/>
          </p:cNvCxnSpPr>
          <p:nvPr/>
        </p:nvCxnSpPr>
        <p:spPr>
          <a:xfrm rot="10800000">
            <a:off x="1163881" y="2312197"/>
            <a:ext cx="351631" cy="296862"/>
          </a:xfrm>
          <a:prstGeom prst="curvedConnector4">
            <a:avLst>
              <a:gd name="adj1" fmla="val -103386"/>
              <a:gd name="adj2" fmla="val 247593"/>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4" name="Straight Arrow Connector 33">
            <a:extLst>
              <a:ext uri="{FF2B5EF4-FFF2-40B4-BE49-F238E27FC236}">
                <a16:creationId xmlns:a16="http://schemas.microsoft.com/office/drawing/2014/main" id="{F846E247-ED74-0C3F-ED54-DC2F76EB896D}"/>
              </a:ext>
            </a:extLst>
          </p:cNvPr>
          <p:cNvCxnSpPr>
            <a:stCxn id="31" idx="2"/>
            <a:endCxn id="32" idx="0"/>
          </p:cNvCxnSpPr>
          <p:nvPr/>
        </p:nvCxnSpPr>
        <p:spPr>
          <a:xfrm>
            <a:off x="1163880" y="2905922"/>
            <a:ext cx="15080" cy="420687"/>
          </a:xfrm>
          <a:prstGeom prst="straightConnector1">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5" name="Curved Connector 8">
            <a:extLst>
              <a:ext uri="{FF2B5EF4-FFF2-40B4-BE49-F238E27FC236}">
                <a16:creationId xmlns:a16="http://schemas.microsoft.com/office/drawing/2014/main" id="{59A99B56-BC9D-443B-6C9D-7C1494BC56D6}"/>
              </a:ext>
            </a:extLst>
          </p:cNvPr>
          <p:cNvCxnSpPr>
            <a:endCxn id="32" idx="2"/>
          </p:cNvCxnSpPr>
          <p:nvPr/>
        </p:nvCxnSpPr>
        <p:spPr>
          <a:xfrm rot="10800000" flipV="1">
            <a:off x="1178961" y="3623472"/>
            <a:ext cx="328613" cy="296862"/>
          </a:xfrm>
          <a:prstGeom prst="curvedConnector4">
            <a:avLst>
              <a:gd name="adj1" fmla="val -110144"/>
              <a:gd name="adj2" fmla="val 247594"/>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36" name="Straight Arrow Connector 35">
            <a:extLst>
              <a:ext uri="{FF2B5EF4-FFF2-40B4-BE49-F238E27FC236}">
                <a16:creationId xmlns:a16="http://schemas.microsoft.com/office/drawing/2014/main" id="{26ACA6E2-71FD-6798-79CE-30D253137564}"/>
              </a:ext>
            </a:extLst>
          </p:cNvPr>
          <p:cNvCxnSpPr/>
          <p:nvPr/>
        </p:nvCxnSpPr>
        <p:spPr>
          <a:xfrm>
            <a:off x="526501" y="2256637"/>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7" name="TextBox 36">
            <a:extLst>
              <a:ext uri="{FF2B5EF4-FFF2-40B4-BE49-F238E27FC236}">
                <a16:creationId xmlns:a16="http://schemas.microsoft.com/office/drawing/2014/main" id="{4A860F2A-4B1A-F358-AB6E-95A5A18FD264}"/>
              </a:ext>
            </a:extLst>
          </p:cNvPr>
          <p:cNvSpPr txBox="1"/>
          <p:nvPr/>
        </p:nvSpPr>
        <p:spPr>
          <a:xfrm>
            <a:off x="2240998" y="2428084"/>
            <a:ext cx="1582484" cy="4616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noProof="0" dirty="0">
                <a:cs typeface="Arial" pitchFamily="34" charset="0"/>
              </a:rPr>
              <a:t>{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endParaRPr lang="en-US" noProof="0" dirty="0"/>
          </a:p>
        </p:txBody>
      </p:sp>
      <p:sp>
        <p:nvSpPr>
          <p:cNvPr id="38" name="TextBox 37">
            <a:extLst>
              <a:ext uri="{FF2B5EF4-FFF2-40B4-BE49-F238E27FC236}">
                <a16:creationId xmlns:a16="http://schemas.microsoft.com/office/drawing/2014/main" id="{E1FCA695-69D5-504C-917A-1298E2703C4C}"/>
              </a:ext>
            </a:extLst>
          </p:cNvPr>
          <p:cNvSpPr txBox="1"/>
          <p:nvPr/>
        </p:nvSpPr>
        <p:spPr>
          <a:xfrm>
            <a:off x="2164798" y="3075784"/>
            <a:ext cx="227658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noProof="0" dirty="0">
                <a:cs typeface="Arial" pitchFamily="34" charset="0"/>
              </a:rPr>
              <a:t>{ </a:t>
            </a:r>
            <a:r>
              <a:rPr lang="en-US" noProof="0" dirty="0" err="1">
                <a:cs typeface="Arial" pitchFamily="34" charset="0"/>
              </a:rPr>
              <a:t>isOdd</a:t>
            </a:r>
            <a:r>
              <a:rPr lang="en-US" noProof="0" dirty="0">
                <a:cs typeface="Arial" pitchFamily="34" charset="0"/>
              </a:rPr>
              <a:t> </a:t>
            </a:r>
            <a:r>
              <a:rPr lang="en-US" i="1" noProof="0" dirty="0">
                <a:cs typeface="Arial" pitchFamily="34" charset="0"/>
              </a:rPr>
              <a:t>x</a:t>
            </a:r>
            <a:r>
              <a:rPr lang="en-US" noProof="0" dirty="0">
                <a:cs typeface="Arial" pitchFamily="34" charset="0"/>
              </a:rPr>
              <a:t>,  </a:t>
            </a:r>
            <a:r>
              <a:rPr lang="en-US" i="1" noProof="0" dirty="0">
                <a:cs typeface="Arial" pitchFamily="34" charset="0"/>
              </a:rPr>
              <a:t>x</a:t>
            </a:r>
            <a:r>
              <a:rPr lang="en-US" noProof="0" dirty="0">
                <a:cs typeface="Arial" pitchFamily="34" charset="0"/>
              </a:rPr>
              <a:t>&gt;0 }</a:t>
            </a:r>
          </a:p>
        </p:txBody>
      </p:sp>
      <p:cxnSp>
        <p:nvCxnSpPr>
          <p:cNvPr id="39" name="Straight Connector 38">
            <a:extLst>
              <a:ext uri="{FF2B5EF4-FFF2-40B4-BE49-F238E27FC236}">
                <a16:creationId xmlns:a16="http://schemas.microsoft.com/office/drawing/2014/main" id="{96FD6542-34E9-E6F9-5BE8-A140C3635822}"/>
              </a:ext>
            </a:extLst>
          </p:cNvPr>
          <p:cNvCxnSpPr>
            <a:stCxn id="37" idx="1"/>
          </p:cNvCxnSpPr>
          <p:nvPr/>
        </p:nvCxnSpPr>
        <p:spPr>
          <a:xfrm flipH="1">
            <a:off x="1345648" y="2658917"/>
            <a:ext cx="895350" cy="9301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E43FFBF-BE31-0CEB-3660-0ED62455B64D}"/>
              </a:ext>
            </a:extLst>
          </p:cNvPr>
          <p:cNvCxnSpPr>
            <a:stCxn id="38" idx="1"/>
          </p:cNvCxnSpPr>
          <p:nvPr/>
        </p:nvCxnSpPr>
        <p:spPr>
          <a:xfrm flipH="1">
            <a:off x="1440898" y="3306617"/>
            <a:ext cx="723900" cy="169217"/>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48">
            <a:extLst>
              <a:ext uri="{FF2B5EF4-FFF2-40B4-BE49-F238E27FC236}">
                <a16:creationId xmlns:a16="http://schemas.microsoft.com/office/drawing/2014/main" id="{5B6A1BE4-9F78-DD5F-D542-494F52884E67}"/>
              </a:ext>
            </a:extLst>
          </p:cNvPr>
          <p:cNvSpPr txBox="1">
            <a:spLocks noChangeArrowheads="1"/>
          </p:cNvSpPr>
          <p:nvPr/>
        </p:nvSpPr>
        <p:spPr bwMode="auto">
          <a:xfrm>
            <a:off x="6715892" y="3071656"/>
            <a:ext cx="1133644" cy="338554"/>
          </a:xfrm>
          <a:prstGeom prst="rect">
            <a:avLst/>
          </a:prstGeom>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r>
              <a:rPr lang="en-US" sz="1600" noProof="0" dirty="0"/>
              <a:t>{ </a:t>
            </a:r>
            <a:r>
              <a:rPr lang="en-US" sz="1600" noProof="0" dirty="0" err="1"/>
              <a:t>isOdd</a:t>
            </a:r>
            <a:r>
              <a:rPr lang="en-US" sz="1600" noProof="0" dirty="0"/>
              <a:t> x }</a:t>
            </a:r>
          </a:p>
        </p:txBody>
      </p:sp>
    </p:spTree>
    <p:extLst>
      <p:ext uri="{BB962C8B-B14F-4D97-AF65-F5344CB8AC3E}">
        <p14:creationId xmlns:p14="http://schemas.microsoft.com/office/powerpoint/2010/main" val="20432750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500063" y="274638"/>
            <a:ext cx="8358187" cy="796925"/>
          </a:xfrm>
        </p:spPr>
        <p:txBody>
          <a:bodyPr/>
          <a:lstStyle/>
          <a:p>
            <a:pPr eaLnBrk="1" hangingPunct="1"/>
            <a:r>
              <a:rPr lang="en-US" noProof="0" dirty="0">
                <a:cs typeface="Arial" charset="0"/>
              </a:rPr>
              <a:t>Computing intersection</a:t>
            </a:r>
          </a:p>
        </p:txBody>
      </p:sp>
      <p:sp>
        <p:nvSpPr>
          <p:cNvPr id="46083" name="Content Placeholder 2"/>
          <p:cNvSpPr>
            <a:spLocks noGrp="1"/>
          </p:cNvSpPr>
          <p:nvPr>
            <p:ph sz="quarter" idx="1"/>
          </p:nvPr>
        </p:nvSpPr>
        <p:spPr>
          <a:xfrm>
            <a:off x="500063" y="1447800"/>
            <a:ext cx="8358187" cy="4572000"/>
          </a:xfrm>
        </p:spPr>
        <p:txBody>
          <a:bodyPr/>
          <a:lstStyle/>
          <a:p>
            <a:pPr eaLnBrk="1" hangingPunct="1"/>
            <a:r>
              <a:rPr lang="en-US" noProof="0" dirty="0">
                <a:cs typeface="Arial" charset="0"/>
              </a:rPr>
              <a:t>Rather than directly checking:</a:t>
            </a:r>
            <a:br>
              <a:rPr lang="en-US" noProof="0" dirty="0">
                <a:cs typeface="Arial" charset="0"/>
              </a:rPr>
            </a:br>
            <a:br>
              <a:rPr lang="en-US" noProof="0" dirty="0">
                <a:cs typeface="Arial" charset="0"/>
              </a:rPr>
            </a:br>
            <a:r>
              <a:rPr lang="en-US" noProof="0" dirty="0">
                <a:cs typeface="Arial" charset="0"/>
              </a:rPr>
              <a:t>	L(</a:t>
            </a:r>
            <a:r>
              <a:rPr lang="en-US" i="1" noProof="0" dirty="0">
                <a:cs typeface="Arial" charset="0"/>
              </a:rPr>
              <a:t>B</a:t>
            </a:r>
            <a:r>
              <a:rPr lang="en-US" baseline="-25000" noProof="0" dirty="0">
                <a:cs typeface="Arial" charset="0"/>
              </a:rPr>
              <a:t>M</a:t>
            </a:r>
            <a:r>
              <a:rPr lang="en-US" noProof="0" dirty="0">
                <a:cs typeface="Arial" charset="0"/>
              </a:rPr>
              <a:t>)  </a:t>
            </a:r>
            <a:r>
              <a:rPr lang="en-US" noProof="0" dirty="0">
                <a:cs typeface="Arial" charset="0"/>
                <a:sym typeface="Symbol" pitchFamily="18" charset="2"/>
              </a:rPr>
              <a:t>  L(</a:t>
            </a:r>
            <a:r>
              <a:rPr lang="en-US" i="1" noProof="0" dirty="0">
                <a:cs typeface="Arial" charset="0"/>
                <a:sym typeface="Symbol" pitchFamily="18" charset="2"/>
              </a:rPr>
              <a:t>B</a:t>
            </a:r>
            <a:r>
              <a:rPr lang="en-US" baseline="-25000" noProof="0" dirty="0">
                <a:cs typeface="Arial" charset="0"/>
                <a:sym typeface="Symbol" pitchFamily="18" charset="2"/>
              </a:rPr>
              <a:t></a:t>
            </a:r>
            <a:r>
              <a:rPr lang="en-US" noProof="0" dirty="0">
                <a:cs typeface="Arial" charset="0"/>
                <a:sym typeface="Symbol" pitchFamily="18" charset="2"/>
              </a:rPr>
              <a:t>)  =   </a:t>
            </a:r>
            <a:br>
              <a:rPr lang="en-US" noProof="0" dirty="0">
                <a:cs typeface="Arial" charset="0"/>
                <a:sym typeface="Symbol" pitchFamily="18" charset="2"/>
              </a:rPr>
            </a:br>
            <a:br>
              <a:rPr lang="en-US" noProof="0" dirty="0">
                <a:cs typeface="Arial" charset="0"/>
                <a:sym typeface="Symbol" pitchFamily="18" charset="2"/>
              </a:rPr>
            </a:br>
            <a:r>
              <a:rPr lang="en-US" noProof="0" dirty="0">
                <a:cs typeface="Arial" charset="0"/>
                <a:sym typeface="Symbol" pitchFamily="18" charset="2"/>
              </a:rPr>
              <a:t>We check:</a:t>
            </a:r>
            <a:br>
              <a:rPr lang="en-US" noProof="0" dirty="0">
                <a:cs typeface="Arial" charset="0"/>
                <a:sym typeface="Symbol" pitchFamily="18" charset="2"/>
              </a:rPr>
            </a:br>
            <a:br>
              <a:rPr lang="en-US" noProof="0" dirty="0">
                <a:cs typeface="Arial" charset="0"/>
                <a:sym typeface="Symbol" pitchFamily="18" charset="2"/>
              </a:rPr>
            </a:br>
            <a:r>
              <a:rPr lang="en-US" noProof="0" dirty="0">
                <a:cs typeface="Arial" charset="0"/>
                <a:sym typeface="Symbol" pitchFamily="18" charset="2"/>
              </a:rPr>
              <a:t>	</a:t>
            </a:r>
            <a:r>
              <a:rPr lang="en-US" noProof="0" dirty="0">
                <a:cs typeface="Arial" charset="0"/>
              </a:rPr>
              <a:t>L(</a:t>
            </a:r>
            <a:r>
              <a:rPr lang="en-US" i="1" noProof="0" dirty="0">
                <a:cs typeface="Arial" charset="0"/>
              </a:rPr>
              <a:t>B</a:t>
            </a:r>
            <a:r>
              <a:rPr lang="en-US" baseline="-25000" noProof="0" dirty="0">
                <a:cs typeface="Arial" charset="0"/>
              </a:rPr>
              <a:t>M</a:t>
            </a:r>
            <a:r>
              <a:rPr lang="en-US" noProof="0" dirty="0">
                <a:cs typeface="Arial" charset="0"/>
              </a:rPr>
              <a:t>  </a:t>
            </a:r>
            <a:r>
              <a:rPr lang="en-US" noProof="0" dirty="0">
                <a:cs typeface="Arial" charset="0"/>
                <a:sym typeface="Symbol" pitchFamily="18" charset="2"/>
              </a:rPr>
              <a:t>  </a:t>
            </a:r>
            <a:r>
              <a:rPr lang="en-US" i="1" noProof="0" dirty="0">
                <a:cs typeface="Arial" charset="0"/>
                <a:sym typeface="Symbol" pitchFamily="18" charset="2"/>
              </a:rPr>
              <a:t>B</a:t>
            </a:r>
            <a:r>
              <a:rPr lang="en-US" baseline="-25000" noProof="0" dirty="0">
                <a:cs typeface="Arial" charset="0"/>
                <a:sym typeface="Symbol" pitchFamily="18" charset="2"/>
              </a:rPr>
              <a:t></a:t>
            </a:r>
            <a:r>
              <a:rPr lang="en-US" noProof="0" dirty="0">
                <a:cs typeface="Arial" charset="0"/>
                <a:sym typeface="Symbol" pitchFamily="18" charset="2"/>
              </a:rPr>
              <a:t>)  =   </a:t>
            </a:r>
          </a:p>
          <a:p>
            <a:pPr eaLnBrk="1" hangingPunct="1"/>
            <a:endParaRPr lang="en-US" noProof="0" dirty="0">
              <a:cs typeface="Arial" charset="0"/>
              <a:sym typeface="Symbol" pitchFamily="18" charset="2"/>
            </a:endParaRPr>
          </a:p>
        </p:txBody>
      </p:sp>
      <p:sp>
        <p:nvSpPr>
          <p:cNvPr id="5" name="TextBox 4"/>
          <p:cNvSpPr txBox="1"/>
          <p:nvPr/>
        </p:nvSpPr>
        <p:spPr>
          <a:xfrm>
            <a:off x="5567363" y="1376363"/>
            <a:ext cx="3265487" cy="646112"/>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1800" i="1" noProof="0" dirty="0"/>
              <a:t>The Buchi version of Kripke M </a:t>
            </a:r>
            <a:r>
              <a:rPr lang="en-US" sz="1800" noProof="0" dirty="0">
                <a:sym typeface="Wingdings" pitchFamily="2" charset="2"/>
              </a:rPr>
              <a:t></a:t>
            </a:r>
            <a:endParaRPr lang="en-US" sz="1800" noProof="0" dirty="0"/>
          </a:p>
        </p:txBody>
      </p:sp>
      <p:sp>
        <p:nvSpPr>
          <p:cNvPr id="6" name="Freeform 5"/>
          <p:cNvSpPr/>
          <p:nvPr/>
        </p:nvSpPr>
        <p:spPr>
          <a:xfrm>
            <a:off x="1708150" y="1770063"/>
            <a:ext cx="3778250" cy="390525"/>
          </a:xfrm>
          <a:custGeom>
            <a:avLst/>
            <a:gdLst>
              <a:gd name="connsiteX0" fmla="*/ 4255477 w 4255477"/>
              <a:gd name="connsiteY0" fmla="*/ 98808 h 390211"/>
              <a:gd name="connsiteX1" fmla="*/ 708409 w 4255477"/>
              <a:gd name="connsiteY1" fmla="*/ 48567 h 390211"/>
              <a:gd name="connsiteX2" fmla="*/ 5024 w 4255477"/>
              <a:gd name="connsiteY2" fmla="*/ 390211 h 390211"/>
            </a:gdLst>
            <a:ahLst/>
            <a:cxnLst>
              <a:cxn ang="0">
                <a:pos x="connsiteX0" y="connsiteY0"/>
              </a:cxn>
              <a:cxn ang="0">
                <a:pos x="connsiteX1" y="connsiteY1"/>
              </a:cxn>
              <a:cxn ang="0">
                <a:pos x="connsiteX2" y="connsiteY2"/>
              </a:cxn>
            </a:cxnLst>
            <a:rect l="l" t="t" r="r" b="b"/>
            <a:pathLst>
              <a:path w="4255477" h="390211">
                <a:moveTo>
                  <a:pt x="4255477" y="98808"/>
                </a:moveTo>
                <a:cubicBezTo>
                  <a:pt x="2836147" y="49404"/>
                  <a:pt x="1416818" y="0"/>
                  <a:pt x="708409" y="48567"/>
                </a:cubicBezTo>
                <a:cubicBezTo>
                  <a:pt x="0" y="97134"/>
                  <a:pt x="2512" y="243672"/>
                  <a:pt x="5024" y="390211"/>
                </a:cubicBezTo>
              </a:path>
            </a:pathLst>
          </a:custGeom>
          <a:ln>
            <a:headEnd type="none" w="med" len="med"/>
            <a:tailEnd type="triangle" w="med" len="med"/>
          </a:ln>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en-US" noProof="0" dirty="0"/>
          </a:p>
        </p:txBody>
      </p:sp>
      <p:sp>
        <p:nvSpPr>
          <p:cNvPr id="7" name="TextBox 6"/>
          <p:cNvSpPr txBox="1"/>
          <p:nvPr/>
        </p:nvSpPr>
        <p:spPr>
          <a:xfrm>
            <a:off x="1487488" y="4813300"/>
            <a:ext cx="6661150" cy="707886"/>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2000" i="1" noProof="0" dirty="0">
                <a:latin typeface="Times New Roman" pitchFamily="18" charset="0"/>
                <a:cs typeface="Times New Roman" pitchFamily="18" charset="0"/>
                <a:sym typeface="Symbol"/>
              </a:rPr>
              <a:t>We already discuss this! Execution over such an intersection is also called a “lock-step” execution.</a:t>
            </a:r>
            <a:endParaRPr lang="en-US" sz="2000" i="1" noProof="0" dirty="0">
              <a:latin typeface="Times New Roman" pitchFamily="18" charset="0"/>
              <a:cs typeface="Times New Roman" pitchFamily="18" charset="0"/>
            </a:endParaRPr>
          </a:p>
        </p:txBody>
      </p:sp>
      <p:cxnSp>
        <p:nvCxnSpPr>
          <p:cNvPr id="9" name="Straight Arrow Connector 8"/>
          <p:cNvCxnSpPr/>
          <p:nvPr/>
        </p:nvCxnSpPr>
        <p:spPr>
          <a:xfrm rot="5400000" flipH="1" flipV="1">
            <a:off x="1902619" y="4475956"/>
            <a:ext cx="644525" cy="1111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Tijdelijke aanduiding voor dianummer 9"/>
          <p:cNvSpPr>
            <a:spLocks noGrp="1"/>
          </p:cNvSpPr>
          <p:nvPr>
            <p:ph type="sldNum" sz="quarter" idx="12"/>
          </p:nvPr>
        </p:nvSpPr>
        <p:spPr/>
        <p:txBody>
          <a:bodyPr/>
          <a:lstStyle/>
          <a:p>
            <a:pPr>
              <a:defRPr/>
            </a:pPr>
            <a:fld id="{F74A10EB-06F6-47E5-A566-5EC4A4CAA3D9}" type="slidenum">
              <a:rPr lang="en-US" noProof="0"/>
              <a:pPr>
                <a:defRPr/>
              </a:pPr>
              <a:t>41</a:t>
            </a:fld>
            <a:endParaRPr lang="en-US"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el 3"/>
          <p:cNvSpPr>
            <a:spLocks noGrp="1"/>
          </p:cNvSpPr>
          <p:nvPr>
            <p:ph type="title"/>
          </p:nvPr>
        </p:nvSpPr>
        <p:spPr>
          <a:xfrm>
            <a:off x="500063" y="274638"/>
            <a:ext cx="8358187" cy="796925"/>
          </a:xfrm>
        </p:spPr>
        <p:txBody>
          <a:bodyPr/>
          <a:lstStyle/>
          <a:p>
            <a:r>
              <a:rPr lang="en-US" noProof="0" dirty="0"/>
              <a:t>Intersection</a:t>
            </a:r>
          </a:p>
        </p:txBody>
      </p:sp>
      <p:sp>
        <p:nvSpPr>
          <p:cNvPr id="47107" name="Tijdelijke aanduiding voor inhoud 4"/>
          <p:cNvSpPr>
            <a:spLocks noGrp="1"/>
          </p:cNvSpPr>
          <p:nvPr>
            <p:ph sz="quarter" idx="1"/>
          </p:nvPr>
        </p:nvSpPr>
        <p:spPr>
          <a:xfrm>
            <a:off x="500063" y="1447800"/>
            <a:ext cx="8358187" cy="4572000"/>
          </a:xfrm>
        </p:spPr>
        <p:txBody>
          <a:bodyPr/>
          <a:lstStyle/>
          <a:p>
            <a:r>
              <a:rPr lang="en-US" noProof="0" dirty="0"/>
              <a:t>Two </a:t>
            </a:r>
            <a:r>
              <a:rPr lang="en-US" noProof="0" dirty="0" err="1"/>
              <a:t>buchi</a:t>
            </a:r>
            <a:r>
              <a:rPr lang="en-US" noProof="0" dirty="0"/>
              <a:t> automata </a:t>
            </a:r>
            <a:r>
              <a:rPr lang="en-US" i="1" noProof="0" dirty="0"/>
              <a:t>A</a:t>
            </a:r>
            <a:r>
              <a:rPr lang="en-US" noProof="0" dirty="0"/>
              <a:t> and </a:t>
            </a:r>
            <a:r>
              <a:rPr lang="en-US" i="1" noProof="0" dirty="0"/>
              <a:t>B</a:t>
            </a:r>
            <a:r>
              <a:rPr lang="en-US" noProof="0" dirty="0"/>
              <a:t> </a:t>
            </a:r>
            <a:r>
              <a:rPr lang="en-US" i="1" noProof="0" dirty="0"/>
              <a:t>over the same alphabet</a:t>
            </a:r>
          </a:p>
          <a:p>
            <a:pPr lvl="1"/>
            <a:r>
              <a:rPr lang="en-US" noProof="0" dirty="0"/>
              <a:t>The set of states are respectively </a:t>
            </a:r>
            <a:r>
              <a:rPr lang="en-US" noProof="0" dirty="0">
                <a:sym typeface="Symbol" pitchFamily="18" charset="2"/>
              </a:rPr>
              <a:t>S</a:t>
            </a:r>
            <a:r>
              <a:rPr lang="en-US" i="1" baseline="-25000" noProof="0" dirty="0">
                <a:sym typeface="Symbol" pitchFamily="18" charset="2"/>
              </a:rPr>
              <a:t>A</a:t>
            </a:r>
            <a:r>
              <a:rPr lang="en-US" noProof="0" dirty="0">
                <a:sym typeface="Symbol" pitchFamily="18" charset="2"/>
              </a:rPr>
              <a:t>  and S</a:t>
            </a:r>
            <a:r>
              <a:rPr lang="en-US" i="1" baseline="-25000" noProof="0" dirty="0">
                <a:sym typeface="Symbol" pitchFamily="18" charset="2"/>
              </a:rPr>
              <a:t>B</a:t>
            </a:r>
            <a:r>
              <a:rPr lang="en-US" noProof="0" dirty="0">
                <a:sym typeface="Symbol" pitchFamily="18" charset="2"/>
              </a:rPr>
              <a:t>. </a:t>
            </a:r>
            <a:endParaRPr lang="en-US" noProof="0" dirty="0"/>
          </a:p>
          <a:p>
            <a:pPr lvl="1"/>
            <a:r>
              <a:rPr lang="en-US" noProof="0" dirty="0"/>
              <a:t>starting at respectively </a:t>
            </a:r>
            <a:r>
              <a:rPr lang="en-US" i="1" noProof="0" dirty="0"/>
              <a:t>s0</a:t>
            </a:r>
            <a:r>
              <a:rPr lang="en-US" i="1" baseline="-25000" noProof="0" dirty="0">
                <a:sym typeface="Symbol" pitchFamily="18" charset="2"/>
              </a:rPr>
              <a:t>A</a:t>
            </a:r>
            <a:r>
              <a:rPr lang="en-US" noProof="0" dirty="0"/>
              <a:t> and </a:t>
            </a:r>
            <a:r>
              <a:rPr lang="en-US" i="1" noProof="0" dirty="0"/>
              <a:t>s0</a:t>
            </a:r>
            <a:r>
              <a:rPr lang="en-US" i="1" baseline="-25000" noProof="0" dirty="0">
                <a:sym typeface="Symbol" pitchFamily="18" charset="2"/>
              </a:rPr>
              <a:t>B</a:t>
            </a:r>
            <a:r>
              <a:rPr lang="en-US" noProof="0" dirty="0"/>
              <a:t>.</a:t>
            </a:r>
          </a:p>
          <a:p>
            <a:pPr lvl="1"/>
            <a:r>
              <a:rPr lang="en-US" noProof="0" dirty="0"/>
              <a:t>Single accepting set, respectively </a:t>
            </a:r>
            <a:r>
              <a:rPr lang="en-US" i="1" noProof="0" dirty="0"/>
              <a:t>F</a:t>
            </a:r>
            <a:r>
              <a:rPr lang="en-US" i="1" baseline="-25000" noProof="0" dirty="0">
                <a:sym typeface="Symbol" pitchFamily="18" charset="2"/>
              </a:rPr>
              <a:t>A </a:t>
            </a:r>
            <a:r>
              <a:rPr lang="en-US" noProof="0" dirty="0"/>
              <a:t> and </a:t>
            </a:r>
            <a:r>
              <a:rPr lang="en-US" i="1" noProof="0" dirty="0"/>
              <a:t>F</a:t>
            </a:r>
            <a:r>
              <a:rPr lang="en-US" i="1" baseline="-25000" noProof="0" dirty="0">
                <a:sym typeface="Symbol" pitchFamily="18" charset="2"/>
              </a:rPr>
              <a:t>B</a:t>
            </a:r>
            <a:r>
              <a:rPr lang="en-US" noProof="0" dirty="0"/>
              <a:t>.</a:t>
            </a:r>
          </a:p>
          <a:p>
            <a:pPr lvl="1"/>
            <a:r>
              <a:rPr lang="en-US" i="1" noProof="0" dirty="0"/>
              <a:t>F</a:t>
            </a:r>
            <a:r>
              <a:rPr lang="en-US" i="1" baseline="-25000" noProof="0" dirty="0">
                <a:sym typeface="Symbol" pitchFamily="18" charset="2"/>
              </a:rPr>
              <a:t>A  </a:t>
            </a:r>
            <a:r>
              <a:rPr lang="en-US" noProof="0" dirty="0"/>
              <a:t>is assumed to be </a:t>
            </a:r>
            <a:r>
              <a:rPr lang="en-US" noProof="0" dirty="0">
                <a:sym typeface="Symbol" pitchFamily="18" charset="2"/>
              </a:rPr>
              <a:t>S</a:t>
            </a:r>
            <a:r>
              <a:rPr lang="en-US" i="1" baseline="-25000" noProof="0" dirty="0">
                <a:sym typeface="Symbol" pitchFamily="18" charset="2"/>
              </a:rPr>
              <a:t>A</a:t>
            </a:r>
            <a:endParaRPr lang="en-US" noProof="0" dirty="0"/>
          </a:p>
          <a:p>
            <a:r>
              <a:rPr lang="en-US" noProof="0" dirty="0"/>
              <a:t>A </a:t>
            </a:r>
            <a:r>
              <a:rPr lang="en-US" noProof="0" dirty="0">
                <a:sym typeface="Symbol" pitchFamily="18" charset="2"/>
              </a:rPr>
              <a:t> B can be thought as defining lock-step execution of both:</a:t>
            </a:r>
          </a:p>
          <a:p>
            <a:pPr lvl="1"/>
            <a:r>
              <a:rPr lang="en-US" noProof="0" dirty="0">
                <a:sym typeface="Symbol" pitchFamily="18" charset="2"/>
              </a:rPr>
              <a:t>The states : S</a:t>
            </a:r>
            <a:r>
              <a:rPr lang="en-US" i="1" baseline="-25000" noProof="0" dirty="0">
                <a:sym typeface="Symbol" pitchFamily="18" charset="2"/>
              </a:rPr>
              <a:t>A</a:t>
            </a:r>
            <a:r>
              <a:rPr lang="en-US" noProof="0" dirty="0">
                <a:sym typeface="Symbol" pitchFamily="18" charset="2"/>
              </a:rPr>
              <a:t>   S</a:t>
            </a:r>
            <a:r>
              <a:rPr lang="en-US" i="1" baseline="-25000" noProof="0" dirty="0">
                <a:sym typeface="Symbol" pitchFamily="18" charset="2"/>
              </a:rPr>
              <a:t>B</a:t>
            </a:r>
            <a:r>
              <a:rPr lang="en-US" noProof="0" dirty="0">
                <a:sym typeface="Symbol" pitchFamily="18" charset="2"/>
              </a:rPr>
              <a:t>, starting at (</a:t>
            </a:r>
            <a:r>
              <a:rPr lang="en-US" i="1" noProof="0" dirty="0"/>
              <a:t>s0</a:t>
            </a:r>
            <a:r>
              <a:rPr lang="en-US" i="1" baseline="-25000" noProof="0" dirty="0">
                <a:sym typeface="Symbol" pitchFamily="18" charset="2"/>
              </a:rPr>
              <a:t>A</a:t>
            </a:r>
            <a:r>
              <a:rPr lang="en-US" noProof="0" dirty="0"/>
              <a:t>,</a:t>
            </a:r>
            <a:r>
              <a:rPr lang="en-US" i="1" noProof="0" dirty="0"/>
              <a:t>s0</a:t>
            </a:r>
            <a:r>
              <a:rPr lang="en-US" i="1" baseline="-25000" noProof="0" dirty="0">
                <a:sym typeface="Symbol" pitchFamily="18" charset="2"/>
              </a:rPr>
              <a:t>B</a:t>
            </a:r>
            <a:r>
              <a:rPr lang="en-US" noProof="0" dirty="0">
                <a:sym typeface="Symbol" pitchFamily="18" charset="2"/>
              </a:rPr>
              <a:t>)</a:t>
            </a:r>
          </a:p>
          <a:p>
            <a:pPr lvl="1"/>
            <a:r>
              <a:rPr lang="en-US" noProof="0" dirty="0">
                <a:sym typeface="Symbol" pitchFamily="18" charset="2"/>
              </a:rPr>
              <a:t>Can make a transition only if A and B can </a:t>
            </a:r>
            <a:r>
              <a:rPr lang="en-US" i="1" noProof="0" dirty="0">
                <a:sym typeface="Symbol" pitchFamily="18" charset="2"/>
              </a:rPr>
              <a:t>both</a:t>
            </a:r>
            <a:r>
              <a:rPr lang="en-US" noProof="0" dirty="0">
                <a:sym typeface="Symbol" pitchFamily="18" charset="2"/>
              </a:rPr>
              <a:t> make the corresponding transition.</a:t>
            </a:r>
          </a:p>
          <a:p>
            <a:pPr lvl="1"/>
            <a:r>
              <a:rPr lang="en-US" noProof="0" dirty="0">
                <a:sym typeface="Symbol" pitchFamily="18" charset="2"/>
              </a:rPr>
              <a:t>A single acceptance set F; (</a:t>
            </a:r>
            <a:r>
              <a:rPr lang="en-US" i="1" noProof="0" dirty="0" err="1">
                <a:sym typeface="Symbol" pitchFamily="18" charset="2"/>
              </a:rPr>
              <a:t>s,t</a:t>
            </a:r>
            <a:r>
              <a:rPr lang="en-US" noProof="0" dirty="0">
                <a:sym typeface="Symbol" pitchFamily="18" charset="2"/>
              </a:rPr>
              <a:t>) is accepting if </a:t>
            </a:r>
            <a:r>
              <a:rPr lang="en-US" i="1" noProof="0" dirty="0">
                <a:sym typeface="Symbol" pitchFamily="18" charset="2"/>
              </a:rPr>
              <a:t>t </a:t>
            </a:r>
            <a:r>
              <a:rPr lang="en-US" noProof="0" dirty="0">
                <a:sym typeface="Symbol" pitchFamily="18" charset="2"/>
              </a:rPr>
              <a:t> </a:t>
            </a:r>
            <a:r>
              <a:rPr lang="en-US" i="1" noProof="0" dirty="0"/>
              <a:t>F</a:t>
            </a:r>
            <a:r>
              <a:rPr lang="en-US" i="1" baseline="-25000" noProof="0" dirty="0">
                <a:sym typeface="Symbol" pitchFamily="18" charset="2"/>
              </a:rPr>
              <a:t>B</a:t>
            </a:r>
            <a:r>
              <a:rPr lang="en-US" noProof="0" dirty="0"/>
              <a:t>. </a:t>
            </a:r>
            <a:br>
              <a:rPr lang="en-US" noProof="0" dirty="0">
                <a:sym typeface="Symbol" pitchFamily="18" charset="2"/>
              </a:rPr>
            </a:br>
            <a:endParaRPr lang="en-US" noProof="0" dirty="0">
              <a:sym typeface="Symbol" pitchFamily="18" charset="2"/>
            </a:endParaRPr>
          </a:p>
          <a:p>
            <a:endParaRPr lang="en-US" noProof="0" dirty="0">
              <a:sym typeface="Symbol" pitchFamily="18" charset="2"/>
            </a:endParaRPr>
          </a:p>
          <a:p>
            <a:endParaRPr lang="en-US" noProof="0" dirty="0"/>
          </a:p>
        </p:txBody>
      </p:sp>
      <p:sp>
        <p:nvSpPr>
          <p:cNvPr id="3" name="Tijdelijke aanduiding voor dianummer 2"/>
          <p:cNvSpPr>
            <a:spLocks noGrp="1"/>
          </p:cNvSpPr>
          <p:nvPr>
            <p:ph type="sldNum" sz="quarter" idx="12"/>
          </p:nvPr>
        </p:nvSpPr>
        <p:spPr/>
        <p:txBody>
          <a:bodyPr/>
          <a:lstStyle/>
          <a:p>
            <a:pPr>
              <a:defRPr/>
            </a:pPr>
            <a:fld id="{3F060A31-AABD-4D52-BE76-520A29CF5D3D}" type="slidenum">
              <a:rPr lang="en-US" noProof="0" smtClean="0"/>
              <a:pPr>
                <a:defRPr/>
              </a:pPr>
              <a:t>42</a:t>
            </a:fld>
            <a:endParaRPr lang="en-US" noProof="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41325" y="274638"/>
            <a:ext cx="8245475" cy="819150"/>
          </a:xfrm>
        </p:spPr>
        <p:txBody>
          <a:bodyPr/>
          <a:lstStyle/>
          <a:p>
            <a:pPr eaLnBrk="1" hangingPunct="1"/>
            <a:r>
              <a:rPr lang="en-US" noProof="0" dirty="0">
                <a:cs typeface="Arial" charset="0"/>
              </a:rPr>
              <a:t>Constructing Intersection, example</a:t>
            </a:r>
          </a:p>
        </p:txBody>
      </p:sp>
      <p:sp>
        <p:nvSpPr>
          <p:cNvPr id="5" name="Oval 4"/>
          <p:cNvSpPr/>
          <p:nvPr/>
        </p:nvSpPr>
        <p:spPr>
          <a:xfrm>
            <a:off x="1457325" y="2703513"/>
            <a:ext cx="361950" cy="331787"/>
          </a:xfrm>
          <a:prstGeom prst="ellipse">
            <a:avLst/>
          </a:prstGeom>
          <a:ln w="76200" cmpd="dbl">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noProof="0" dirty="0"/>
              <a:t>0</a:t>
            </a:r>
          </a:p>
        </p:txBody>
      </p:sp>
      <p:sp>
        <p:nvSpPr>
          <p:cNvPr id="6" name="Oval 5"/>
          <p:cNvSpPr/>
          <p:nvPr/>
        </p:nvSpPr>
        <p:spPr>
          <a:xfrm>
            <a:off x="3046413" y="2705100"/>
            <a:ext cx="361950" cy="331788"/>
          </a:xfrm>
          <a:prstGeom prst="ellipse">
            <a:avLst/>
          </a:prstGeom>
          <a:ln w="76200" cmpd="dbl">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noProof="0" dirty="0"/>
              <a:t>1</a:t>
            </a:r>
          </a:p>
        </p:txBody>
      </p:sp>
      <p:cxnSp>
        <p:nvCxnSpPr>
          <p:cNvPr id="8" name="Straight Arrow Connector 7"/>
          <p:cNvCxnSpPr>
            <a:stCxn id="5" idx="6"/>
            <a:endCxn id="6" idx="2"/>
          </p:cNvCxnSpPr>
          <p:nvPr/>
        </p:nvCxnSpPr>
        <p:spPr>
          <a:xfrm>
            <a:off x="1819275" y="2868613"/>
            <a:ext cx="1227138" cy="1587"/>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1" name="Straight Arrow Connector 10"/>
          <p:cNvCxnSpPr/>
          <p:nvPr/>
        </p:nvCxnSpPr>
        <p:spPr>
          <a:xfrm rot="5400000">
            <a:off x="1658143" y="2370932"/>
            <a:ext cx="290513" cy="1714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Curved Connector 14"/>
          <p:cNvCxnSpPr>
            <a:stCxn id="5" idx="0"/>
            <a:endCxn id="5" idx="4"/>
          </p:cNvCxnSpPr>
          <p:nvPr/>
        </p:nvCxnSpPr>
        <p:spPr>
          <a:xfrm rot="16200000" flipH="1">
            <a:off x="1471613" y="2868613"/>
            <a:ext cx="331787" cy="1587"/>
          </a:xfrm>
          <a:prstGeom prst="curvedConnector5">
            <a:avLst>
              <a:gd name="adj1" fmla="val -68939"/>
              <a:gd name="adj2" fmla="val -38757002"/>
              <a:gd name="adj3" fmla="val 168939"/>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8" name="Curved Connector 14"/>
          <p:cNvCxnSpPr>
            <a:stCxn id="6" idx="0"/>
            <a:endCxn id="6" idx="4"/>
          </p:cNvCxnSpPr>
          <p:nvPr/>
        </p:nvCxnSpPr>
        <p:spPr>
          <a:xfrm rot="16200000" flipH="1">
            <a:off x="3060700" y="2870200"/>
            <a:ext cx="331788" cy="1588"/>
          </a:xfrm>
          <a:prstGeom prst="curvedConnector5">
            <a:avLst>
              <a:gd name="adj1" fmla="val -68939"/>
              <a:gd name="adj2" fmla="val 40971801"/>
              <a:gd name="adj3" fmla="val 168939"/>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48137" name="TextBox 21"/>
          <p:cNvSpPr txBox="1">
            <a:spLocks noChangeArrowheads="1"/>
          </p:cNvSpPr>
          <p:nvPr/>
        </p:nvSpPr>
        <p:spPr bwMode="auto">
          <a:xfrm>
            <a:off x="250825" y="2652713"/>
            <a:ext cx="787400" cy="461962"/>
          </a:xfrm>
          <a:prstGeom prst="rect">
            <a:avLst/>
          </a:prstGeom>
          <a:noFill/>
          <a:ln w="9525">
            <a:noFill/>
            <a:miter lim="800000"/>
            <a:headEnd/>
            <a:tailEnd/>
          </a:ln>
        </p:spPr>
        <p:txBody>
          <a:bodyPr wrap="none">
            <a:spAutoFit/>
          </a:bodyPr>
          <a:lstStyle/>
          <a:p>
            <a:r>
              <a:rPr lang="en-US" noProof="0" dirty="0"/>
              <a:t>{ </a:t>
            </a:r>
            <a:r>
              <a:rPr lang="en-US" i="1" noProof="0" dirty="0"/>
              <a:t>p</a:t>
            </a:r>
            <a:r>
              <a:rPr lang="en-US" noProof="0" dirty="0"/>
              <a:t> }</a:t>
            </a:r>
          </a:p>
        </p:txBody>
      </p:sp>
      <p:sp>
        <p:nvSpPr>
          <p:cNvPr id="48138" name="TextBox 22"/>
          <p:cNvSpPr txBox="1">
            <a:spLocks noChangeArrowheads="1"/>
          </p:cNvSpPr>
          <p:nvPr/>
        </p:nvSpPr>
        <p:spPr bwMode="auto">
          <a:xfrm>
            <a:off x="2020888" y="2916238"/>
            <a:ext cx="787400" cy="460375"/>
          </a:xfrm>
          <a:prstGeom prst="rect">
            <a:avLst/>
          </a:prstGeom>
          <a:noFill/>
          <a:ln w="9525">
            <a:noFill/>
            <a:miter lim="800000"/>
            <a:headEnd/>
            <a:tailEnd/>
          </a:ln>
        </p:spPr>
        <p:txBody>
          <a:bodyPr wrap="none">
            <a:spAutoFit/>
          </a:bodyPr>
          <a:lstStyle/>
          <a:p>
            <a:r>
              <a:rPr lang="en-US" noProof="0" dirty="0"/>
              <a:t>{ </a:t>
            </a:r>
            <a:r>
              <a:rPr lang="en-US" i="1" noProof="0" dirty="0"/>
              <a:t>p</a:t>
            </a:r>
            <a:r>
              <a:rPr lang="en-US" noProof="0" dirty="0"/>
              <a:t> }</a:t>
            </a:r>
          </a:p>
        </p:txBody>
      </p:sp>
      <p:sp>
        <p:nvSpPr>
          <p:cNvPr id="48139" name="TextBox 23"/>
          <p:cNvSpPr txBox="1">
            <a:spLocks noChangeArrowheads="1"/>
          </p:cNvSpPr>
          <p:nvPr/>
        </p:nvSpPr>
        <p:spPr bwMode="auto">
          <a:xfrm>
            <a:off x="3832225" y="2595563"/>
            <a:ext cx="1017588" cy="461962"/>
          </a:xfrm>
          <a:prstGeom prst="rect">
            <a:avLst/>
          </a:prstGeom>
          <a:noFill/>
          <a:ln w="9525">
            <a:noFill/>
            <a:miter lim="800000"/>
            <a:headEnd/>
            <a:tailEnd/>
          </a:ln>
        </p:spPr>
        <p:txBody>
          <a:bodyPr wrap="none">
            <a:spAutoFit/>
          </a:bodyPr>
          <a:lstStyle/>
          <a:p>
            <a:r>
              <a:rPr lang="en-US" noProof="0" dirty="0"/>
              <a:t>{ </a:t>
            </a:r>
            <a:r>
              <a:rPr lang="en-US" i="1" noProof="0" dirty="0" err="1"/>
              <a:t>p,q</a:t>
            </a:r>
            <a:r>
              <a:rPr lang="en-US" noProof="0" dirty="0"/>
              <a:t> }</a:t>
            </a:r>
          </a:p>
        </p:txBody>
      </p:sp>
      <p:sp>
        <p:nvSpPr>
          <p:cNvPr id="25" name="TextBox 24"/>
          <p:cNvSpPr txBox="1"/>
          <p:nvPr/>
        </p:nvSpPr>
        <p:spPr>
          <a:xfrm>
            <a:off x="5546725" y="1216025"/>
            <a:ext cx="2139950" cy="708025"/>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defRPr/>
            </a:pPr>
            <a:r>
              <a:rPr lang="en-US" sz="2000" i="1" noProof="0" dirty="0">
                <a:cs typeface="Arial" pitchFamily="34" charset="0"/>
              </a:rPr>
              <a:t>p</a:t>
            </a:r>
            <a:r>
              <a:rPr lang="en-US" sz="2000" noProof="0" dirty="0">
                <a:cs typeface="Arial" pitchFamily="34" charset="0"/>
              </a:rPr>
              <a:t> :  </a:t>
            </a:r>
            <a:r>
              <a:rPr lang="en-US" sz="2000" noProof="0" dirty="0" err="1">
                <a:cs typeface="Arial" pitchFamily="34" charset="0"/>
              </a:rPr>
              <a:t>isOdd</a:t>
            </a:r>
            <a:r>
              <a:rPr lang="en-US" sz="2000" noProof="0" dirty="0">
                <a:cs typeface="Arial" pitchFamily="34" charset="0"/>
              </a:rPr>
              <a:t> </a:t>
            </a:r>
            <a:r>
              <a:rPr lang="en-US" sz="2000" i="1" noProof="0" dirty="0">
                <a:cs typeface="Arial" pitchFamily="34" charset="0"/>
              </a:rPr>
              <a:t>x</a:t>
            </a:r>
            <a:br>
              <a:rPr lang="en-US" sz="2000" noProof="0" dirty="0">
                <a:cs typeface="Arial" pitchFamily="34" charset="0"/>
              </a:rPr>
            </a:br>
            <a:r>
              <a:rPr lang="en-US" sz="2000" i="1" noProof="0" dirty="0">
                <a:cs typeface="Arial" pitchFamily="34" charset="0"/>
              </a:rPr>
              <a:t>q</a:t>
            </a:r>
            <a:r>
              <a:rPr lang="en-US" sz="2000" noProof="0" dirty="0">
                <a:cs typeface="Arial" pitchFamily="34" charset="0"/>
              </a:rPr>
              <a:t> :  </a:t>
            </a:r>
            <a:r>
              <a:rPr lang="en-US" sz="2000" i="1" noProof="0" dirty="0">
                <a:cs typeface="Arial" pitchFamily="34" charset="0"/>
              </a:rPr>
              <a:t>x</a:t>
            </a:r>
            <a:r>
              <a:rPr lang="en-US" sz="2000" noProof="0" dirty="0">
                <a:cs typeface="Arial" pitchFamily="34" charset="0"/>
              </a:rPr>
              <a:t>&gt;0</a:t>
            </a:r>
          </a:p>
        </p:txBody>
      </p:sp>
      <p:sp>
        <p:nvSpPr>
          <p:cNvPr id="48141" name="TextBox 25"/>
          <p:cNvSpPr txBox="1">
            <a:spLocks noChangeArrowheads="1"/>
          </p:cNvSpPr>
          <p:nvPr/>
        </p:nvSpPr>
        <p:spPr bwMode="auto">
          <a:xfrm>
            <a:off x="241300" y="1406525"/>
            <a:ext cx="776175" cy="584775"/>
          </a:xfrm>
          <a:prstGeom prst="rect">
            <a:avLst/>
          </a:prstGeom>
          <a:noFill/>
          <a:ln w="9525">
            <a:noFill/>
            <a:miter lim="800000"/>
            <a:headEnd/>
            <a:tailEnd/>
          </a:ln>
        </p:spPr>
        <p:txBody>
          <a:bodyPr wrap="none">
            <a:spAutoFit/>
          </a:bodyPr>
          <a:lstStyle/>
          <a:p>
            <a:r>
              <a:rPr lang="en-US" sz="3200" i="1" noProof="0" dirty="0">
                <a:solidFill>
                  <a:srgbClr val="C00000"/>
                </a:solidFill>
              </a:rPr>
              <a:t>B</a:t>
            </a:r>
            <a:r>
              <a:rPr lang="en-US" sz="3200" i="1" baseline="-25000" noProof="0" dirty="0">
                <a:solidFill>
                  <a:srgbClr val="C00000"/>
                </a:solidFill>
              </a:rPr>
              <a:t>M</a:t>
            </a:r>
            <a:r>
              <a:rPr lang="en-US" sz="3200" noProof="0" dirty="0">
                <a:solidFill>
                  <a:srgbClr val="C00000"/>
                </a:solidFill>
              </a:rPr>
              <a:t>:</a:t>
            </a:r>
          </a:p>
        </p:txBody>
      </p:sp>
      <p:sp>
        <p:nvSpPr>
          <p:cNvPr id="27" name="Freeform 26"/>
          <p:cNvSpPr/>
          <p:nvPr/>
        </p:nvSpPr>
        <p:spPr>
          <a:xfrm>
            <a:off x="2341563" y="1339850"/>
            <a:ext cx="3135312" cy="931863"/>
          </a:xfrm>
          <a:custGeom>
            <a:avLst/>
            <a:gdLst>
              <a:gd name="connsiteX0" fmla="*/ 2612572 w 2612572"/>
              <a:gd name="connsiteY0" fmla="*/ 227763 h 931147"/>
              <a:gd name="connsiteX1" fmla="*/ 653143 w 2612572"/>
              <a:gd name="connsiteY1" fmla="*/ 117231 h 931147"/>
              <a:gd name="connsiteX2" fmla="*/ 0 w 2612572"/>
              <a:gd name="connsiteY2" fmla="*/ 931147 h 931147"/>
            </a:gdLst>
            <a:ahLst/>
            <a:cxnLst>
              <a:cxn ang="0">
                <a:pos x="connsiteX0" y="connsiteY0"/>
              </a:cxn>
              <a:cxn ang="0">
                <a:pos x="connsiteX1" y="connsiteY1"/>
              </a:cxn>
              <a:cxn ang="0">
                <a:pos x="connsiteX2" y="connsiteY2"/>
              </a:cxn>
            </a:cxnLst>
            <a:rect l="l" t="t" r="r" b="b"/>
            <a:pathLst>
              <a:path w="2612572" h="931147">
                <a:moveTo>
                  <a:pt x="2612572" y="227763"/>
                </a:moveTo>
                <a:cubicBezTo>
                  <a:pt x="1850572" y="113881"/>
                  <a:pt x="1088572" y="0"/>
                  <a:pt x="653143" y="117231"/>
                </a:cubicBezTo>
                <a:cubicBezTo>
                  <a:pt x="217714" y="234462"/>
                  <a:pt x="108857" y="582804"/>
                  <a:pt x="0" y="931147"/>
                </a:cubicBezTo>
              </a:path>
            </a:pathLst>
          </a:custGeom>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en-US" noProof="0" dirty="0"/>
          </a:p>
        </p:txBody>
      </p:sp>
      <p:sp>
        <p:nvSpPr>
          <p:cNvPr id="48143" name="TextBox 27"/>
          <p:cNvSpPr txBox="1">
            <a:spLocks noChangeArrowheads="1"/>
          </p:cNvSpPr>
          <p:nvPr/>
        </p:nvSpPr>
        <p:spPr bwMode="auto">
          <a:xfrm>
            <a:off x="271463" y="3759200"/>
            <a:ext cx="1188146" cy="584775"/>
          </a:xfrm>
          <a:prstGeom prst="rect">
            <a:avLst/>
          </a:prstGeom>
          <a:noFill/>
          <a:ln w="9525">
            <a:noFill/>
            <a:miter lim="800000"/>
            <a:headEnd/>
            <a:tailEnd/>
          </a:ln>
        </p:spPr>
        <p:txBody>
          <a:bodyPr wrap="none">
            <a:spAutoFit/>
          </a:bodyPr>
          <a:lstStyle/>
          <a:p>
            <a:r>
              <a:rPr lang="en-US" sz="3200" i="1" noProof="0" dirty="0">
                <a:solidFill>
                  <a:srgbClr val="C00000"/>
                </a:solidFill>
                <a:sym typeface="Symbol" pitchFamily="18" charset="2"/>
              </a:rPr>
              <a:t>B</a:t>
            </a:r>
            <a:r>
              <a:rPr lang="en-US" sz="3200" baseline="-25000" noProof="0" dirty="0">
                <a:solidFill>
                  <a:srgbClr val="C00000"/>
                </a:solidFill>
                <a:sym typeface="Symbol" pitchFamily="18" charset="2"/>
              </a:rPr>
              <a:t>&lt;&gt;</a:t>
            </a:r>
            <a:r>
              <a:rPr lang="en-US" sz="3200" i="1" baseline="-25000" noProof="0" dirty="0">
                <a:solidFill>
                  <a:srgbClr val="C00000"/>
                </a:solidFill>
                <a:sym typeface="Symbol" pitchFamily="18" charset="2"/>
              </a:rPr>
              <a:t>q</a:t>
            </a:r>
            <a:r>
              <a:rPr lang="en-US" sz="3200" noProof="0" dirty="0">
                <a:solidFill>
                  <a:srgbClr val="C00000"/>
                </a:solidFill>
              </a:rPr>
              <a:t>:</a:t>
            </a:r>
          </a:p>
        </p:txBody>
      </p:sp>
      <p:sp>
        <p:nvSpPr>
          <p:cNvPr id="29" name="Oval 28"/>
          <p:cNvSpPr/>
          <p:nvPr/>
        </p:nvSpPr>
        <p:spPr>
          <a:xfrm>
            <a:off x="1911350" y="4591050"/>
            <a:ext cx="361950" cy="331788"/>
          </a:xfrm>
          <a:prstGeom prst="ellipse">
            <a:avLst/>
          </a:prstGeom>
          <a:ln w="76200" cmpd="dbl">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noProof="0" dirty="0"/>
              <a:t>a</a:t>
            </a:r>
          </a:p>
        </p:txBody>
      </p:sp>
      <p:cxnSp>
        <p:nvCxnSpPr>
          <p:cNvPr id="32" name="Straight Arrow Connector 31"/>
          <p:cNvCxnSpPr/>
          <p:nvPr/>
        </p:nvCxnSpPr>
        <p:spPr>
          <a:xfrm rot="5400000">
            <a:off x="2111375" y="4259263"/>
            <a:ext cx="292100" cy="1714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Curved Connector 14"/>
          <p:cNvCxnSpPr>
            <a:stCxn id="29" idx="0"/>
            <a:endCxn id="29" idx="4"/>
          </p:cNvCxnSpPr>
          <p:nvPr/>
        </p:nvCxnSpPr>
        <p:spPr>
          <a:xfrm rot="16200000" flipH="1">
            <a:off x="1925638" y="4757738"/>
            <a:ext cx="331787" cy="1587"/>
          </a:xfrm>
          <a:prstGeom prst="curvedConnector5">
            <a:avLst>
              <a:gd name="adj1" fmla="val -68939"/>
              <a:gd name="adj2" fmla="val -38757002"/>
              <a:gd name="adj3" fmla="val 168939"/>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48147" name="TextBox 34"/>
          <p:cNvSpPr txBox="1">
            <a:spLocks noChangeArrowheads="1"/>
          </p:cNvSpPr>
          <p:nvPr/>
        </p:nvSpPr>
        <p:spPr bwMode="auto">
          <a:xfrm>
            <a:off x="928688" y="4572000"/>
            <a:ext cx="558800" cy="461963"/>
          </a:xfrm>
          <a:prstGeom prst="rect">
            <a:avLst/>
          </a:prstGeom>
          <a:noFill/>
          <a:ln w="9525">
            <a:noFill/>
            <a:miter lim="800000"/>
            <a:headEnd/>
            <a:tailEnd/>
          </a:ln>
        </p:spPr>
        <p:txBody>
          <a:bodyPr wrap="none">
            <a:spAutoFit/>
          </a:bodyPr>
          <a:lstStyle/>
          <a:p>
            <a:r>
              <a:rPr lang="en-US" i="1" noProof="0" dirty="0">
                <a:sym typeface="Symbol" pitchFamily="18" charset="2"/>
              </a:rPr>
              <a:t>q</a:t>
            </a:r>
            <a:r>
              <a:rPr lang="en-US" noProof="0" dirty="0">
                <a:sym typeface="Symbol" pitchFamily="18" charset="2"/>
              </a:rPr>
              <a:t></a:t>
            </a:r>
            <a:endParaRPr lang="en-US" noProof="0" dirty="0"/>
          </a:p>
        </p:txBody>
      </p:sp>
      <p:sp>
        <p:nvSpPr>
          <p:cNvPr id="30" name="Tijdelijke aanduiding voor dianummer 29"/>
          <p:cNvSpPr>
            <a:spLocks noGrp="1"/>
          </p:cNvSpPr>
          <p:nvPr>
            <p:ph type="sldNum" sz="quarter" idx="12"/>
          </p:nvPr>
        </p:nvSpPr>
        <p:spPr/>
        <p:txBody>
          <a:bodyPr/>
          <a:lstStyle/>
          <a:p>
            <a:pPr>
              <a:defRPr/>
            </a:pPr>
            <a:fld id="{EC57A022-19C8-41D1-B0F2-D934B4120FE6}" type="slidenum">
              <a:rPr lang="en-US" noProof="0"/>
              <a:pPr>
                <a:defRPr/>
              </a:pPr>
              <a:t>43</a:t>
            </a:fld>
            <a:endParaRPr lang="en-US" noProof="0" dirty="0"/>
          </a:p>
        </p:txBody>
      </p:sp>
      <p:grpSp>
        <p:nvGrpSpPr>
          <p:cNvPr id="4" name="Groep 30"/>
          <p:cNvGrpSpPr>
            <a:grpSpLocks/>
          </p:cNvGrpSpPr>
          <p:nvPr/>
        </p:nvGrpSpPr>
        <p:grpSpPr bwMode="auto">
          <a:xfrm>
            <a:off x="3683000" y="3575050"/>
            <a:ext cx="5033963" cy="2630488"/>
            <a:chOff x="3683000" y="3575050"/>
            <a:chExt cx="5033963" cy="2630488"/>
          </a:xfrm>
        </p:grpSpPr>
        <p:sp>
          <p:nvSpPr>
            <p:cNvPr id="38" name="Oval 37"/>
            <p:cNvSpPr/>
            <p:nvPr/>
          </p:nvSpPr>
          <p:spPr>
            <a:xfrm>
              <a:off x="5029200" y="5029200"/>
              <a:ext cx="1365250" cy="490538"/>
            </a:xfrm>
            <a:prstGeom prst="ellipse">
              <a:avLst/>
            </a:prstGeom>
            <a:ln w="76200" cmpd="dbl">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noProof="0" dirty="0"/>
                <a:t>(0,a)</a:t>
              </a:r>
            </a:p>
          </p:txBody>
        </p:sp>
        <p:cxnSp>
          <p:nvCxnSpPr>
            <p:cNvPr id="39" name="Straight Arrow Connector 38"/>
            <p:cNvCxnSpPr/>
            <p:nvPr/>
          </p:nvCxnSpPr>
          <p:spPr>
            <a:xfrm rot="16200000" flipV="1">
              <a:off x="5536407" y="5961856"/>
              <a:ext cx="477838" cy="952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0" name="Curved Connector 14"/>
            <p:cNvCxnSpPr>
              <a:stCxn id="38" idx="1"/>
              <a:endCxn id="38" idx="3"/>
            </p:cNvCxnSpPr>
            <p:nvPr/>
          </p:nvCxnSpPr>
          <p:spPr>
            <a:xfrm rot="16200000" flipH="1">
              <a:off x="5055394" y="5274469"/>
              <a:ext cx="346075" cy="1587"/>
            </a:xfrm>
            <a:prstGeom prst="curvedConnector5">
              <a:avLst>
                <a:gd name="adj1" fmla="val -65997"/>
                <a:gd name="adj2" fmla="val -46023818"/>
                <a:gd name="adj3" fmla="val 165997"/>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48153" name="TextBox 40"/>
            <p:cNvSpPr txBox="1">
              <a:spLocks noChangeArrowheads="1"/>
            </p:cNvSpPr>
            <p:nvPr/>
          </p:nvSpPr>
          <p:spPr bwMode="auto">
            <a:xfrm>
              <a:off x="4243388" y="5688013"/>
              <a:ext cx="781050" cy="457200"/>
            </a:xfrm>
            <a:prstGeom prst="rect">
              <a:avLst/>
            </a:prstGeom>
            <a:noFill/>
            <a:ln w="9525">
              <a:noFill/>
              <a:miter lim="800000"/>
              <a:headEnd/>
              <a:tailEnd/>
            </a:ln>
          </p:spPr>
          <p:txBody>
            <a:bodyPr wrap="none">
              <a:spAutoFit/>
            </a:bodyPr>
            <a:lstStyle/>
            <a:p>
              <a:r>
                <a:rPr lang="en-US" noProof="0" dirty="0"/>
                <a:t>{ </a:t>
              </a:r>
              <a:r>
                <a:rPr lang="en-US" i="1" noProof="0" dirty="0"/>
                <a:t>p</a:t>
              </a:r>
              <a:r>
                <a:rPr lang="en-US" noProof="0" dirty="0"/>
                <a:t> }</a:t>
              </a:r>
            </a:p>
          </p:txBody>
        </p:sp>
        <p:sp>
          <p:nvSpPr>
            <p:cNvPr id="48154" name="TextBox 41"/>
            <p:cNvSpPr txBox="1">
              <a:spLocks noChangeArrowheads="1"/>
            </p:cNvSpPr>
            <p:nvPr/>
          </p:nvSpPr>
          <p:spPr bwMode="auto">
            <a:xfrm>
              <a:off x="5049838" y="3657600"/>
              <a:ext cx="1996059" cy="523220"/>
            </a:xfrm>
            <a:prstGeom prst="rect">
              <a:avLst/>
            </a:prstGeom>
            <a:noFill/>
            <a:ln w="9525">
              <a:noFill/>
              <a:miter lim="800000"/>
              <a:headEnd/>
              <a:tailEnd/>
            </a:ln>
          </p:spPr>
          <p:txBody>
            <a:bodyPr wrap="none">
              <a:spAutoFit/>
            </a:bodyPr>
            <a:lstStyle/>
            <a:p>
              <a:r>
                <a:rPr lang="en-US" sz="2800" i="1" noProof="0" dirty="0"/>
                <a:t>B</a:t>
              </a:r>
              <a:r>
                <a:rPr lang="en-US" sz="2800" i="1" baseline="-25000" noProof="0" dirty="0"/>
                <a:t>M</a:t>
              </a:r>
              <a:r>
                <a:rPr lang="en-US" sz="2800" noProof="0" dirty="0"/>
                <a:t> </a:t>
              </a:r>
              <a:r>
                <a:rPr lang="en-US" sz="2800" noProof="0" dirty="0">
                  <a:sym typeface="Symbol" pitchFamily="18" charset="2"/>
                </a:rPr>
                <a:t> </a:t>
              </a:r>
              <a:r>
                <a:rPr lang="en-US" sz="2800" i="1" noProof="0" dirty="0">
                  <a:sym typeface="Symbol" pitchFamily="18" charset="2"/>
                </a:rPr>
                <a:t>B</a:t>
              </a:r>
              <a:r>
                <a:rPr lang="en-US" sz="2800" baseline="-25000" noProof="0" dirty="0">
                  <a:sym typeface="Symbol" pitchFamily="18" charset="2"/>
                </a:rPr>
                <a:t>&lt;&gt;q </a:t>
              </a:r>
              <a:r>
                <a:rPr lang="en-US" sz="2800" noProof="0" dirty="0">
                  <a:sym typeface="Symbol" pitchFamily="18" charset="2"/>
                </a:rPr>
                <a:t>:</a:t>
              </a:r>
              <a:endParaRPr lang="en-US" sz="2800" baseline="-25000" noProof="0" dirty="0"/>
            </a:p>
          </p:txBody>
        </p:sp>
        <p:sp>
          <p:nvSpPr>
            <p:cNvPr id="43" name="Right Arrow 42"/>
            <p:cNvSpPr/>
            <p:nvPr/>
          </p:nvSpPr>
          <p:spPr>
            <a:xfrm>
              <a:off x="3683000" y="3575050"/>
              <a:ext cx="1296988" cy="79375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endParaRPr lang="en-US" noProof="0" dirty="0"/>
            </a:p>
          </p:txBody>
        </p:sp>
        <p:sp>
          <p:nvSpPr>
            <p:cNvPr id="2" name="Oval 37"/>
            <p:cNvSpPr/>
            <p:nvPr/>
          </p:nvSpPr>
          <p:spPr>
            <a:xfrm>
              <a:off x="7348538" y="4999038"/>
              <a:ext cx="1368425" cy="487362"/>
            </a:xfrm>
            <a:prstGeom prst="ellipse">
              <a:avLst/>
            </a:prstGeom>
            <a:ln w="76200" cmpd="dbl">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noProof="0" dirty="0"/>
                <a:t>(1,a)</a:t>
              </a:r>
            </a:p>
          </p:txBody>
        </p:sp>
        <p:cxnSp>
          <p:nvCxnSpPr>
            <p:cNvPr id="3" name="Straight Arrow Connector 7"/>
            <p:cNvCxnSpPr>
              <a:stCxn id="38" idx="6"/>
              <a:endCxn id="2" idx="2"/>
            </p:cNvCxnSpPr>
            <p:nvPr/>
          </p:nvCxnSpPr>
          <p:spPr>
            <a:xfrm flipV="1">
              <a:off x="6394450" y="5243513"/>
              <a:ext cx="954088" cy="30162"/>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48158" name="TextBox 40"/>
            <p:cNvSpPr txBox="1">
              <a:spLocks noChangeArrowheads="1"/>
            </p:cNvSpPr>
            <p:nvPr/>
          </p:nvSpPr>
          <p:spPr bwMode="auto">
            <a:xfrm>
              <a:off x="6535738" y="5268913"/>
              <a:ext cx="781050" cy="457200"/>
            </a:xfrm>
            <a:prstGeom prst="rect">
              <a:avLst/>
            </a:prstGeom>
            <a:noFill/>
            <a:ln w="9525">
              <a:noFill/>
              <a:miter lim="800000"/>
              <a:headEnd/>
              <a:tailEnd/>
            </a:ln>
          </p:spPr>
          <p:txBody>
            <a:bodyPr wrap="none">
              <a:spAutoFit/>
            </a:bodyPr>
            <a:lstStyle/>
            <a:p>
              <a:r>
                <a:rPr lang="en-US" noProof="0" dirty="0"/>
                <a:t>{ </a:t>
              </a:r>
              <a:r>
                <a:rPr lang="en-US" i="1" noProof="0" dirty="0"/>
                <a:t>p</a:t>
              </a:r>
              <a:r>
                <a:rPr lang="en-US" noProof="0" dirty="0"/>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Verification </a:t>
            </a:r>
          </a:p>
        </p:txBody>
      </p:sp>
      <p:sp>
        <p:nvSpPr>
          <p:cNvPr id="49155" name="Rectangle 3"/>
          <p:cNvSpPr>
            <a:spLocks noGrp="1" noChangeArrowheads="1"/>
          </p:cNvSpPr>
          <p:nvPr>
            <p:ph sz="quarter" idx="1"/>
          </p:nvPr>
        </p:nvSpPr>
        <p:spPr>
          <a:xfrm>
            <a:off x="471488" y="1219200"/>
            <a:ext cx="7986712" cy="5089525"/>
          </a:xfrm>
        </p:spPr>
        <p:txBody>
          <a:bodyPr/>
          <a:lstStyle/>
          <a:p>
            <a:pPr eaLnBrk="1" hangingPunct="1">
              <a:lnSpc>
                <a:spcPct val="90000"/>
              </a:lnSpc>
            </a:pPr>
            <a:r>
              <a:rPr lang="en-US" noProof="0" dirty="0">
                <a:cs typeface="Arial" charset="0"/>
              </a:rPr>
              <a:t>Sufficient to have an algorithm to check if L(</a:t>
            </a:r>
            <a:r>
              <a:rPr lang="en-US" i="1" noProof="0" dirty="0">
                <a:cs typeface="Arial" charset="0"/>
              </a:rPr>
              <a:t>C</a:t>
            </a:r>
            <a:r>
              <a:rPr lang="en-US" noProof="0" dirty="0">
                <a:cs typeface="Arial" charset="0"/>
              </a:rPr>
              <a:t>) </a:t>
            </a:r>
            <a:r>
              <a:rPr lang="en-US" noProof="0" dirty="0">
                <a:cs typeface="Arial" charset="0"/>
                <a:sym typeface="Symbol" pitchFamily="18" charset="2"/>
              </a:rPr>
              <a:t>= , for the intersection-automaton </a:t>
            </a:r>
            <a:r>
              <a:rPr lang="en-US" i="1" noProof="0" dirty="0">
                <a:cs typeface="Arial" charset="0"/>
                <a:sym typeface="Symbol" pitchFamily="18" charset="2"/>
              </a:rPr>
              <a:t>C</a:t>
            </a:r>
            <a:r>
              <a:rPr lang="en-US" noProof="0" dirty="0">
                <a:cs typeface="Arial" charset="0"/>
                <a:sym typeface="Symbol" pitchFamily="18" charset="2"/>
              </a:rPr>
              <a:t>. </a:t>
            </a:r>
            <a:br>
              <a:rPr lang="en-US" noProof="0" dirty="0">
                <a:cs typeface="Arial" charset="0"/>
                <a:sym typeface="Symbol" pitchFamily="18" charset="2"/>
              </a:rPr>
            </a:br>
            <a:endParaRPr lang="en-US" noProof="0" dirty="0">
              <a:cs typeface="Arial" charset="0"/>
              <a:sym typeface="Symbol" pitchFamily="18" charset="2"/>
            </a:endParaRPr>
          </a:p>
          <a:p>
            <a:pPr eaLnBrk="1" hangingPunct="1">
              <a:lnSpc>
                <a:spcPct val="90000"/>
              </a:lnSpc>
            </a:pPr>
            <a:endParaRPr lang="en-US" noProof="0" dirty="0">
              <a:cs typeface="Arial" charset="0"/>
              <a:sym typeface="Symbol" pitchFamily="18" charset="2"/>
            </a:endParaRPr>
          </a:p>
          <a:p>
            <a:pPr eaLnBrk="1" hangingPunct="1">
              <a:lnSpc>
                <a:spcPct val="90000"/>
              </a:lnSpc>
            </a:pPr>
            <a:endParaRPr lang="en-US" noProof="0" dirty="0">
              <a:cs typeface="Arial" charset="0"/>
              <a:sym typeface="Symbol" pitchFamily="18" charset="2"/>
            </a:endParaRPr>
          </a:p>
          <a:p>
            <a:pPr eaLnBrk="1" hangingPunct="1">
              <a:lnSpc>
                <a:spcPct val="90000"/>
              </a:lnSpc>
            </a:pPr>
            <a:endParaRPr lang="en-US" noProof="0" dirty="0">
              <a:cs typeface="Arial" charset="0"/>
              <a:sym typeface="Symbol" pitchFamily="18" charset="2"/>
            </a:endParaRPr>
          </a:p>
          <a:p>
            <a:pPr eaLnBrk="1" hangingPunct="1">
              <a:lnSpc>
                <a:spcPct val="90000"/>
              </a:lnSpc>
            </a:pPr>
            <a:r>
              <a:rPr lang="en-US" noProof="0" dirty="0">
                <a:cs typeface="Arial" charset="0"/>
                <a:sym typeface="Symbol" pitchFamily="18" charset="2"/>
              </a:rPr>
              <a:t>So, it comes down to a cycle finding in a finite graph! Solvable.</a:t>
            </a:r>
          </a:p>
          <a:p>
            <a:pPr eaLnBrk="1" hangingPunct="1">
              <a:lnSpc>
                <a:spcPct val="90000"/>
              </a:lnSpc>
            </a:pPr>
            <a:endParaRPr lang="en-US" noProof="0" dirty="0">
              <a:cs typeface="Arial" charset="0"/>
              <a:sym typeface="Symbol" pitchFamily="18" charset="2"/>
            </a:endParaRPr>
          </a:p>
          <a:p>
            <a:pPr eaLnBrk="1" hangingPunct="1">
              <a:lnSpc>
                <a:spcPct val="90000"/>
              </a:lnSpc>
            </a:pPr>
            <a:r>
              <a:rPr lang="en-US" noProof="0" dirty="0">
                <a:cs typeface="Arial" charset="0"/>
                <a:sym typeface="Symbol" pitchFamily="18" charset="2"/>
              </a:rPr>
              <a:t>The path leading to such a cycle also acts as your counter example!</a:t>
            </a:r>
          </a:p>
        </p:txBody>
      </p:sp>
      <p:sp>
        <p:nvSpPr>
          <p:cNvPr id="5" name="TextBox 4"/>
          <p:cNvSpPr txBox="1"/>
          <p:nvPr/>
        </p:nvSpPr>
        <p:spPr>
          <a:xfrm>
            <a:off x="811213" y="2326142"/>
            <a:ext cx="7758112" cy="830997"/>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en-US" noProof="0" dirty="0">
                <a:cs typeface="Arial" pitchFamily="34" charset="0"/>
                <a:sym typeface="Symbol" pitchFamily="18" charset="2"/>
              </a:rPr>
              <a:t>L(</a:t>
            </a:r>
            <a:r>
              <a:rPr lang="en-US" i="1" noProof="0" dirty="0">
                <a:cs typeface="Arial" pitchFamily="34" charset="0"/>
                <a:sym typeface="Symbol" pitchFamily="18" charset="2"/>
              </a:rPr>
              <a:t>C</a:t>
            </a:r>
            <a:r>
              <a:rPr lang="en-US" noProof="0" dirty="0">
                <a:cs typeface="Arial" pitchFamily="34" charset="0"/>
                <a:sym typeface="Symbol" pitchFamily="18" charset="2"/>
              </a:rPr>
              <a:t>) </a:t>
            </a:r>
            <a:r>
              <a:rPr lang="en-US" noProof="0" dirty="0">
                <a:cs typeface="Arial" pitchFamily="34" charset="0"/>
                <a:sym typeface="Symbol"/>
              </a:rPr>
              <a:t></a:t>
            </a:r>
            <a:r>
              <a:rPr lang="en-US" noProof="0" dirty="0">
                <a:sym typeface="Symbol"/>
              </a:rPr>
              <a:t>   </a:t>
            </a:r>
            <a:r>
              <a:rPr lang="en-US" noProof="0" dirty="0" err="1">
                <a:cs typeface="Arial" pitchFamily="34" charset="0"/>
                <a:sym typeface="Symbol" pitchFamily="18" charset="2"/>
              </a:rPr>
              <a:t>iff</a:t>
            </a:r>
            <a:r>
              <a:rPr lang="en-US" noProof="0" dirty="0">
                <a:cs typeface="Arial" pitchFamily="34" charset="0"/>
                <a:sym typeface="Symbol" pitchFamily="18" charset="2"/>
              </a:rPr>
              <a:t>   there is a finite path from </a:t>
            </a:r>
            <a:r>
              <a:rPr lang="en-US" i="1" noProof="0" dirty="0">
                <a:cs typeface="Arial" pitchFamily="34" charset="0"/>
                <a:sym typeface="Symbol" pitchFamily="18" charset="2"/>
              </a:rPr>
              <a:t>C</a:t>
            </a:r>
            <a:r>
              <a:rPr lang="en-US" noProof="0" dirty="0">
                <a:cs typeface="Arial" pitchFamily="34" charset="0"/>
                <a:sym typeface="Symbol" pitchFamily="18" charset="2"/>
              </a:rPr>
              <a:t>’s initial state to an accepting state </a:t>
            </a:r>
            <a:r>
              <a:rPr lang="en-US" i="1" noProof="0" dirty="0">
                <a:cs typeface="Arial" pitchFamily="34" charset="0"/>
                <a:sym typeface="Symbol" pitchFamily="18" charset="2"/>
              </a:rPr>
              <a:t>f</a:t>
            </a:r>
            <a:r>
              <a:rPr lang="en-US" noProof="0" dirty="0">
                <a:cs typeface="Arial" pitchFamily="34" charset="0"/>
                <a:sym typeface="Symbol" pitchFamily="18" charset="2"/>
              </a:rPr>
              <a:t> , followed by a cycle back to </a:t>
            </a:r>
            <a:r>
              <a:rPr lang="en-US" i="1" noProof="0" dirty="0">
                <a:cs typeface="Arial" pitchFamily="34" charset="0"/>
                <a:sym typeface="Symbol" pitchFamily="18" charset="2"/>
              </a:rPr>
              <a:t>f</a:t>
            </a:r>
            <a:r>
              <a:rPr lang="en-US" noProof="0" dirty="0">
                <a:cs typeface="Arial" pitchFamily="34" charset="0"/>
                <a:sym typeface="Symbol" pitchFamily="18" charset="2"/>
              </a:rPr>
              <a:t> .</a:t>
            </a:r>
            <a:endParaRPr lang="en-US" noProof="0" dirty="0">
              <a:cs typeface="Arial" pitchFamily="34" charset="0"/>
            </a:endParaRPr>
          </a:p>
        </p:txBody>
      </p:sp>
      <p:sp>
        <p:nvSpPr>
          <p:cNvPr id="8" name="Tijdelijke aanduiding voor dianummer 7"/>
          <p:cNvSpPr>
            <a:spLocks noGrp="1"/>
          </p:cNvSpPr>
          <p:nvPr>
            <p:ph type="sldNum" sz="quarter" idx="12"/>
          </p:nvPr>
        </p:nvSpPr>
        <p:spPr/>
        <p:txBody>
          <a:bodyPr/>
          <a:lstStyle/>
          <a:p>
            <a:pPr>
              <a:defRPr/>
            </a:pPr>
            <a:fld id="{11D6B7D6-7461-468F-8F25-6D710358CC13}" type="slidenum">
              <a:rPr lang="en-US" noProof="0"/>
              <a:pPr>
                <a:defRPr/>
              </a:pPr>
              <a:t>44</a:t>
            </a:fld>
            <a:endParaRPr lang="en-US"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Approaches</a:t>
            </a:r>
          </a:p>
        </p:txBody>
      </p:sp>
      <p:sp>
        <p:nvSpPr>
          <p:cNvPr id="62467" name="Rectangle 3"/>
          <p:cNvSpPr>
            <a:spLocks noGrp="1" noChangeArrowheads="1"/>
          </p:cNvSpPr>
          <p:nvPr>
            <p:ph sz="quarter" idx="1"/>
          </p:nvPr>
        </p:nvSpPr>
        <p:spPr>
          <a:xfrm>
            <a:off x="482600" y="1219200"/>
            <a:ext cx="7975600" cy="5156200"/>
          </a:xfrm>
        </p:spPr>
        <p:txBody>
          <a:bodyPr/>
          <a:lstStyle/>
          <a:p>
            <a:pPr marL="381000" indent="-381000" eaLnBrk="1" hangingPunct="1">
              <a:lnSpc>
                <a:spcPct val="90000"/>
              </a:lnSpc>
              <a:defRPr/>
            </a:pPr>
            <a:r>
              <a:rPr lang="en-US" noProof="0" dirty="0"/>
              <a:t>View </a:t>
            </a:r>
            <a:r>
              <a:rPr lang="en-US" i="1" noProof="0" dirty="0"/>
              <a:t>C</a:t>
            </a:r>
            <a:r>
              <a:rPr lang="en-US" noProof="0" dirty="0"/>
              <a:t> = </a:t>
            </a:r>
            <a:r>
              <a:rPr lang="en-US" i="1" noProof="0" dirty="0"/>
              <a:t>B</a:t>
            </a:r>
            <a:r>
              <a:rPr lang="en-US" baseline="-25000" noProof="0" dirty="0"/>
              <a:t>M</a:t>
            </a:r>
            <a:r>
              <a:rPr lang="en-US" noProof="0" dirty="0"/>
              <a:t>  </a:t>
            </a:r>
            <a:r>
              <a:rPr lang="en-US" noProof="0" dirty="0">
                <a:sym typeface="Symbol"/>
              </a:rPr>
              <a:t>  </a:t>
            </a:r>
            <a:r>
              <a:rPr lang="en-US" i="1" noProof="0" dirty="0">
                <a:sym typeface="Symbol"/>
              </a:rPr>
              <a:t>B</a:t>
            </a:r>
            <a:r>
              <a:rPr lang="en-US" baseline="-25000" noProof="0" dirty="0">
                <a:sym typeface="Symbol"/>
              </a:rPr>
              <a:t></a:t>
            </a:r>
            <a:r>
              <a:rPr lang="en-US" noProof="0" dirty="0">
                <a:sym typeface="Symbol"/>
              </a:rPr>
              <a:t>  as a directed graph. Approach 1 :</a:t>
            </a:r>
            <a:endParaRPr lang="en-US" noProof="0" dirty="0"/>
          </a:p>
          <a:p>
            <a:pPr marL="800100" lvl="1" indent="-342900" eaLnBrk="1" hangingPunct="1">
              <a:lnSpc>
                <a:spcPct val="90000"/>
              </a:lnSpc>
              <a:buSzPct val="100000"/>
              <a:buFontTx/>
              <a:buAutoNum type="arabicPeriod"/>
              <a:defRPr/>
            </a:pPr>
            <a:r>
              <a:rPr lang="en-US" noProof="0" dirty="0"/>
              <a:t>Calculate all strongly connected component (SCCs) of  </a:t>
            </a:r>
            <a:r>
              <a:rPr lang="en-US" i="1" noProof="0" dirty="0"/>
              <a:t>C</a:t>
            </a:r>
            <a:r>
              <a:rPr lang="en-US" noProof="0" dirty="0"/>
              <a:t> (e.g. with Tarjan) .</a:t>
            </a:r>
          </a:p>
          <a:p>
            <a:pPr marL="800100" lvl="1" indent="-342900" eaLnBrk="1" hangingPunct="1">
              <a:lnSpc>
                <a:spcPct val="90000"/>
              </a:lnSpc>
              <a:buSzPct val="100000"/>
              <a:buFontTx/>
              <a:buAutoNum type="arabicPeriod"/>
              <a:defRPr/>
            </a:pPr>
            <a:r>
              <a:rPr lang="en-US" noProof="0" dirty="0"/>
              <a:t>Check if there is an SCC containing an accepting state, reachable from </a:t>
            </a:r>
            <a:r>
              <a:rPr lang="en-US" i="1" noProof="0" dirty="0"/>
              <a:t>C</a:t>
            </a:r>
            <a:r>
              <a:rPr lang="en-US" noProof="0" dirty="0"/>
              <a:t>’s initial state.</a:t>
            </a:r>
            <a:br>
              <a:rPr lang="en-US" noProof="0" dirty="0"/>
            </a:br>
            <a:endParaRPr lang="en-US" noProof="0" dirty="0"/>
          </a:p>
          <a:p>
            <a:pPr marL="479425" indent="-342900" eaLnBrk="1" hangingPunct="1">
              <a:lnSpc>
                <a:spcPct val="90000"/>
              </a:lnSpc>
              <a:defRPr/>
            </a:pPr>
            <a:r>
              <a:rPr lang="en-US" noProof="0" dirty="0"/>
              <a:t>Approach 2, based on Depth First Search (DFS); can be made </a:t>
            </a:r>
            <a:r>
              <a:rPr lang="en-US" i="1" noProof="0" dirty="0"/>
              <a:t>lazy</a:t>
            </a:r>
            <a:r>
              <a:rPr lang="en-US" noProof="0" dirty="0"/>
              <a:t> :</a:t>
            </a:r>
          </a:p>
          <a:p>
            <a:pPr marL="800100" lvl="1" indent="-342900" eaLnBrk="1" hangingPunct="1">
              <a:lnSpc>
                <a:spcPct val="90000"/>
              </a:lnSpc>
              <a:defRPr/>
            </a:pPr>
            <a:r>
              <a:rPr lang="en-US" sz="2000" noProof="0" dirty="0"/>
              <a:t>the full graph is constructed as-we-go, as you search for a cycle.</a:t>
            </a:r>
          </a:p>
          <a:p>
            <a:pPr marL="800100" lvl="1" indent="-342900" eaLnBrk="1" hangingPunct="1">
              <a:lnSpc>
                <a:spcPct val="90000"/>
              </a:lnSpc>
              <a:defRPr/>
            </a:pPr>
            <a:r>
              <a:rPr lang="en-US" sz="2000" noProof="0" dirty="0"/>
              <a:t>Importantly, if </a:t>
            </a:r>
            <a:r>
              <a:rPr lang="en-US" sz="2000" i="1" noProof="0" dirty="0"/>
              <a:t>M</a:t>
            </a:r>
            <a:r>
              <a:rPr lang="en-US" sz="2000" noProof="0" dirty="0"/>
              <a:t> represents a parallel composition </a:t>
            </a:r>
            <a:r>
              <a:rPr lang="en-US" sz="2000" i="1" noProof="0" dirty="0"/>
              <a:t>P</a:t>
            </a:r>
            <a:r>
              <a:rPr lang="en-US" sz="2000" baseline="-25000" noProof="0" dirty="0"/>
              <a:t>1</a:t>
            </a:r>
            <a:r>
              <a:rPr lang="en-US" sz="2000" noProof="0" dirty="0"/>
              <a:t> || </a:t>
            </a:r>
            <a:r>
              <a:rPr lang="en-US" sz="2000" i="1" noProof="0" dirty="0"/>
              <a:t>P</a:t>
            </a:r>
            <a:r>
              <a:rPr lang="en-US" sz="2000" baseline="-25000" noProof="0" dirty="0"/>
              <a:t>2</a:t>
            </a:r>
            <a:r>
              <a:rPr lang="en-US" sz="2000" noProof="0" dirty="0"/>
              <a:t> || ...  , this means that we can lazily construct </a:t>
            </a:r>
            <a:r>
              <a:rPr lang="en-US" sz="2000" i="1" noProof="0" dirty="0"/>
              <a:t>B</a:t>
            </a:r>
            <a:r>
              <a:rPr lang="en-US" sz="2000" baseline="-25000" noProof="0" dirty="0"/>
              <a:t>M</a:t>
            </a:r>
            <a:r>
              <a:rPr lang="en-US" sz="2000" noProof="0" dirty="0"/>
              <a:t>.</a:t>
            </a:r>
          </a:p>
          <a:p>
            <a:pPr marL="800100" lvl="1" indent="-342900" eaLnBrk="1" hangingPunct="1">
              <a:lnSpc>
                <a:spcPct val="90000"/>
              </a:lnSpc>
              <a:buFont typeface="Wingdings 2" pitchFamily="18" charset="2"/>
              <a:buNone/>
              <a:defRPr/>
            </a:pPr>
            <a:br>
              <a:rPr lang="en-US" noProof="0" dirty="0"/>
            </a:br>
            <a:endParaRPr lang="en-US" noProof="0" dirty="0"/>
          </a:p>
          <a:p>
            <a:pPr marL="381000" indent="-381000" eaLnBrk="1" hangingPunct="1">
              <a:lnSpc>
                <a:spcPct val="90000"/>
              </a:lnSpc>
              <a:buFont typeface="Wingdings" pitchFamily="2" charset="2"/>
              <a:buNone/>
              <a:defRPr/>
            </a:pPr>
            <a:br>
              <a:rPr lang="en-US" noProof="0" dirty="0"/>
            </a:br>
            <a:endParaRPr lang="en-US" noProof="0" dirty="0"/>
          </a:p>
        </p:txBody>
      </p:sp>
      <p:sp>
        <p:nvSpPr>
          <p:cNvPr id="5" name="Tijdelijke aanduiding voor dianummer 4"/>
          <p:cNvSpPr>
            <a:spLocks noGrp="1"/>
          </p:cNvSpPr>
          <p:nvPr>
            <p:ph type="sldNum" sz="quarter" idx="12"/>
          </p:nvPr>
        </p:nvSpPr>
        <p:spPr/>
        <p:txBody>
          <a:bodyPr/>
          <a:lstStyle/>
          <a:p>
            <a:pPr>
              <a:defRPr/>
            </a:pPr>
            <a:fld id="{339E5A7B-2A0D-41C4-81B6-CC28085451FE}" type="slidenum">
              <a:rPr lang="en-US" noProof="0"/>
              <a:pPr>
                <a:defRPr/>
              </a:pPr>
              <a:t>45</a:t>
            </a:fld>
            <a:endParaRPr lang="en-US"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DFS-approach (SPIN)</a:t>
            </a:r>
          </a:p>
        </p:txBody>
      </p:sp>
      <p:sp>
        <p:nvSpPr>
          <p:cNvPr id="51203" name="Rectangle 3"/>
          <p:cNvSpPr>
            <a:spLocks noGrp="1" noChangeArrowheads="1"/>
          </p:cNvSpPr>
          <p:nvPr>
            <p:ph sz="quarter" idx="1"/>
          </p:nvPr>
        </p:nvSpPr>
        <p:spPr>
          <a:xfrm>
            <a:off x="412750" y="1219200"/>
            <a:ext cx="8278813" cy="5638800"/>
          </a:xfrm>
        </p:spPr>
        <p:txBody>
          <a:bodyPr/>
          <a:lstStyle/>
          <a:p>
            <a:pPr marL="381000" indent="-381000" eaLnBrk="1" hangingPunct="1">
              <a:lnSpc>
                <a:spcPct val="90000"/>
              </a:lnSpc>
            </a:pPr>
            <a:r>
              <a:rPr lang="en-US" noProof="0" dirty="0">
                <a:cs typeface="Arial" charset="0"/>
              </a:rPr>
              <a:t>DFS is a way to traverse a graph :</a:t>
            </a:r>
          </a:p>
          <a:p>
            <a:pPr marL="381000" indent="-381000" eaLnBrk="1" hangingPunct="1">
              <a:lnSpc>
                <a:spcPct val="90000"/>
              </a:lnSpc>
            </a:pPr>
            <a:endParaRPr lang="en-US" noProof="0" dirty="0">
              <a:cs typeface="Arial" charset="0"/>
            </a:endParaRPr>
          </a:p>
          <a:p>
            <a:pPr marL="381000" indent="-381000" eaLnBrk="1" hangingPunct="1">
              <a:lnSpc>
                <a:spcPct val="90000"/>
              </a:lnSpc>
            </a:pPr>
            <a:endParaRPr lang="en-US" noProof="0" dirty="0">
              <a:cs typeface="Arial" charset="0"/>
            </a:endParaRPr>
          </a:p>
          <a:p>
            <a:pPr marL="381000" indent="-381000" eaLnBrk="1" hangingPunct="1">
              <a:lnSpc>
                <a:spcPct val="90000"/>
              </a:lnSpc>
            </a:pPr>
            <a:endParaRPr lang="en-US" noProof="0" dirty="0">
              <a:cs typeface="Arial" charset="0"/>
            </a:endParaRPr>
          </a:p>
          <a:p>
            <a:pPr marL="381000" indent="-381000" eaLnBrk="1" hangingPunct="1">
              <a:lnSpc>
                <a:spcPct val="90000"/>
              </a:lnSpc>
            </a:pPr>
            <a:endParaRPr lang="en-US" noProof="0" dirty="0">
              <a:cs typeface="Arial" charset="0"/>
            </a:endParaRPr>
          </a:p>
          <a:p>
            <a:pPr marL="381000" indent="-381000" eaLnBrk="1" hangingPunct="1">
              <a:lnSpc>
                <a:spcPct val="90000"/>
              </a:lnSpc>
            </a:pPr>
            <a:endParaRPr lang="en-US" noProof="0" dirty="0">
              <a:cs typeface="Arial" charset="0"/>
            </a:endParaRPr>
          </a:p>
          <a:p>
            <a:pPr marL="381000" indent="-381000" eaLnBrk="1" hangingPunct="1">
              <a:lnSpc>
                <a:spcPct val="90000"/>
              </a:lnSpc>
            </a:pPr>
            <a:endParaRPr lang="en-US" noProof="0" dirty="0">
              <a:cs typeface="Arial" charset="0"/>
            </a:endParaRPr>
          </a:p>
          <a:p>
            <a:pPr marL="381000" indent="-381000" eaLnBrk="1" hangingPunct="1">
              <a:lnSpc>
                <a:spcPct val="90000"/>
              </a:lnSpc>
            </a:pPr>
            <a:endParaRPr lang="en-US" noProof="0" dirty="0">
              <a:cs typeface="Arial" charset="0"/>
            </a:endParaRPr>
          </a:p>
          <a:p>
            <a:pPr marL="381000" indent="-381000" eaLnBrk="1" hangingPunct="1">
              <a:lnSpc>
                <a:spcPct val="90000"/>
              </a:lnSpc>
            </a:pPr>
            <a:endParaRPr lang="en-US" noProof="0" dirty="0">
              <a:cs typeface="Arial" charset="0"/>
            </a:endParaRPr>
          </a:p>
          <a:p>
            <a:pPr marL="381000" indent="-381000" eaLnBrk="1" hangingPunct="1">
              <a:lnSpc>
                <a:spcPct val="90000"/>
              </a:lnSpc>
            </a:pPr>
            <a:endParaRPr lang="en-US" noProof="0" dirty="0">
              <a:cs typeface="Arial" charset="0"/>
            </a:endParaRPr>
          </a:p>
          <a:p>
            <a:pPr marL="381000" indent="-381000" eaLnBrk="1" hangingPunct="1">
              <a:lnSpc>
                <a:spcPct val="90000"/>
              </a:lnSpc>
            </a:pPr>
            <a:r>
              <a:rPr lang="en-US" noProof="0" dirty="0">
                <a:cs typeface="Arial" charset="0"/>
              </a:rPr>
              <a:t>This will visit all reachable nodes. You can already use this to check “state assertions”.</a:t>
            </a:r>
          </a:p>
        </p:txBody>
      </p:sp>
      <p:sp>
        <p:nvSpPr>
          <p:cNvPr id="5" name="TextBox 4"/>
          <p:cNvSpPr txBox="1"/>
          <p:nvPr/>
        </p:nvSpPr>
        <p:spPr>
          <a:xfrm>
            <a:off x="1582738" y="1884363"/>
            <a:ext cx="5135562" cy="3416300"/>
          </a:xfrm>
          <a:prstGeom prst="rect">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a:spAutoFit/>
          </a:bodyPr>
          <a:lstStyle/>
          <a:p>
            <a:pPr>
              <a:defRPr/>
            </a:pPr>
            <a:r>
              <a:rPr lang="en-US" noProof="0" dirty="0">
                <a:cs typeface="Arial" pitchFamily="34" charset="0"/>
              </a:rPr>
              <a:t>DFS(</a:t>
            </a:r>
            <a:r>
              <a:rPr lang="en-US" i="1" noProof="0" dirty="0">
                <a:cs typeface="Arial" pitchFamily="34" charset="0"/>
              </a:rPr>
              <a:t>u</a:t>
            </a:r>
            <a:r>
              <a:rPr lang="en-US" noProof="0" dirty="0">
                <a:cs typeface="Arial" pitchFamily="34" charset="0"/>
              </a:rPr>
              <a:t>)  {</a:t>
            </a:r>
          </a:p>
          <a:p>
            <a:pPr>
              <a:defRPr/>
            </a:pPr>
            <a:br>
              <a:rPr lang="en-US" noProof="0" dirty="0">
                <a:cs typeface="Arial" pitchFamily="34" charset="0"/>
              </a:rPr>
            </a:br>
            <a:r>
              <a:rPr lang="en-US" noProof="0" dirty="0">
                <a:cs typeface="Arial" pitchFamily="34" charset="0"/>
              </a:rPr>
              <a:t>     </a:t>
            </a:r>
            <a:r>
              <a:rPr lang="en-US" b="1" noProof="0" dirty="0">
                <a:cs typeface="Arial" pitchFamily="34" charset="0"/>
              </a:rPr>
              <a:t>if</a:t>
            </a:r>
            <a:r>
              <a:rPr lang="en-US" noProof="0" dirty="0">
                <a:cs typeface="Arial" pitchFamily="34" charset="0"/>
              </a:rPr>
              <a:t> (</a:t>
            </a:r>
            <a:r>
              <a:rPr lang="en-US" i="1" noProof="0" dirty="0">
                <a:cs typeface="Arial" pitchFamily="34" charset="0"/>
              </a:rPr>
              <a:t>u </a:t>
            </a:r>
            <a:r>
              <a:rPr lang="en-US" noProof="0" dirty="0">
                <a:cs typeface="Arial" pitchFamily="34" charset="0"/>
                <a:sym typeface="Symbol"/>
              </a:rPr>
              <a:t></a:t>
            </a:r>
            <a:r>
              <a:rPr lang="en-US" i="1" noProof="0" dirty="0">
                <a:cs typeface="Arial" pitchFamily="34" charset="0"/>
                <a:sym typeface="Symbol"/>
              </a:rPr>
              <a:t> </a:t>
            </a:r>
            <a:r>
              <a:rPr lang="en-US" i="1" noProof="0" dirty="0">
                <a:cs typeface="Arial" pitchFamily="34" charset="0"/>
              </a:rPr>
              <a:t>visited</a:t>
            </a:r>
            <a:r>
              <a:rPr lang="en-US" noProof="0" dirty="0">
                <a:cs typeface="Arial" pitchFamily="34" charset="0"/>
              </a:rPr>
              <a:t>)  </a:t>
            </a:r>
            <a:r>
              <a:rPr lang="en-US" b="1" noProof="0" dirty="0">
                <a:cs typeface="Arial" pitchFamily="34" charset="0"/>
              </a:rPr>
              <a:t>return</a:t>
            </a:r>
            <a:r>
              <a:rPr lang="en-US" noProof="0" dirty="0">
                <a:cs typeface="Arial" pitchFamily="34" charset="0"/>
              </a:rPr>
              <a:t> ;</a:t>
            </a:r>
          </a:p>
          <a:p>
            <a:pPr>
              <a:defRPr/>
            </a:pPr>
            <a:endParaRPr lang="en-US" noProof="0" dirty="0">
              <a:cs typeface="Arial" pitchFamily="34" charset="0"/>
            </a:endParaRPr>
          </a:p>
          <a:p>
            <a:pPr>
              <a:defRPr/>
            </a:pPr>
            <a:r>
              <a:rPr lang="en-US" noProof="0" dirty="0">
                <a:cs typeface="Arial" pitchFamily="34" charset="0"/>
              </a:rPr>
              <a:t>     </a:t>
            </a:r>
            <a:r>
              <a:rPr lang="en-US" i="1" noProof="0" dirty="0" err="1">
                <a:cs typeface="Arial" pitchFamily="34" charset="0"/>
              </a:rPr>
              <a:t>visited</a:t>
            </a:r>
            <a:r>
              <a:rPr lang="en-US" noProof="0" dirty="0" err="1">
                <a:cs typeface="Arial" pitchFamily="34" charset="0"/>
              </a:rPr>
              <a:t>.</a:t>
            </a:r>
            <a:r>
              <a:rPr lang="en-US" i="1" noProof="0" dirty="0" err="1">
                <a:cs typeface="Arial" pitchFamily="34" charset="0"/>
              </a:rPr>
              <a:t>add</a:t>
            </a:r>
            <a:r>
              <a:rPr lang="en-US" noProof="0" dirty="0">
                <a:cs typeface="Arial" pitchFamily="34" charset="0"/>
              </a:rPr>
              <a:t>(</a:t>
            </a:r>
            <a:r>
              <a:rPr lang="en-US" i="1" noProof="0" dirty="0">
                <a:cs typeface="Arial" pitchFamily="34" charset="0"/>
              </a:rPr>
              <a:t>u</a:t>
            </a:r>
            <a:r>
              <a:rPr lang="en-US" noProof="0" dirty="0">
                <a:cs typeface="Arial" pitchFamily="34" charset="0"/>
              </a:rPr>
              <a:t>) ;</a:t>
            </a:r>
          </a:p>
          <a:p>
            <a:pPr>
              <a:defRPr/>
            </a:pPr>
            <a:endParaRPr lang="en-US" noProof="0" dirty="0">
              <a:cs typeface="Arial" pitchFamily="34" charset="0"/>
            </a:endParaRPr>
          </a:p>
          <a:p>
            <a:pPr>
              <a:defRPr/>
            </a:pPr>
            <a:r>
              <a:rPr lang="en-US" noProof="0" dirty="0">
                <a:cs typeface="Arial" pitchFamily="34" charset="0"/>
              </a:rPr>
              <a:t>     </a:t>
            </a:r>
            <a:r>
              <a:rPr lang="en-US" b="1" noProof="0" dirty="0">
                <a:cs typeface="Arial" pitchFamily="34" charset="0"/>
              </a:rPr>
              <a:t>for</a:t>
            </a:r>
            <a:r>
              <a:rPr lang="en-US" noProof="0" dirty="0">
                <a:cs typeface="Arial" pitchFamily="34" charset="0"/>
              </a:rPr>
              <a:t> (</a:t>
            </a:r>
            <a:r>
              <a:rPr lang="en-US" i="1" noProof="0" dirty="0">
                <a:cs typeface="Arial" pitchFamily="34" charset="0"/>
              </a:rPr>
              <a:t>s</a:t>
            </a:r>
            <a:r>
              <a:rPr lang="en-US" noProof="0" dirty="0">
                <a:cs typeface="Arial" pitchFamily="34" charset="0"/>
              </a:rPr>
              <a:t> </a:t>
            </a:r>
            <a:r>
              <a:rPr lang="en-US" noProof="0" dirty="0">
                <a:cs typeface="Arial" pitchFamily="34" charset="0"/>
                <a:sym typeface="Symbol"/>
              </a:rPr>
              <a:t></a:t>
            </a:r>
            <a:r>
              <a:rPr lang="en-US" noProof="0" dirty="0">
                <a:cs typeface="Arial" pitchFamily="34" charset="0"/>
              </a:rPr>
              <a:t> </a:t>
            </a:r>
            <a:r>
              <a:rPr lang="en-US" i="1" noProof="0" dirty="0">
                <a:cs typeface="Arial" pitchFamily="34" charset="0"/>
              </a:rPr>
              <a:t>next</a:t>
            </a:r>
            <a:r>
              <a:rPr lang="en-US" noProof="0" dirty="0">
                <a:cs typeface="Arial" pitchFamily="34" charset="0"/>
                <a:sym typeface="Symbol"/>
              </a:rPr>
              <a:t>(</a:t>
            </a:r>
            <a:r>
              <a:rPr lang="en-US" i="1" noProof="0" dirty="0">
                <a:cs typeface="Arial" pitchFamily="34" charset="0"/>
                <a:sym typeface="Symbol"/>
              </a:rPr>
              <a:t>u</a:t>
            </a:r>
            <a:r>
              <a:rPr lang="en-US" noProof="0" dirty="0">
                <a:cs typeface="Arial" pitchFamily="34" charset="0"/>
                <a:sym typeface="Symbol"/>
              </a:rPr>
              <a:t>))  DFS</a:t>
            </a:r>
            <a:r>
              <a:rPr lang="en-US" i="1" noProof="0" dirty="0">
                <a:cs typeface="Arial" pitchFamily="34" charset="0"/>
                <a:sym typeface="Symbol"/>
              </a:rPr>
              <a:t>(s)</a:t>
            </a:r>
            <a:r>
              <a:rPr lang="en-US" noProof="0" dirty="0">
                <a:cs typeface="Arial" pitchFamily="34" charset="0"/>
                <a:sym typeface="Symbol"/>
              </a:rPr>
              <a:t> ;</a:t>
            </a:r>
            <a:br>
              <a:rPr lang="en-US" noProof="0" dirty="0">
                <a:cs typeface="Arial" pitchFamily="34" charset="0"/>
                <a:sym typeface="Symbol"/>
              </a:rPr>
            </a:br>
            <a:endParaRPr lang="en-US" noProof="0" dirty="0">
              <a:cs typeface="Arial" pitchFamily="34" charset="0"/>
            </a:endParaRPr>
          </a:p>
          <a:p>
            <a:pPr>
              <a:defRPr/>
            </a:pPr>
            <a:r>
              <a:rPr lang="en-US" noProof="0" dirty="0">
                <a:cs typeface="Arial" pitchFamily="34" charset="0"/>
              </a:rPr>
              <a:t>}</a:t>
            </a:r>
          </a:p>
        </p:txBody>
      </p:sp>
      <p:sp>
        <p:nvSpPr>
          <p:cNvPr id="6" name="Tijdelijke aanduiding voor dianummer 5"/>
          <p:cNvSpPr>
            <a:spLocks noGrp="1"/>
          </p:cNvSpPr>
          <p:nvPr>
            <p:ph type="sldNum" sz="quarter" idx="12"/>
          </p:nvPr>
        </p:nvSpPr>
        <p:spPr/>
        <p:txBody>
          <a:bodyPr/>
          <a:lstStyle/>
          <a:p>
            <a:pPr>
              <a:defRPr/>
            </a:pPr>
            <a:fld id="{5C5D07CF-255C-4F4D-A72E-740634147A47}" type="slidenum">
              <a:rPr lang="en-US" noProof="0"/>
              <a:pPr>
                <a:defRPr/>
              </a:pPr>
              <a:t>46</a:t>
            </a:fld>
            <a:endParaRPr lang="en-US"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473075" y="274638"/>
            <a:ext cx="8213725" cy="769937"/>
          </a:xfrm>
        </p:spPr>
        <p:txBody>
          <a:bodyPr/>
          <a:lstStyle/>
          <a:p>
            <a:pPr eaLnBrk="1" hangingPunct="1"/>
            <a:r>
              <a:rPr lang="en-US" noProof="0" dirty="0">
                <a:cs typeface="Arial" charset="0"/>
              </a:rPr>
              <a:t>Example</a:t>
            </a:r>
          </a:p>
        </p:txBody>
      </p:sp>
      <p:sp>
        <p:nvSpPr>
          <p:cNvPr id="5" name="Oval 4"/>
          <p:cNvSpPr/>
          <p:nvPr/>
        </p:nvSpPr>
        <p:spPr>
          <a:xfrm>
            <a:off x="4627563" y="1949450"/>
            <a:ext cx="314325" cy="2952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noProof="0" dirty="0"/>
              <a:t>0</a:t>
            </a:r>
          </a:p>
        </p:txBody>
      </p:sp>
      <p:sp>
        <p:nvSpPr>
          <p:cNvPr id="6" name="Oval 5"/>
          <p:cNvSpPr/>
          <p:nvPr/>
        </p:nvSpPr>
        <p:spPr>
          <a:xfrm>
            <a:off x="5500688" y="3062288"/>
            <a:ext cx="314325" cy="271462"/>
          </a:xfrm>
          <a:prstGeom prst="ellipse">
            <a:avLst/>
          </a:prstGeom>
          <a:ln w="50800" cmpd="db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noProof="0" dirty="0"/>
              <a:t>1</a:t>
            </a:r>
          </a:p>
        </p:txBody>
      </p:sp>
      <p:sp>
        <p:nvSpPr>
          <p:cNvPr id="7" name="Oval 6"/>
          <p:cNvSpPr/>
          <p:nvPr/>
        </p:nvSpPr>
        <p:spPr>
          <a:xfrm>
            <a:off x="3884613" y="3163888"/>
            <a:ext cx="312737" cy="295275"/>
          </a:xfrm>
          <a:prstGeom prst="ellipse">
            <a:avLst/>
          </a:prstGeom>
          <a:ln w="12700" cmpd="db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noProof="0" dirty="0"/>
              <a:t>2</a:t>
            </a:r>
          </a:p>
        </p:txBody>
      </p:sp>
      <p:sp>
        <p:nvSpPr>
          <p:cNvPr id="8" name="Oval 7"/>
          <p:cNvSpPr/>
          <p:nvPr/>
        </p:nvSpPr>
        <p:spPr>
          <a:xfrm>
            <a:off x="3159125" y="3168650"/>
            <a:ext cx="314325" cy="2952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noProof="0" dirty="0"/>
              <a:t>3</a:t>
            </a:r>
          </a:p>
        </p:txBody>
      </p:sp>
      <p:cxnSp>
        <p:nvCxnSpPr>
          <p:cNvPr id="10" name="Curved Connector 9"/>
          <p:cNvCxnSpPr>
            <a:stCxn id="5" idx="6"/>
            <a:endCxn id="6" idx="0"/>
          </p:cNvCxnSpPr>
          <p:nvPr/>
        </p:nvCxnSpPr>
        <p:spPr>
          <a:xfrm>
            <a:off x="4941888" y="2097088"/>
            <a:ext cx="715962" cy="965200"/>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12" name="Curved Connector 9"/>
          <p:cNvCxnSpPr>
            <a:stCxn id="6" idx="2"/>
            <a:endCxn id="5" idx="4"/>
          </p:cNvCxnSpPr>
          <p:nvPr/>
        </p:nvCxnSpPr>
        <p:spPr>
          <a:xfrm rot="10800000">
            <a:off x="4784725" y="2244725"/>
            <a:ext cx="715963" cy="954088"/>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16" name="Curved Connector 9"/>
          <p:cNvCxnSpPr>
            <a:stCxn id="7" idx="4"/>
            <a:endCxn id="8" idx="4"/>
          </p:cNvCxnSpPr>
          <p:nvPr/>
        </p:nvCxnSpPr>
        <p:spPr>
          <a:xfrm rot="5400000">
            <a:off x="3675857" y="3099594"/>
            <a:ext cx="4762" cy="723900"/>
          </a:xfrm>
          <a:prstGeom prst="curvedConnector3">
            <a:avLst>
              <a:gd name="adj1" fmla="val 7248736"/>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stCxn id="6" idx="2"/>
            <a:endCxn id="7" idx="6"/>
          </p:cNvCxnSpPr>
          <p:nvPr/>
        </p:nvCxnSpPr>
        <p:spPr>
          <a:xfrm rot="10800000" flipV="1">
            <a:off x="4197350" y="3198813"/>
            <a:ext cx="1303338" cy="1127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a:stCxn id="5" idx="3"/>
            <a:endCxn id="7" idx="7"/>
          </p:cNvCxnSpPr>
          <p:nvPr/>
        </p:nvCxnSpPr>
        <p:spPr>
          <a:xfrm rot="5400000">
            <a:off x="3910013" y="2443163"/>
            <a:ext cx="1004887" cy="5222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9" name="Curved Connector 9"/>
          <p:cNvCxnSpPr>
            <a:stCxn id="8" idx="0"/>
            <a:endCxn id="7" idx="0"/>
          </p:cNvCxnSpPr>
          <p:nvPr/>
        </p:nvCxnSpPr>
        <p:spPr>
          <a:xfrm rot="5400000" flipH="1" flipV="1">
            <a:off x="3675857" y="2804319"/>
            <a:ext cx="4762" cy="723900"/>
          </a:xfrm>
          <a:prstGeom prst="curvedConnector3">
            <a:avLst>
              <a:gd name="adj1" fmla="val 7048779"/>
            </a:avLst>
          </a:prstGeom>
          <a:ln>
            <a:tailEnd type="arrow"/>
          </a:ln>
        </p:spPr>
        <p:style>
          <a:lnRef idx="2">
            <a:schemeClr val="dk1"/>
          </a:lnRef>
          <a:fillRef idx="0">
            <a:schemeClr val="dk1"/>
          </a:fillRef>
          <a:effectRef idx="1">
            <a:schemeClr val="dk1"/>
          </a:effectRef>
          <a:fontRef idx="minor">
            <a:schemeClr val="tx1"/>
          </a:fontRef>
        </p:style>
      </p:cxnSp>
      <p:cxnSp>
        <p:nvCxnSpPr>
          <p:cNvPr id="36" name="Straight Arrow Connector 35"/>
          <p:cNvCxnSpPr/>
          <p:nvPr/>
        </p:nvCxnSpPr>
        <p:spPr>
          <a:xfrm rot="5400000">
            <a:off x="4822031" y="1626394"/>
            <a:ext cx="295275" cy="1666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0" name="Tijdelijke aanduiding voor dianummer 19"/>
          <p:cNvSpPr>
            <a:spLocks noGrp="1"/>
          </p:cNvSpPr>
          <p:nvPr>
            <p:ph type="sldNum" sz="quarter" idx="12"/>
          </p:nvPr>
        </p:nvSpPr>
        <p:spPr/>
        <p:txBody>
          <a:bodyPr/>
          <a:lstStyle/>
          <a:p>
            <a:pPr>
              <a:defRPr/>
            </a:pPr>
            <a:fld id="{A9D9C305-90FC-4720-B73B-EDF4E72DAEAB}" type="slidenum">
              <a:rPr lang="en-US" noProof="0"/>
              <a:pPr>
                <a:defRPr/>
              </a:pPr>
              <a:t>47</a:t>
            </a:fld>
            <a:endParaRPr lang="en-US" noProof="0" dirty="0"/>
          </a:p>
        </p:txBody>
      </p:sp>
      <p:sp>
        <p:nvSpPr>
          <p:cNvPr id="21" name="Vrije vorm 20"/>
          <p:cNvSpPr/>
          <p:nvPr/>
        </p:nvSpPr>
        <p:spPr>
          <a:xfrm>
            <a:off x="4995863" y="1943100"/>
            <a:ext cx="866775" cy="1093788"/>
          </a:xfrm>
          <a:custGeom>
            <a:avLst/>
            <a:gdLst>
              <a:gd name="connsiteX0" fmla="*/ 0 w 865414"/>
              <a:gd name="connsiteY0" fmla="*/ 0 h 1094014"/>
              <a:gd name="connsiteX1" fmla="*/ 620486 w 865414"/>
              <a:gd name="connsiteY1" fmla="*/ 408214 h 1094014"/>
              <a:gd name="connsiteX2" fmla="*/ 865414 w 865414"/>
              <a:gd name="connsiteY2" fmla="*/ 1094014 h 1094014"/>
            </a:gdLst>
            <a:ahLst/>
            <a:cxnLst>
              <a:cxn ang="0">
                <a:pos x="connsiteX0" y="connsiteY0"/>
              </a:cxn>
              <a:cxn ang="0">
                <a:pos x="connsiteX1" y="connsiteY1"/>
              </a:cxn>
              <a:cxn ang="0">
                <a:pos x="connsiteX2" y="connsiteY2"/>
              </a:cxn>
            </a:cxnLst>
            <a:rect l="l" t="t" r="r" b="b"/>
            <a:pathLst>
              <a:path w="865414" h="1094014">
                <a:moveTo>
                  <a:pt x="0" y="0"/>
                </a:moveTo>
                <a:cubicBezTo>
                  <a:pt x="238125" y="112939"/>
                  <a:pt x="476250" y="225878"/>
                  <a:pt x="620486" y="408214"/>
                </a:cubicBezTo>
                <a:cubicBezTo>
                  <a:pt x="764722" y="590550"/>
                  <a:pt x="821871" y="976993"/>
                  <a:pt x="865414" y="1094014"/>
                </a:cubicBezTo>
              </a:path>
            </a:pathLst>
          </a:cu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txBody>
          <a:bodyPr anchor="ctr"/>
          <a:lstStyle/>
          <a:p>
            <a:pPr algn="ctr">
              <a:defRPr/>
            </a:pPr>
            <a:endParaRPr lang="en-US" noProof="0" dirty="0"/>
          </a:p>
        </p:txBody>
      </p:sp>
      <p:sp>
        <p:nvSpPr>
          <p:cNvPr id="23" name="Vrije vorm 22"/>
          <p:cNvSpPr/>
          <p:nvPr/>
        </p:nvSpPr>
        <p:spPr>
          <a:xfrm>
            <a:off x="4670425" y="2319338"/>
            <a:ext cx="766763" cy="1011237"/>
          </a:xfrm>
          <a:custGeom>
            <a:avLst/>
            <a:gdLst>
              <a:gd name="connsiteX0" fmla="*/ 767443 w 767443"/>
              <a:gd name="connsiteY0" fmla="*/ 1012372 h 1012372"/>
              <a:gd name="connsiteX1" fmla="*/ 130629 w 767443"/>
              <a:gd name="connsiteY1" fmla="*/ 604157 h 1012372"/>
              <a:gd name="connsiteX2" fmla="*/ 0 w 767443"/>
              <a:gd name="connsiteY2" fmla="*/ 0 h 1012372"/>
            </a:gdLst>
            <a:ahLst/>
            <a:cxnLst>
              <a:cxn ang="0">
                <a:pos x="connsiteX0" y="connsiteY0"/>
              </a:cxn>
              <a:cxn ang="0">
                <a:pos x="connsiteX1" y="connsiteY1"/>
              </a:cxn>
              <a:cxn ang="0">
                <a:pos x="connsiteX2" y="connsiteY2"/>
              </a:cxn>
            </a:cxnLst>
            <a:rect l="l" t="t" r="r" b="b"/>
            <a:pathLst>
              <a:path w="767443" h="1012372">
                <a:moveTo>
                  <a:pt x="767443" y="1012372"/>
                </a:moveTo>
                <a:cubicBezTo>
                  <a:pt x="512989" y="892629"/>
                  <a:pt x="258536" y="772886"/>
                  <a:pt x="130629" y="604157"/>
                </a:cubicBezTo>
                <a:cubicBezTo>
                  <a:pt x="2722" y="435428"/>
                  <a:pt x="1361" y="217714"/>
                  <a:pt x="0" y="0"/>
                </a:cubicBezTo>
              </a:path>
            </a:pathLst>
          </a:custGeom>
          <a:ln>
            <a:solidFill>
              <a:srgbClr val="C00000"/>
            </a:solidFill>
            <a:headEnd type="none" w="med" len="med"/>
            <a:tailEnd type="triangle" w="med" len="med"/>
          </a:ln>
        </p:spPr>
        <p:style>
          <a:lnRef idx="3">
            <a:schemeClr val="accent4"/>
          </a:lnRef>
          <a:fillRef idx="0">
            <a:schemeClr val="accent4"/>
          </a:fillRef>
          <a:effectRef idx="2">
            <a:schemeClr val="accent4"/>
          </a:effectRef>
          <a:fontRef idx="minor">
            <a:schemeClr val="tx1"/>
          </a:fontRef>
        </p:style>
        <p:txBody>
          <a:bodyPr anchor="ctr"/>
          <a:lstStyle/>
          <a:p>
            <a:pPr algn="ctr">
              <a:defRPr/>
            </a:pPr>
            <a:endParaRPr lang="en-US" noProof="0" dirty="0"/>
          </a:p>
        </p:txBody>
      </p:sp>
      <p:sp>
        <p:nvSpPr>
          <p:cNvPr id="25" name="Vrije vorm 24"/>
          <p:cNvSpPr/>
          <p:nvPr/>
        </p:nvSpPr>
        <p:spPr>
          <a:xfrm>
            <a:off x="3233738" y="3344863"/>
            <a:ext cx="2447925" cy="682625"/>
          </a:xfrm>
          <a:custGeom>
            <a:avLst/>
            <a:gdLst>
              <a:gd name="connsiteX0" fmla="*/ 2449286 w 2449286"/>
              <a:gd name="connsiteY0" fmla="*/ 100693 h 683078"/>
              <a:gd name="connsiteX1" fmla="*/ 1143000 w 2449286"/>
              <a:gd name="connsiteY1" fmla="*/ 84364 h 683078"/>
              <a:gd name="connsiteX2" fmla="*/ 653143 w 2449286"/>
              <a:gd name="connsiteY2" fmla="*/ 606878 h 683078"/>
              <a:gd name="connsiteX3" fmla="*/ 146957 w 2449286"/>
              <a:gd name="connsiteY3" fmla="*/ 541564 h 683078"/>
              <a:gd name="connsiteX4" fmla="*/ 0 w 2449286"/>
              <a:gd name="connsiteY4" fmla="*/ 231321 h 68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9286" h="683078">
                <a:moveTo>
                  <a:pt x="2449286" y="100693"/>
                </a:moveTo>
                <a:cubicBezTo>
                  <a:pt x="1945821" y="50346"/>
                  <a:pt x="1442357" y="0"/>
                  <a:pt x="1143000" y="84364"/>
                </a:cubicBezTo>
                <a:cubicBezTo>
                  <a:pt x="843643" y="168728"/>
                  <a:pt x="819150" y="530678"/>
                  <a:pt x="653143" y="606878"/>
                </a:cubicBezTo>
                <a:cubicBezTo>
                  <a:pt x="487136" y="683078"/>
                  <a:pt x="255814" y="604157"/>
                  <a:pt x="146957" y="541564"/>
                </a:cubicBezTo>
                <a:cubicBezTo>
                  <a:pt x="38100" y="478971"/>
                  <a:pt x="19050" y="355146"/>
                  <a:pt x="0" y="231321"/>
                </a:cubicBezTo>
              </a:path>
            </a:pathLst>
          </a:custGeom>
          <a:ln>
            <a:headEnd type="none" w="med" len="med"/>
            <a:tailEnd type="triangle" w="med" len="med"/>
          </a:ln>
        </p:spPr>
        <p:style>
          <a:lnRef idx="3">
            <a:schemeClr val="accent4"/>
          </a:lnRef>
          <a:fillRef idx="0">
            <a:schemeClr val="accent4"/>
          </a:fillRef>
          <a:effectRef idx="2">
            <a:schemeClr val="accent4"/>
          </a:effectRef>
          <a:fontRef idx="minor">
            <a:schemeClr val="tx1"/>
          </a:fontRef>
        </p:style>
        <p:txBody>
          <a:bodyPr anchor="ctr"/>
          <a:lstStyle/>
          <a:p>
            <a:pPr algn="ctr">
              <a:defRPr/>
            </a:pPr>
            <a:endParaRPr lang="en-US" noProof="0" dirty="0"/>
          </a:p>
        </p:txBody>
      </p:sp>
      <p:sp>
        <p:nvSpPr>
          <p:cNvPr id="26" name="Oval 7"/>
          <p:cNvSpPr/>
          <p:nvPr/>
        </p:nvSpPr>
        <p:spPr>
          <a:xfrm>
            <a:off x="2364468" y="2406650"/>
            <a:ext cx="314325" cy="295275"/>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sz="2000" noProof="0" dirty="0"/>
              <a:t>4</a:t>
            </a:r>
          </a:p>
        </p:txBody>
      </p:sp>
      <p:cxnSp>
        <p:nvCxnSpPr>
          <p:cNvPr id="28" name="Rechte verbindingslijn met pijl 27"/>
          <p:cNvCxnSpPr>
            <a:stCxn id="26" idx="5"/>
            <a:endCxn id="8" idx="1"/>
          </p:cNvCxnSpPr>
          <p:nvPr/>
        </p:nvCxnSpPr>
        <p:spPr>
          <a:xfrm rot="16200000" flipH="1">
            <a:off x="2642394" y="2648744"/>
            <a:ext cx="552450" cy="5730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Adding cycle detection</a:t>
            </a:r>
          </a:p>
        </p:txBody>
      </p:sp>
      <p:sp>
        <p:nvSpPr>
          <p:cNvPr id="5" name="TextBox 4"/>
          <p:cNvSpPr txBox="1"/>
          <p:nvPr/>
        </p:nvSpPr>
        <p:spPr>
          <a:xfrm>
            <a:off x="858838" y="1427163"/>
            <a:ext cx="7332662" cy="4154487"/>
          </a:xfrm>
          <a:prstGeom prst="rect">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a:spAutoFit/>
          </a:bodyPr>
          <a:lstStyle/>
          <a:p>
            <a:pPr>
              <a:defRPr/>
            </a:pPr>
            <a:r>
              <a:rPr lang="en-US" noProof="0" dirty="0">
                <a:cs typeface="Arial" pitchFamily="34" charset="0"/>
              </a:rPr>
              <a:t>DFS(</a:t>
            </a:r>
            <a:r>
              <a:rPr lang="en-US" i="1" noProof="0" dirty="0">
                <a:cs typeface="Arial" pitchFamily="34" charset="0"/>
              </a:rPr>
              <a:t>u</a:t>
            </a:r>
            <a:r>
              <a:rPr lang="en-US" noProof="0" dirty="0">
                <a:cs typeface="Arial" pitchFamily="34" charset="0"/>
              </a:rPr>
              <a:t>)  {</a:t>
            </a:r>
            <a:br>
              <a:rPr lang="en-US" noProof="0" dirty="0">
                <a:cs typeface="Arial" pitchFamily="34" charset="0"/>
              </a:rPr>
            </a:br>
            <a:r>
              <a:rPr lang="en-US" noProof="0" dirty="0">
                <a:cs typeface="Arial" pitchFamily="34" charset="0"/>
              </a:rPr>
              <a:t>     </a:t>
            </a:r>
            <a:r>
              <a:rPr lang="en-US" b="1" noProof="0" dirty="0">
                <a:cs typeface="Arial" pitchFamily="34" charset="0"/>
              </a:rPr>
              <a:t>if</a:t>
            </a:r>
            <a:r>
              <a:rPr lang="en-US" noProof="0" dirty="0">
                <a:cs typeface="Arial" pitchFamily="34" charset="0"/>
              </a:rPr>
              <a:t> (</a:t>
            </a:r>
            <a:r>
              <a:rPr lang="en-US" i="1" noProof="0" dirty="0">
                <a:cs typeface="Arial" pitchFamily="34" charset="0"/>
              </a:rPr>
              <a:t>u </a:t>
            </a:r>
            <a:r>
              <a:rPr lang="en-US" noProof="0" dirty="0">
                <a:cs typeface="Arial" pitchFamily="34" charset="0"/>
                <a:sym typeface="Symbol"/>
              </a:rPr>
              <a:t></a:t>
            </a:r>
            <a:r>
              <a:rPr lang="en-US" i="1" noProof="0" dirty="0">
                <a:cs typeface="Arial" pitchFamily="34" charset="0"/>
                <a:sym typeface="Symbol"/>
              </a:rPr>
              <a:t> </a:t>
            </a:r>
            <a:r>
              <a:rPr lang="en-US" i="1" noProof="0" dirty="0">
                <a:cs typeface="Arial" pitchFamily="34" charset="0"/>
              </a:rPr>
              <a:t>visited</a:t>
            </a:r>
            <a:r>
              <a:rPr lang="en-US" noProof="0" dirty="0">
                <a:cs typeface="Arial" pitchFamily="34" charset="0"/>
              </a:rPr>
              <a:t>) </a:t>
            </a:r>
            <a:r>
              <a:rPr lang="en-US" b="1" noProof="0" dirty="0">
                <a:cs typeface="Arial" pitchFamily="34" charset="0"/>
              </a:rPr>
              <a:t>return</a:t>
            </a:r>
            <a:r>
              <a:rPr lang="en-US" noProof="0" dirty="0">
                <a:cs typeface="Arial" pitchFamily="34" charset="0"/>
              </a:rPr>
              <a:t> ;</a:t>
            </a:r>
          </a:p>
          <a:p>
            <a:pPr>
              <a:defRPr/>
            </a:pPr>
            <a:r>
              <a:rPr lang="en-US" noProof="0" dirty="0">
                <a:cs typeface="Arial" pitchFamily="34" charset="0"/>
              </a:rPr>
              <a:t>     </a:t>
            </a:r>
            <a:r>
              <a:rPr lang="en-US" i="1" noProof="0" dirty="0" err="1">
                <a:cs typeface="Arial" pitchFamily="34" charset="0"/>
              </a:rPr>
              <a:t>visited</a:t>
            </a:r>
            <a:r>
              <a:rPr lang="en-US" noProof="0" dirty="0" err="1">
                <a:cs typeface="Arial" pitchFamily="34" charset="0"/>
              </a:rPr>
              <a:t>.</a:t>
            </a:r>
            <a:r>
              <a:rPr lang="en-US" i="1" noProof="0" dirty="0" err="1">
                <a:cs typeface="Arial" pitchFamily="34" charset="0"/>
              </a:rPr>
              <a:t>add</a:t>
            </a:r>
            <a:r>
              <a:rPr lang="en-US" noProof="0" dirty="0">
                <a:cs typeface="Arial" pitchFamily="34" charset="0"/>
              </a:rPr>
              <a:t>(</a:t>
            </a:r>
            <a:r>
              <a:rPr lang="en-US" i="1" noProof="0" dirty="0">
                <a:cs typeface="Arial" pitchFamily="34" charset="0"/>
              </a:rPr>
              <a:t>u</a:t>
            </a:r>
            <a:r>
              <a:rPr lang="en-US" noProof="0" dirty="0">
                <a:cs typeface="Arial" pitchFamily="34" charset="0"/>
              </a:rPr>
              <a:t>) ;</a:t>
            </a:r>
          </a:p>
          <a:p>
            <a:pPr>
              <a:defRPr/>
            </a:pPr>
            <a:r>
              <a:rPr lang="en-US" noProof="0" dirty="0">
                <a:cs typeface="Arial" pitchFamily="34" charset="0"/>
              </a:rPr>
              <a:t>     </a:t>
            </a:r>
            <a:r>
              <a:rPr lang="en-US" b="1" noProof="0" dirty="0">
                <a:cs typeface="Arial" pitchFamily="34" charset="0"/>
              </a:rPr>
              <a:t>for</a:t>
            </a:r>
            <a:r>
              <a:rPr lang="en-US" noProof="0" dirty="0">
                <a:cs typeface="Arial" pitchFamily="34" charset="0"/>
              </a:rPr>
              <a:t> </a:t>
            </a:r>
            <a:r>
              <a:rPr lang="en-US" b="1" noProof="0" dirty="0">
                <a:cs typeface="Arial" pitchFamily="34" charset="0"/>
              </a:rPr>
              <a:t>each</a:t>
            </a:r>
            <a:r>
              <a:rPr lang="en-US" noProof="0" dirty="0">
                <a:cs typeface="Arial" pitchFamily="34" charset="0"/>
              </a:rPr>
              <a:t> (</a:t>
            </a:r>
            <a:r>
              <a:rPr lang="en-US" i="1" noProof="0" dirty="0">
                <a:cs typeface="Arial" pitchFamily="34" charset="0"/>
              </a:rPr>
              <a:t>s</a:t>
            </a:r>
            <a:r>
              <a:rPr lang="en-US" noProof="0" dirty="0">
                <a:cs typeface="Arial" pitchFamily="34" charset="0"/>
              </a:rPr>
              <a:t> </a:t>
            </a:r>
            <a:r>
              <a:rPr lang="en-US" noProof="0" dirty="0">
                <a:cs typeface="Arial" pitchFamily="34" charset="0"/>
                <a:sym typeface="Symbol"/>
              </a:rPr>
              <a:t></a:t>
            </a:r>
            <a:r>
              <a:rPr lang="en-US" noProof="0" dirty="0">
                <a:cs typeface="Arial" pitchFamily="34" charset="0"/>
              </a:rPr>
              <a:t> </a:t>
            </a:r>
            <a:r>
              <a:rPr lang="en-US" i="1" noProof="0" dirty="0">
                <a:cs typeface="Arial" pitchFamily="34" charset="0"/>
              </a:rPr>
              <a:t>next</a:t>
            </a:r>
            <a:r>
              <a:rPr lang="en-US" noProof="0" dirty="0">
                <a:cs typeface="Arial" pitchFamily="34" charset="0"/>
                <a:sym typeface="Symbol"/>
              </a:rPr>
              <a:t>(</a:t>
            </a:r>
            <a:r>
              <a:rPr lang="en-US" i="1" noProof="0" dirty="0">
                <a:cs typeface="Arial" pitchFamily="34" charset="0"/>
                <a:sym typeface="Symbol"/>
              </a:rPr>
              <a:t>u</a:t>
            </a:r>
            <a:r>
              <a:rPr lang="en-US" noProof="0" dirty="0">
                <a:cs typeface="Arial" pitchFamily="34" charset="0"/>
                <a:sym typeface="Symbol"/>
              </a:rPr>
              <a:t>))  {</a:t>
            </a:r>
          </a:p>
          <a:p>
            <a:pPr>
              <a:defRPr/>
            </a:pPr>
            <a:r>
              <a:rPr lang="en-US" noProof="0" dirty="0">
                <a:cs typeface="Arial" pitchFamily="34" charset="0"/>
                <a:sym typeface="Symbol"/>
              </a:rPr>
              <a:t>           </a:t>
            </a:r>
            <a:r>
              <a:rPr lang="en-US" noProof="0" dirty="0">
                <a:cs typeface="Arial" pitchFamily="34" charset="0"/>
              </a:rPr>
              <a:t> </a:t>
            </a:r>
            <a:r>
              <a:rPr lang="en-US" b="1" noProof="0" dirty="0">
                <a:cs typeface="Arial" pitchFamily="34" charset="0"/>
                <a:sym typeface="Symbol"/>
              </a:rPr>
              <a:t>if</a:t>
            </a:r>
            <a:r>
              <a:rPr lang="en-US" noProof="0" dirty="0">
                <a:cs typeface="Arial" pitchFamily="34" charset="0"/>
                <a:sym typeface="Symbol"/>
              </a:rPr>
              <a:t> (</a:t>
            </a:r>
            <a:r>
              <a:rPr lang="en-US" i="1" noProof="0" dirty="0">
                <a:solidFill>
                  <a:srgbClr val="0070C0"/>
                </a:solidFill>
                <a:cs typeface="Arial" pitchFamily="34" charset="0"/>
                <a:sym typeface="Symbol"/>
              </a:rPr>
              <a:t>u</a:t>
            </a:r>
            <a:r>
              <a:rPr lang="en-US" noProof="0" dirty="0">
                <a:solidFill>
                  <a:srgbClr val="0070C0"/>
                </a:solidFill>
                <a:cs typeface="Arial" pitchFamily="34" charset="0"/>
                <a:sym typeface="Symbol"/>
              </a:rPr>
              <a:t>  </a:t>
            </a:r>
            <a:r>
              <a:rPr lang="en-US" i="1" noProof="0" dirty="0">
                <a:solidFill>
                  <a:srgbClr val="0070C0"/>
                </a:solidFill>
                <a:cs typeface="Arial" pitchFamily="34" charset="0"/>
                <a:sym typeface="Symbol"/>
              </a:rPr>
              <a:t>accept</a:t>
            </a:r>
            <a:r>
              <a:rPr lang="en-US" noProof="0" dirty="0">
                <a:cs typeface="Arial" pitchFamily="34" charset="0"/>
                <a:sym typeface="Symbol"/>
              </a:rPr>
              <a:t>)  {</a:t>
            </a:r>
            <a:br>
              <a:rPr lang="en-US" noProof="0" dirty="0">
                <a:cs typeface="Arial" pitchFamily="34" charset="0"/>
                <a:sym typeface="Symbol"/>
              </a:rPr>
            </a:br>
            <a:r>
              <a:rPr lang="en-US" noProof="0" dirty="0">
                <a:cs typeface="Arial" pitchFamily="34" charset="0"/>
                <a:sym typeface="Symbol"/>
              </a:rPr>
              <a:t>                </a:t>
            </a:r>
            <a:r>
              <a:rPr lang="en-US" i="1" noProof="0" dirty="0">
                <a:solidFill>
                  <a:schemeClr val="accent2">
                    <a:lumMod val="75000"/>
                  </a:schemeClr>
                </a:solidFill>
                <a:cs typeface="Arial" pitchFamily="34" charset="0"/>
                <a:sym typeface="Symbol"/>
              </a:rPr>
              <a:t>visited2</a:t>
            </a:r>
            <a:r>
              <a:rPr lang="en-US" noProof="0" dirty="0">
                <a:solidFill>
                  <a:schemeClr val="accent2">
                    <a:lumMod val="75000"/>
                  </a:schemeClr>
                </a:solidFill>
                <a:cs typeface="Arial" pitchFamily="34" charset="0"/>
                <a:sym typeface="Symbol"/>
              </a:rPr>
              <a:t> =  ;</a:t>
            </a:r>
            <a:br>
              <a:rPr lang="en-US" noProof="0" dirty="0">
                <a:cs typeface="Arial" pitchFamily="34" charset="0"/>
                <a:sym typeface="Symbol"/>
              </a:rPr>
            </a:br>
            <a:r>
              <a:rPr lang="en-US" noProof="0" dirty="0">
                <a:cs typeface="Arial" pitchFamily="34" charset="0"/>
                <a:sym typeface="Symbol"/>
              </a:rPr>
              <a:t>                </a:t>
            </a:r>
            <a:r>
              <a:rPr lang="en-US" i="1" noProof="0" dirty="0" err="1">
                <a:solidFill>
                  <a:schemeClr val="accent2">
                    <a:lumMod val="75000"/>
                  </a:schemeClr>
                </a:solidFill>
                <a:cs typeface="Arial" pitchFamily="34" charset="0"/>
                <a:sym typeface="Symbol"/>
              </a:rPr>
              <a:t>checkCycle</a:t>
            </a:r>
            <a:r>
              <a:rPr lang="en-US" i="1" noProof="0" dirty="0">
                <a:solidFill>
                  <a:schemeClr val="accent2">
                    <a:lumMod val="75000"/>
                  </a:schemeClr>
                </a:solidFill>
                <a:cs typeface="Arial" pitchFamily="34" charset="0"/>
                <a:sym typeface="Symbol"/>
              </a:rPr>
              <a:t> (</a:t>
            </a:r>
            <a:r>
              <a:rPr lang="en-US" i="1" noProof="0" dirty="0" err="1">
                <a:solidFill>
                  <a:schemeClr val="accent2">
                    <a:lumMod val="75000"/>
                  </a:schemeClr>
                </a:solidFill>
                <a:cs typeface="Arial" pitchFamily="34" charset="0"/>
                <a:sym typeface="Symbol"/>
              </a:rPr>
              <a:t>u,s</a:t>
            </a:r>
            <a:r>
              <a:rPr lang="en-US" i="1" noProof="0" dirty="0">
                <a:solidFill>
                  <a:schemeClr val="accent2">
                    <a:lumMod val="75000"/>
                  </a:schemeClr>
                </a:solidFill>
                <a:cs typeface="Arial" pitchFamily="34" charset="0"/>
                <a:sym typeface="Symbol"/>
              </a:rPr>
              <a:t>) ;</a:t>
            </a:r>
            <a:br>
              <a:rPr lang="en-US" i="1" noProof="0" dirty="0">
                <a:solidFill>
                  <a:schemeClr val="accent2">
                    <a:lumMod val="75000"/>
                  </a:schemeClr>
                </a:solidFill>
                <a:cs typeface="Arial" pitchFamily="34" charset="0"/>
                <a:sym typeface="Symbol"/>
              </a:rPr>
            </a:br>
            <a:r>
              <a:rPr lang="en-US" i="1" noProof="0" dirty="0">
                <a:solidFill>
                  <a:schemeClr val="accent2">
                    <a:lumMod val="75000"/>
                  </a:schemeClr>
                </a:solidFill>
                <a:cs typeface="Arial" pitchFamily="34" charset="0"/>
                <a:sym typeface="Symbol"/>
              </a:rPr>
              <a:t>            </a:t>
            </a:r>
            <a:r>
              <a:rPr lang="en-US" noProof="0" dirty="0">
                <a:solidFill>
                  <a:schemeClr val="tx1"/>
                </a:solidFill>
                <a:cs typeface="Arial" pitchFamily="34" charset="0"/>
                <a:sym typeface="Symbol"/>
              </a:rPr>
              <a:t>}</a:t>
            </a:r>
            <a:endParaRPr lang="en-US" noProof="0" dirty="0">
              <a:cs typeface="Arial" pitchFamily="34" charset="0"/>
              <a:sym typeface="Symbol"/>
            </a:endParaRPr>
          </a:p>
          <a:p>
            <a:pPr>
              <a:defRPr/>
            </a:pPr>
            <a:r>
              <a:rPr lang="en-US" noProof="0" dirty="0">
                <a:cs typeface="Arial" pitchFamily="34" charset="0"/>
                <a:sym typeface="Symbol"/>
              </a:rPr>
              <a:t>            DFS(</a:t>
            </a:r>
            <a:r>
              <a:rPr lang="en-US" i="1" noProof="0" dirty="0">
                <a:cs typeface="Arial" pitchFamily="34" charset="0"/>
                <a:sym typeface="Symbol"/>
              </a:rPr>
              <a:t>s</a:t>
            </a:r>
            <a:r>
              <a:rPr lang="en-US" noProof="0" dirty="0">
                <a:cs typeface="Arial" pitchFamily="34" charset="0"/>
                <a:sym typeface="Symbol"/>
              </a:rPr>
              <a:t> </a:t>
            </a:r>
            <a:r>
              <a:rPr lang="en-US" i="1" noProof="0" dirty="0">
                <a:cs typeface="Arial" pitchFamily="34" charset="0"/>
                <a:sym typeface="Symbol"/>
              </a:rPr>
              <a:t>)</a:t>
            </a:r>
            <a:r>
              <a:rPr lang="en-US" noProof="0" dirty="0">
                <a:cs typeface="Arial" pitchFamily="34" charset="0"/>
                <a:sym typeface="Symbol"/>
              </a:rPr>
              <a:t> ;</a:t>
            </a:r>
          </a:p>
          <a:p>
            <a:pPr>
              <a:defRPr/>
            </a:pPr>
            <a:r>
              <a:rPr lang="en-US" noProof="0" dirty="0">
                <a:cs typeface="Arial" pitchFamily="34" charset="0"/>
                <a:sym typeface="Symbol"/>
              </a:rPr>
              <a:t>     }</a:t>
            </a:r>
            <a:endParaRPr lang="en-US" noProof="0" dirty="0">
              <a:cs typeface="Arial" pitchFamily="34" charset="0"/>
            </a:endParaRPr>
          </a:p>
          <a:p>
            <a:pPr>
              <a:defRPr/>
            </a:pPr>
            <a:r>
              <a:rPr lang="en-US" noProof="0" dirty="0">
                <a:cs typeface="Arial" pitchFamily="34" charset="0"/>
              </a:rPr>
              <a:t>}</a:t>
            </a:r>
          </a:p>
        </p:txBody>
      </p:sp>
      <p:sp>
        <p:nvSpPr>
          <p:cNvPr id="6" name="Tijdelijke aanduiding voor dianummer 5"/>
          <p:cNvSpPr>
            <a:spLocks noGrp="1"/>
          </p:cNvSpPr>
          <p:nvPr>
            <p:ph type="sldNum" sz="quarter" idx="12"/>
          </p:nvPr>
        </p:nvSpPr>
        <p:spPr/>
        <p:txBody>
          <a:bodyPr/>
          <a:lstStyle/>
          <a:p>
            <a:pPr>
              <a:defRPr/>
            </a:pPr>
            <a:fld id="{8753BB1A-B1B1-4BC6-BE4F-B42D64DC359C}" type="slidenum">
              <a:rPr lang="en-US" noProof="0"/>
              <a:pPr>
                <a:defRPr/>
              </a:pPr>
              <a:t>48</a:t>
            </a:fld>
            <a:endParaRPr lang="en-US" noProof="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el 1"/>
          <p:cNvSpPr>
            <a:spLocks noGrp="1"/>
          </p:cNvSpPr>
          <p:nvPr>
            <p:ph type="title"/>
          </p:nvPr>
        </p:nvSpPr>
        <p:spPr>
          <a:xfrm>
            <a:off x="244475" y="274638"/>
            <a:ext cx="8442325" cy="769937"/>
          </a:xfrm>
        </p:spPr>
        <p:txBody>
          <a:bodyPr/>
          <a:lstStyle/>
          <a:p>
            <a:pPr eaLnBrk="1" hangingPunct="1"/>
            <a:r>
              <a:rPr lang="en-US" noProof="0" dirty="0" err="1">
                <a:cs typeface="Arial" charset="0"/>
              </a:rPr>
              <a:t>checkCycle</a:t>
            </a:r>
            <a:r>
              <a:rPr lang="en-US" noProof="0" dirty="0">
                <a:cs typeface="Arial" charset="0"/>
              </a:rPr>
              <a:t> is another DFS</a:t>
            </a:r>
          </a:p>
        </p:txBody>
      </p:sp>
      <p:sp>
        <p:nvSpPr>
          <p:cNvPr id="5" name="TextBox 4"/>
          <p:cNvSpPr txBox="1"/>
          <p:nvPr/>
        </p:nvSpPr>
        <p:spPr>
          <a:xfrm>
            <a:off x="819150" y="1541463"/>
            <a:ext cx="7562850" cy="3416300"/>
          </a:xfrm>
          <a:prstGeom prst="rect">
            <a:avLst/>
          </a:prstGeom>
          <a:ln/>
        </p:spPr>
        <p:style>
          <a:lnRef idx="2">
            <a:schemeClr val="dk1"/>
          </a:lnRef>
          <a:fillRef idx="1">
            <a:schemeClr val="lt1"/>
          </a:fillRef>
          <a:effectRef idx="0">
            <a:schemeClr val="dk1"/>
          </a:effectRef>
          <a:fontRef idx="minor">
            <a:schemeClr val="dk1"/>
          </a:fontRef>
        </p:style>
        <p:txBody>
          <a:bodyPr>
            <a:spAutoFit/>
          </a:bodyPr>
          <a:lstStyle/>
          <a:p>
            <a:pPr>
              <a:defRPr/>
            </a:pPr>
            <a:r>
              <a:rPr lang="en-US" noProof="0" dirty="0" err="1">
                <a:cs typeface="Arial" pitchFamily="34" charset="0"/>
              </a:rPr>
              <a:t>checkCycle</a:t>
            </a:r>
            <a:r>
              <a:rPr lang="en-US" noProof="0" dirty="0">
                <a:cs typeface="Arial" pitchFamily="34" charset="0"/>
              </a:rPr>
              <a:t>(</a:t>
            </a:r>
            <a:r>
              <a:rPr lang="en-US" i="1" noProof="0" dirty="0" err="1">
                <a:cs typeface="Arial" pitchFamily="34" charset="0"/>
              </a:rPr>
              <a:t>root,s</a:t>
            </a:r>
            <a:r>
              <a:rPr lang="en-US" noProof="0" dirty="0">
                <a:cs typeface="Arial" pitchFamily="34" charset="0"/>
              </a:rPr>
              <a:t>)  {</a:t>
            </a:r>
          </a:p>
          <a:p>
            <a:pPr>
              <a:defRPr/>
            </a:pPr>
            <a:endParaRPr lang="en-US" noProof="0" dirty="0">
              <a:cs typeface="Arial" pitchFamily="34" charset="0"/>
            </a:endParaRPr>
          </a:p>
          <a:p>
            <a:pPr>
              <a:defRPr/>
            </a:pPr>
            <a:r>
              <a:rPr lang="en-US" noProof="0" dirty="0">
                <a:cs typeface="Arial" pitchFamily="34" charset="0"/>
              </a:rPr>
              <a:t>     </a:t>
            </a:r>
            <a:r>
              <a:rPr lang="en-US" b="1" noProof="0" dirty="0">
                <a:cs typeface="Arial" pitchFamily="34" charset="0"/>
              </a:rPr>
              <a:t>if</a:t>
            </a:r>
            <a:r>
              <a:rPr lang="en-US" noProof="0" dirty="0">
                <a:cs typeface="Arial" pitchFamily="34" charset="0"/>
              </a:rPr>
              <a:t>  (</a:t>
            </a:r>
            <a:r>
              <a:rPr lang="en-US" i="1" noProof="0" dirty="0">
                <a:cs typeface="Arial" pitchFamily="34" charset="0"/>
              </a:rPr>
              <a:t>s</a:t>
            </a:r>
            <a:r>
              <a:rPr lang="en-US" i="1" noProof="0" dirty="0">
                <a:cs typeface="Arial" pitchFamily="34" charset="0"/>
                <a:sym typeface="Symbol"/>
              </a:rPr>
              <a:t> = root</a:t>
            </a:r>
            <a:r>
              <a:rPr lang="en-US" noProof="0" dirty="0">
                <a:cs typeface="Arial" pitchFamily="34" charset="0"/>
              </a:rPr>
              <a:t>)  </a:t>
            </a:r>
            <a:r>
              <a:rPr lang="en-US" b="1" noProof="0" dirty="0">
                <a:cs typeface="Arial" pitchFamily="34" charset="0"/>
              </a:rPr>
              <a:t>throw</a:t>
            </a:r>
            <a:r>
              <a:rPr lang="en-US" noProof="0" dirty="0">
                <a:cs typeface="Arial" pitchFamily="34" charset="0"/>
              </a:rPr>
              <a:t> </a:t>
            </a:r>
            <a:r>
              <a:rPr lang="en-US" noProof="0" dirty="0" err="1">
                <a:cs typeface="Arial" pitchFamily="34" charset="0"/>
              </a:rPr>
              <a:t>CycleFound</a:t>
            </a:r>
            <a:r>
              <a:rPr lang="en-US" noProof="0" dirty="0">
                <a:cs typeface="Arial" pitchFamily="34" charset="0"/>
              </a:rPr>
              <a:t> ; </a:t>
            </a:r>
          </a:p>
          <a:p>
            <a:pPr>
              <a:defRPr/>
            </a:pPr>
            <a:br>
              <a:rPr lang="en-US" noProof="0" dirty="0">
                <a:cs typeface="Arial" pitchFamily="34" charset="0"/>
              </a:rPr>
            </a:br>
            <a:r>
              <a:rPr lang="en-US" noProof="0" dirty="0">
                <a:cs typeface="Arial" pitchFamily="34" charset="0"/>
              </a:rPr>
              <a:t>     </a:t>
            </a:r>
            <a:r>
              <a:rPr lang="en-US" b="1" noProof="0" dirty="0">
                <a:cs typeface="Arial" pitchFamily="34" charset="0"/>
              </a:rPr>
              <a:t>if</a:t>
            </a:r>
            <a:r>
              <a:rPr lang="en-US" noProof="0" dirty="0">
                <a:cs typeface="Arial" pitchFamily="34" charset="0"/>
              </a:rPr>
              <a:t> ( </a:t>
            </a:r>
            <a:r>
              <a:rPr lang="en-US" i="1" noProof="0" dirty="0">
                <a:cs typeface="Arial" pitchFamily="34" charset="0"/>
              </a:rPr>
              <a:t>s </a:t>
            </a:r>
            <a:r>
              <a:rPr lang="en-US" noProof="0" dirty="0">
                <a:cs typeface="Arial" pitchFamily="34" charset="0"/>
                <a:sym typeface="Symbol"/>
              </a:rPr>
              <a:t></a:t>
            </a:r>
            <a:r>
              <a:rPr lang="en-US" i="1" noProof="0" dirty="0">
                <a:cs typeface="Arial" pitchFamily="34" charset="0"/>
              </a:rPr>
              <a:t>visited2 </a:t>
            </a:r>
            <a:r>
              <a:rPr lang="en-US" noProof="0" dirty="0">
                <a:cs typeface="Arial" pitchFamily="34" charset="0"/>
              </a:rPr>
              <a:t>) </a:t>
            </a:r>
            <a:r>
              <a:rPr lang="en-US" b="1" noProof="0" dirty="0">
                <a:cs typeface="Arial" pitchFamily="34" charset="0"/>
              </a:rPr>
              <a:t>return</a:t>
            </a:r>
            <a:r>
              <a:rPr lang="en-US" noProof="0" dirty="0">
                <a:cs typeface="Arial" pitchFamily="34" charset="0"/>
              </a:rPr>
              <a:t> ;</a:t>
            </a:r>
          </a:p>
          <a:p>
            <a:pPr>
              <a:defRPr/>
            </a:pPr>
            <a:r>
              <a:rPr lang="en-US" noProof="0" dirty="0">
                <a:cs typeface="Arial" pitchFamily="34" charset="0"/>
              </a:rPr>
              <a:t>     </a:t>
            </a:r>
            <a:r>
              <a:rPr lang="en-US" i="1" noProof="0" dirty="0">
                <a:cs typeface="Arial" pitchFamily="34" charset="0"/>
              </a:rPr>
              <a:t>visited2</a:t>
            </a:r>
            <a:r>
              <a:rPr lang="en-US" noProof="0" dirty="0">
                <a:cs typeface="Arial" pitchFamily="34" charset="0"/>
              </a:rPr>
              <a:t>.</a:t>
            </a:r>
            <a:r>
              <a:rPr lang="en-US" i="1" noProof="0" dirty="0">
                <a:cs typeface="Arial" pitchFamily="34" charset="0"/>
              </a:rPr>
              <a:t>add</a:t>
            </a:r>
            <a:r>
              <a:rPr lang="en-US" noProof="0" dirty="0">
                <a:cs typeface="Arial" pitchFamily="34" charset="0"/>
              </a:rPr>
              <a:t>(</a:t>
            </a:r>
            <a:r>
              <a:rPr lang="en-US" i="1" noProof="0" dirty="0">
                <a:cs typeface="Arial" pitchFamily="34" charset="0"/>
              </a:rPr>
              <a:t>s</a:t>
            </a:r>
            <a:r>
              <a:rPr lang="en-US" noProof="0" dirty="0">
                <a:cs typeface="Arial" pitchFamily="34" charset="0"/>
              </a:rPr>
              <a:t>) ;</a:t>
            </a:r>
          </a:p>
          <a:p>
            <a:pPr>
              <a:defRPr/>
            </a:pPr>
            <a:r>
              <a:rPr lang="en-US" noProof="0" dirty="0">
                <a:cs typeface="Arial" pitchFamily="34" charset="0"/>
              </a:rPr>
              <a:t>     </a:t>
            </a:r>
            <a:r>
              <a:rPr lang="en-US" b="1" noProof="0" dirty="0">
                <a:cs typeface="Arial" pitchFamily="34" charset="0"/>
              </a:rPr>
              <a:t>for</a:t>
            </a:r>
            <a:r>
              <a:rPr lang="en-US" noProof="0" dirty="0">
                <a:cs typeface="Arial" pitchFamily="34" charset="0"/>
              </a:rPr>
              <a:t> </a:t>
            </a:r>
            <a:r>
              <a:rPr lang="en-US" b="1" noProof="0" dirty="0">
                <a:cs typeface="Arial" pitchFamily="34" charset="0"/>
              </a:rPr>
              <a:t>each</a:t>
            </a:r>
            <a:r>
              <a:rPr lang="en-US" noProof="0" dirty="0">
                <a:cs typeface="Arial" pitchFamily="34" charset="0"/>
              </a:rPr>
              <a:t> (</a:t>
            </a:r>
            <a:r>
              <a:rPr lang="en-US" i="1" noProof="0" dirty="0">
                <a:cs typeface="Arial" pitchFamily="34" charset="0"/>
              </a:rPr>
              <a:t>t</a:t>
            </a:r>
            <a:r>
              <a:rPr lang="en-US" noProof="0" dirty="0">
                <a:cs typeface="Arial" pitchFamily="34" charset="0"/>
              </a:rPr>
              <a:t> </a:t>
            </a:r>
            <a:r>
              <a:rPr lang="en-US" noProof="0" dirty="0">
                <a:cs typeface="Arial" pitchFamily="34" charset="0"/>
                <a:sym typeface="Symbol"/>
              </a:rPr>
              <a:t></a:t>
            </a:r>
            <a:r>
              <a:rPr lang="en-US" noProof="0" dirty="0">
                <a:cs typeface="Arial" pitchFamily="34" charset="0"/>
              </a:rPr>
              <a:t> </a:t>
            </a:r>
            <a:r>
              <a:rPr lang="en-US" i="1" noProof="0" dirty="0">
                <a:cs typeface="Arial" pitchFamily="34" charset="0"/>
              </a:rPr>
              <a:t>next</a:t>
            </a:r>
            <a:r>
              <a:rPr lang="en-US" noProof="0" dirty="0">
                <a:cs typeface="Arial" pitchFamily="34" charset="0"/>
                <a:sym typeface="Symbol"/>
              </a:rPr>
              <a:t>(</a:t>
            </a:r>
            <a:r>
              <a:rPr lang="en-US" i="1" noProof="0" dirty="0">
                <a:cs typeface="Arial" pitchFamily="34" charset="0"/>
                <a:sym typeface="Symbol"/>
              </a:rPr>
              <a:t>s</a:t>
            </a:r>
            <a:r>
              <a:rPr lang="en-US" noProof="0" dirty="0">
                <a:cs typeface="Arial" pitchFamily="34" charset="0"/>
                <a:sym typeface="Symbol"/>
              </a:rPr>
              <a:t>))  </a:t>
            </a:r>
            <a:br>
              <a:rPr lang="en-US" noProof="0" dirty="0">
                <a:cs typeface="Arial" pitchFamily="34" charset="0"/>
                <a:sym typeface="Symbol"/>
              </a:rPr>
            </a:br>
            <a:r>
              <a:rPr lang="en-US" noProof="0" dirty="0">
                <a:cs typeface="Arial" pitchFamily="34" charset="0"/>
                <a:sym typeface="Symbol"/>
              </a:rPr>
              <a:t>           </a:t>
            </a:r>
            <a:r>
              <a:rPr lang="en-US" noProof="0" dirty="0" err="1">
                <a:cs typeface="Arial" pitchFamily="34" charset="0"/>
              </a:rPr>
              <a:t>checkCycle</a:t>
            </a:r>
            <a:r>
              <a:rPr lang="en-US" noProof="0" dirty="0">
                <a:cs typeface="Arial" pitchFamily="34" charset="0"/>
              </a:rPr>
              <a:t>(root, </a:t>
            </a:r>
            <a:r>
              <a:rPr lang="en-US" i="1" noProof="0" dirty="0">
                <a:cs typeface="Arial" pitchFamily="34" charset="0"/>
              </a:rPr>
              <a:t>t</a:t>
            </a:r>
            <a:r>
              <a:rPr lang="en-US" noProof="0" dirty="0">
                <a:cs typeface="Arial" pitchFamily="34" charset="0"/>
                <a:sym typeface="Symbol"/>
              </a:rPr>
              <a:t>) ;</a:t>
            </a:r>
            <a:endParaRPr lang="en-US" noProof="0" dirty="0">
              <a:cs typeface="Arial" pitchFamily="34" charset="0"/>
            </a:endParaRPr>
          </a:p>
          <a:p>
            <a:pPr>
              <a:defRPr/>
            </a:pPr>
            <a:r>
              <a:rPr lang="en-US" noProof="0" dirty="0">
                <a:cs typeface="Arial" pitchFamily="34" charset="0"/>
              </a:rPr>
              <a:t>}</a:t>
            </a:r>
          </a:p>
        </p:txBody>
      </p:sp>
      <p:sp>
        <p:nvSpPr>
          <p:cNvPr id="6" name="Tijdelijke aanduiding voor dianummer 5"/>
          <p:cNvSpPr>
            <a:spLocks noGrp="1"/>
          </p:cNvSpPr>
          <p:nvPr>
            <p:ph type="sldNum" sz="quarter" idx="12"/>
          </p:nvPr>
        </p:nvSpPr>
        <p:spPr/>
        <p:txBody>
          <a:bodyPr/>
          <a:lstStyle/>
          <a:p>
            <a:pPr>
              <a:defRPr/>
            </a:pPr>
            <a:fld id="{A8304043-34BE-4F0A-86DC-F1B0C973C2E1}" type="slidenum">
              <a:rPr lang="en-US" noProof="0"/>
              <a:pPr>
                <a:defRPr/>
              </a:pPr>
              <a:t>49</a:t>
            </a:fld>
            <a:endParaRPr lang="en-US" noProof="0" dirty="0"/>
          </a:p>
        </p:txBody>
      </p:sp>
      <p:sp>
        <p:nvSpPr>
          <p:cNvPr id="54277" name="TextBox 6"/>
          <p:cNvSpPr txBox="1">
            <a:spLocks noChangeArrowheads="1"/>
          </p:cNvSpPr>
          <p:nvPr/>
        </p:nvSpPr>
        <p:spPr bwMode="auto">
          <a:xfrm>
            <a:off x="952500" y="5391150"/>
            <a:ext cx="7772400" cy="1016000"/>
          </a:xfrm>
          <a:prstGeom prst="rect">
            <a:avLst/>
          </a:prstGeom>
          <a:noFill/>
          <a:ln w="9525">
            <a:noFill/>
            <a:miter lim="800000"/>
            <a:headEnd/>
            <a:tailEnd/>
          </a:ln>
        </p:spPr>
        <p:txBody>
          <a:bodyPr>
            <a:spAutoFit/>
          </a:bodyPr>
          <a:lstStyle/>
          <a:p>
            <a:r>
              <a:rPr lang="en-US" sz="2000" i="1" noProof="0" dirty="0"/>
              <a:t>Can be extended to keep track of the path leading to the cycle  </a:t>
            </a:r>
            <a:r>
              <a:rPr lang="en-US" sz="2000" noProof="0" dirty="0">
                <a:sym typeface="Wingdings" pitchFamily="2" charset="2"/>
              </a:rPr>
              <a:t> </a:t>
            </a:r>
            <a:r>
              <a:rPr lang="en-US" sz="2000" i="1" noProof="0" dirty="0">
                <a:sym typeface="Wingdings" pitchFamily="2" charset="2"/>
              </a:rPr>
              <a:t>counter example.</a:t>
            </a:r>
          </a:p>
          <a:p>
            <a:r>
              <a:rPr lang="en-US" sz="2000" i="1" noProof="0" dirty="0">
                <a:sym typeface="Wingdings" pitchFamily="2" charset="2"/>
              </a:rPr>
              <a:t>See Lecture Notes.</a:t>
            </a:r>
            <a:r>
              <a:rPr lang="en-US" sz="2000" i="1" noProof="0" dirty="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490538" y="274638"/>
            <a:ext cx="8196262" cy="787400"/>
          </a:xfrm>
        </p:spPr>
        <p:txBody>
          <a:bodyPr/>
          <a:lstStyle/>
          <a:p>
            <a:pPr eaLnBrk="1" hangingPunct="1"/>
            <a:r>
              <a:rPr lang="en-US" noProof="0" dirty="0">
                <a:cs typeface="Arial" charset="0"/>
              </a:rPr>
              <a:t>Example</a:t>
            </a:r>
          </a:p>
        </p:txBody>
      </p:sp>
      <p:sp>
        <p:nvSpPr>
          <p:cNvPr id="5" name="Oval 4"/>
          <p:cNvSpPr/>
          <p:nvPr/>
        </p:nvSpPr>
        <p:spPr>
          <a:xfrm>
            <a:off x="4627563" y="1949450"/>
            <a:ext cx="314325" cy="2952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noProof="0" dirty="0"/>
              <a:t>0</a:t>
            </a:r>
          </a:p>
        </p:txBody>
      </p:sp>
      <p:sp>
        <p:nvSpPr>
          <p:cNvPr id="6" name="Oval 5"/>
          <p:cNvSpPr/>
          <p:nvPr/>
        </p:nvSpPr>
        <p:spPr>
          <a:xfrm>
            <a:off x="5500688" y="3062288"/>
            <a:ext cx="314325" cy="271462"/>
          </a:xfrm>
          <a:prstGeom prst="ellipse">
            <a:avLst/>
          </a:prstGeom>
          <a:ln w="50800" cmpd="db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noProof="0" dirty="0"/>
              <a:t>1</a:t>
            </a:r>
          </a:p>
        </p:txBody>
      </p:sp>
      <p:sp>
        <p:nvSpPr>
          <p:cNvPr id="7" name="Oval 6"/>
          <p:cNvSpPr/>
          <p:nvPr/>
        </p:nvSpPr>
        <p:spPr>
          <a:xfrm>
            <a:off x="3884613" y="3163888"/>
            <a:ext cx="312737" cy="295275"/>
          </a:xfrm>
          <a:prstGeom prst="ellipse">
            <a:avLst/>
          </a:prstGeom>
          <a:ln w="12700" cmpd="sng">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noProof="0" dirty="0"/>
              <a:t>2</a:t>
            </a:r>
          </a:p>
        </p:txBody>
      </p:sp>
      <p:sp>
        <p:nvSpPr>
          <p:cNvPr id="8" name="Oval 7"/>
          <p:cNvSpPr/>
          <p:nvPr/>
        </p:nvSpPr>
        <p:spPr>
          <a:xfrm>
            <a:off x="3159125" y="3168650"/>
            <a:ext cx="314325" cy="2952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noProof="0" dirty="0"/>
              <a:t>3</a:t>
            </a:r>
          </a:p>
        </p:txBody>
      </p:sp>
      <p:cxnSp>
        <p:nvCxnSpPr>
          <p:cNvPr id="10" name="Curved Connector 9"/>
          <p:cNvCxnSpPr>
            <a:stCxn id="5" idx="6"/>
            <a:endCxn id="6" idx="0"/>
          </p:cNvCxnSpPr>
          <p:nvPr/>
        </p:nvCxnSpPr>
        <p:spPr>
          <a:xfrm>
            <a:off x="4941888" y="2097088"/>
            <a:ext cx="715962" cy="965200"/>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12" name="Curved Connector 9"/>
          <p:cNvCxnSpPr>
            <a:stCxn id="6" idx="2"/>
            <a:endCxn id="5" idx="4"/>
          </p:cNvCxnSpPr>
          <p:nvPr/>
        </p:nvCxnSpPr>
        <p:spPr>
          <a:xfrm rot="10800000">
            <a:off x="4784725" y="2244725"/>
            <a:ext cx="715963" cy="954088"/>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16" name="Curved Connector 9"/>
          <p:cNvCxnSpPr>
            <a:stCxn id="7" idx="4"/>
            <a:endCxn id="8" idx="4"/>
          </p:cNvCxnSpPr>
          <p:nvPr/>
        </p:nvCxnSpPr>
        <p:spPr>
          <a:xfrm rot="5400000">
            <a:off x="3675857" y="3099594"/>
            <a:ext cx="4762" cy="723900"/>
          </a:xfrm>
          <a:prstGeom prst="curvedConnector3">
            <a:avLst>
              <a:gd name="adj1" fmla="val 7248736"/>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stCxn id="6" idx="2"/>
            <a:endCxn id="7" idx="6"/>
          </p:cNvCxnSpPr>
          <p:nvPr/>
        </p:nvCxnSpPr>
        <p:spPr>
          <a:xfrm rot="10800000" flipV="1">
            <a:off x="4197350" y="3198813"/>
            <a:ext cx="1303338" cy="1127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a:stCxn id="5" idx="3"/>
            <a:endCxn id="7" idx="7"/>
          </p:cNvCxnSpPr>
          <p:nvPr/>
        </p:nvCxnSpPr>
        <p:spPr>
          <a:xfrm rot="5400000">
            <a:off x="3910013" y="2443163"/>
            <a:ext cx="1004887" cy="5222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9" name="Curved Connector 9"/>
          <p:cNvCxnSpPr>
            <a:stCxn id="8" idx="0"/>
            <a:endCxn id="7" idx="0"/>
          </p:cNvCxnSpPr>
          <p:nvPr/>
        </p:nvCxnSpPr>
        <p:spPr>
          <a:xfrm rot="5400000" flipH="1" flipV="1">
            <a:off x="3675857" y="2804319"/>
            <a:ext cx="4762" cy="723900"/>
          </a:xfrm>
          <a:prstGeom prst="curvedConnector3">
            <a:avLst>
              <a:gd name="adj1" fmla="val 7048779"/>
            </a:avLst>
          </a:prstGeom>
          <a:ln>
            <a:tailEnd type="arrow"/>
          </a:ln>
        </p:spPr>
        <p:style>
          <a:lnRef idx="2">
            <a:schemeClr val="dk1"/>
          </a:lnRef>
          <a:fillRef idx="0">
            <a:schemeClr val="dk1"/>
          </a:fillRef>
          <a:effectRef idx="1">
            <a:schemeClr val="dk1"/>
          </a:effectRef>
          <a:fontRef idx="minor">
            <a:schemeClr val="tx1"/>
          </a:fontRef>
        </p:style>
      </p:cxnSp>
      <p:cxnSp>
        <p:nvCxnSpPr>
          <p:cNvPr id="36" name="Straight Arrow Connector 35"/>
          <p:cNvCxnSpPr/>
          <p:nvPr/>
        </p:nvCxnSpPr>
        <p:spPr>
          <a:xfrm rot="5400000">
            <a:off x="4822031" y="1626394"/>
            <a:ext cx="295275" cy="1666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5310" name="Tekstvak 30"/>
          <p:cNvSpPr txBox="1">
            <a:spLocks noChangeArrowheads="1"/>
          </p:cNvSpPr>
          <p:nvPr/>
        </p:nvSpPr>
        <p:spPr bwMode="auto">
          <a:xfrm>
            <a:off x="3055938" y="4387850"/>
            <a:ext cx="3554412" cy="461963"/>
          </a:xfrm>
          <a:prstGeom prst="rect">
            <a:avLst/>
          </a:prstGeom>
          <a:noFill/>
          <a:ln w="9525">
            <a:noFill/>
            <a:miter lim="800000"/>
            <a:headEnd/>
            <a:tailEnd/>
          </a:ln>
        </p:spPr>
        <p:txBody>
          <a:bodyPr>
            <a:spAutoFit/>
          </a:bodyPr>
          <a:lstStyle/>
          <a:p>
            <a:r>
              <a:rPr lang="en-US" noProof="0" dirty="0" err="1"/>
              <a:t>checkCycle</a:t>
            </a:r>
            <a:r>
              <a:rPr lang="en-US" noProof="0" dirty="0"/>
              <a:t>(1,2)</a:t>
            </a:r>
          </a:p>
        </p:txBody>
      </p:sp>
      <p:sp>
        <p:nvSpPr>
          <p:cNvPr id="32" name="Vrije vorm 31"/>
          <p:cNvSpPr/>
          <p:nvPr/>
        </p:nvSpPr>
        <p:spPr>
          <a:xfrm>
            <a:off x="3046413" y="2655888"/>
            <a:ext cx="2528887" cy="1281112"/>
          </a:xfrm>
          <a:custGeom>
            <a:avLst/>
            <a:gdLst>
              <a:gd name="connsiteX0" fmla="*/ 2529417 w 2529417"/>
              <a:gd name="connsiteY0" fmla="*/ 836083 h 1280583"/>
              <a:gd name="connsiteX1" fmla="*/ 2237317 w 2529417"/>
              <a:gd name="connsiteY1" fmla="*/ 683683 h 1280583"/>
              <a:gd name="connsiteX2" fmla="*/ 1221317 w 2529417"/>
              <a:gd name="connsiteY2" fmla="*/ 747183 h 1280583"/>
              <a:gd name="connsiteX3" fmla="*/ 802217 w 2529417"/>
              <a:gd name="connsiteY3" fmla="*/ 1229783 h 1280583"/>
              <a:gd name="connsiteX4" fmla="*/ 167217 w 2529417"/>
              <a:gd name="connsiteY4" fmla="*/ 1051983 h 1280583"/>
              <a:gd name="connsiteX5" fmla="*/ 14817 w 2529417"/>
              <a:gd name="connsiteY5" fmla="*/ 607483 h 1280583"/>
              <a:gd name="connsiteX6" fmla="*/ 256117 w 2529417"/>
              <a:gd name="connsiteY6" fmla="*/ 188383 h 1280583"/>
              <a:gd name="connsiteX7" fmla="*/ 840317 w 2529417"/>
              <a:gd name="connsiteY7" fmla="*/ 23283 h 1280583"/>
              <a:gd name="connsiteX8" fmla="*/ 1081617 w 2529417"/>
              <a:gd name="connsiteY8" fmla="*/ 328083 h 1280583"/>
              <a:gd name="connsiteX9" fmla="*/ 1094317 w 2529417"/>
              <a:gd name="connsiteY9" fmla="*/ 315383 h 1280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29417" h="1280583">
                <a:moveTo>
                  <a:pt x="2529417" y="836083"/>
                </a:moveTo>
                <a:cubicBezTo>
                  <a:pt x="2492375" y="767291"/>
                  <a:pt x="2455334" y="698500"/>
                  <a:pt x="2237317" y="683683"/>
                </a:cubicBezTo>
                <a:cubicBezTo>
                  <a:pt x="2019300" y="668866"/>
                  <a:pt x="1460500" y="656166"/>
                  <a:pt x="1221317" y="747183"/>
                </a:cubicBezTo>
                <a:cubicBezTo>
                  <a:pt x="982134" y="838200"/>
                  <a:pt x="977900" y="1178983"/>
                  <a:pt x="802217" y="1229783"/>
                </a:cubicBezTo>
                <a:cubicBezTo>
                  <a:pt x="626534" y="1280583"/>
                  <a:pt x="298450" y="1155700"/>
                  <a:pt x="167217" y="1051983"/>
                </a:cubicBezTo>
                <a:cubicBezTo>
                  <a:pt x="35984" y="948266"/>
                  <a:pt x="0" y="751416"/>
                  <a:pt x="14817" y="607483"/>
                </a:cubicBezTo>
                <a:cubicBezTo>
                  <a:pt x="29634" y="463550"/>
                  <a:pt x="118534" y="285750"/>
                  <a:pt x="256117" y="188383"/>
                </a:cubicBezTo>
                <a:cubicBezTo>
                  <a:pt x="393700" y="91016"/>
                  <a:pt x="702734" y="0"/>
                  <a:pt x="840317" y="23283"/>
                </a:cubicBezTo>
                <a:cubicBezTo>
                  <a:pt x="977900" y="46566"/>
                  <a:pt x="1039284" y="279400"/>
                  <a:pt x="1081617" y="328083"/>
                </a:cubicBezTo>
                <a:cubicBezTo>
                  <a:pt x="1123950" y="376766"/>
                  <a:pt x="1056217" y="296333"/>
                  <a:pt x="1094317" y="315383"/>
                </a:cubicBezTo>
              </a:path>
            </a:pathLst>
          </a:custGeom>
          <a:ln>
            <a:solidFill>
              <a:srgbClr val="FF0000"/>
            </a:solidFill>
            <a:headEnd type="none" w="med" len="med"/>
            <a:tailEnd type="triangle" w="med" len="med"/>
          </a:ln>
        </p:spPr>
        <p:style>
          <a:lnRef idx="2">
            <a:schemeClr val="dk1"/>
          </a:lnRef>
          <a:fillRef idx="0">
            <a:schemeClr val="dk1"/>
          </a:fillRef>
          <a:effectRef idx="1">
            <a:schemeClr val="dk1"/>
          </a:effectRef>
          <a:fontRef idx="minor">
            <a:schemeClr val="tx1"/>
          </a:fontRef>
        </p:style>
        <p:txBody>
          <a:bodyPr anchor="ctr"/>
          <a:lstStyle/>
          <a:p>
            <a:pPr algn="ctr">
              <a:defRPr/>
            </a:pPr>
            <a:endParaRPr lang="en-US" noProof="0" dirty="0"/>
          </a:p>
        </p:txBody>
      </p:sp>
      <p:sp>
        <p:nvSpPr>
          <p:cNvPr id="34" name="Vrije vorm 33"/>
          <p:cNvSpPr/>
          <p:nvPr/>
        </p:nvSpPr>
        <p:spPr>
          <a:xfrm>
            <a:off x="4279900" y="2311400"/>
            <a:ext cx="1295400" cy="1143000"/>
          </a:xfrm>
          <a:custGeom>
            <a:avLst/>
            <a:gdLst>
              <a:gd name="connsiteX0" fmla="*/ 1295400 w 1295400"/>
              <a:gd name="connsiteY0" fmla="*/ 1143000 h 1143000"/>
              <a:gd name="connsiteX1" fmla="*/ 546100 w 1295400"/>
              <a:gd name="connsiteY1" fmla="*/ 609600 h 1143000"/>
              <a:gd name="connsiteX2" fmla="*/ 444500 w 1295400"/>
              <a:gd name="connsiteY2" fmla="*/ 38100 h 1143000"/>
              <a:gd name="connsiteX3" fmla="*/ 0 w 1295400"/>
              <a:gd name="connsiteY3" fmla="*/ 838200 h 1143000"/>
              <a:gd name="connsiteX4" fmla="*/ 0 w 1295400"/>
              <a:gd name="connsiteY4" fmla="*/ 83820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400" h="1143000">
                <a:moveTo>
                  <a:pt x="1295400" y="1143000"/>
                </a:moveTo>
                <a:cubicBezTo>
                  <a:pt x="991658" y="968375"/>
                  <a:pt x="687917" y="793750"/>
                  <a:pt x="546100" y="609600"/>
                </a:cubicBezTo>
                <a:cubicBezTo>
                  <a:pt x="404283" y="425450"/>
                  <a:pt x="535517" y="0"/>
                  <a:pt x="444500" y="38100"/>
                </a:cubicBezTo>
                <a:cubicBezTo>
                  <a:pt x="353483" y="76200"/>
                  <a:pt x="0" y="838200"/>
                  <a:pt x="0" y="838200"/>
                </a:cubicBezTo>
                <a:lnTo>
                  <a:pt x="0" y="838200"/>
                </a:lnTo>
              </a:path>
            </a:pathLst>
          </a:custGeom>
          <a:ln>
            <a:solidFill>
              <a:srgbClr val="00B050"/>
            </a:solidFill>
            <a:headEnd type="none" w="med" len="med"/>
            <a:tailEnd type="triangle" w="med" len="med"/>
          </a:ln>
        </p:spPr>
        <p:style>
          <a:lnRef idx="2">
            <a:schemeClr val="dk1"/>
          </a:lnRef>
          <a:fillRef idx="0">
            <a:schemeClr val="dk1"/>
          </a:fillRef>
          <a:effectRef idx="1">
            <a:schemeClr val="dk1"/>
          </a:effectRef>
          <a:fontRef idx="minor">
            <a:schemeClr val="tx1"/>
          </a:fontRef>
        </p:style>
        <p:txBody>
          <a:bodyPr anchor="ctr"/>
          <a:lstStyle/>
          <a:p>
            <a:pPr algn="ctr">
              <a:defRPr/>
            </a:pPr>
            <a:endParaRPr lang="en-US" noProof="0" dirty="0"/>
          </a:p>
        </p:txBody>
      </p:sp>
      <p:sp>
        <p:nvSpPr>
          <p:cNvPr id="37" name="Vrije vorm 36"/>
          <p:cNvSpPr/>
          <p:nvPr/>
        </p:nvSpPr>
        <p:spPr>
          <a:xfrm>
            <a:off x="4902200" y="2024063"/>
            <a:ext cx="901700" cy="998537"/>
          </a:xfrm>
          <a:custGeom>
            <a:avLst/>
            <a:gdLst>
              <a:gd name="connsiteX0" fmla="*/ 0 w 901700"/>
              <a:gd name="connsiteY0" fmla="*/ 237067 h 999067"/>
              <a:gd name="connsiteX1" fmla="*/ 114300 w 901700"/>
              <a:gd name="connsiteY1" fmla="*/ 21167 h 999067"/>
              <a:gd name="connsiteX2" fmla="*/ 609600 w 901700"/>
              <a:gd name="connsiteY2" fmla="*/ 110067 h 999067"/>
              <a:gd name="connsiteX3" fmla="*/ 863600 w 901700"/>
              <a:gd name="connsiteY3" fmla="*/ 630767 h 999067"/>
              <a:gd name="connsiteX4" fmla="*/ 838200 w 901700"/>
              <a:gd name="connsiteY4" fmla="*/ 999067 h 999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700" h="999067">
                <a:moveTo>
                  <a:pt x="0" y="237067"/>
                </a:moveTo>
                <a:cubicBezTo>
                  <a:pt x="6350" y="139700"/>
                  <a:pt x="12700" y="42334"/>
                  <a:pt x="114300" y="21167"/>
                </a:cubicBezTo>
                <a:cubicBezTo>
                  <a:pt x="215900" y="0"/>
                  <a:pt x="484717" y="8467"/>
                  <a:pt x="609600" y="110067"/>
                </a:cubicBezTo>
                <a:cubicBezTo>
                  <a:pt x="734483" y="211667"/>
                  <a:pt x="825500" y="482600"/>
                  <a:pt x="863600" y="630767"/>
                </a:cubicBezTo>
                <a:cubicBezTo>
                  <a:pt x="901700" y="778934"/>
                  <a:pt x="869950" y="889000"/>
                  <a:pt x="838200" y="999067"/>
                </a:cubicBezTo>
              </a:path>
            </a:pathLst>
          </a:custGeom>
          <a:ln>
            <a:solidFill>
              <a:srgbClr val="00B050"/>
            </a:solidFill>
            <a:headEnd type="none" w="med" len="med"/>
            <a:tailEnd type="triangle" w="med" len="med"/>
          </a:ln>
        </p:spPr>
        <p:style>
          <a:lnRef idx="2">
            <a:schemeClr val="dk1"/>
          </a:lnRef>
          <a:fillRef idx="0">
            <a:schemeClr val="dk1"/>
          </a:fillRef>
          <a:effectRef idx="1">
            <a:schemeClr val="dk1"/>
          </a:effectRef>
          <a:fontRef idx="minor">
            <a:schemeClr val="tx1"/>
          </a:fontRef>
        </p:style>
        <p:txBody>
          <a:bodyPr anchor="ctr"/>
          <a:lstStyle/>
          <a:p>
            <a:pPr algn="ctr">
              <a:defRPr/>
            </a:pPr>
            <a:endParaRPr lang="en-US" noProof="0" dirty="0"/>
          </a:p>
        </p:txBody>
      </p:sp>
      <p:sp>
        <p:nvSpPr>
          <p:cNvPr id="20" name="Tijdelijke aanduiding voor dianummer 19"/>
          <p:cNvSpPr>
            <a:spLocks noGrp="1"/>
          </p:cNvSpPr>
          <p:nvPr>
            <p:ph type="sldNum" sz="quarter" idx="12"/>
          </p:nvPr>
        </p:nvSpPr>
        <p:spPr/>
        <p:txBody>
          <a:bodyPr/>
          <a:lstStyle/>
          <a:p>
            <a:pPr>
              <a:defRPr/>
            </a:pPr>
            <a:fld id="{E91197D1-7505-42BA-990D-30B70ED69C2D}" type="slidenum">
              <a:rPr lang="en-US" noProof="0"/>
              <a:pPr>
                <a:defRPr/>
              </a:pPr>
              <a:t>50</a:t>
            </a:fld>
            <a:endParaRPr lang="en-US" noProof="0" dirty="0"/>
          </a:p>
        </p:txBody>
      </p:sp>
      <p:sp>
        <p:nvSpPr>
          <p:cNvPr id="23" name="Tekstvak 22"/>
          <p:cNvSpPr txBox="1"/>
          <p:nvPr/>
        </p:nvSpPr>
        <p:spPr>
          <a:xfrm>
            <a:off x="4874079" y="5530334"/>
            <a:ext cx="3788217" cy="369332"/>
          </a:xfrm>
          <a:prstGeom prst="rect">
            <a:avLst/>
          </a:prstGeom>
        </p:spPr>
        <p:style>
          <a:lnRef idx="1">
            <a:schemeClr val="dk1"/>
          </a:lnRef>
          <a:fillRef idx="2">
            <a:schemeClr val="dk1"/>
          </a:fillRef>
          <a:effectRef idx="1">
            <a:schemeClr val="dk1"/>
          </a:effectRef>
          <a:fontRef idx="minor">
            <a:schemeClr val="dk1"/>
          </a:fontRef>
        </p:style>
        <p:txBody>
          <a:bodyPr wrap="none">
            <a:spAutoFit/>
          </a:bodyPr>
          <a:lstStyle/>
          <a:p>
            <a:pPr>
              <a:defRPr/>
            </a:pPr>
            <a:r>
              <a:rPr lang="en-US" sz="1800" i="1" noProof="0" dirty="0"/>
              <a:t>the node currently being processed</a:t>
            </a:r>
          </a:p>
        </p:txBody>
      </p:sp>
      <p:cxnSp>
        <p:nvCxnSpPr>
          <p:cNvPr id="31" name="Rechte verbindingslijn met pijl 30"/>
          <p:cNvCxnSpPr/>
          <p:nvPr/>
        </p:nvCxnSpPr>
        <p:spPr>
          <a:xfrm rot="16200000" flipV="1">
            <a:off x="4730750" y="5041900"/>
            <a:ext cx="612775" cy="2444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kstvak 22"/>
          <p:cNvSpPr txBox="1"/>
          <p:nvPr/>
        </p:nvSpPr>
        <p:spPr>
          <a:xfrm>
            <a:off x="3997779" y="5549384"/>
            <a:ext cx="582211" cy="369332"/>
          </a:xfrm>
          <a:prstGeom prst="rect">
            <a:avLst/>
          </a:prstGeom>
        </p:spPr>
        <p:style>
          <a:lnRef idx="1">
            <a:schemeClr val="dk1"/>
          </a:lnRef>
          <a:fillRef idx="2">
            <a:schemeClr val="dk1"/>
          </a:fillRef>
          <a:effectRef idx="1">
            <a:schemeClr val="dk1"/>
          </a:effectRef>
          <a:fontRef idx="minor">
            <a:schemeClr val="dk1"/>
          </a:fontRef>
        </p:style>
        <p:txBody>
          <a:bodyPr wrap="none">
            <a:spAutoFit/>
          </a:bodyPr>
          <a:lstStyle/>
          <a:p>
            <a:pPr>
              <a:defRPr/>
            </a:pPr>
            <a:r>
              <a:rPr lang="en-US" sz="1800" i="1" noProof="0" dirty="0"/>
              <a:t>root</a:t>
            </a:r>
          </a:p>
        </p:txBody>
      </p:sp>
      <p:cxnSp>
        <p:nvCxnSpPr>
          <p:cNvPr id="33" name="Rechte verbindingslijn met pijl 30"/>
          <p:cNvCxnSpPr>
            <a:stCxn id="0" idx="0"/>
          </p:cNvCxnSpPr>
          <p:nvPr/>
        </p:nvCxnSpPr>
        <p:spPr>
          <a:xfrm rot="5400000" flipH="1" flipV="1">
            <a:off x="4141788" y="5024437"/>
            <a:ext cx="673100" cy="3778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500063" y="274638"/>
            <a:ext cx="8358187" cy="796925"/>
          </a:xfrm>
        </p:spPr>
        <p:txBody>
          <a:bodyPr/>
          <a:lstStyle/>
          <a:p>
            <a:pPr eaLnBrk="1" hangingPunct="1"/>
            <a:r>
              <a:rPr lang="en-US" noProof="0" dirty="0">
                <a:cs typeface="Arial" charset="0"/>
              </a:rPr>
              <a:t>Tweak: lazy model checking</a:t>
            </a:r>
          </a:p>
        </p:txBody>
      </p:sp>
      <p:sp>
        <p:nvSpPr>
          <p:cNvPr id="56323" name="Content Placeholder 8"/>
          <p:cNvSpPr>
            <a:spLocks noGrp="1"/>
          </p:cNvSpPr>
          <p:nvPr>
            <p:ph sz="quarter" idx="1"/>
          </p:nvPr>
        </p:nvSpPr>
        <p:spPr>
          <a:xfrm>
            <a:off x="500063" y="1409700"/>
            <a:ext cx="8358187" cy="4572000"/>
          </a:xfrm>
        </p:spPr>
        <p:txBody>
          <a:bodyPr/>
          <a:lstStyle/>
          <a:p>
            <a:pPr eaLnBrk="1" hangingPunct="1"/>
            <a:r>
              <a:rPr lang="en-US" sz="2400" noProof="0" dirty="0">
                <a:cs typeface="Arial" charset="0"/>
              </a:rPr>
              <a:t>Remember that automaton to explore is </a:t>
            </a:r>
            <a:r>
              <a:rPr lang="en-US" sz="2400" i="1" noProof="0" dirty="0">
                <a:cs typeface="Arial" charset="0"/>
              </a:rPr>
              <a:t>C</a:t>
            </a:r>
            <a:r>
              <a:rPr lang="en-US" sz="2400" noProof="0" dirty="0">
                <a:cs typeface="Arial" charset="0"/>
              </a:rPr>
              <a:t> = </a:t>
            </a:r>
            <a:r>
              <a:rPr lang="en-US" sz="2400" i="1" noProof="0" dirty="0">
                <a:cs typeface="Arial" charset="0"/>
              </a:rPr>
              <a:t>B</a:t>
            </a:r>
            <a:r>
              <a:rPr lang="en-US" sz="2400" i="1" baseline="-25000" noProof="0" dirty="0">
                <a:cs typeface="Arial" charset="0"/>
              </a:rPr>
              <a:t>M</a:t>
            </a:r>
            <a:r>
              <a:rPr lang="en-US" sz="2400" noProof="0" dirty="0">
                <a:cs typeface="Arial" charset="0"/>
              </a:rPr>
              <a:t> </a:t>
            </a:r>
            <a:r>
              <a:rPr lang="en-US" sz="2400" noProof="0" dirty="0">
                <a:cs typeface="Arial" charset="0"/>
                <a:sym typeface="Symbol" pitchFamily="18" charset="2"/>
              </a:rPr>
              <a:t>  </a:t>
            </a:r>
            <a:r>
              <a:rPr lang="en-US" sz="2400" i="1" noProof="0" dirty="0">
                <a:cs typeface="Arial" charset="0"/>
                <a:sym typeface="Symbol" pitchFamily="18" charset="2"/>
              </a:rPr>
              <a:t>B</a:t>
            </a:r>
            <a:r>
              <a:rPr lang="en-US" sz="2400" baseline="-25000" noProof="0" dirty="0">
                <a:cs typeface="Arial" charset="0"/>
                <a:sym typeface="Symbol" pitchFamily="18" charset="2"/>
              </a:rPr>
              <a:t></a:t>
            </a:r>
          </a:p>
          <a:p>
            <a:pPr eaLnBrk="1" hangingPunct="1"/>
            <a:r>
              <a:rPr lang="en-US" sz="2400" noProof="0" dirty="0">
                <a:cs typeface="Arial" charset="0"/>
                <a:sym typeface="Symbol" pitchFamily="18" charset="2"/>
              </a:rPr>
              <a:t>In particular, </a:t>
            </a:r>
            <a:r>
              <a:rPr lang="en-US" sz="2400" i="1" noProof="0" dirty="0">
                <a:cs typeface="Arial" charset="0"/>
              </a:rPr>
              <a:t>B</a:t>
            </a:r>
            <a:r>
              <a:rPr lang="en-US" sz="2400" baseline="-25000" noProof="0" dirty="0">
                <a:cs typeface="Arial" charset="0"/>
              </a:rPr>
              <a:t>M </a:t>
            </a:r>
            <a:r>
              <a:rPr lang="en-US" sz="2400" noProof="0" dirty="0">
                <a:cs typeface="Arial" charset="0"/>
                <a:sym typeface="Symbol" pitchFamily="18" charset="2"/>
              </a:rPr>
              <a:t>can be huge if </a:t>
            </a:r>
            <a:r>
              <a:rPr lang="en-US" sz="2400" i="1" noProof="0" dirty="0">
                <a:cs typeface="Arial" charset="0"/>
                <a:sym typeface="Symbol" pitchFamily="18" charset="2"/>
              </a:rPr>
              <a:t>M </a:t>
            </a:r>
            <a:r>
              <a:rPr lang="en-US" sz="2400" noProof="0" dirty="0">
                <a:cs typeface="Arial" charset="0"/>
                <a:sym typeface="Symbol" pitchFamily="18" charset="2"/>
              </a:rPr>
              <a:t>= </a:t>
            </a:r>
            <a:r>
              <a:rPr lang="en-US" sz="2400" i="1" noProof="0" dirty="0">
                <a:cs typeface="Arial" charset="0"/>
                <a:sym typeface="Symbol" pitchFamily="18" charset="2"/>
              </a:rPr>
              <a:t>P</a:t>
            </a:r>
            <a:r>
              <a:rPr lang="en-US" sz="2400" baseline="-25000" noProof="0" dirty="0">
                <a:cs typeface="Arial" charset="0"/>
                <a:sym typeface="Symbol" pitchFamily="18" charset="2"/>
              </a:rPr>
              <a:t>1</a:t>
            </a:r>
            <a:r>
              <a:rPr lang="en-US" sz="2400" noProof="0" dirty="0">
                <a:cs typeface="Arial" charset="0"/>
                <a:sym typeface="Symbol" pitchFamily="18" charset="2"/>
              </a:rPr>
              <a:t> || </a:t>
            </a:r>
            <a:r>
              <a:rPr lang="en-US" sz="2400" i="1" noProof="0" dirty="0">
                <a:cs typeface="Arial" charset="0"/>
                <a:sym typeface="Symbol" pitchFamily="18" charset="2"/>
              </a:rPr>
              <a:t>P</a:t>
            </a:r>
            <a:r>
              <a:rPr lang="en-US" sz="2400" baseline="-25000" noProof="0" dirty="0">
                <a:cs typeface="Arial" charset="0"/>
                <a:sym typeface="Symbol" pitchFamily="18" charset="2"/>
              </a:rPr>
              <a:t>2</a:t>
            </a:r>
            <a:r>
              <a:rPr lang="en-US" sz="2400" noProof="0" dirty="0">
                <a:cs typeface="Arial" charset="0"/>
                <a:sym typeface="Symbol" pitchFamily="18" charset="2"/>
              </a:rPr>
              <a:t> || ...</a:t>
            </a:r>
          </a:p>
          <a:p>
            <a:pPr eaLnBrk="1" hangingPunct="1"/>
            <a:r>
              <a:rPr lang="en-US" sz="2400" noProof="0" dirty="0">
                <a:cs typeface="Arial" charset="0"/>
                <a:sym typeface="Symbol" pitchFamily="18" charset="2"/>
              </a:rPr>
              <a:t>Can we construct C lazily?</a:t>
            </a:r>
          </a:p>
          <a:p>
            <a:pPr eaLnBrk="1" hangingPunct="1"/>
            <a:r>
              <a:rPr lang="en-US" sz="2400" noProof="0" dirty="0">
                <a:cs typeface="Arial" charset="0"/>
                <a:sym typeface="Symbol" pitchFamily="18" charset="2"/>
              </a:rPr>
              <a:t>Benefit : if a cycle is found (verification fails), effort is not wasted to first construct the full </a:t>
            </a:r>
            <a:r>
              <a:rPr lang="en-US" sz="2400" i="1" noProof="0" dirty="0">
                <a:cs typeface="Arial" charset="0"/>
                <a:sym typeface="Symbol" pitchFamily="18" charset="2"/>
              </a:rPr>
              <a:t>C.</a:t>
            </a:r>
          </a:p>
          <a:p>
            <a:pPr eaLnBrk="1" hangingPunct="1"/>
            <a:r>
              <a:rPr lang="en-US" sz="2400" noProof="0" dirty="0">
                <a:cs typeface="Arial" charset="0"/>
                <a:sym typeface="Symbol" pitchFamily="18" charset="2"/>
              </a:rPr>
              <a:t>Of course if </a:t>
            </a:r>
            <a:r>
              <a:rPr lang="en-US" sz="2400" noProof="0" dirty="0">
                <a:cs typeface="Arial" charset="0"/>
                <a:sym typeface="Symbol"/>
              </a:rPr>
              <a:t> turns out to be valid, then C will in the end be fully constructed.</a:t>
            </a:r>
          </a:p>
          <a:p>
            <a:pPr eaLnBrk="1" hangingPunct="1"/>
            <a:r>
              <a:rPr lang="en-US" sz="2400" noProof="0" dirty="0">
                <a:cs typeface="Arial" charset="0"/>
                <a:sym typeface="Symbol"/>
              </a:rPr>
              <a:t>How to deal with concrete states (rather than abstract states a la Kripke) ?</a:t>
            </a:r>
          </a:p>
          <a:p>
            <a:pPr eaLnBrk="1" hangingPunct="1"/>
            <a:endParaRPr lang="en-US" sz="2400" noProof="0" dirty="0">
              <a:cs typeface="Arial" charset="0"/>
              <a:sym typeface="Symbol"/>
            </a:endParaRPr>
          </a:p>
          <a:p>
            <a:pPr eaLnBrk="1" hangingPunct="1">
              <a:buFont typeface="Wingdings 2" pitchFamily="18" charset="2"/>
              <a:buNone/>
            </a:pPr>
            <a:endParaRPr lang="en-US" sz="2400" noProof="0" dirty="0">
              <a:cs typeface="Arial" charset="0"/>
              <a:sym typeface="Symbol" pitchFamily="18" charset="2"/>
            </a:endParaRPr>
          </a:p>
          <a:p>
            <a:pPr eaLnBrk="1" hangingPunct="1"/>
            <a:endParaRPr lang="en-US" sz="2400" noProof="0" dirty="0">
              <a:cs typeface="Arial" charset="0"/>
              <a:sym typeface="Symbol" pitchFamily="18" charset="2"/>
            </a:endParaRPr>
          </a:p>
        </p:txBody>
      </p:sp>
      <p:sp>
        <p:nvSpPr>
          <p:cNvPr id="5" name="Tijdelijke aanduiding voor dianummer 4"/>
          <p:cNvSpPr>
            <a:spLocks noGrp="1"/>
          </p:cNvSpPr>
          <p:nvPr>
            <p:ph type="sldNum" sz="quarter" idx="12"/>
          </p:nvPr>
        </p:nvSpPr>
        <p:spPr/>
        <p:txBody>
          <a:bodyPr/>
          <a:lstStyle/>
          <a:p>
            <a:pPr>
              <a:defRPr/>
            </a:pPr>
            <a:fld id="{6C6265B2-2374-4A9E-B69E-446637063E63}" type="slidenum">
              <a:rPr lang="en-US" noProof="0"/>
              <a:pPr>
                <a:defRPr/>
              </a:pPr>
              <a:t>51</a:t>
            </a:fld>
            <a:endParaRPr lang="en-US" noProof="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500063" y="274638"/>
            <a:ext cx="8358187" cy="796925"/>
          </a:xfrm>
        </p:spPr>
        <p:txBody>
          <a:bodyPr/>
          <a:lstStyle/>
          <a:p>
            <a:pPr eaLnBrk="1" hangingPunct="1"/>
            <a:r>
              <a:rPr lang="en-US" noProof="0" dirty="0">
                <a:cs typeface="Arial" charset="0"/>
              </a:rPr>
              <a:t>Lazily constructing the intersection</a:t>
            </a:r>
          </a:p>
        </p:txBody>
      </p:sp>
      <p:sp>
        <p:nvSpPr>
          <p:cNvPr id="58371" name="Content Placeholder 8"/>
          <p:cNvSpPr>
            <a:spLocks noGrp="1"/>
          </p:cNvSpPr>
          <p:nvPr>
            <p:ph sz="quarter" idx="1"/>
          </p:nvPr>
        </p:nvSpPr>
        <p:spPr>
          <a:xfrm>
            <a:off x="500063" y="1447800"/>
            <a:ext cx="8358187" cy="4572000"/>
          </a:xfrm>
        </p:spPr>
        <p:txBody>
          <a:bodyPr/>
          <a:lstStyle/>
          <a:p>
            <a:pPr eaLnBrk="1" hangingPunct="1"/>
            <a:r>
              <a:rPr lang="en-US" sz="2400" noProof="0" dirty="0">
                <a:cs typeface="Arial" charset="0"/>
              </a:rPr>
              <a:t>Assume first that </a:t>
            </a:r>
            <a:r>
              <a:rPr lang="en-US" sz="2400" i="1" noProof="0" dirty="0">
                <a:cs typeface="Arial" charset="0"/>
              </a:rPr>
              <a:t>P</a:t>
            </a:r>
            <a:r>
              <a:rPr lang="en-US" sz="2400" noProof="0" dirty="0">
                <a:cs typeface="Arial" charset="0"/>
              </a:rPr>
              <a:t> is just a single process.</a:t>
            </a:r>
          </a:p>
          <a:p>
            <a:pPr eaLnBrk="1" hangingPunct="1"/>
            <a:r>
              <a:rPr lang="en-US" sz="2400" noProof="0" dirty="0">
                <a:cs typeface="Arial" charset="0"/>
              </a:rPr>
              <a:t>Only need to change this in the DFS :</a:t>
            </a:r>
            <a:br>
              <a:rPr lang="en-US" sz="2400" noProof="0" dirty="0">
                <a:cs typeface="Arial" charset="0"/>
              </a:rPr>
            </a:br>
            <a:br>
              <a:rPr lang="en-US" sz="2400" noProof="0" dirty="0">
                <a:cs typeface="Arial" charset="0"/>
              </a:rPr>
            </a:br>
            <a:r>
              <a:rPr lang="en-US" sz="2400" noProof="0" dirty="0">
                <a:cs typeface="Arial" charset="0"/>
              </a:rPr>
              <a:t>      </a:t>
            </a:r>
            <a:r>
              <a:rPr lang="en-US" sz="2400" b="1" noProof="0" dirty="0">
                <a:cs typeface="Arial" charset="0"/>
              </a:rPr>
              <a:t>for each </a:t>
            </a:r>
            <a:r>
              <a:rPr lang="en-US" sz="2400" noProof="0" dirty="0">
                <a:cs typeface="Arial" charset="0"/>
              </a:rPr>
              <a:t>(</a:t>
            </a:r>
            <a:r>
              <a:rPr lang="en-US" sz="2400" i="1" noProof="0" dirty="0">
                <a:cs typeface="Arial" charset="0"/>
              </a:rPr>
              <a:t>s</a:t>
            </a:r>
            <a:r>
              <a:rPr lang="en-US" sz="2400" noProof="0" dirty="0">
                <a:cs typeface="Arial" charset="0"/>
              </a:rPr>
              <a:t> </a:t>
            </a:r>
            <a:r>
              <a:rPr lang="en-US" sz="2400" noProof="0" dirty="0">
                <a:cs typeface="Arial" charset="0"/>
                <a:sym typeface="Symbol" pitchFamily="18" charset="2"/>
              </a:rPr>
              <a:t> </a:t>
            </a:r>
            <a:r>
              <a:rPr lang="en-US" sz="2400" b="1" i="1" noProof="0" dirty="0">
                <a:cs typeface="Arial" charset="0"/>
                <a:sym typeface="Symbol" pitchFamily="18" charset="2"/>
              </a:rPr>
              <a:t>next</a:t>
            </a:r>
            <a:r>
              <a:rPr lang="en-US" sz="2400" noProof="0" dirty="0">
                <a:cs typeface="Arial" charset="0"/>
                <a:sym typeface="Symbol" pitchFamily="18" charset="2"/>
              </a:rPr>
              <a:t>(</a:t>
            </a:r>
            <a:r>
              <a:rPr lang="en-US" sz="2400" i="1" noProof="0" dirty="0">
                <a:cs typeface="Arial" charset="0"/>
                <a:sym typeface="Symbol" pitchFamily="18" charset="2"/>
              </a:rPr>
              <a:t>u</a:t>
            </a:r>
            <a:r>
              <a:rPr lang="en-US" sz="2400" noProof="0" dirty="0">
                <a:cs typeface="Arial" charset="0"/>
                <a:sym typeface="Symbol" pitchFamily="18" charset="2"/>
              </a:rPr>
              <a:t>))  …. </a:t>
            </a:r>
            <a:br>
              <a:rPr lang="en-US" sz="2400" noProof="0" dirty="0">
                <a:cs typeface="Arial" charset="0"/>
                <a:sym typeface="Symbol" pitchFamily="18" charset="2"/>
              </a:rPr>
            </a:br>
            <a:r>
              <a:rPr lang="en-US" sz="2400" noProof="0" dirty="0">
                <a:cs typeface="Arial" charset="0"/>
                <a:sym typeface="Symbol" pitchFamily="18" charset="2"/>
              </a:rPr>
              <a:t>            </a:t>
            </a:r>
            <a:r>
              <a:rPr lang="en-US" sz="2400" b="1" noProof="0" dirty="0">
                <a:cs typeface="Arial" charset="0"/>
                <a:sym typeface="Symbol" pitchFamily="18" charset="2"/>
              </a:rPr>
              <a:t>if</a:t>
            </a:r>
            <a:r>
              <a:rPr lang="en-US" sz="2400" noProof="0" dirty="0">
                <a:cs typeface="Arial" charset="0"/>
                <a:sym typeface="Symbol" pitchFamily="18" charset="2"/>
              </a:rPr>
              <a:t> (</a:t>
            </a:r>
            <a:r>
              <a:rPr lang="en-US" sz="2400" i="1" noProof="0" dirty="0">
                <a:cs typeface="Arial" charset="0"/>
                <a:sym typeface="Symbol" pitchFamily="18" charset="2"/>
              </a:rPr>
              <a:t>u</a:t>
            </a:r>
            <a:r>
              <a:rPr lang="en-US" sz="2400" noProof="0" dirty="0">
                <a:cs typeface="Arial" charset="0"/>
                <a:sym typeface="Symbol" pitchFamily="18" charset="2"/>
              </a:rPr>
              <a:t>  accept)</a:t>
            </a:r>
          </a:p>
          <a:p>
            <a:pPr eaLnBrk="1" hangingPunct="1"/>
            <a:endParaRPr lang="en-US" sz="2400" noProof="0" dirty="0">
              <a:cs typeface="Arial" charset="0"/>
              <a:sym typeface="Symbol" pitchFamily="18" charset="2"/>
            </a:endParaRPr>
          </a:p>
          <a:p>
            <a:pPr eaLnBrk="1" hangingPunct="1"/>
            <a:r>
              <a:rPr lang="en-US" sz="2400" noProof="0" dirty="0">
                <a:cs typeface="Arial" charset="0"/>
                <a:sym typeface="Symbol" pitchFamily="18" charset="2"/>
              </a:rPr>
              <a:t>Each state of C is of type </a:t>
            </a:r>
            <a:r>
              <a:rPr lang="en-US" sz="2400" noProof="0" dirty="0">
                <a:cs typeface="Arial" charset="0"/>
                <a:sym typeface="Symbol"/>
              </a:rPr>
              <a:t>S</a:t>
            </a:r>
            <a:r>
              <a:rPr lang="en-US" sz="2400" i="1" baseline="-25000" noProof="0" dirty="0">
                <a:cs typeface="Arial" charset="0"/>
                <a:sym typeface="Symbol"/>
              </a:rPr>
              <a:t>M </a:t>
            </a:r>
            <a:r>
              <a:rPr lang="en-US" sz="2400" noProof="0" dirty="0">
                <a:cs typeface="Arial" charset="0"/>
                <a:sym typeface="Symbol"/>
              </a:rPr>
              <a:t> S</a:t>
            </a:r>
            <a:r>
              <a:rPr lang="en-US" sz="2400" baseline="-25000" noProof="0" dirty="0">
                <a:cs typeface="Arial" charset="0"/>
                <a:sym typeface="Symbol"/>
              </a:rPr>
              <a:t></a:t>
            </a:r>
            <a:r>
              <a:rPr lang="en-US" sz="2400" noProof="0" dirty="0">
                <a:cs typeface="Arial" charset="0"/>
                <a:sym typeface="Symbol"/>
              </a:rPr>
              <a:t>.  </a:t>
            </a:r>
            <a:r>
              <a:rPr lang="en-US" sz="2400" noProof="0" dirty="0">
                <a:cs typeface="Arial" charset="0"/>
                <a:sym typeface="Symbol" pitchFamily="18" charset="2"/>
              </a:rPr>
              <a:t> </a:t>
            </a:r>
          </a:p>
          <a:p>
            <a:pPr eaLnBrk="1" hangingPunct="1"/>
            <a:r>
              <a:rPr lang="en-US" sz="2400" noProof="0" dirty="0">
                <a:cs typeface="Arial" charset="0"/>
                <a:sym typeface="Symbol" pitchFamily="18" charset="2"/>
              </a:rPr>
              <a:t>To check (</a:t>
            </a:r>
            <a:r>
              <a:rPr lang="en-US" sz="2400" i="1" noProof="0" dirty="0">
                <a:cs typeface="Arial" charset="0"/>
                <a:sym typeface="Symbol" pitchFamily="18" charset="2"/>
              </a:rPr>
              <a:t>s</a:t>
            </a:r>
            <a:r>
              <a:rPr lang="en-US" sz="2400" baseline="-25000" noProof="0" dirty="0">
                <a:cs typeface="Arial" charset="0"/>
                <a:sym typeface="Symbol" pitchFamily="18" charset="2"/>
              </a:rPr>
              <a:t>1</a:t>
            </a:r>
            <a:r>
              <a:rPr lang="en-US" sz="2400" noProof="0" dirty="0">
                <a:cs typeface="Arial" charset="0"/>
                <a:sym typeface="Symbol" pitchFamily="18" charset="2"/>
              </a:rPr>
              <a:t>,</a:t>
            </a:r>
            <a:r>
              <a:rPr lang="en-US" sz="2400" i="1" noProof="0" dirty="0">
                <a:cs typeface="Arial" charset="0"/>
                <a:sym typeface="Symbol" pitchFamily="18" charset="2"/>
              </a:rPr>
              <a:t>s</a:t>
            </a:r>
            <a:r>
              <a:rPr lang="en-US" sz="2400" baseline="-25000" noProof="0" dirty="0">
                <a:cs typeface="Arial" charset="0"/>
                <a:sym typeface="Symbol" pitchFamily="18" charset="2"/>
              </a:rPr>
              <a:t>2</a:t>
            </a:r>
            <a:r>
              <a:rPr lang="en-US" sz="2400" noProof="0" dirty="0">
                <a:cs typeface="Arial" charset="0"/>
                <a:sym typeface="Symbol" pitchFamily="18" charset="2"/>
              </a:rPr>
              <a:t>)  </a:t>
            </a:r>
            <a:r>
              <a:rPr lang="en-US" sz="2400" i="1" noProof="0" dirty="0" err="1">
                <a:cs typeface="Arial" charset="0"/>
                <a:sym typeface="Symbol" pitchFamily="18" charset="2"/>
              </a:rPr>
              <a:t>next</a:t>
            </a:r>
            <a:r>
              <a:rPr lang="en-US" sz="2400" i="1" baseline="-25000" noProof="0" dirty="0" err="1">
                <a:cs typeface="Arial" charset="0"/>
                <a:sym typeface="Symbol" pitchFamily="18" charset="2"/>
              </a:rPr>
              <a:t>C</a:t>
            </a:r>
            <a:r>
              <a:rPr lang="en-US" sz="2400" noProof="0" dirty="0">
                <a:cs typeface="Arial" charset="0"/>
                <a:sym typeface="Symbol" pitchFamily="18" charset="2"/>
              </a:rPr>
              <a:t>(</a:t>
            </a:r>
            <a:r>
              <a:rPr lang="en-US" sz="2400" i="1" noProof="0" dirty="0">
                <a:cs typeface="Arial" charset="0"/>
                <a:sym typeface="Symbol" pitchFamily="18" charset="2"/>
              </a:rPr>
              <a:t>u</a:t>
            </a:r>
            <a:r>
              <a:rPr lang="en-US" sz="2400" baseline="-25000" noProof="0" dirty="0">
                <a:cs typeface="Arial" charset="0"/>
                <a:sym typeface="Symbol" pitchFamily="18" charset="2"/>
              </a:rPr>
              <a:t>1</a:t>
            </a:r>
            <a:r>
              <a:rPr lang="en-US" sz="2400" i="1" noProof="0" dirty="0">
                <a:cs typeface="Arial" charset="0"/>
                <a:sym typeface="Symbol" pitchFamily="18" charset="2"/>
              </a:rPr>
              <a:t>,u</a:t>
            </a:r>
            <a:r>
              <a:rPr lang="en-US" sz="2400" baseline="-25000" noProof="0" dirty="0">
                <a:cs typeface="Arial" charset="0"/>
                <a:sym typeface="Symbol" pitchFamily="18" charset="2"/>
              </a:rPr>
              <a:t>2</a:t>
            </a:r>
            <a:r>
              <a:rPr lang="en-US" sz="2400" noProof="0" dirty="0">
                <a:cs typeface="Arial" charset="0"/>
                <a:sym typeface="Symbol" pitchFamily="18" charset="2"/>
              </a:rPr>
              <a:t>), we check if there is a label </a:t>
            </a:r>
            <a:r>
              <a:rPr lang="en-US" sz="2400" i="1" noProof="0" dirty="0">
                <a:cs typeface="Arial" charset="0"/>
                <a:sym typeface="Symbol" pitchFamily="18" charset="2"/>
              </a:rPr>
              <a:t>L</a:t>
            </a:r>
            <a:r>
              <a:rPr lang="en-US" sz="2400" noProof="0" dirty="0">
                <a:cs typeface="Arial" charset="0"/>
                <a:sym typeface="Symbol" pitchFamily="18" charset="2"/>
              </a:rPr>
              <a:t>, such that: </a:t>
            </a:r>
            <a:r>
              <a:rPr lang="en-US" sz="2400" i="1" noProof="0" dirty="0">
                <a:cs typeface="Arial" charset="0"/>
                <a:sym typeface="Symbol" pitchFamily="18" charset="2"/>
              </a:rPr>
              <a:t>s</a:t>
            </a:r>
            <a:r>
              <a:rPr lang="en-US" sz="2400" baseline="-25000" noProof="0" dirty="0">
                <a:cs typeface="Arial" charset="0"/>
                <a:sym typeface="Symbol" pitchFamily="18" charset="2"/>
              </a:rPr>
              <a:t>1</a:t>
            </a:r>
            <a:r>
              <a:rPr lang="en-US" sz="2400" noProof="0" dirty="0">
                <a:cs typeface="Arial" charset="0"/>
                <a:sym typeface="Symbol" pitchFamily="18" charset="2"/>
              </a:rPr>
              <a:t> </a:t>
            </a:r>
            <a:r>
              <a:rPr lang="en-US" sz="2400" i="1" noProof="0" dirty="0" err="1">
                <a:cs typeface="Arial" charset="0"/>
                <a:sym typeface="Symbol" pitchFamily="18" charset="2"/>
              </a:rPr>
              <a:t>next</a:t>
            </a:r>
            <a:r>
              <a:rPr lang="en-US" sz="2400" i="1" baseline="-25000" noProof="0" dirty="0" err="1">
                <a:cs typeface="Arial" charset="0"/>
                <a:sym typeface="Symbol" pitchFamily="18" charset="2"/>
              </a:rPr>
              <a:t>BM</a:t>
            </a:r>
            <a:r>
              <a:rPr lang="en-US" sz="2400" noProof="0" dirty="0">
                <a:cs typeface="Arial" charset="0"/>
                <a:sym typeface="Symbol" pitchFamily="18" charset="2"/>
              </a:rPr>
              <a:t> (</a:t>
            </a:r>
            <a:r>
              <a:rPr lang="en-US" sz="2400" i="1" noProof="0" dirty="0">
                <a:cs typeface="Arial" charset="0"/>
                <a:sym typeface="Symbol" pitchFamily="18" charset="2"/>
              </a:rPr>
              <a:t>u</a:t>
            </a:r>
            <a:r>
              <a:rPr lang="en-US" sz="2400" baseline="-25000" noProof="0" dirty="0">
                <a:cs typeface="Arial" charset="0"/>
                <a:sym typeface="Symbol" pitchFamily="18" charset="2"/>
              </a:rPr>
              <a:t>1</a:t>
            </a:r>
            <a:r>
              <a:rPr lang="en-US" sz="2400" noProof="0" dirty="0">
                <a:cs typeface="Arial" charset="0"/>
                <a:sym typeface="Symbol" pitchFamily="18" charset="2"/>
              </a:rPr>
              <a:t>,</a:t>
            </a:r>
            <a:r>
              <a:rPr lang="en-US" sz="2400" i="1" noProof="0" dirty="0">
                <a:cs typeface="Arial" charset="0"/>
                <a:sym typeface="Symbol" pitchFamily="18" charset="2"/>
              </a:rPr>
              <a:t>L</a:t>
            </a:r>
            <a:r>
              <a:rPr lang="en-US" sz="2400" noProof="0" dirty="0">
                <a:cs typeface="Arial" charset="0"/>
                <a:sym typeface="Symbol" pitchFamily="18" charset="2"/>
              </a:rPr>
              <a:t>)  /\  </a:t>
            </a:r>
            <a:r>
              <a:rPr lang="en-US" sz="2400" i="1" noProof="0" dirty="0">
                <a:cs typeface="Arial" charset="0"/>
                <a:sym typeface="Symbol" pitchFamily="18" charset="2"/>
              </a:rPr>
              <a:t>s</a:t>
            </a:r>
            <a:r>
              <a:rPr lang="en-US" sz="2400" baseline="-25000" noProof="0" dirty="0">
                <a:cs typeface="Arial" charset="0"/>
                <a:sym typeface="Symbol" pitchFamily="18" charset="2"/>
              </a:rPr>
              <a:t>2</a:t>
            </a:r>
            <a:r>
              <a:rPr lang="en-US" sz="2400" noProof="0" dirty="0">
                <a:cs typeface="Arial" charset="0"/>
                <a:sym typeface="Symbol" pitchFamily="18" charset="2"/>
              </a:rPr>
              <a:t>  </a:t>
            </a:r>
            <a:r>
              <a:rPr lang="en-US" sz="2400" i="1" noProof="0" dirty="0" err="1">
                <a:cs typeface="Arial" charset="0"/>
                <a:sym typeface="Symbol" pitchFamily="18" charset="2"/>
              </a:rPr>
              <a:t>next</a:t>
            </a:r>
            <a:r>
              <a:rPr lang="en-US" sz="2400" baseline="-25000" noProof="0" dirty="0" err="1">
                <a:cs typeface="Arial" charset="0"/>
                <a:sym typeface="Symbol"/>
              </a:rPr>
              <a:t>B</a:t>
            </a:r>
            <a:r>
              <a:rPr lang="en-US" sz="2400" baseline="-25000" noProof="0" dirty="0">
                <a:cs typeface="Arial" charset="0"/>
                <a:sym typeface="Symbol"/>
              </a:rPr>
              <a:t></a:t>
            </a:r>
            <a:r>
              <a:rPr lang="en-US" sz="2400" noProof="0" dirty="0">
                <a:cs typeface="Arial" charset="0"/>
                <a:sym typeface="Symbol" pitchFamily="18" charset="2"/>
              </a:rPr>
              <a:t>(</a:t>
            </a:r>
            <a:r>
              <a:rPr lang="en-US" sz="2400" i="1" noProof="0" dirty="0">
                <a:cs typeface="Arial" charset="0"/>
                <a:sym typeface="Symbol" pitchFamily="18" charset="2"/>
              </a:rPr>
              <a:t>u</a:t>
            </a:r>
            <a:r>
              <a:rPr lang="en-US" sz="2400" baseline="-25000" noProof="0" dirty="0">
                <a:cs typeface="Arial" charset="0"/>
                <a:sym typeface="Symbol" pitchFamily="18" charset="2"/>
              </a:rPr>
              <a:t>2</a:t>
            </a:r>
            <a:r>
              <a:rPr lang="en-US" sz="2400" noProof="0" dirty="0">
                <a:cs typeface="Arial" charset="0"/>
                <a:sym typeface="Symbol" pitchFamily="18" charset="2"/>
              </a:rPr>
              <a:t>,</a:t>
            </a:r>
            <a:r>
              <a:rPr lang="en-US" sz="2400" i="1" noProof="0" dirty="0">
                <a:cs typeface="Arial" charset="0"/>
                <a:sym typeface="Symbol" pitchFamily="18" charset="2"/>
              </a:rPr>
              <a:t>L</a:t>
            </a:r>
            <a:r>
              <a:rPr lang="en-US" sz="2400" noProof="0" dirty="0">
                <a:cs typeface="Arial" charset="0"/>
                <a:sym typeface="Symbol" pitchFamily="18" charset="2"/>
              </a:rPr>
              <a:t>))</a:t>
            </a:r>
          </a:p>
          <a:p>
            <a:pPr eaLnBrk="1" hangingPunct="1"/>
            <a:r>
              <a:rPr lang="en-US" sz="2400" noProof="0" dirty="0">
                <a:cs typeface="Arial" charset="0"/>
                <a:sym typeface="Symbol" pitchFamily="18" charset="2"/>
              </a:rPr>
              <a:t>(</a:t>
            </a:r>
            <a:r>
              <a:rPr lang="en-US" sz="2400" i="1" noProof="0" dirty="0">
                <a:cs typeface="Arial" charset="0"/>
                <a:sym typeface="Symbol" pitchFamily="18" charset="2"/>
              </a:rPr>
              <a:t>u</a:t>
            </a:r>
            <a:r>
              <a:rPr lang="en-US" sz="2400" baseline="-25000" noProof="0" dirty="0">
                <a:cs typeface="Arial" charset="0"/>
                <a:sym typeface="Symbol" pitchFamily="18" charset="2"/>
              </a:rPr>
              <a:t>1</a:t>
            </a:r>
            <a:r>
              <a:rPr lang="en-US" sz="2400" i="1" noProof="0" dirty="0">
                <a:cs typeface="Arial" charset="0"/>
                <a:sym typeface="Symbol" pitchFamily="18" charset="2"/>
              </a:rPr>
              <a:t>,u</a:t>
            </a:r>
            <a:r>
              <a:rPr lang="en-US" sz="2400" baseline="-25000" noProof="0" dirty="0">
                <a:cs typeface="Arial" charset="0"/>
                <a:sym typeface="Symbol" pitchFamily="18" charset="2"/>
              </a:rPr>
              <a:t>2</a:t>
            </a:r>
            <a:r>
              <a:rPr lang="en-US" sz="2400" noProof="0" dirty="0">
                <a:cs typeface="Arial" charset="0"/>
                <a:sym typeface="Symbol" pitchFamily="18" charset="2"/>
              </a:rPr>
              <a:t>)  </a:t>
            </a:r>
            <a:r>
              <a:rPr lang="en-US" sz="2400" noProof="0" dirty="0" err="1">
                <a:cs typeface="Arial" charset="0"/>
                <a:sym typeface="Symbol" pitchFamily="18" charset="2"/>
              </a:rPr>
              <a:t>accept</a:t>
            </a:r>
            <a:r>
              <a:rPr lang="en-US" sz="2400" i="1" baseline="-25000" noProof="0" dirty="0" err="1">
                <a:cs typeface="Arial" charset="0"/>
                <a:sym typeface="Symbol" pitchFamily="18" charset="2"/>
              </a:rPr>
              <a:t>BM</a:t>
            </a:r>
            <a:r>
              <a:rPr lang="en-US" sz="2400" noProof="0" dirty="0">
                <a:cs typeface="Arial" charset="0"/>
                <a:sym typeface="Symbol" pitchFamily="18" charset="2"/>
              </a:rPr>
              <a:t>  </a:t>
            </a:r>
            <a:r>
              <a:rPr lang="en-US" sz="2400" noProof="0" dirty="0">
                <a:cs typeface="Arial" charset="0"/>
                <a:sym typeface="Symbol"/>
              </a:rPr>
              <a:t> </a:t>
            </a:r>
            <a:r>
              <a:rPr lang="en-US" sz="2400" i="1" noProof="0" dirty="0">
                <a:cs typeface="Arial" charset="0"/>
                <a:sym typeface="Symbol" pitchFamily="18" charset="2"/>
              </a:rPr>
              <a:t> u</a:t>
            </a:r>
            <a:r>
              <a:rPr lang="en-US" sz="2400" baseline="-25000" noProof="0" dirty="0">
                <a:cs typeface="Arial" charset="0"/>
                <a:sym typeface="Symbol" pitchFamily="18" charset="2"/>
              </a:rPr>
              <a:t>2</a:t>
            </a:r>
            <a:r>
              <a:rPr lang="en-US" sz="2400" noProof="0" dirty="0">
                <a:cs typeface="Arial" charset="0"/>
                <a:sym typeface="Symbol" pitchFamily="18" charset="2"/>
              </a:rPr>
              <a:t>  </a:t>
            </a:r>
            <a:r>
              <a:rPr lang="en-US" sz="2400" noProof="0" dirty="0" err="1">
                <a:cs typeface="Arial" charset="0"/>
                <a:sym typeface="Symbol" pitchFamily="18" charset="2"/>
              </a:rPr>
              <a:t>accept</a:t>
            </a:r>
            <a:r>
              <a:rPr lang="en-US" sz="2400" baseline="-25000" noProof="0" dirty="0" err="1">
                <a:cs typeface="Arial" charset="0"/>
                <a:sym typeface="Symbol"/>
              </a:rPr>
              <a:t>B</a:t>
            </a:r>
            <a:r>
              <a:rPr lang="en-US" sz="2400" baseline="-25000" noProof="0" dirty="0">
                <a:cs typeface="Arial" charset="0"/>
                <a:sym typeface="Symbol"/>
              </a:rPr>
              <a:t></a:t>
            </a:r>
            <a:r>
              <a:rPr lang="en-US" sz="2400" noProof="0" dirty="0">
                <a:cs typeface="Arial" charset="0"/>
                <a:sym typeface="Symbol" pitchFamily="18" charset="2"/>
              </a:rPr>
              <a:t> </a:t>
            </a:r>
            <a:br>
              <a:rPr lang="en-US" sz="2400" noProof="0" dirty="0">
                <a:cs typeface="Arial" charset="0"/>
                <a:sym typeface="Symbol" pitchFamily="18" charset="2"/>
              </a:rPr>
            </a:br>
            <a:r>
              <a:rPr lang="en-US" sz="2400" noProof="0" dirty="0">
                <a:cs typeface="Arial" charset="0"/>
                <a:sym typeface="Symbol" pitchFamily="18" charset="2"/>
              </a:rPr>
              <a:t>                                       </a:t>
            </a:r>
            <a:br>
              <a:rPr lang="en-US" sz="2400" noProof="0" dirty="0">
                <a:cs typeface="Arial" charset="0"/>
                <a:sym typeface="Symbol" pitchFamily="18" charset="2"/>
              </a:rPr>
            </a:br>
            <a:r>
              <a:rPr lang="en-US" sz="2400" noProof="0" dirty="0">
                <a:cs typeface="Arial" charset="0"/>
                <a:sym typeface="Symbol" pitchFamily="18" charset="2"/>
              </a:rPr>
              <a:t>                                        </a:t>
            </a:r>
            <a:br>
              <a:rPr lang="en-US" sz="2400" noProof="0" dirty="0">
                <a:cs typeface="Arial" charset="0"/>
                <a:sym typeface="Symbol" pitchFamily="18" charset="2"/>
              </a:rPr>
            </a:br>
            <a:br>
              <a:rPr lang="en-US" sz="2400" noProof="0" dirty="0">
                <a:cs typeface="Arial" charset="0"/>
                <a:sym typeface="Symbol" pitchFamily="18" charset="2"/>
              </a:rPr>
            </a:br>
            <a:endParaRPr lang="en-US" sz="2400" noProof="0" dirty="0">
              <a:cs typeface="Arial" charset="0"/>
            </a:endParaRPr>
          </a:p>
        </p:txBody>
      </p:sp>
      <p:sp>
        <p:nvSpPr>
          <p:cNvPr id="5" name="Tijdelijke aanduiding voor dianummer 4"/>
          <p:cNvSpPr>
            <a:spLocks noGrp="1"/>
          </p:cNvSpPr>
          <p:nvPr>
            <p:ph type="sldNum" sz="quarter" idx="12"/>
          </p:nvPr>
        </p:nvSpPr>
        <p:spPr/>
        <p:txBody>
          <a:bodyPr/>
          <a:lstStyle/>
          <a:p>
            <a:pPr>
              <a:defRPr/>
            </a:pPr>
            <a:fld id="{F851BEE0-6140-4AF5-B4E5-72A0FD652EBF}" type="slidenum">
              <a:rPr lang="en-US" noProof="0"/>
              <a:pPr>
                <a:defRPr/>
              </a:pPr>
              <a:t>52</a:t>
            </a:fld>
            <a:endParaRPr lang="en-US" noProof="0" dirty="0"/>
          </a:p>
        </p:txBody>
      </p:sp>
      <p:sp>
        <p:nvSpPr>
          <p:cNvPr id="3" name="TextBox 2"/>
          <p:cNvSpPr txBox="1"/>
          <p:nvPr/>
        </p:nvSpPr>
        <p:spPr>
          <a:xfrm>
            <a:off x="5772150" y="2785646"/>
            <a:ext cx="2832100" cy="584775"/>
          </a:xfrm>
          <a:prstGeom prst="rect">
            <a:avLst/>
          </a:prstGeom>
          <a:noFill/>
          <a:ln>
            <a:solidFill>
              <a:schemeClr val="accent1">
                <a:lumMod val="50000"/>
              </a:schemeClr>
            </a:solidFill>
          </a:ln>
        </p:spPr>
        <p:txBody>
          <a:bodyPr wrap="square" rtlCol="0">
            <a:spAutoFit/>
          </a:bodyPr>
          <a:lstStyle/>
          <a:p>
            <a:r>
              <a:rPr lang="en-US" sz="1600" noProof="0" dirty="0">
                <a:solidFill>
                  <a:schemeClr val="accent1">
                    <a:lumMod val="75000"/>
                  </a:schemeClr>
                </a:solidFill>
              </a:rPr>
              <a:t>“</a:t>
            </a:r>
            <a:r>
              <a:rPr lang="en-US" sz="1600" b="1" noProof="0" dirty="0">
                <a:solidFill>
                  <a:schemeClr val="accent1">
                    <a:lumMod val="75000"/>
                  </a:schemeClr>
                </a:solidFill>
              </a:rPr>
              <a:t>next</a:t>
            </a:r>
            <a:r>
              <a:rPr lang="en-US" sz="1600" noProof="0" dirty="0">
                <a:solidFill>
                  <a:schemeClr val="accent1">
                    <a:lumMod val="75000"/>
                  </a:schemeClr>
                </a:solidFill>
              </a:rPr>
              <a:t>” of the intersection automaton </a:t>
            </a:r>
            <a:r>
              <a:rPr lang="en-US" sz="1600" i="1" noProof="0" dirty="0">
                <a:solidFill>
                  <a:schemeClr val="accent1">
                    <a:lumMod val="75000"/>
                  </a:schemeClr>
                </a:solidFill>
              </a:rPr>
              <a:t>C</a:t>
            </a:r>
            <a:r>
              <a:rPr lang="en-US" sz="1600" noProof="0" dirty="0">
                <a:solidFill>
                  <a:schemeClr val="accent1">
                    <a:lumMod val="75000"/>
                  </a:schemeClr>
                </a:solidFill>
              </a:rPr>
              <a:t> = </a:t>
            </a:r>
            <a:r>
              <a:rPr lang="en-US" sz="1600" i="1" noProof="0" dirty="0">
                <a:solidFill>
                  <a:schemeClr val="accent1">
                    <a:lumMod val="75000"/>
                  </a:schemeClr>
                </a:solidFill>
                <a:cs typeface="Arial" charset="0"/>
              </a:rPr>
              <a:t>B</a:t>
            </a:r>
            <a:r>
              <a:rPr lang="en-US" sz="1600" baseline="-25000" noProof="0" dirty="0">
                <a:solidFill>
                  <a:schemeClr val="accent1">
                    <a:lumMod val="75000"/>
                  </a:schemeClr>
                </a:solidFill>
                <a:cs typeface="Arial" charset="0"/>
              </a:rPr>
              <a:t>M</a:t>
            </a:r>
            <a:r>
              <a:rPr lang="en-US" sz="1600" noProof="0" dirty="0">
                <a:solidFill>
                  <a:schemeClr val="accent1">
                    <a:lumMod val="75000"/>
                  </a:schemeClr>
                </a:solidFill>
                <a:cs typeface="Arial" charset="0"/>
              </a:rPr>
              <a:t> </a:t>
            </a:r>
            <a:r>
              <a:rPr lang="en-US" sz="1600" noProof="0" dirty="0">
                <a:solidFill>
                  <a:schemeClr val="accent1">
                    <a:lumMod val="75000"/>
                  </a:schemeClr>
                </a:solidFill>
                <a:cs typeface="Arial" charset="0"/>
                <a:sym typeface="Symbol" pitchFamily="18" charset="2"/>
              </a:rPr>
              <a:t>  </a:t>
            </a:r>
            <a:r>
              <a:rPr lang="en-US" sz="1600" i="1" noProof="0" dirty="0">
                <a:solidFill>
                  <a:schemeClr val="accent1">
                    <a:lumMod val="75000"/>
                  </a:schemeClr>
                </a:solidFill>
                <a:cs typeface="Arial" charset="0"/>
                <a:sym typeface="Symbol" pitchFamily="18" charset="2"/>
              </a:rPr>
              <a:t>B</a:t>
            </a:r>
            <a:r>
              <a:rPr lang="en-US" sz="1600" baseline="-25000" noProof="0" dirty="0">
                <a:solidFill>
                  <a:schemeClr val="accent1">
                    <a:lumMod val="75000"/>
                  </a:schemeClr>
                </a:solidFill>
                <a:cs typeface="Arial" charset="0"/>
                <a:sym typeface="Symbol" pitchFamily="18" charset="2"/>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Dealing with concrete states</a:t>
            </a:r>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53</a:t>
            </a:fld>
            <a:endParaRPr lang="en-US" noProof="0" dirty="0"/>
          </a:p>
        </p:txBody>
      </p:sp>
      <p:sp>
        <p:nvSpPr>
          <p:cNvPr id="5" name="TextBox 4"/>
          <p:cNvSpPr txBox="1"/>
          <p:nvPr/>
        </p:nvSpPr>
        <p:spPr>
          <a:xfrm>
            <a:off x="603250" y="1192428"/>
            <a:ext cx="4510978" cy="1200329"/>
          </a:xfrm>
          <a:prstGeom prst="rect">
            <a:avLst/>
          </a:prstGeom>
          <a:noFill/>
        </p:spPr>
        <p:txBody>
          <a:bodyPr wrap="none" rtlCol="0">
            <a:spAutoFit/>
          </a:bodyPr>
          <a:lstStyle/>
          <a:p>
            <a:r>
              <a:rPr lang="en-US" noProof="0" dirty="0"/>
              <a:t>Consider a concrete program </a:t>
            </a:r>
            <a:r>
              <a:rPr lang="en-US" i="1" noProof="0" dirty="0" err="1"/>
              <a:t>Prg</a:t>
            </a:r>
            <a:r>
              <a:rPr lang="en-US" i="1" noProof="0" dirty="0"/>
              <a:t> </a:t>
            </a:r>
            <a:r>
              <a:rPr lang="en-US" noProof="0" dirty="0"/>
              <a:t>: </a:t>
            </a:r>
            <a:br>
              <a:rPr lang="en-US" noProof="0" dirty="0"/>
            </a:br>
            <a:r>
              <a:rPr lang="en-US" noProof="0" dirty="0"/>
              <a:t>    </a:t>
            </a:r>
            <a:r>
              <a:rPr lang="en-US" b="1" noProof="0" dirty="0"/>
              <a:t>var</a:t>
            </a:r>
            <a:r>
              <a:rPr lang="en-US" noProof="0" dirty="0"/>
              <a:t> x = 0 , y = 0 ;</a:t>
            </a:r>
            <a:br>
              <a:rPr lang="en-US" noProof="0" dirty="0"/>
            </a:br>
            <a:r>
              <a:rPr lang="en-US" noProof="0" dirty="0"/>
              <a:t>    </a:t>
            </a:r>
            <a:r>
              <a:rPr lang="en-US" b="1" noProof="0" dirty="0"/>
              <a:t>repeat</a:t>
            </a:r>
            <a:r>
              <a:rPr lang="en-US" noProof="0" dirty="0"/>
              <a:t> (x := x+1 </a:t>
            </a:r>
            <a:r>
              <a:rPr lang="en-US" b="1" noProof="0" dirty="0"/>
              <a:t>mod</a:t>
            </a:r>
            <a:r>
              <a:rPr lang="en-US" noProof="0" dirty="0"/>
              <a:t> 3)</a:t>
            </a:r>
          </a:p>
        </p:txBody>
      </p:sp>
      <p:sp>
        <p:nvSpPr>
          <p:cNvPr id="6" name="Rounded Rectangle 5"/>
          <p:cNvSpPr/>
          <p:nvPr/>
        </p:nvSpPr>
        <p:spPr>
          <a:xfrm>
            <a:off x="3605721" y="3444838"/>
            <a:ext cx="1182687" cy="31750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x=0, y=0 ⟩</a:t>
            </a:r>
          </a:p>
        </p:txBody>
      </p:sp>
      <p:sp>
        <p:nvSpPr>
          <p:cNvPr id="7" name="Rounded Rectangle 6"/>
          <p:cNvSpPr/>
          <p:nvPr/>
        </p:nvSpPr>
        <p:spPr>
          <a:xfrm>
            <a:off x="3605721" y="3950686"/>
            <a:ext cx="1182687" cy="2948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x=1, y=0 ⟩</a:t>
            </a:r>
          </a:p>
        </p:txBody>
      </p:sp>
      <p:sp>
        <p:nvSpPr>
          <p:cNvPr id="8" name="Rounded Rectangle 7"/>
          <p:cNvSpPr/>
          <p:nvPr/>
        </p:nvSpPr>
        <p:spPr>
          <a:xfrm>
            <a:off x="3605721" y="4474127"/>
            <a:ext cx="1182687" cy="30638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x=2, y=0 ⟩</a:t>
            </a:r>
          </a:p>
        </p:txBody>
      </p:sp>
      <p:cxnSp>
        <p:nvCxnSpPr>
          <p:cNvPr id="10" name="Straight Arrow Connector 9"/>
          <p:cNvCxnSpPr>
            <a:stCxn id="6" idx="2"/>
            <a:endCxn id="7" idx="0"/>
          </p:cNvCxnSpPr>
          <p:nvPr/>
        </p:nvCxnSpPr>
        <p:spPr>
          <a:xfrm>
            <a:off x="4197065" y="3762339"/>
            <a:ext cx="0" cy="1883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7" idx="2"/>
            <a:endCxn id="8" idx="0"/>
          </p:cNvCxnSpPr>
          <p:nvPr/>
        </p:nvCxnSpPr>
        <p:spPr>
          <a:xfrm>
            <a:off x="4197065" y="4245528"/>
            <a:ext cx="0" cy="2285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8" idx="1"/>
            <a:endCxn id="6" idx="1"/>
          </p:cNvCxnSpPr>
          <p:nvPr/>
        </p:nvCxnSpPr>
        <p:spPr>
          <a:xfrm rot="10800000">
            <a:off x="3605721" y="3603589"/>
            <a:ext cx="12700" cy="1023730"/>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77570" y="2441128"/>
            <a:ext cx="5998718" cy="584775"/>
          </a:xfrm>
          <a:prstGeom prst="rect">
            <a:avLst/>
          </a:prstGeom>
          <a:noFill/>
        </p:spPr>
        <p:txBody>
          <a:bodyPr wrap="square" rtlCol="0">
            <a:spAutoFit/>
          </a:bodyPr>
          <a:lstStyle/>
          <a:p>
            <a:pPr marL="285750" indent="-285750">
              <a:buFont typeface="Arial" charset="0"/>
              <a:buChar char="•"/>
            </a:pPr>
            <a:r>
              <a:rPr lang="en-US" sz="1600" noProof="0" dirty="0"/>
              <a:t>A concrete state of </a:t>
            </a:r>
            <a:r>
              <a:rPr lang="en-US" sz="1600" noProof="0" dirty="0" err="1"/>
              <a:t>Prg</a:t>
            </a:r>
            <a:r>
              <a:rPr lang="en-US" sz="1600" noProof="0" dirty="0"/>
              <a:t> is a vector ⟨</a:t>
            </a:r>
            <a:r>
              <a:rPr lang="en-US" sz="1600" noProof="0" dirty="0" err="1"/>
              <a:t>x,y</a:t>
            </a:r>
            <a:r>
              <a:rPr lang="en-US" sz="1600" noProof="0" dirty="0"/>
              <a:t>⟩</a:t>
            </a:r>
          </a:p>
          <a:p>
            <a:pPr marL="285750" indent="-285750">
              <a:buFont typeface="Arial" charset="0"/>
              <a:buChar char="•"/>
            </a:pPr>
            <a:r>
              <a:rPr lang="en-US" sz="1600" noProof="0" dirty="0"/>
              <a:t>FSM </a:t>
            </a:r>
            <a:r>
              <a:rPr lang="en-US" sz="1600" i="1" noProof="0" dirty="0" err="1"/>
              <a:t>Prg</a:t>
            </a:r>
            <a:r>
              <a:rPr lang="en-US" sz="1600" noProof="0" dirty="0"/>
              <a:t> representing the program, in terms of concrete states:</a:t>
            </a:r>
          </a:p>
        </p:txBody>
      </p:sp>
      <p:sp>
        <p:nvSpPr>
          <p:cNvPr id="26" name="TextBox 25"/>
          <p:cNvSpPr txBox="1"/>
          <p:nvPr/>
        </p:nvSpPr>
        <p:spPr>
          <a:xfrm>
            <a:off x="744936" y="4807684"/>
            <a:ext cx="7868442" cy="1631216"/>
          </a:xfrm>
          <a:prstGeom prst="rect">
            <a:avLst/>
          </a:prstGeom>
          <a:noFill/>
        </p:spPr>
        <p:txBody>
          <a:bodyPr wrap="square" rtlCol="0">
            <a:spAutoFit/>
          </a:bodyPr>
          <a:lstStyle/>
          <a:p>
            <a:pPr marL="342900" indent="-342900">
              <a:buFont typeface="Arial" charset="0"/>
              <a:buChar char="•"/>
            </a:pPr>
            <a:r>
              <a:rPr lang="en-US" sz="2000" noProof="0" dirty="0"/>
              <a:t>Given a concrete state s and a predicate p, let </a:t>
            </a:r>
            <a:r>
              <a:rPr lang="en-US" sz="2000" b="1" noProof="0" dirty="0"/>
              <a:t>eval</a:t>
            </a:r>
            <a:r>
              <a:rPr lang="en-US" sz="2000" noProof="0" dirty="0"/>
              <a:t>(</a:t>
            </a:r>
            <a:r>
              <a:rPr lang="en-US" sz="2000" noProof="0" dirty="0" err="1"/>
              <a:t>p,s</a:t>
            </a:r>
            <a:r>
              <a:rPr lang="en-US" sz="2000" noProof="0" dirty="0"/>
              <a:t>) denote the value of p when evaluated on s (so it is either true or false).</a:t>
            </a:r>
          </a:p>
          <a:p>
            <a:pPr marL="342900" indent="-342900">
              <a:buFont typeface="Arial" charset="0"/>
              <a:buChar char="•"/>
            </a:pPr>
            <a:r>
              <a:rPr lang="en-US" sz="2000" noProof="0" dirty="0"/>
              <a:t>So, to check if there is a successor of </a:t>
            </a:r>
            <a:r>
              <a:rPr lang="en-US" sz="2000" i="1" noProof="0" dirty="0"/>
              <a:t>s</a:t>
            </a:r>
            <a:r>
              <a:rPr lang="en-US" sz="2000" noProof="0" dirty="0"/>
              <a:t> such that a label </a:t>
            </a:r>
            <a:r>
              <a:rPr lang="en-US" sz="2000" i="1" noProof="0" dirty="0" err="1"/>
              <a:t>L</a:t>
            </a:r>
            <a:r>
              <a:rPr lang="en-US" sz="2000" noProof="0" dirty="0" err="1"/>
              <a:t>⊆</a:t>
            </a:r>
            <a:r>
              <a:rPr lang="en-US" sz="2000" i="1" noProof="0" dirty="0" err="1"/>
              <a:t>Prop</a:t>
            </a:r>
            <a:r>
              <a:rPr lang="en-US" sz="2000" noProof="0" dirty="0"/>
              <a:t> holds, we check instead, if there is an (atomic) transition 𝛼 in </a:t>
            </a:r>
            <a:r>
              <a:rPr lang="en-US" sz="2000" i="1" noProof="0" dirty="0" err="1"/>
              <a:t>Prg</a:t>
            </a:r>
            <a:r>
              <a:rPr lang="en-US" sz="2000" noProof="0" dirty="0"/>
              <a:t> such that for all </a:t>
            </a:r>
            <a:r>
              <a:rPr lang="en-US" sz="2000" i="1" noProof="0" dirty="0" err="1"/>
              <a:t>p</a:t>
            </a:r>
            <a:r>
              <a:rPr lang="en-US" sz="2000" noProof="0" dirty="0" err="1"/>
              <a:t>∈</a:t>
            </a:r>
            <a:r>
              <a:rPr lang="en-US" sz="2000" i="1" noProof="0" dirty="0" err="1"/>
              <a:t>L</a:t>
            </a:r>
            <a:r>
              <a:rPr lang="en-US" sz="2000" noProof="0" dirty="0"/>
              <a:t>, </a:t>
            </a:r>
            <a:r>
              <a:rPr lang="en-US" sz="2000" b="1" noProof="0" dirty="0"/>
              <a:t>eval</a:t>
            </a:r>
            <a:r>
              <a:rPr lang="en-US" sz="2000" noProof="0" dirty="0"/>
              <a:t>(</a:t>
            </a:r>
            <a:r>
              <a:rPr lang="en-US" sz="2000" i="1" noProof="0" dirty="0"/>
              <a:t>p</a:t>
            </a:r>
            <a:r>
              <a:rPr lang="en-US" sz="2000" noProof="0" dirty="0"/>
              <a:t>,𝛼(</a:t>
            </a:r>
            <a:r>
              <a:rPr lang="en-US" sz="2000" i="1" noProof="0" dirty="0"/>
              <a:t>s</a:t>
            </a:r>
            <a:r>
              <a:rPr lang="en-US" sz="2000" noProof="0" dirty="0"/>
              <a:t>)) is true, and for all </a:t>
            </a:r>
            <a:r>
              <a:rPr lang="en-US" sz="2000" i="1" noProof="0" dirty="0" err="1"/>
              <a:t>q∉L</a:t>
            </a:r>
            <a:r>
              <a:rPr lang="en-US" sz="2000" noProof="0" dirty="0"/>
              <a:t>, </a:t>
            </a:r>
            <a:r>
              <a:rPr lang="en-US" sz="2000" b="1" noProof="0" dirty="0"/>
              <a:t>eval</a:t>
            </a:r>
            <a:r>
              <a:rPr lang="en-US" sz="2000" noProof="0" dirty="0"/>
              <a:t>(</a:t>
            </a:r>
            <a:r>
              <a:rPr lang="en-US" sz="2000" i="1" noProof="0" dirty="0"/>
              <a:t>q</a:t>
            </a:r>
            <a:r>
              <a:rPr lang="en-US" sz="2000" noProof="0" dirty="0"/>
              <a:t>,𝛼(</a:t>
            </a:r>
            <a:r>
              <a:rPr lang="en-US" sz="2000" i="1" noProof="0" dirty="0"/>
              <a:t>s</a:t>
            </a:r>
            <a:r>
              <a:rPr lang="en-US" sz="2000" noProof="0" dirty="0"/>
              <a:t>)) is false.</a:t>
            </a:r>
          </a:p>
        </p:txBody>
      </p:sp>
      <p:cxnSp>
        <p:nvCxnSpPr>
          <p:cNvPr id="28" name="Straight Arrow Connector 27">
            <a:extLst>
              <a:ext uri="{FF2B5EF4-FFF2-40B4-BE49-F238E27FC236}">
                <a16:creationId xmlns:a16="http://schemas.microsoft.com/office/drawing/2014/main" id="{547EA152-DBB8-4A49-BF2C-7A8EA1274B1A}"/>
              </a:ext>
            </a:extLst>
          </p:cNvPr>
          <p:cNvCxnSpPr/>
          <p:nvPr/>
        </p:nvCxnSpPr>
        <p:spPr>
          <a:xfrm>
            <a:off x="4197065" y="3190250"/>
            <a:ext cx="0" cy="2545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7FA37B2-ECC0-2C44-A19D-074A0D802420}"/>
              </a:ext>
            </a:extLst>
          </p:cNvPr>
          <p:cNvSpPr txBox="1"/>
          <p:nvPr/>
        </p:nvSpPr>
        <p:spPr>
          <a:xfrm>
            <a:off x="4197064" y="3721485"/>
            <a:ext cx="700833" cy="261610"/>
          </a:xfrm>
          <a:prstGeom prst="rect">
            <a:avLst/>
          </a:prstGeom>
          <a:noFill/>
        </p:spPr>
        <p:txBody>
          <a:bodyPr wrap="none" rtlCol="0">
            <a:spAutoFit/>
          </a:bodyPr>
          <a:lstStyle/>
          <a:p>
            <a:r>
              <a:rPr lang="en-US" sz="1100" noProof="0" dirty="0">
                <a:solidFill>
                  <a:srgbClr val="FF0000"/>
                </a:solidFill>
              </a:rPr>
              <a:t>x := x +1</a:t>
            </a:r>
          </a:p>
        </p:txBody>
      </p:sp>
      <p:sp>
        <p:nvSpPr>
          <p:cNvPr id="29" name="TextBox 28">
            <a:extLst>
              <a:ext uri="{FF2B5EF4-FFF2-40B4-BE49-F238E27FC236}">
                <a16:creationId xmlns:a16="http://schemas.microsoft.com/office/drawing/2014/main" id="{222210F0-E7A2-134D-A816-A59CE0AEFF63}"/>
              </a:ext>
            </a:extLst>
          </p:cNvPr>
          <p:cNvSpPr txBox="1"/>
          <p:nvPr/>
        </p:nvSpPr>
        <p:spPr>
          <a:xfrm>
            <a:off x="4197064" y="4230050"/>
            <a:ext cx="700833" cy="261610"/>
          </a:xfrm>
          <a:prstGeom prst="rect">
            <a:avLst/>
          </a:prstGeom>
          <a:noFill/>
        </p:spPr>
        <p:txBody>
          <a:bodyPr wrap="none" rtlCol="0">
            <a:spAutoFit/>
          </a:bodyPr>
          <a:lstStyle/>
          <a:p>
            <a:r>
              <a:rPr lang="en-US" sz="1100" noProof="0" dirty="0">
                <a:solidFill>
                  <a:srgbClr val="FF0000"/>
                </a:solidFill>
              </a:rPr>
              <a:t>x := x +1</a:t>
            </a:r>
          </a:p>
        </p:txBody>
      </p:sp>
      <p:sp>
        <p:nvSpPr>
          <p:cNvPr id="30" name="TextBox 29">
            <a:extLst>
              <a:ext uri="{FF2B5EF4-FFF2-40B4-BE49-F238E27FC236}">
                <a16:creationId xmlns:a16="http://schemas.microsoft.com/office/drawing/2014/main" id="{D77433BB-C232-FB41-876A-2DC1B495594F}"/>
              </a:ext>
            </a:extLst>
          </p:cNvPr>
          <p:cNvSpPr txBox="1"/>
          <p:nvPr/>
        </p:nvSpPr>
        <p:spPr>
          <a:xfrm>
            <a:off x="2705901" y="3967302"/>
            <a:ext cx="700833" cy="261610"/>
          </a:xfrm>
          <a:prstGeom prst="rect">
            <a:avLst/>
          </a:prstGeom>
          <a:noFill/>
        </p:spPr>
        <p:txBody>
          <a:bodyPr wrap="none" rtlCol="0">
            <a:spAutoFit/>
          </a:bodyPr>
          <a:lstStyle/>
          <a:p>
            <a:r>
              <a:rPr lang="en-US" sz="1100" noProof="0" dirty="0">
                <a:solidFill>
                  <a:srgbClr val="FF0000"/>
                </a:solidFill>
              </a:rPr>
              <a:t>x := x +1</a:t>
            </a:r>
          </a:p>
        </p:txBody>
      </p:sp>
      <p:sp>
        <p:nvSpPr>
          <p:cNvPr id="14" name="Oval 13">
            <a:extLst>
              <a:ext uri="{FF2B5EF4-FFF2-40B4-BE49-F238E27FC236}">
                <a16:creationId xmlns:a16="http://schemas.microsoft.com/office/drawing/2014/main" id="{66F5EEA7-B902-5449-959C-3684EDACBCCB}"/>
              </a:ext>
            </a:extLst>
          </p:cNvPr>
          <p:cNvSpPr/>
          <p:nvPr/>
        </p:nvSpPr>
        <p:spPr>
          <a:xfrm>
            <a:off x="4055332" y="3084004"/>
            <a:ext cx="283464" cy="102911"/>
          </a:xfrm>
          <a:prstGeom prst="ellipse">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TextBox 14">
            <a:extLst>
              <a:ext uri="{FF2B5EF4-FFF2-40B4-BE49-F238E27FC236}">
                <a16:creationId xmlns:a16="http://schemas.microsoft.com/office/drawing/2014/main" id="{D74369FF-8063-604D-8DC0-55C73BC094B5}"/>
              </a:ext>
            </a:extLst>
          </p:cNvPr>
          <p:cNvSpPr txBox="1"/>
          <p:nvPr/>
        </p:nvSpPr>
        <p:spPr>
          <a:xfrm>
            <a:off x="4338796" y="3009398"/>
            <a:ext cx="1595309" cy="261610"/>
          </a:xfrm>
          <a:prstGeom prst="rect">
            <a:avLst/>
          </a:prstGeom>
          <a:noFill/>
        </p:spPr>
        <p:txBody>
          <a:bodyPr wrap="none" rtlCol="0">
            <a:spAutoFit/>
          </a:bodyPr>
          <a:lstStyle/>
          <a:p>
            <a:r>
              <a:rPr lang="en-US" sz="1100" noProof="0" dirty="0"/>
              <a:t>adding a fake initial state</a:t>
            </a:r>
          </a:p>
        </p:txBody>
      </p:sp>
    </p:spTree>
    <p:extLst>
      <p:ext uri="{BB962C8B-B14F-4D97-AF65-F5344CB8AC3E}">
        <p14:creationId xmlns:p14="http://schemas.microsoft.com/office/powerpoint/2010/main" val="18857466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Dealing with concrete states</a:t>
            </a:r>
          </a:p>
        </p:txBody>
      </p:sp>
      <p:sp>
        <p:nvSpPr>
          <p:cNvPr id="3" name="Content Placeholder 2"/>
          <p:cNvSpPr>
            <a:spLocks noGrp="1"/>
          </p:cNvSpPr>
          <p:nvPr>
            <p:ph sz="quarter" idx="1"/>
          </p:nvPr>
        </p:nvSpPr>
        <p:spPr/>
        <p:txBody>
          <a:bodyPr/>
          <a:lstStyle/>
          <a:p>
            <a:r>
              <a:rPr lang="en-US" noProof="0" dirty="0"/>
              <a:t>So, if M is a program with concrete states, e.g. checking this in the DFS: </a:t>
            </a:r>
            <a:br>
              <a:rPr lang="en-US" noProof="0" dirty="0"/>
            </a:br>
            <a:br>
              <a:rPr lang="en-US" noProof="0" dirty="0"/>
            </a:br>
            <a:r>
              <a:rPr lang="en-US" noProof="0" dirty="0"/>
              <a:t>	</a:t>
            </a:r>
            <a:r>
              <a:rPr lang="en-US" sz="2800" noProof="0" dirty="0">
                <a:cs typeface="Arial" charset="0"/>
                <a:sym typeface="Symbol" pitchFamily="18" charset="2"/>
              </a:rPr>
              <a:t>(</a:t>
            </a:r>
            <a:r>
              <a:rPr lang="en-US" sz="2800" i="1" noProof="0" dirty="0">
                <a:cs typeface="Arial" charset="0"/>
                <a:sym typeface="Symbol" pitchFamily="18" charset="2"/>
              </a:rPr>
              <a:t>s</a:t>
            </a:r>
            <a:r>
              <a:rPr lang="en-US" sz="2800" baseline="-25000" noProof="0" dirty="0">
                <a:cs typeface="Arial" charset="0"/>
                <a:sym typeface="Symbol" pitchFamily="18" charset="2"/>
              </a:rPr>
              <a:t>1</a:t>
            </a:r>
            <a:r>
              <a:rPr lang="en-US" sz="2800" noProof="0" dirty="0">
                <a:cs typeface="Arial" charset="0"/>
                <a:sym typeface="Symbol" pitchFamily="18" charset="2"/>
              </a:rPr>
              <a:t>,</a:t>
            </a:r>
            <a:r>
              <a:rPr lang="en-US" sz="2800" i="1" noProof="0" dirty="0">
                <a:cs typeface="Arial" charset="0"/>
                <a:sym typeface="Symbol" pitchFamily="18" charset="2"/>
              </a:rPr>
              <a:t>s</a:t>
            </a:r>
            <a:r>
              <a:rPr lang="en-US" sz="2800" baseline="-25000" noProof="0" dirty="0">
                <a:cs typeface="Arial" charset="0"/>
                <a:sym typeface="Symbol" pitchFamily="18" charset="2"/>
              </a:rPr>
              <a:t>2</a:t>
            </a:r>
            <a:r>
              <a:rPr lang="en-US" sz="2800" noProof="0" dirty="0">
                <a:cs typeface="Arial" charset="0"/>
                <a:sym typeface="Symbol" pitchFamily="18" charset="2"/>
              </a:rPr>
              <a:t>)  </a:t>
            </a:r>
            <a:r>
              <a:rPr lang="en-US" sz="2800" i="1" noProof="0" dirty="0" err="1">
                <a:cs typeface="Arial" charset="0"/>
                <a:sym typeface="Symbol" pitchFamily="18" charset="2"/>
              </a:rPr>
              <a:t>next</a:t>
            </a:r>
            <a:r>
              <a:rPr lang="en-US" sz="2800" i="1" baseline="-25000" noProof="0" dirty="0" err="1">
                <a:cs typeface="Arial" charset="0"/>
                <a:sym typeface="Symbol" pitchFamily="18" charset="2"/>
              </a:rPr>
              <a:t>C</a:t>
            </a:r>
            <a:r>
              <a:rPr lang="en-US" sz="2800" noProof="0" dirty="0">
                <a:cs typeface="Arial" charset="0"/>
                <a:sym typeface="Symbol" pitchFamily="18" charset="2"/>
              </a:rPr>
              <a:t>(</a:t>
            </a:r>
            <a:r>
              <a:rPr lang="en-US" sz="2800" i="1" noProof="0" dirty="0">
                <a:cs typeface="Arial" charset="0"/>
                <a:sym typeface="Symbol" pitchFamily="18" charset="2"/>
              </a:rPr>
              <a:t>u</a:t>
            </a:r>
            <a:r>
              <a:rPr lang="en-US" sz="2800" baseline="-25000" noProof="0" dirty="0">
                <a:cs typeface="Arial" charset="0"/>
                <a:sym typeface="Symbol" pitchFamily="18" charset="2"/>
              </a:rPr>
              <a:t>1</a:t>
            </a:r>
            <a:r>
              <a:rPr lang="en-US" sz="2800" i="1" noProof="0" dirty="0">
                <a:cs typeface="Arial" charset="0"/>
                <a:sym typeface="Symbol" pitchFamily="18" charset="2"/>
              </a:rPr>
              <a:t>,u</a:t>
            </a:r>
            <a:r>
              <a:rPr lang="en-US" sz="2800" baseline="-25000" noProof="0" dirty="0">
                <a:cs typeface="Arial" charset="0"/>
                <a:sym typeface="Symbol" pitchFamily="18" charset="2"/>
              </a:rPr>
              <a:t>2</a:t>
            </a:r>
            <a:r>
              <a:rPr lang="en-US" sz="2800" noProof="0" dirty="0">
                <a:cs typeface="Arial" charset="0"/>
                <a:sym typeface="Symbol" pitchFamily="18" charset="2"/>
              </a:rPr>
              <a:t>)  </a:t>
            </a:r>
            <a:br>
              <a:rPr lang="en-US" sz="2800" noProof="0" dirty="0">
                <a:cs typeface="Arial" charset="0"/>
                <a:sym typeface="Symbol" pitchFamily="18" charset="2"/>
              </a:rPr>
            </a:br>
            <a:br>
              <a:rPr lang="en-US" sz="2800" noProof="0" dirty="0">
                <a:cs typeface="Arial" charset="0"/>
                <a:sym typeface="Symbol" pitchFamily="18" charset="2"/>
              </a:rPr>
            </a:br>
            <a:r>
              <a:rPr lang="en-US" sz="2800" noProof="0" dirty="0">
                <a:cs typeface="Arial" charset="0"/>
                <a:sym typeface="Symbol" pitchFamily="18" charset="2"/>
              </a:rPr>
              <a:t>comes down to checking if </a:t>
            </a:r>
            <a:r>
              <a:rPr lang="en-US" sz="2800" noProof="0" dirty="0">
                <a:cs typeface="Arial" charset="0"/>
                <a:sym typeface="Symbol"/>
              </a:rPr>
              <a:t>there is an atomic transition 𝛼 of </a:t>
            </a:r>
            <a:r>
              <a:rPr lang="en-US" sz="2800" i="1" noProof="0" dirty="0">
                <a:cs typeface="Arial" charset="0"/>
                <a:sym typeface="Symbol"/>
              </a:rPr>
              <a:t>M</a:t>
            </a:r>
            <a:r>
              <a:rPr lang="en-US" sz="2800" noProof="0" dirty="0">
                <a:cs typeface="Arial" charset="0"/>
                <a:sym typeface="Symbol"/>
              </a:rPr>
              <a:t> and a label </a:t>
            </a:r>
            <a:r>
              <a:rPr lang="en-US" sz="2800" i="1" noProof="0" dirty="0">
                <a:cs typeface="Arial" charset="0"/>
                <a:sym typeface="Symbol"/>
              </a:rPr>
              <a:t>L </a:t>
            </a:r>
            <a:r>
              <a:rPr lang="en-US" sz="2800" noProof="0" dirty="0">
                <a:cs typeface="Arial" charset="0"/>
                <a:sym typeface="Symbol"/>
              </a:rPr>
              <a:t>of </a:t>
            </a:r>
            <a:r>
              <a:rPr lang="en-US" sz="2800" i="1" noProof="0" dirty="0">
                <a:cs typeface="Arial" charset="0"/>
                <a:sym typeface="Symbol"/>
              </a:rPr>
              <a:t>B</a:t>
            </a:r>
            <a:r>
              <a:rPr lang="en-US" sz="2800" baseline="-25000" noProof="0" dirty="0">
                <a:cs typeface="Arial" charset="0"/>
                <a:sym typeface="Symbol"/>
              </a:rPr>
              <a:t> </a:t>
            </a:r>
            <a:r>
              <a:rPr lang="en-US" sz="2800" noProof="0" dirty="0">
                <a:cs typeface="Arial" charset="0"/>
                <a:sym typeface="Symbol"/>
              </a:rPr>
              <a:t>such that </a:t>
            </a:r>
            <a:r>
              <a:rPr lang="en-US" sz="2800" i="1" noProof="0" dirty="0">
                <a:cs typeface="Arial" charset="0"/>
                <a:sym typeface="Symbol" pitchFamily="18" charset="2"/>
              </a:rPr>
              <a:t>s</a:t>
            </a:r>
            <a:r>
              <a:rPr lang="en-US" sz="2800" baseline="-25000" noProof="0" dirty="0">
                <a:cs typeface="Arial" charset="0"/>
                <a:sym typeface="Symbol" pitchFamily="18" charset="2"/>
              </a:rPr>
              <a:t>2</a:t>
            </a:r>
            <a:r>
              <a:rPr lang="en-US" sz="2800" noProof="0" dirty="0">
                <a:cs typeface="Arial" charset="0"/>
                <a:sym typeface="Symbol" pitchFamily="18" charset="2"/>
              </a:rPr>
              <a:t>  </a:t>
            </a:r>
            <a:r>
              <a:rPr lang="en-US" sz="2800" i="1" noProof="0" dirty="0">
                <a:cs typeface="Arial" charset="0"/>
                <a:sym typeface="Symbol" pitchFamily="18" charset="2"/>
              </a:rPr>
              <a:t>next</a:t>
            </a:r>
            <a:r>
              <a:rPr lang="en-US" sz="2800" baseline="-25000" noProof="0" dirty="0">
                <a:cs typeface="Arial" charset="0"/>
                <a:sym typeface="Symbol"/>
              </a:rPr>
              <a:t></a:t>
            </a:r>
            <a:r>
              <a:rPr lang="en-US" sz="2800" noProof="0" dirty="0">
                <a:cs typeface="Arial" charset="0"/>
                <a:sym typeface="Symbol" pitchFamily="18" charset="2"/>
              </a:rPr>
              <a:t>(</a:t>
            </a:r>
            <a:r>
              <a:rPr lang="en-US" sz="2800" i="1" noProof="0" dirty="0">
                <a:cs typeface="Arial" charset="0"/>
                <a:sym typeface="Symbol" pitchFamily="18" charset="2"/>
              </a:rPr>
              <a:t>u</a:t>
            </a:r>
            <a:r>
              <a:rPr lang="en-US" sz="2800" baseline="-25000" noProof="0" dirty="0">
                <a:cs typeface="Arial" charset="0"/>
                <a:sym typeface="Symbol" pitchFamily="18" charset="2"/>
              </a:rPr>
              <a:t>2</a:t>
            </a:r>
            <a:r>
              <a:rPr lang="en-US" sz="2800" noProof="0" dirty="0">
                <a:cs typeface="Arial" charset="0"/>
                <a:sym typeface="Symbol" pitchFamily="18" charset="2"/>
              </a:rPr>
              <a:t>,</a:t>
            </a:r>
            <a:r>
              <a:rPr lang="en-US" sz="2800" i="1" noProof="0" dirty="0">
                <a:cs typeface="Arial" charset="0"/>
                <a:sym typeface="Symbol" pitchFamily="18" charset="2"/>
              </a:rPr>
              <a:t>L</a:t>
            </a:r>
            <a:r>
              <a:rPr lang="en-US" sz="2800" noProof="0" dirty="0">
                <a:cs typeface="Arial" charset="0"/>
                <a:sym typeface="Symbol" pitchFamily="18" charset="2"/>
              </a:rPr>
              <a:t>)), and :</a:t>
            </a:r>
            <a:endParaRPr lang="en-US" sz="2800" noProof="0" dirty="0">
              <a:cs typeface="Arial" charset="0"/>
              <a:sym typeface="Symbol"/>
            </a:endParaRPr>
          </a:p>
          <a:p>
            <a:pPr lvl="1"/>
            <a:r>
              <a:rPr lang="en-US" noProof="0" dirty="0">
                <a:cs typeface="Arial" charset="0"/>
                <a:sym typeface="Symbol"/>
              </a:rPr>
              <a:t>for all propositions </a:t>
            </a:r>
            <a:r>
              <a:rPr lang="en-US" noProof="0" dirty="0" err="1">
                <a:cs typeface="Arial" charset="0"/>
                <a:sym typeface="Symbol"/>
              </a:rPr>
              <a:t>p∈</a:t>
            </a:r>
            <a:r>
              <a:rPr lang="en-US" i="1" noProof="0" dirty="0" err="1">
                <a:cs typeface="Arial" charset="0"/>
                <a:sym typeface="Symbol"/>
              </a:rPr>
              <a:t>L</a:t>
            </a:r>
            <a:r>
              <a:rPr lang="en-US" noProof="0" dirty="0">
                <a:cs typeface="Arial" charset="0"/>
                <a:sym typeface="Symbol"/>
              </a:rPr>
              <a:t>, </a:t>
            </a:r>
            <a:r>
              <a:rPr lang="en-US" b="1" noProof="0" dirty="0">
                <a:cs typeface="Arial" charset="0"/>
                <a:sym typeface="Symbol"/>
              </a:rPr>
              <a:t>eval</a:t>
            </a:r>
            <a:r>
              <a:rPr lang="en-US" noProof="0" dirty="0">
                <a:cs typeface="Arial" charset="0"/>
                <a:sym typeface="Symbol"/>
              </a:rPr>
              <a:t>(p, 𝛼(</a:t>
            </a:r>
            <a:r>
              <a:rPr lang="en-US" i="1" noProof="0" dirty="0">
                <a:cs typeface="Arial" charset="0"/>
                <a:sym typeface="Symbol" pitchFamily="18" charset="2"/>
              </a:rPr>
              <a:t>u</a:t>
            </a:r>
            <a:r>
              <a:rPr lang="en-US" i="1" baseline="-25000" noProof="0" dirty="0">
                <a:cs typeface="Arial" charset="0"/>
                <a:sym typeface="Symbol" pitchFamily="18" charset="2"/>
              </a:rPr>
              <a:t>1</a:t>
            </a:r>
            <a:r>
              <a:rPr lang="en-US" noProof="0" dirty="0">
                <a:cs typeface="Arial" charset="0"/>
                <a:sym typeface="Symbol" pitchFamily="18" charset="2"/>
              </a:rPr>
              <a:t>)) = true</a:t>
            </a:r>
          </a:p>
          <a:p>
            <a:pPr lvl="1"/>
            <a:r>
              <a:rPr lang="en-US" noProof="0" dirty="0">
                <a:cs typeface="Arial" charset="0"/>
                <a:sym typeface="Symbol"/>
              </a:rPr>
              <a:t>for all propositions </a:t>
            </a:r>
            <a:r>
              <a:rPr lang="en-US" noProof="0" dirty="0" err="1">
                <a:cs typeface="Arial" charset="0"/>
                <a:sym typeface="Symbol"/>
              </a:rPr>
              <a:t>q∈Prop</a:t>
            </a:r>
            <a:r>
              <a:rPr lang="en-US" noProof="0" dirty="0">
                <a:cs typeface="Arial" charset="0"/>
                <a:sym typeface="Symbol"/>
              </a:rPr>
              <a:t>/L, </a:t>
            </a:r>
            <a:r>
              <a:rPr lang="en-US" b="1" noProof="0" dirty="0">
                <a:cs typeface="Arial" charset="0"/>
                <a:sym typeface="Symbol"/>
              </a:rPr>
              <a:t>eval</a:t>
            </a:r>
            <a:r>
              <a:rPr lang="en-US" noProof="0" dirty="0">
                <a:cs typeface="Arial" charset="0"/>
                <a:sym typeface="Symbol"/>
              </a:rPr>
              <a:t>(q, 𝛼(</a:t>
            </a:r>
            <a:r>
              <a:rPr lang="en-US" i="1" noProof="0" dirty="0">
                <a:cs typeface="Arial" charset="0"/>
                <a:sym typeface="Symbol" pitchFamily="18" charset="2"/>
              </a:rPr>
              <a:t>u</a:t>
            </a:r>
            <a:r>
              <a:rPr lang="en-US" i="1" baseline="-25000" noProof="0" dirty="0">
                <a:cs typeface="Arial" charset="0"/>
                <a:sym typeface="Symbol" pitchFamily="18" charset="2"/>
              </a:rPr>
              <a:t>1</a:t>
            </a:r>
            <a:r>
              <a:rPr lang="en-US" noProof="0" dirty="0">
                <a:cs typeface="Arial" charset="0"/>
                <a:sym typeface="Symbol" pitchFamily="18" charset="2"/>
              </a:rPr>
              <a:t>)) = false</a:t>
            </a:r>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54</a:t>
            </a:fld>
            <a:endParaRPr lang="en-US"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What if </a:t>
            </a:r>
            <a:r>
              <a:rPr lang="en-US" i="1" noProof="0" dirty="0"/>
              <a:t>M</a:t>
            </a:r>
            <a:r>
              <a:rPr lang="en-US" noProof="0" dirty="0"/>
              <a:t> = </a:t>
            </a:r>
            <a:r>
              <a:rPr lang="en-US" i="1" noProof="0" dirty="0">
                <a:cs typeface="Arial" charset="0"/>
                <a:sym typeface="Symbol" pitchFamily="18" charset="2"/>
              </a:rPr>
              <a:t>P</a:t>
            </a:r>
            <a:r>
              <a:rPr lang="en-US" baseline="-25000" noProof="0" dirty="0">
                <a:cs typeface="Arial" charset="0"/>
                <a:sym typeface="Symbol" pitchFamily="18" charset="2"/>
              </a:rPr>
              <a:t>1</a:t>
            </a:r>
            <a:r>
              <a:rPr lang="en-US" noProof="0" dirty="0">
                <a:cs typeface="Arial" charset="0"/>
                <a:sym typeface="Symbol" pitchFamily="18" charset="2"/>
              </a:rPr>
              <a:t> || </a:t>
            </a:r>
            <a:r>
              <a:rPr lang="en-US" i="1" noProof="0" dirty="0">
                <a:cs typeface="Arial" charset="0"/>
                <a:sym typeface="Symbol" pitchFamily="18" charset="2"/>
              </a:rPr>
              <a:t>P</a:t>
            </a:r>
            <a:r>
              <a:rPr lang="en-US" baseline="-25000" noProof="0" dirty="0">
                <a:cs typeface="Arial" charset="0"/>
                <a:sym typeface="Symbol" pitchFamily="18" charset="2"/>
              </a:rPr>
              <a:t>2 </a:t>
            </a:r>
            <a:r>
              <a:rPr lang="en-US" noProof="0" dirty="0">
                <a:cs typeface="Arial" charset="0"/>
                <a:sym typeface="Symbol" pitchFamily="18" charset="2"/>
              </a:rPr>
              <a:t>|| ...</a:t>
            </a:r>
            <a:r>
              <a:rPr lang="en-US" noProof="0" dirty="0"/>
              <a:t>  ?</a:t>
            </a:r>
          </a:p>
        </p:txBody>
      </p:sp>
      <p:sp>
        <p:nvSpPr>
          <p:cNvPr id="3" name="Content Placeholder 2"/>
          <p:cNvSpPr>
            <a:spLocks noGrp="1"/>
          </p:cNvSpPr>
          <p:nvPr>
            <p:ph sz="quarter" idx="1"/>
          </p:nvPr>
        </p:nvSpPr>
        <p:spPr>
          <a:xfrm>
            <a:off x="500033" y="1265270"/>
            <a:ext cx="8505743" cy="4637567"/>
          </a:xfrm>
        </p:spPr>
        <p:txBody>
          <a:bodyPr/>
          <a:lstStyle/>
          <a:p>
            <a:r>
              <a:rPr lang="en-US" sz="2400" noProof="0" dirty="0"/>
              <a:t>We discussed the parallel composition of FSAs, e.g. :</a:t>
            </a:r>
            <a:br>
              <a:rPr lang="en-US" sz="2400" noProof="0" dirty="0"/>
            </a:br>
            <a:br>
              <a:rPr lang="en-US" sz="2400" noProof="0" dirty="0"/>
            </a:br>
            <a:r>
              <a:rPr lang="en-US" sz="2400" noProof="0" dirty="0"/>
              <a:t>    o</a:t>
            </a:r>
            <a:r>
              <a:rPr lang="en-US" sz="2400" noProof="0" dirty="0">
                <a:sym typeface="Symbol"/>
              </a:rPr>
              <a:t>o  </a:t>
            </a:r>
            <a:r>
              <a:rPr lang="en-US" sz="2400" i="1" noProof="0" dirty="0">
                <a:sym typeface="Symbol"/>
              </a:rPr>
              <a:t> </a:t>
            </a:r>
            <a:r>
              <a:rPr lang="en-US" sz="2400" noProof="0" dirty="0">
                <a:sym typeface="Symbol"/>
              </a:rPr>
              <a:t>||  oo  </a:t>
            </a:r>
            <a:br>
              <a:rPr lang="en-US" sz="2400" noProof="0" dirty="0">
                <a:sym typeface="Symbol"/>
              </a:rPr>
            </a:br>
            <a:br>
              <a:rPr lang="en-US" sz="2400" noProof="0" dirty="0">
                <a:sym typeface="Symbol"/>
              </a:rPr>
            </a:br>
            <a:r>
              <a:rPr lang="en-US" sz="2400" noProof="0" dirty="0">
                <a:sym typeface="Symbol"/>
              </a:rPr>
              <a:t>Note that here  and  represent actions.</a:t>
            </a:r>
            <a:br>
              <a:rPr lang="en-US" sz="2400" noProof="0" dirty="0">
                <a:sym typeface="Symbol"/>
              </a:rPr>
            </a:br>
            <a:endParaRPr lang="en-US" sz="2400" noProof="0" dirty="0"/>
          </a:p>
          <a:p>
            <a:r>
              <a:rPr lang="en-US" sz="2400" noProof="0" dirty="0"/>
              <a:t>Literally applying such parallel composition on Buchi automata  makes less sense because the labels are properties rather than actions.</a:t>
            </a:r>
            <a:br>
              <a:rPr lang="en-US" sz="2400" noProof="0" dirty="0"/>
            </a:br>
            <a:r>
              <a:rPr lang="en-US" sz="2400" noProof="0" dirty="0"/>
              <a:t>We instead construct the parallel M before converting it to Buchi for calculating intersection </a:t>
            </a:r>
            <a:r>
              <a:rPr lang="en-US" sz="2400" noProof="0" dirty="0">
                <a:cs typeface="Arial" charset="0"/>
                <a:sym typeface="Symbol"/>
              </a:rPr>
              <a:t>with</a:t>
            </a:r>
            <a:r>
              <a:rPr lang="en-US" sz="2400" dirty="0">
                <a:cs typeface="Arial" charset="0"/>
                <a:sym typeface="Symbol"/>
              </a:rPr>
              <a:t> </a:t>
            </a:r>
            <a:r>
              <a:rPr lang="en-US" sz="2400" i="1" dirty="0">
                <a:cs typeface="Arial" charset="0"/>
                <a:sym typeface="Symbol"/>
              </a:rPr>
              <a:t>B</a:t>
            </a:r>
            <a:r>
              <a:rPr lang="en-US" sz="2400" baseline="-25000" dirty="0">
                <a:cs typeface="Arial" charset="0"/>
                <a:sym typeface="Symbol"/>
              </a:rPr>
              <a:t> </a:t>
            </a:r>
            <a:r>
              <a:rPr lang="en-US" sz="2400" dirty="0">
                <a:cs typeface="Arial" charset="0"/>
                <a:sym typeface="Symbol"/>
              </a:rPr>
              <a:t>. </a:t>
            </a:r>
            <a:br>
              <a:rPr lang="en-US" sz="2400" noProof="0" dirty="0"/>
            </a:br>
            <a:endParaRPr lang="en-US" sz="2400" noProof="0" dirty="0">
              <a:sym typeface="Symbol"/>
            </a:endParaRPr>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55</a:t>
            </a:fld>
            <a:endParaRPr lang="en-US" noProof="0" dirty="0"/>
          </a:p>
        </p:txBody>
      </p:sp>
      <p:sp>
        <p:nvSpPr>
          <p:cNvPr id="5" name="TextBox 4"/>
          <p:cNvSpPr txBox="1"/>
          <p:nvPr/>
        </p:nvSpPr>
        <p:spPr>
          <a:xfrm>
            <a:off x="1584251" y="2150441"/>
            <a:ext cx="378630" cy="461665"/>
          </a:xfrm>
          <a:prstGeom prst="rect">
            <a:avLst/>
          </a:prstGeom>
          <a:noFill/>
        </p:spPr>
        <p:txBody>
          <a:bodyPr wrap="none" rtlCol="0">
            <a:spAutoFit/>
          </a:bodyPr>
          <a:lstStyle/>
          <a:p>
            <a:r>
              <a:rPr lang="en-US" noProof="0" dirty="0">
                <a:sym typeface="Symbol"/>
              </a:rPr>
              <a:t></a:t>
            </a:r>
            <a:endParaRPr lang="en-US" noProof="0" dirty="0"/>
          </a:p>
        </p:txBody>
      </p:sp>
      <p:sp>
        <p:nvSpPr>
          <p:cNvPr id="6" name="TextBox 5"/>
          <p:cNvSpPr txBox="1"/>
          <p:nvPr/>
        </p:nvSpPr>
        <p:spPr>
          <a:xfrm>
            <a:off x="3459126" y="2185883"/>
            <a:ext cx="352982" cy="461665"/>
          </a:xfrm>
          <a:prstGeom prst="rect">
            <a:avLst/>
          </a:prstGeom>
          <a:noFill/>
        </p:spPr>
        <p:txBody>
          <a:bodyPr wrap="none" rtlCol="0">
            <a:spAutoFit/>
          </a:bodyPr>
          <a:lstStyle/>
          <a:p>
            <a:r>
              <a:rPr lang="en-US" noProof="0" dirty="0">
                <a:sym typeface="Symbol"/>
              </a:rPr>
              <a:t></a:t>
            </a:r>
            <a:endParaRPr lang="en-US" noProof="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Example constructing </a:t>
            </a:r>
            <a:r>
              <a:rPr lang="en-US" i="1" noProof="0" dirty="0"/>
              <a:t>P</a:t>
            </a:r>
            <a:r>
              <a:rPr lang="en-US" baseline="-25000" noProof="0" dirty="0"/>
              <a:t>1</a:t>
            </a:r>
            <a:r>
              <a:rPr lang="en-US" noProof="0" dirty="0"/>
              <a:t> || </a:t>
            </a:r>
            <a:r>
              <a:rPr lang="en-US" i="1" noProof="0" dirty="0"/>
              <a:t>P</a:t>
            </a:r>
            <a:r>
              <a:rPr lang="en-US" baseline="-25000" noProof="0" dirty="0"/>
              <a:t>2</a:t>
            </a:r>
            <a:r>
              <a:rPr lang="en-US" noProof="0" dirty="0"/>
              <a:t> </a:t>
            </a:r>
          </a:p>
        </p:txBody>
      </p:sp>
      <p:sp>
        <p:nvSpPr>
          <p:cNvPr id="3" name="Content Placeholder 2"/>
          <p:cNvSpPr>
            <a:spLocks noGrp="1"/>
          </p:cNvSpPr>
          <p:nvPr>
            <p:ph sz="quarter" idx="1"/>
          </p:nvPr>
        </p:nvSpPr>
        <p:spPr>
          <a:xfrm>
            <a:off x="530490" y="4847042"/>
            <a:ext cx="8358246" cy="1282848"/>
          </a:xfrm>
        </p:spPr>
        <p:txBody>
          <a:bodyPr/>
          <a:lstStyle/>
          <a:p>
            <a:r>
              <a:rPr lang="en-US" sz="2000" noProof="0" dirty="0"/>
              <a:t>In the above example, we explicitly construct the concrete state FSM of </a:t>
            </a:r>
            <a:r>
              <a:rPr lang="en-US" sz="2000" i="1" noProof="0" dirty="0"/>
              <a:t>P</a:t>
            </a:r>
            <a:r>
              <a:rPr lang="en-US" sz="2000" baseline="-25000" noProof="0" dirty="0"/>
              <a:t>1</a:t>
            </a:r>
            <a:r>
              <a:rPr lang="en-US" sz="2000" noProof="0" dirty="0"/>
              <a:t> || </a:t>
            </a:r>
            <a:r>
              <a:rPr lang="en-US" sz="2000" i="1" noProof="0" dirty="0"/>
              <a:t>P</a:t>
            </a:r>
            <a:r>
              <a:rPr lang="en-US" sz="2000" baseline="-25000" noProof="0" dirty="0"/>
              <a:t>2</a:t>
            </a:r>
            <a:r>
              <a:rPr lang="en-US" sz="2000" noProof="0" dirty="0"/>
              <a:t> </a:t>
            </a:r>
          </a:p>
          <a:p>
            <a:r>
              <a:rPr lang="en-US" sz="2000" noProof="0" dirty="0"/>
              <a:t>We can instead construct </a:t>
            </a:r>
            <a:r>
              <a:rPr lang="en-US" sz="2000" i="1" noProof="0" dirty="0"/>
              <a:t>P</a:t>
            </a:r>
            <a:r>
              <a:rPr lang="en-US" sz="2000" baseline="-25000" noProof="0" dirty="0"/>
              <a:t>1</a:t>
            </a:r>
            <a:r>
              <a:rPr lang="en-US" sz="2000" noProof="0" dirty="0"/>
              <a:t> || </a:t>
            </a:r>
            <a:r>
              <a:rPr lang="en-US" sz="2000" i="1" noProof="0" dirty="0"/>
              <a:t>P</a:t>
            </a:r>
            <a:r>
              <a:rPr lang="en-US" sz="2000" baseline="-25000" noProof="0" dirty="0"/>
              <a:t>2</a:t>
            </a:r>
            <a:r>
              <a:rPr lang="en-US" sz="2000" noProof="0" dirty="0"/>
              <a:t> lazily as we construct the intersection automaton with </a:t>
            </a:r>
            <a:r>
              <a:rPr lang="en-US" sz="2000" i="1" noProof="0" dirty="0">
                <a:cs typeface="Arial" charset="0"/>
                <a:sym typeface="Symbol" pitchFamily="18" charset="2"/>
              </a:rPr>
              <a:t>B</a:t>
            </a:r>
            <a:r>
              <a:rPr lang="en-US" sz="2000" baseline="-25000" noProof="0" dirty="0">
                <a:cs typeface="Arial" charset="0"/>
                <a:sym typeface="Symbol" pitchFamily="18" charset="2"/>
              </a:rPr>
              <a:t></a:t>
            </a:r>
            <a:endParaRPr lang="en-US" sz="2000" noProof="0" dirty="0"/>
          </a:p>
          <a:p>
            <a:endParaRPr lang="en-US" sz="2000" noProof="0" dirty="0"/>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56</a:t>
            </a:fld>
            <a:endParaRPr lang="en-US" noProof="0" dirty="0"/>
          </a:p>
        </p:txBody>
      </p:sp>
      <p:sp>
        <p:nvSpPr>
          <p:cNvPr id="6" name="TextBox 5"/>
          <p:cNvSpPr txBox="1"/>
          <p:nvPr/>
        </p:nvSpPr>
        <p:spPr>
          <a:xfrm>
            <a:off x="603250" y="1192428"/>
            <a:ext cx="5693995" cy="461665"/>
          </a:xfrm>
          <a:prstGeom prst="rect">
            <a:avLst/>
          </a:prstGeom>
          <a:noFill/>
        </p:spPr>
        <p:txBody>
          <a:bodyPr wrap="none" rtlCol="0">
            <a:spAutoFit/>
          </a:bodyPr>
          <a:lstStyle/>
          <a:p>
            <a:r>
              <a:rPr lang="en-US" noProof="0" dirty="0"/>
              <a:t>Consider a concrete program </a:t>
            </a:r>
            <a:r>
              <a:rPr lang="en-US" i="1" noProof="0" dirty="0" err="1"/>
              <a:t>Prg</a:t>
            </a:r>
            <a:r>
              <a:rPr lang="en-US" i="1" noProof="0" dirty="0"/>
              <a:t> </a:t>
            </a:r>
            <a:r>
              <a:rPr lang="en-US" noProof="0" dirty="0"/>
              <a:t>= </a:t>
            </a:r>
            <a:r>
              <a:rPr lang="en-US" i="1" noProof="0" dirty="0"/>
              <a:t>P</a:t>
            </a:r>
            <a:r>
              <a:rPr lang="en-US" baseline="-25000" noProof="0" dirty="0"/>
              <a:t>1</a:t>
            </a:r>
            <a:r>
              <a:rPr lang="en-US" noProof="0" dirty="0"/>
              <a:t> || </a:t>
            </a:r>
            <a:r>
              <a:rPr lang="en-US" i="1" noProof="0" dirty="0"/>
              <a:t>P</a:t>
            </a:r>
            <a:r>
              <a:rPr lang="en-US" baseline="-25000" noProof="0" dirty="0"/>
              <a:t>2</a:t>
            </a:r>
            <a:r>
              <a:rPr lang="en-US" noProof="0" dirty="0"/>
              <a:t> : </a:t>
            </a:r>
          </a:p>
        </p:txBody>
      </p:sp>
      <p:sp>
        <p:nvSpPr>
          <p:cNvPr id="7" name="TextBox 6"/>
          <p:cNvSpPr txBox="1"/>
          <p:nvPr/>
        </p:nvSpPr>
        <p:spPr>
          <a:xfrm>
            <a:off x="792259" y="1562035"/>
            <a:ext cx="3917354" cy="1200329"/>
          </a:xfrm>
          <a:prstGeom prst="rect">
            <a:avLst/>
          </a:prstGeom>
          <a:noFill/>
        </p:spPr>
        <p:txBody>
          <a:bodyPr wrap="none" rtlCol="0">
            <a:spAutoFit/>
          </a:bodyPr>
          <a:lstStyle/>
          <a:p>
            <a:r>
              <a:rPr lang="en-US" b="1" noProof="0" dirty="0"/>
              <a:t>var</a:t>
            </a:r>
            <a:r>
              <a:rPr lang="en-US" noProof="0" dirty="0"/>
              <a:t> x = 0 , y = 0 ;</a:t>
            </a:r>
          </a:p>
          <a:p>
            <a:r>
              <a:rPr lang="en-US" i="1" noProof="0" dirty="0"/>
              <a:t>P</a:t>
            </a:r>
            <a:r>
              <a:rPr lang="en-US" baseline="-25000" noProof="0" dirty="0"/>
              <a:t>1</a:t>
            </a:r>
            <a:r>
              <a:rPr lang="en-US" noProof="0" dirty="0"/>
              <a:t> :   </a:t>
            </a:r>
            <a:r>
              <a:rPr lang="en-US" b="1" noProof="0" dirty="0"/>
              <a:t>repeat</a:t>
            </a:r>
            <a:r>
              <a:rPr lang="en-US" noProof="0" dirty="0"/>
              <a:t> (x := x+1 </a:t>
            </a:r>
            <a:r>
              <a:rPr lang="en-US" b="1" noProof="0" dirty="0"/>
              <a:t>mod</a:t>
            </a:r>
            <a:r>
              <a:rPr lang="en-US" noProof="0" dirty="0"/>
              <a:t> 3)</a:t>
            </a:r>
            <a:br>
              <a:rPr lang="en-US" noProof="0" dirty="0"/>
            </a:br>
            <a:r>
              <a:rPr lang="en-US" i="1" noProof="0" dirty="0"/>
              <a:t>P</a:t>
            </a:r>
            <a:r>
              <a:rPr lang="en-US" baseline="-25000" noProof="0" dirty="0"/>
              <a:t>2</a:t>
            </a:r>
            <a:r>
              <a:rPr lang="en-US" noProof="0" dirty="0"/>
              <a:t> :   (x≠2) ; y := 2</a:t>
            </a:r>
          </a:p>
        </p:txBody>
      </p:sp>
      <p:sp>
        <p:nvSpPr>
          <p:cNvPr id="8" name="Rounded Rectangle 7"/>
          <p:cNvSpPr/>
          <p:nvPr/>
        </p:nvSpPr>
        <p:spPr>
          <a:xfrm>
            <a:off x="1007042" y="2967159"/>
            <a:ext cx="1182687" cy="31750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x=0, y=0 ⟩</a:t>
            </a:r>
          </a:p>
        </p:txBody>
      </p:sp>
      <p:sp>
        <p:nvSpPr>
          <p:cNvPr id="9" name="Rounded Rectangle 8"/>
          <p:cNvSpPr/>
          <p:nvPr/>
        </p:nvSpPr>
        <p:spPr>
          <a:xfrm>
            <a:off x="1007042" y="3473007"/>
            <a:ext cx="1182687" cy="2948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x=1, y=0 ⟩</a:t>
            </a:r>
          </a:p>
        </p:txBody>
      </p:sp>
      <p:sp>
        <p:nvSpPr>
          <p:cNvPr id="10" name="Rounded Rectangle 9"/>
          <p:cNvSpPr/>
          <p:nvPr/>
        </p:nvSpPr>
        <p:spPr>
          <a:xfrm>
            <a:off x="1007042" y="3996448"/>
            <a:ext cx="1182687" cy="30638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x=2, y=0 ⟩</a:t>
            </a:r>
          </a:p>
        </p:txBody>
      </p:sp>
      <p:cxnSp>
        <p:nvCxnSpPr>
          <p:cNvPr id="11" name="Straight Arrow Connector 10"/>
          <p:cNvCxnSpPr>
            <a:stCxn id="12" idx="2"/>
            <a:endCxn id="13" idx="0"/>
          </p:cNvCxnSpPr>
          <p:nvPr/>
        </p:nvCxnSpPr>
        <p:spPr>
          <a:xfrm>
            <a:off x="1598386" y="3284660"/>
            <a:ext cx="0" cy="1883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13" idx="2"/>
          </p:cNvCxnSpPr>
          <p:nvPr/>
        </p:nvCxnSpPr>
        <p:spPr>
          <a:xfrm>
            <a:off x="1598386" y="3767849"/>
            <a:ext cx="0" cy="2285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a:endCxn id="12" idx="1"/>
          </p:cNvCxnSpPr>
          <p:nvPr/>
        </p:nvCxnSpPr>
        <p:spPr>
          <a:xfrm rot="10800000">
            <a:off x="1007042" y="3125910"/>
            <a:ext cx="12700" cy="1023730"/>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p:cNvSpPr/>
          <p:nvPr/>
        </p:nvSpPr>
        <p:spPr>
          <a:xfrm>
            <a:off x="6026513" y="3002917"/>
            <a:ext cx="1182687" cy="31750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x=0, y=0 ⟩</a:t>
            </a:r>
          </a:p>
        </p:txBody>
      </p:sp>
      <p:sp>
        <p:nvSpPr>
          <p:cNvPr id="22" name="Rounded Rectangle 21"/>
          <p:cNvSpPr/>
          <p:nvPr/>
        </p:nvSpPr>
        <p:spPr>
          <a:xfrm>
            <a:off x="6026513" y="3508765"/>
            <a:ext cx="1182687" cy="2948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x=1, y=0 ⟩</a:t>
            </a:r>
          </a:p>
        </p:txBody>
      </p:sp>
      <p:sp>
        <p:nvSpPr>
          <p:cNvPr id="23" name="Rounded Rectangle 22"/>
          <p:cNvSpPr/>
          <p:nvPr/>
        </p:nvSpPr>
        <p:spPr>
          <a:xfrm>
            <a:off x="6026513" y="4032206"/>
            <a:ext cx="1182687" cy="30638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x=2, y=0 ⟩</a:t>
            </a:r>
          </a:p>
        </p:txBody>
      </p:sp>
      <p:cxnSp>
        <p:nvCxnSpPr>
          <p:cNvPr id="24" name="Straight Arrow Connector 23"/>
          <p:cNvCxnSpPr/>
          <p:nvPr/>
        </p:nvCxnSpPr>
        <p:spPr>
          <a:xfrm>
            <a:off x="6617857" y="3320418"/>
            <a:ext cx="0" cy="1883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6617857" y="3803607"/>
            <a:ext cx="0" cy="2285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p:cNvCxnSpPr/>
          <p:nvPr/>
        </p:nvCxnSpPr>
        <p:spPr>
          <a:xfrm rot="10800000">
            <a:off x="6026513" y="3161668"/>
            <a:ext cx="12700" cy="1023730"/>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7"/>
          <p:cNvSpPr/>
          <p:nvPr/>
        </p:nvSpPr>
        <p:spPr>
          <a:xfrm>
            <a:off x="7374517" y="3002917"/>
            <a:ext cx="1182687" cy="31750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x=0, y=2 ⟩</a:t>
            </a:r>
          </a:p>
        </p:txBody>
      </p:sp>
      <p:sp>
        <p:nvSpPr>
          <p:cNvPr id="29" name="Rounded Rectangle 28"/>
          <p:cNvSpPr/>
          <p:nvPr/>
        </p:nvSpPr>
        <p:spPr>
          <a:xfrm>
            <a:off x="7374517" y="3508765"/>
            <a:ext cx="1182687" cy="2948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x=1, y=2 ⟩</a:t>
            </a:r>
          </a:p>
        </p:txBody>
      </p:sp>
      <p:sp>
        <p:nvSpPr>
          <p:cNvPr id="30" name="Rounded Rectangle 29"/>
          <p:cNvSpPr/>
          <p:nvPr/>
        </p:nvSpPr>
        <p:spPr>
          <a:xfrm>
            <a:off x="7374517" y="4032206"/>
            <a:ext cx="1182687" cy="30638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x=2, y=2 ⟩</a:t>
            </a:r>
          </a:p>
        </p:txBody>
      </p:sp>
      <p:cxnSp>
        <p:nvCxnSpPr>
          <p:cNvPr id="31" name="Straight Arrow Connector 30"/>
          <p:cNvCxnSpPr/>
          <p:nvPr/>
        </p:nvCxnSpPr>
        <p:spPr>
          <a:xfrm>
            <a:off x="7965861" y="3320418"/>
            <a:ext cx="0" cy="1883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2806710" y="2983753"/>
            <a:ext cx="1182687" cy="31750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x=0, y=0 ⟩</a:t>
            </a:r>
          </a:p>
        </p:txBody>
      </p:sp>
      <p:sp>
        <p:nvSpPr>
          <p:cNvPr id="36" name="Rounded Rectangle 35"/>
          <p:cNvSpPr/>
          <p:nvPr/>
        </p:nvSpPr>
        <p:spPr>
          <a:xfrm>
            <a:off x="2806709" y="3504564"/>
            <a:ext cx="1182687" cy="2948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x=1, y=0 ⟩</a:t>
            </a:r>
          </a:p>
        </p:txBody>
      </p:sp>
      <p:cxnSp>
        <p:nvCxnSpPr>
          <p:cNvPr id="39" name="Straight Arrow Connector 38"/>
          <p:cNvCxnSpPr>
            <a:stCxn id="36" idx="3"/>
            <a:endCxn id="38" idx="1"/>
          </p:cNvCxnSpPr>
          <p:nvPr/>
        </p:nvCxnSpPr>
        <p:spPr>
          <a:xfrm>
            <a:off x="3989396" y="3651985"/>
            <a:ext cx="188411"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58734" y="2958353"/>
            <a:ext cx="559769" cy="461665"/>
          </a:xfrm>
          <a:prstGeom prst="rect">
            <a:avLst/>
          </a:prstGeom>
          <a:noFill/>
        </p:spPr>
        <p:txBody>
          <a:bodyPr wrap="none" rtlCol="0">
            <a:spAutoFit/>
          </a:bodyPr>
          <a:lstStyle/>
          <a:p>
            <a:r>
              <a:rPr lang="en-US" i="1" noProof="0" dirty="0"/>
              <a:t>P</a:t>
            </a:r>
            <a:r>
              <a:rPr lang="en-US" baseline="-25000" noProof="0" dirty="0"/>
              <a:t>1</a:t>
            </a:r>
            <a:r>
              <a:rPr lang="en-US" noProof="0" dirty="0"/>
              <a:t>:</a:t>
            </a:r>
          </a:p>
        </p:txBody>
      </p:sp>
      <p:sp>
        <p:nvSpPr>
          <p:cNvPr id="46" name="TextBox 45"/>
          <p:cNvSpPr txBox="1"/>
          <p:nvPr/>
        </p:nvSpPr>
        <p:spPr>
          <a:xfrm>
            <a:off x="2268313" y="2883175"/>
            <a:ext cx="559769" cy="461665"/>
          </a:xfrm>
          <a:prstGeom prst="rect">
            <a:avLst/>
          </a:prstGeom>
          <a:noFill/>
        </p:spPr>
        <p:txBody>
          <a:bodyPr wrap="none" rtlCol="0">
            <a:spAutoFit/>
          </a:bodyPr>
          <a:lstStyle/>
          <a:p>
            <a:r>
              <a:rPr lang="en-US" i="1" noProof="0" dirty="0"/>
              <a:t>P</a:t>
            </a:r>
            <a:r>
              <a:rPr lang="en-US" baseline="-25000" noProof="0" dirty="0"/>
              <a:t>2</a:t>
            </a:r>
            <a:r>
              <a:rPr lang="en-US" noProof="0" dirty="0"/>
              <a:t>:</a:t>
            </a:r>
          </a:p>
        </p:txBody>
      </p:sp>
      <p:cxnSp>
        <p:nvCxnSpPr>
          <p:cNvPr id="55" name="Elbow Connector 54"/>
          <p:cNvCxnSpPr>
            <a:stCxn id="30" idx="3"/>
            <a:endCxn id="28" idx="3"/>
          </p:cNvCxnSpPr>
          <p:nvPr/>
        </p:nvCxnSpPr>
        <p:spPr>
          <a:xfrm flipV="1">
            <a:off x="8557204" y="3161668"/>
            <a:ext cx="12700" cy="1023730"/>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29" idx="2"/>
            <a:endCxn id="30" idx="0"/>
          </p:cNvCxnSpPr>
          <p:nvPr/>
        </p:nvCxnSpPr>
        <p:spPr>
          <a:xfrm>
            <a:off x="7965861" y="3803607"/>
            <a:ext cx="0" cy="2285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6710036" y="2414117"/>
            <a:ext cx="963725" cy="461665"/>
          </a:xfrm>
          <a:prstGeom prst="rect">
            <a:avLst/>
          </a:prstGeom>
          <a:noFill/>
        </p:spPr>
        <p:txBody>
          <a:bodyPr wrap="none" rtlCol="0">
            <a:spAutoFit/>
          </a:bodyPr>
          <a:lstStyle/>
          <a:p>
            <a:r>
              <a:rPr lang="en-US" i="1" noProof="0" dirty="0"/>
              <a:t>P</a:t>
            </a:r>
            <a:r>
              <a:rPr lang="en-US" baseline="-25000" noProof="0" dirty="0"/>
              <a:t>1</a:t>
            </a:r>
            <a:r>
              <a:rPr lang="en-US" noProof="0" dirty="0">
                <a:sym typeface="Wingdings"/>
              </a:rPr>
              <a:t>|| </a:t>
            </a:r>
            <a:r>
              <a:rPr lang="en-US" i="1" noProof="0" dirty="0"/>
              <a:t>P</a:t>
            </a:r>
            <a:r>
              <a:rPr lang="en-US" baseline="-25000" noProof="0" dirty="0"/>
              <a:t>2</a:t>
            </a:r>
            <a:endParaRPr lang="en-US" noProof="0" dirty="0"/>
          </a:p>
        </p:txBody>
      </p:sp>
      <p:sp>
        <p:nvSpPr>
          <p:cNvPr id="38" name="Rounded Rectangle 37"/>
          <p:cNvSpPr/>
          <p:nvPr/>
        </p:nvSpPr>
        <p:spPr>
          <a:xfrm>
            <a:off x="4177807" y="3504564"/>
            <a:ext cx="1182687" cy="29484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x=1, y=2 ⟩</a:t>
            </a:r>
          </a:p>
        </p:txBody>
      </p:sp>
      <p:sp>
        <p:nvSpPr>
          <p:cNvPr id="43" name="Rounded Rectangle 42"/>
          <p:cNvSpPr/>
          <p:nvPr/>
        </p:nvSpPr>
        <p:spPr>
          <a:xfrm>
            <a:off x="4197249" y="2994870"/>
            <a:ext cx="1182687" cy="30638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noProof="0" dirty="0"/>
              <a:t>⟨ x=0, y=2 ⟩</a:t>
            </a:r>
          </a:p>
        </p:txBody>
      </p:sp>
      <p:cxnSp>
        <p:nvCxnSpPr>
          <p:cNvPr id="44" name="Straight Arrow Connector 43"/>
          <p:cNvCxnSpPr>
            <a:stCxn id="35" idx="3"/>
            <a:endCxn id="43" idx="1"/>
          </p:cNvCxnSpPr>
          <p:nvPr/>
        </p:nvCxnSpPr>
        <p:spPr>
          <a:xfrm>
            <a:off x="3989397" y="3142504"/>
            <a:ext cx="207852" cy="555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21" idx="3"/>
            <a:endCxn id="28" idx="1"/>
          </p:cNvCxnSpPr>
          <p:nvPr/>
        </p:nvCxnSpPr>
        <p:spPr>
          <a:xfrm>
            <a:off x="7209200" y="3161668"/>
            <a:ext cx="165317"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22" idx="3"/>
            <a:endCxn id="29" idx="1"/>
          </p:cNvCxnSpPr>
          <p:nvPr/>
        </p:nvCxnSpPr>
        <p:spPr>
          <a:xfrm>
            <a:off x="7209200" y="3656186"/>
            <a:ext cx="165317"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9A4B846-9D35-694C-9602-D2E50AA018C1}"/>
              </a:ext>
            </a:extLst>
          </p:cNvPr>
          <p:cNvCxnSpPr/>
          <p:nvPr/>
        </p:nvCxnSpPr>
        <p:spPr>
          <a:xfrm>
            <a:off x="1598386" y="2789001"/>
            <a:ext cx="0" cy="1883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AE6CB38-7408-E147-A7CC-7423B6FDE6AF}"/>
              </a:ext>
            </a:extLst>
          </p:cNvPr>
          <p:cNvCxnSpPr/>
          <p:nvPr/>
        </p:nvCxnSpPr>
        <p:spPr>
          <a:xfrm>
            <a:off x="3396706" y="2814570"/>
            <a:ext cx="0" cy="1883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B2C2A34-E17E-1A49-BA23-FEE0EE8062F3}"/>
              </a:ext>
            </a:extLst>
          </p:cNvPr>
          <p:cNvCxnSpPr>
            <a:cxnSpLocks/>
          </p:cNvCxnSpPr>
          <p:nvPr/>
        </p:nvCxnSpPr>
        <p:spPr>
          <a:xfrm flipV="1">
            <a:off x="3396706" y="3799406"/>
            <a:ext cx="0" cy="2479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55381AE-E77D-2843-8B5F-667F29E702F3}"/>
              </a:ext>
            </a:extLst>
          </p:cNvPr>
          <p:cNvCxnSpPr/>
          <p:nvPr/>
        </p:nvCxnSpPr>
        <p:spPr>
          <a:xfrm>
            <a:off x="6617857" y="2814570"/>
            <a:ext cx="0" cy="1883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8224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What if </a:t>
            </a:r>
            <a:r>
              <a:rPr lang="en-US" i="1" noProof="0" dirty="0"/>
              <a:t>M</a:t>
            </a:r>
            <a:r>
              <a:rPr lang="en-US" noProof="0" dirty="0"/>
              <a:t> = </a:t>
            </a:r>
            <a:r>
              <a:rPr lang="en-US" i="1" noProof="0" dirty="0">
                <a:cs typeface="Arial" charset="0"/>
                <a:sym typeface="Symbol" pitchFamily="18" charset="2"/>
              </a:rPr>
              <a:t>P</a:t>
            </a:r>
            <a:r>
              <a:rPr lang="en-US" baseline="-25000" noProof="0" dirty="0">
                <a:cs typeface="Arial" charset="0"/>
                <a:sym typeface="Symbol" pitchFamily="18" charset="2"/>
              </a:rPr>
              <a:t>1</a:t>
            </a:r>
            <a:r>
              <a:rPr lang="en-US" noProof="0" dirty="0">
                <a:cs typeface="Arial" charset="0"/>
                <a:sym typeface="Symbol" pitchFamily="18" charset="2"/>
              </a:rPr>
              <a:t> || </a:t>
            </a:r>
            <a:r>
              <a:rPr lang="en-US" i="1" noProof="0" dirty="0">
                <a:cs typeface="Arial" charset="0"/>
                <a:sym typeface="Symbol" pitchFamily="18" charset="2"/>
              </a:rPr>
              <a:t>P</a:t>
            </a:r>
            <a:r>
              <a:rPr lang="en-US" baseline="-25000" noProof="0" dirty="0">
                <a:cs typeface="Arial" charset="0"/>
                <a:sym typeface="Symbol" pitchFamily="18" charset="2"/>
              </a:rPr>
              <a:t>2</a:t>
            </a:r>
            <a:r>
              <a:rPr lang="en-US" noProof="0" dirty="0">
                <a:cs typeface="Arial" charset="0"/>
                <a:sym typeface="Symbol" pitchFamily="18" charset="2"/>
              </a:rPr>
              <a:t> </a:t>
            </a:r>
            <a:r>
              <a:rPr lang="en-US" noProof="0" dirty="0"/>
              <a:t>?</a:t>
            </a:r>
          </a:p>
        </p:txBody>
      </p:sp>
      <p:sp>
        <p:nvSpPr>
          <p:cNvPr id="3" name="Content Placeholder 2"/>
          <p:cNvSpPr>
            <a:spLocks noGrp="1"/>
          </p:cNvSpPr>
          <p:nvPr>
            <p:ph sz="quarter" idx="1"/>
          </p:nvPr>
        </p:nvSpPr>
        <p:spPr>
          <a:xfrm>
            <a:off x="500033" y="1265270"/>
            <a:ext cx="8505743" cy="4637567"/>
          </a:xfrm>
        </p:spPr>
        <p:txBody>
          <a:bodyPr/>
          <a:lstStyle/>
          <a:p>
            <a:r>
              <a:rPr lang="en-US" noProof="0" dirty="0"/>
              <a:t>E.g. checking this in the DFS:</a:t>
            </a:r>
            <a:br>
              <a:rPr lang="en-US" noProof="0" dirty="0"/>
            </a:br>
            <a:br>
              <a:rPr lang="en-US" noProof="0" dirty="0"/>
            </a:br>
            <a:r>
              <a:rPr lang="en-US" noProof="0" dirty="0"/>
              <a:t>	</a:t>
            </a:r>
            <a:r>
              <a:rPr lang="en-US" sz="2800" noProof="0" dirty="0">
                <a:cs typeface="Arial" charset="0"/>
                <a:sym typeface="Symbol" pitchFamily="18" charset="2"/>
              </a:rPr>
              <a:t>(</a:t>
            </a:r>
            <a:r>
              <a:rPr lang="en-US" sz="2800" i="1" noProof="0" dirty="0">
                <a:cs typeface="Arial" charset="0"/>
                <a:sym typeface="Symbol" pitchFamily="18" charset="2"/>
              </a:rPr>
              <a:t>s</a:t>
            </a:r>
            <a:r>
              <a:rPr lang="en-US" sz="2800" baseline="-25000" noProof="0" dirty="0">
                <a:cs typeface="Arial" charset="0"/>
                <a:sym typeface="Symbol" pitchFamily="18" charset="2"/>
              </a:rPr>
              <a:t>1</a:t>
            </a:r>
            <a:r>
              <a:rPr lang="en-US" sz="2800" noProof="0" dirty="0">
                <a:cs typeface="Arial" charset="0"/>
                <a:sym typeface="Symbol" pitchFamily="18" charset="2"/>
              </a:rPr>
              <a:t>,</a:t>
            </a:r>
            <a:r>
              <a:rPr lang="en-US" sz="2800" i="1" noProof="0" dirty="0">
                <a:cs typeface="Arial" charset="0"/>
                <a:sym typeface="Symbol" pitchFamily="18" charset="2"/>
              </a:rPr>
              <a:t>s</a:t>
            </a:r>
            <a:r>
              <a:rPr lang="en-US" sz="2800" baseline="-25000" noProof="0" dirty="0">
                <a:cs typeface="Arial" charset="0"/>
                <a:sym typeface="Symbol" pitchFamily="18" charset="2"/>
              </a:rPr>
              <a:t>2</a:t>
            </a:r>
            <a:r>
              <a:rPr lang="en-US" sz="2800" noProof="0" dirty="0">
                <a:cs typeface="Arial" charset="0"/>
                <a:sym typeface="Symbol" pitchFamily="18" charset="2"/>
              </a:rPr>
              <a:t>)  </a:t>
            </a:r>
            <a:r>
              <a:rPr lang="en-US" sz="2800" i="1" noProof="0" dirty="0" err="1">
                <a:cs typeface="Arial" charset="0"/>
                <a:sym typeface="Symbol" pitchFamily="18" charset="2"/>
              </a:rPr>
              <a:t>next</a:t>
            </a:r>
            <a:r>
              <a:rPr lang="en-US" sz="2800" i="1" baseline="-25000" noProof="0" dirty="0" err="1">
                <a:cs typeface="Arial" charset="0"/>
                <a:sym typeface="Symbol" pitchFamily="18" charset="2"/>
              </a:rPr>
              <a:t>C</a:t>
            </a:r>
            <a:r>
              <a:rPr lang="en-US" sz="2800" noProof="0" dirty="0">
                <a:cs typeface="Arial" charset="0"/>
                <a:sym typeface="Symbol" pitchFamily="18" charset="2"/>
              </a:rPr>
              <a:t>(</a:t>
            </a:r>
            <a:r>
              <a:rPr lang="en-US" sz="2800" i="1" noProof="0" dirty="0">
                <a:cs typeface="Arial" charset="0"/>
                <a:sym typeface="Symbol" pitchFamily="18" charset="2"/>
              </a:rPr>
              <a:t>u</a:t>
            </a:r>
            <a:r>
              <a:rPr lang="en-US" sz="2800" baseline="-25000" noProof="0" dirty="0">
                <a:cs typeface="Arial" charset="0"/>
                <a:sym typeface="Symbol" pitchFamily="18" charset="2"/>
              </a:rPr>
              <a:t>1</a:t>
            </a:r>
            <a:r>
              <a:rPr lang="en-US" sz="2800" i="1" noProof="0" dirty="0">
                <a:cs typeface="Arial" charset="0"/>
                <a:sym typeface="Symbol" pitchFamily="18" charset="2"/>
              </a:rPr>
              <a:t>,u</a:t>
            </a:r>
            <a:r>
              <a:rPr lang="en-US" sz="2800" baseline="-25000" noProof="0" dirty="0">
                <a:cs typeface="Arial" charset="0"/>
                <a:sym typeface="Symbol" pitchFamily="18" charset="2"/>
              </a:rPr>
              <a:t>2</a:t>
            </a:r>
            <a:r>
              <a:rPr lang="en-US" sz="2800" noProof="0" dirty="0">
                <a:cs typeface="Arial" charset="0"/>
                <a:sym typeface="Symbol" pitchFamily="18" charset="2"/>
              </a:rPr>
              <a:t>)  </a:t>
            </a:r>
            <a:br>
              <a:rPr lang="en-US" sz="2800" noProof="0" dirty="0">
                <a:cs typeface="Arial" charset="0"/>
                <a:sym typeface="Symbol" pitchFamily="18" charset="2"/>
              </a:rPr>
            </a:br>
            <a:br>
              <a:rPr lang="en-US" sz="2800" noProof="0" dirty="0">
                <a:cs typeface="Arial" charset="0"/>
                <a:sym typeface="Symbol" pitchFamily="18" charset="2"/>
              </a:rPr>
            </a:br>
            <a:r>
              <a:rPr lang="en-US" sz="2800" noProof="0" dirty="0">
                <a:cs typeface="Arial" charset="0"/>
                <a:sym typeface="Symbol" pitchFamily="18" charset="2"/>
              </a:rPr>
              <a:t>now comes down to checking if </a:t>
            </a:r>
            <a:r>
              <a:rPr lang="en-US" sz="2800" noProof="0" dirty="0">
                <a:cs typeface="Arial" charset="0"/>
                <a:sym typeface="Symbol"/>
              </a:rPr>
              <a:t>there is an atomic transition 𝛼 </a:t>
            </a:r>
            <a:r>
              <a:rPr lang="en-US" sz="2800" noProof="0" dirty="0">
                <a:solidFill>
                  <a:srgbClr val="C00000"/>
                </a:solidFill>
                <a:cs typeface="Arial" charset="0"/>
                <a:sym typeface="Symbol"/>
              </a:rPr>
              <a:t>of either </a:t>
            </a:r>
            <a:r>
              <a:rPr lang="en-US" sz="2800" i="1" noProof="0" dirty="0">
                <a:solidFill>
                  <a:srgbClr val="C00000"/>
                </a:solidFill>
                <a:cs typeface="Arial" charset="0"/>
                <a:sym typeface="Symbol"/>
              </a:rPr>
              <a:t>P</a:t>
            </a:r>
            <a:r>
              <a:rPr lang="en-US" sz="2800" baseline="-25000" noProof="0" dirty="0">
                <a:solidFill>
                  <a:srgbClr val="C00000"/>
                </a:solidFill>
                <a:cs typeface="Arial" charset="0"/>
                <a:sym typeface="Symbol"/>
              </a:rPr>
              <a:t>1</a:t>
            </a:r>
            <a:r>
              <a:rPr lang="en-US" sz="2800" noProof="0" dirty="0">
                <a:solidFill>
                  <a:srgbClr val="C00000"/>
                </a:solidFill>
                <a:cs typeface="Arial" charset="0"/>
                <a:sym typeface="Symbol"/>
              </a:rPr>
              <a:t> or </a:t>
            </a:r>
            <a:r>
              <a:rPr lang="en-US" sz="2800" i="1" noProof="0" dirty="0">
                <a:solidFill>
                  <a:srgbClr val="C00000"/>
                </a:solidFill>
                <a:cs typeface="Arial" charset="0"/>
                <a:sym typeface="Symbol"/>
              </a:rPr>
              <a:t>P</a:t>
            </a:r>
            <a:r>
              <a:rPr lang="en-US" sz="2800" baseline="-25000" noProof="0" dirty="0">
                <a:solidFill>
                  <a:srgbClr val="C00000"/>
                </a:solidFill>
                <a:cs typeface="Arial" charset="0"/>
                <a:sym typeface="Symbol"/>
              </a:rPr>
              <a:t>2</a:t>
            </a:r>
            <a:r>
              <a:rPr lang="en-US" sz="2800" noProof="0" dirty="0">
                <a:cs typeface="Arial" charset="0"/>
                <a:sym typeface="Symbol"/>
              </a:rPr>
              <a:t>, and a label </a:t>
            </a:r>
            <a:r>
              <a:rPr lang="en-US" sz="2800" i="1" noProof="0" dirty="0">
                <a:cs typeface="Arial" charset="0"/>
                <a:sym typeface="Symbol"/>
              </a:rPr>
              <a:t>L </a:t>
            </a:r>
            <a:r>
              <a:rPr lang="en-US" sz="2800" noProof="0" dirty="0">
                <a:cs typeface="Arial" charset="0"/>
                <a:sym typeface="Symbol"/>
              </a:rPr>
              <a:t>of </a:t>
            </a:r>
            <a:r>
              <a:rPr lang="en-US" sz="2800" i="1" noProof="0" dirty="0">
                <a:cs typeface="Arial" charset="0"/>
                <a:sym typeface="Symbol"/>
              </a:rPr>
              <a:t>B</a:t>
            </a:r>
            <a:r>
              <a:rPr lang="en-US" sz="2800" baseline="-25000" noProof="0" dirty="0">
                <a:cs typeface="Arial" charset="0"/>
                <a:sym typeface="Symbol"/>
              </a:rPr>
              <a:t> </a:t>
            </a:r>
            <a:r>
              <a:rPr lang="en-US" sz="2800" noProof="0" dirty="0">
                <a:cs typeface="Arial" charset="0"/>
                <a:sym typeface="Symbol"/>
              </a:rPr>
              <a:t>such that </a:t>
            </a:r>
            <a:r>
              <a:rPr lang="en-US" sz="2800" i="1" noProof="0" dirty="0">
                <a:cs typeface="Arial" charset="0"/>
                <a:sym typeface="Symbol" pitchFamily="18" charset="2"/>
              </a:rPr>
              <a:t>s</a:t>
            </a:r>
            <a:r>
              <a:rPr lang="en-US" sz="2800" baseline="-25000" noProof="0" dirty="0">
                <a:cs typeface="Arial" charset="0"/>
                <a:sym typeface="Symbol" pitchFamily="18" charset="2"/>
              </a:rPr>
              <a:t>2</a:t>
            </a:r>
            <a:r>
              <a:rPr lang="en-US" sz="2800" noProof="0" dirty="0">
                <a:cs typeface="Arial" charset="0"/>
                <a:sym typeface="Symbol" pitchFamily="18" charset="2"/>
              </a:rPr>
              <a:t>  </a:t>
            </a:r>
            <a:r>
              <a:rPr lang="en-US" sz="2800" i="1" noProof="0" dirty="0">
                <a:cs typeface="Arial" charset="0"/>
                <a:sym typeface="Symbol" pitchFamily="18" charset="2"/>
              </a:rPr>
              <a:t>next</a:t>
            </a:r>
            <a:r>
              <a:rPr lang="en-US" sz="2800" baseline="-25000" noProof="0" dirty="0">
                <a:cs typeface="Arial" charset="0"/>
                <a:sym typeface="Symbol"/>
              </a:rPr>
              <a:t></a:t>
            </a:r>
            <a:r>
              <a:rPr lang="en-US" sz="2800" noProof="0" dirty="0">
                <a:cs typeface="Arial" charset="0"/>
                <a:sym typeface="Symbol" pitchFamily="18" charset="2"/>
              </a:rPr>
              <a:t>(</a:t>
            </a:r>
            <a:r>
              <a:rPr lang="en-US" sz="2800" i="1" noProof="0" dirty="0">
                <a:cs typeface="Arial" charset="0"/>
                <a:sym typeface="Symbol" pitchFamily="18" charset="2"/>
              </a:rPr>
              <a:t>u</a:t>
            </a:r>
            <a:r>
              <a:rPr lang="en-US" sz="2800" baseline="-25000" noProof="0" dirty="0">
                <a:cs typeface="Arial" charset="0"/>
                <a:sym typeface="Symbol" pitchFamily="18" charset="2"/>
              </a:rPr>
              <a:t>2</a:t>
            </a:r>
            <a:r>
              <a:rPr lang="en-US" sz="2800" noProof="0" dirty="0">
                <a:cs typeface="Arial" charset="0"/>
                <a:sym typeface="Symbol" pitchFamily="18" charset="2"/>
              </a:rPr>
              <a:t>,</a:t>
            </a:r>
            <a:r>
              <a:rPr lang="en-US" sz="2800" i="1" noProof="0" dirty="0">
                <a:cs typeface="Arial" charset="0"/>
                <a:sym typeface="Symbol" pitchFamily="18" charset="2"/>
              </a:rPr>
              <a:t>L</a:t>
            </a:r>
            <a:r>
              <a:rPr lang="en-US" sz="2800" noProof="0" dirty="0">
                <a:cs typeface="Arial" charset="0"/>
                <a:sym typeface="Symbol" pitchFamily="18" charset="2"/>
              </a:rPr>
              <a:t>)), and :</a:t>
            </a:r>
            <a:endParaRPr lang="en-US" sz="2800" noProof="0" dirty="0">
              <a:cs typeface="Arial" charset="0"/>
              <a:sym typeface="Symbol"/>
            </a:endParaRPr>
          </a:p>
          <a:p>
            <a:pPr lvl="1"/>
            <a:r>
              <a:rPr lang="en-US" noProof="0" dirty="0">
                <a:cs typeface="Arial" charset="0"/>
                <a:sym typeface="Symbol"/>
              </a:rPr>
              <a:t>for all propositions </a:t>
            </a:r>
            <a:r>
              <a:rPr lang="en-US" noProof="0" dirty="0" err="1">
                <a:cs typeface="Arial" charset="0"/>
                <a:sym typeface="Symbol"/>
              </a:rPr>
              <a:t>p∈</a:t>
            </a:r>
            <a:r>
              <a:rPr lang="en-US" i="1" noProof="0" dirty="0" err="1">
                <a:cs typeface="Arial" charset="0"/>
                <a:sym typeface="Symbol"/>
              </a:rPr>
              <a:t>L</a:t>
            </a:r>
            <a:r>
              <a:rPr lang="en-US" noProof="0" dirty="0">
                <a:cs typeface="Arial" charset="0"/>
                <a:sym typeface="Symbol"/>
              </a:rPr>
              <a:t>, </a:t>
            </a:r>
            <a:r>
              <a:rPr lang="en-US" b="1" noProof="0" dirty="0">
                <a:cs typeface="Arial" charset="0"/>
                <a:sym typeface="Symbol"/>
              </a:rPr>
              <a:t>eval</a:t>
            </a:r>
            <a:r>
              <a:rPr lang="en-US" noProof="0" dirty="0">
                <a:cs typeface="Arial" charset="0"/>
                <a:sym typeface="Symbol"/>
              </a:rPr>
              <a:t>(p, 𝛼(</a:t>
            </a:r>
            <a:r>
              <a:rPr lang="en-US" i="1" noProof="0" dirty="0">
                <a:cs typeface="Arial" charset="0"/>
                <a:sym typeface="Symbol" pitchFamily="18" charset="2"/>
              </a:rPr>
              <a:t>u</a:t>
            </a:r>
            <a:r>
              <a:rPr lang="en-US" i="1" baseline="-25000" noProof="0" dirty="0">
                <a:cs typeface="Arial" charset="0"/>
                <a:sym typeface="Symbol" pitchFamily="18" charset="2"/>
              </a:rPr>
              <a:t>1</a:t>
            </a:r>
            <a:r>
              <a:rPr lang="en-US" noProof="0" dirty="0">
                <a:cs typeface="Arial" charset="0"/>
                <a:sym typeface="Symbol" pitchFamily="18" charset="2"/>
              </a:rPr>
              <a:t>)) = true</a:t>
            </a:r>
          </a:p>
          <a:p>
            <a:pPr lvl="1"/>
            <a:r>
              <a:rPr lang="en-US" noProof="0" dirty="0">
                <a:cs typeface="Arial" charset="0"/>
                <a:sym typeface="Symbol"/>
              </a:rPr>
              <a:t>for all propositions </a:t>
            </a:r>
            <a:r>
              <a:rPr lang="en-US" noProof="0" dirty="0" err="1">
                <a:cs typeface="Arial" charset="0"/>
                <a:sym typeface="Symbol"/>
              </a:rPr>
              <a:t>q∈Prop</a:t>
            </a:r>
            <a:r>
              <a:rPr lang="en-US" noProof="0" dirty="0">
                <a:cs typeface="Arial" charset="0"/>
                <a:sym typeface="Symbol"/>
              </a:rPr>
              <a:t>/L, </a:t>
            </a:r>
            <a:r>
              <a:rPr lang="en-US" b="1" noProof="0" dirty="0">
                <a:cs typeface="Arial" charset="0"/>
                <a:sym typeface="Symbol"/>
              </a:rPr>
              <a:t>eval</a:t>
            </a:r>
            <a:r>
              <a:rPr lang="en-US" noProof="0" dirty="0">
                <a:cs typeface="Arial" charset="0"/>
                <a:sym typeface="Symbol"/>
              </a:rPr>
              <a:t>(q, 𝛼(</a:t>
            </a:r>
            <a:r>
              <a:rPr lang="en-US" i="1" noProof="0" dirty="0">
                <a:cs typeface="Arial" charset="0"/>
                <a:sym typeface="Symbol" pitchFamily="18" charset="2"/>
              </a:rPr>
              <a:t>u</a:t>
            </a:r>
            <a:r>
              <a:rPr lang="en-US" i="1" baseline="-25000" noProof="0" dirty="0">
                <a:cs typeface="Arial" charset="0"/>
                <a:sym typeface="Symbol" pitchFamily="18" charset="2"/>
              </a:rPr>
              <a:t>1</a:t>
            </a:r>
            <a:r>
              <a:rPr lang="en-US" noProof="0" dirty="0">
                <a:cs typeface="Arial" charset="0"/>
                <a:sym typeface="Symbol" pitchFamily="18" charset="2"/>
              </a:rPr>
              <a:t>)) = false</a:t>
            </a:r>
          </a:p>
          <a:p>
            <a:pPr marL="319088" lvl="1" indent="0">
              <a:buNone/>
            </a:pPr>
            <a:endParaRPr lang="en-US" noProof="0" dirty="0"/>
          </a:p>
          <a:p>
            <a:endParaRPr lang="en-US" sz="2400" noProof="0" dirty="0"/>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57</a:t>
            </a:fld>
            <a:endParaRPr lang="en-US" noProof="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6145619" y="1605516"/>
            <a:ext cx="1041990" cy="914400"/>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490" name="Rectangle 2"/>
          <p:cNvSpPr>
            <a:spLocks noGrp="1" noChangeArrowheads="1"/>
          </p:cNvSpPr>
          <p:nvPr>
            <p:ph type="title"/>
          </p:nvPr>
        </p:nvSpPr>
        <p:spPr>
          <a:xfrm>
            <a:off x="500063" y="274638"/>
            <a:ext cx="8358187" cy="796925"/>
          </a:xfrm>
        </p:spPr>
        <p:txBody>
          <a:bodyPr/>
          <a:lstStyle/>
          <a:p>
            <a:pPr eaLnBrk="1" hangingPunct="1"/>
            <a:r>
              <a:rPr lang="en-US" noProof="0" dirty="0">
                <a:cs typeface="Arial" charset="0"/>
              </a:rPr>
              <a:t>Fairness</a:t>
            </a:r>
          </a:p>
        </p:txBody>
      </p:sp>
      <p:sp>
        <p:nvSpPr>
          <p:cNvPr id="63491" name="Rectangle 3"/>
          <p:cNvSpPr>
            <a:spLocks noGrp="1" noChangeArrowheads="1"/>
          </p:cNvSpPr>
          <p:nvPr>
            <p:ph sz="quarter" idx="1"/>
          </p:nvPr>
        </p:nvSpPr>
        <p:spPr>
          <a:xfrm>
            <a:off x="341313" y="1219200"/>
            <a:ext cx="8116887" cy="5353050"/>
          </a:xfrm>
        </p:spPr>
        <p:txBody>
          <a:bodyPr/>
          <a:lstStyle/>
          <a:p>
            <a:pPr eaLnBrk="1" hangingPunct="1">
              <a:lnSpc>
                <a:spcPct val="80000"/>
              </a:lnSpc>
            </a:pPr>
            <a:r>
              <a:rPr lang="en-US" sz="2000" noProof="0" dirty="0">
                <a:cs typeface="Arial" charset="0"/>
              </a:rPr>
              <a:t>Consider this concurrent system :</a:t>
            </a:r>
            <a:br>
              <a:rPr lang="en-US" sz="2000" noProof="0" dirty="0">
                <a:cs typeface="Arial" charset="0"/>
              </a:rPr>
            </a:br>
            <a:br>
              <a:rPr lang="en-US" sz="2000" noProof="0" dirty="0">
                <a:cs typeface="Arial" charset="0"/>
              </a:rPr>
            </a:br>
            <a:br>
              <a:rPr lang="en-US" sz="2000" noProof="0" dirty="0">
                <a:cs typeface="Arial" charset="0"/>
              </a:rPr>
            </a:br>
            <a:br>
              <a:rPr lang="en-US" sz="2000" noProof="0" dirty="0">
                <a:cs typeface="Arial" charset="0"/>
              </a:rPr>
            </a:br>
            <a:br>
              <a:rPr lang="en-US" sz="2000" noProof="0" dirty="0">
                <a:cs typeface="Arial" charset="0"/>
              </a:rPr>
            </a:br>
            <a:br>
              <a:rPr lang="en-US" sz="2000" noProof="0" dirty="0">
                <a:cs typeface="Arial" charset="0"/>
              </a:rPr>
            </a:br>
            <a:endParaRPr lang="en-US" sz="2000" noProof="0" dirty="0">
              <a:cs typeface="Arial" charset="0"/>
            </a:endParaRPr>
          </a:p>
          <a:p>
            <a:pPr eaLnBrk="1" hangingPunct="1">
              <a:lnSpc>
                <a:spcPct val="80000"/>
              </a:lnSpc>
            </a:pPr>
            <a:r>
              <a:rPr lang="en-US" sz="2000" dirty="0">
                <a:cs typeface="Arial" charset="0"/>
              </a:rPr>
              <a:t>In the above system, it possible that print </a:t>
            </a:r>
            <a:r>
              <a:rPr lang="en-US" sz="2000" i="1" dirty="0">
                <a:cs typeface="Arial" charset="0"/>
              </a:rPr>
              <a:t>x</a:t>
            </a:r>
            <a:r>
              <a:rPr lang="en-US" sz="2000" dirty="0">
                <a:cs typeface="Arial" charset="0"/>
              </a:rPr>
              <a:t> is ignored forever. Still, we </a:t>
            </a:r>
            <a:r>
              <a:rPr lang="en-US" sz="2000" noProof="0" dirty="0">
                <a:cs typeface="Arial" charset="0"/>
              </a:rPr>
              <a:t>may want to analyze the behavior of the system when it behaves “fairly”.</a:t>
            </a:r>
            <a:endParaRPr lang="en-US" sz="2000" dirty="0">
              <a:cs typeface="Arial" charset="0"/>
            </a:endParaRPr>
          </a:p>
          <a:p>
            <a:pPr eaLnBrk="1" hangingPunct="1">
              <a:lnSpc>
                <a:spcPct val="80000"/>
              </a:lnSpc>
            </a:pPr>
            <a:r>
              <a:rPr lang="en-US" sz="2000" dirty="0">
                <a:cs typeface="Arial" charset="0"/>
              </a:rPr>
              <a:t>We need to first define what we mean by “fair”. Several standard definitions;</a:t>
            </a:r>
          </a:p>
          <a:p>
            <a:pPr lvl="1" eaLnBrk="1" hangingPunct="1">
              <a:lnSpc>
                <a:spcPct val="80000"/>
              </a:lnSpc>
            </a:pPr>
            <a:r>
              <a:rPr lang="en-US" sz="1800" i="1" noProof="0" dirty="0">
                <a:solidFill>
                  <a:srgbClr val="C00000"/>
                </a:solidFill>
                <a:cs typeface="Arial" charset="0"/>
              </a:rPr>
              <a:t>Weak fairness </a:t>
            </a:r>
            <a:r>
              <a:rPr lang="en-US" sz="1800" noProof="0" dirty="0">
                <a:cs typeface="Arial" charset="0"/>
              </a:rPr>
              <a:t>: any action that is persistently enabled  will eventually be executed.</a:t>
            </a:r>
          </a:p>
          <a:p>
            <a:pPr lvl="1" eaLnBrk="1" hangingPunct="1">
              <a:lnSpc>
                <a:spcPct val="80000"/>
              </a:lnSpc>
            </a:pPr>
            <a:r>
              <a:rPr lang="en-US" sz="1800" i="1" noProof="0" dirty="0">
                <a:solidFill>
                  <a:srgbClr val="C00000"/>
                </a:solidFill>
                <a:cs typeface="Arial" charset="0"/>
              </a:rPr>
              <a:t>Strong fairness </a:t>
            </a:r>
            <a:r>
              <a:rPr lang="en-US" sz="1800" noProof="0" dirty="0">
                <a:cs typeface="Arial" charset="0"/>
              </a:rPr>
              <a:t>: any action that is kept recurrently enabled (but not necessarily persistently enabled) will eventually be executed.</a:t>
            </a:r>
          </a:p>
          <a:p>
            <a:pPr lvl="1" eaLnBrk="1" hangingPunct="1">
              <a:lnSpc>
                <a:spcPct val="80000"/>
              </a:lnSpc>
            </a:pPr>
            <a:endParaRPr lang="en-US" sz="1800" noProof="0" dirty="0">
              <a:cs typeface="Arial" charset="0"/>
            </a:endParaRPr>
          </a:p>
          <a:p>
            <a:pPr eaLnBrk="1" hangingPunct="1">
              <a:lnSpc>
                <a:spcPct val="80000"/>
              </a:lnSpc>
            </a:pPr>
            <a:r>
              <a:rPr lang="en-US" sz="2000" noProof="0" dirty="0">
                <a:cs typeface="Arial" charset="0"/>
              </a:rPr>
              <a:t>Imposing fairness mean: when verifying </a:t>
            </a:r>
            <a:r>
              <a:rPr lang="en-US" sz="2000" i="1" noProof="0" dirty="0">
                <a:cs typeface="Arial" charset="0"/>
              </a:rPr>
              <a:t>M</a:t>
            </a:r>
            <a:r>
              <a:rPr lang="en-US" sz="2000" noProof="0" dirty="0">
                <a:cs typeface="Arial" charset="0"/>
              </a:rPr>
              <a:t> |== </a:t>
            </a:r>
            <a:r>
              <a:rPr lang="en-US" sz="2000" noProof="0" dirty="0">
                <a:cs typeface="Arial" charset="0"/>
                <a:sym typeface="Symbol"/>
              </a:rPr>
              <a:t>, we only need to verify  </a:t>
            </a:r>
            <a:r>
              <a:rPr lang="en-US" sz="2000" noProof="0" dirty="0" err="1">
                <a:cs typeface="Arial" charset="0"/>
                <a:sym typeface="Symbol"/>
              </a:rPr>
              <a:t>wrt</a:t>
            </a:r>
            <a:r>
              <a:rPr lang="en-US" sz="2000" noProof="0" dirty="0">
                <a:cs typeface="Arial" charset="0"/>
                <a:sym typeface="Symbol"/>
              </a:rPr>
              <a:t> fair executions of M.</a:t>
            </a:r>
            <a:endParaRPr lang="en-US" sz="2000" noProof="0" dirty="0">
              <a:cs typeface="Arial" charset="0"/>
            </a:endParaRPr>
          </a:p>
          <a:p>
            <a:pPr lvl="1" eaLnBrk="1" hangingPunct="1">
              <a:lnSpc>
                <a:spcPct val="80000"/>
              </a:lnSpc>
            </a:pPr>
            <a:r>
              <a:rPr lang="en-US" sz="1800" noProof="0" dirty="0">
                <a:cs typeface="Arial" charset="0"/>
              </a:rPr>
              <a:t>A </a:t>
            </a:r>
            <a:r>
              <a:rPr lang="en-US" sz="1800" i="1" noProof="0" dirty="0">
                <a:solidFill>
                  <a:srgbClr val="C00000"/>
                </a:solidFill>
                <a:cs typeface="Arial" charset="0"/>
              </a:rPr>
              <a:t>fair execution </a:t>
            </a:r>
            <a:r>
              <a:rPr lang="en-US" sz="1800" noProof="0" dirty="0">
                <a:cs typeface="Arial" charset="0"/>
              </a:rPr>
              <a:t>: an execution respecting the assumed fairness condition.</a:t>
            </a:r>
          </a:p>
        </p:txBody>
      </p:sp>
      <p:sp>
        <p:nvSpPr>
          <p:cNvPr id="5" name="TextBox 4"/>
          <p:cNvSpPr txBox="1"/>
          <p:nvPr/>
        </p:nvSpPr>
        <p:spPr>
          <a:xfrm>
            <a:off x="235443" y="1836738"/>
            <a:ext cx="4612980" cy="46166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defRPr/>
            </a:pPr>
            <a:r>
              <a:rPr lang="en-US" i="1" noProof="0" dirty="0">
                <a:cs typeface="Arial" pitchFamily="34" charset="0"/>
              </a:rPr>
              <a:t>P</a:t>
            </a:r>
            <a:r>
              <a:rPr lang="en-US" noProof="0" dirty="0">
                <a:cs typeface="Arial" pitchFamily="34" charset="0"/>
              </a:rPr>
              <a:t> { </a:t>
            </a:r>
            <a:r>
              <a:rPr lang="en-US" b="1" noProof="0" dirty="0">
                <a:cs typeface="Arial" pitchFamily="34" charset="0"/>
              </a:rPr>
              <a:t>while </a:t>
            </a:r>
            <a:r>
              <a:rPr lang="en-US" noProof="0" dirty="0">
                <a:cs typeface="Arial" pitchFamily="34" charset="0"/>
              </a:rPr>
              <a:t>true </a:t>
            </a:r>
            <a:r>
              <a:rPr lang="en-US" b="1" noProof="0" dirty="0">
                <a:cs typeface="Arial" pitchFamily="34" charset="0"/>
              </a:rPr>
              <a:t>do</a:t>
            </a:r>
            <a:r>
              <a:rPr lang="en-US" noProof="0" dirty="0">
                <a:cs typeface="Arial" pitchFamily="34" charset="0"/>
              </a:rPr>
              <a:t> </a:t>
            </a:r>
            <a:r>
              <a:rPr lang="en-US" i="1" noProof="0" dirty="0">
                <a:cs typeface="Arial" pitchFamily="34" charset="0"/>
              </a:rPr>
              <a:t>x:=(x+1)%3  </a:t>
            </a:r>
            <a:r>
              <a:rPr lang="en-US" noProof="0" dirty="0">
                <a:cs typeface="Arial" pitchFamily="34" charset="0"/>
              </a:rPr>
              <a:t>}</a:t>
            </a:r>
          </a:p>
        </p:txBody>
      </p:sp>
      <p:sp>
        <p:nvSpPr>
          <p:cNvPr id="6" name="TextBox 5"/>
          <p:cNvSpPr txBox="1"/>
          <p:nvPr/>
        </p:nvSpPr>
        <p:spPr>
          <a:xfrm>
            <a:off x="5467886" y="1839912"/>
            <a:ext cx="3036409" cy="461665"/>
          </a:xfrm>
          <a:prstGeom prst="rect">
            <a:avLst/>
          </a:prstGeom>
          <a:no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i="1" noProof="0" dirty="0">
                <a:cs typeface="Arial" pitchFamily="34" charset="0"/>
              </a:rPr>
              <a:t>Q</a:t>
            </a:r>
            <a:r>
              <a:rPr lang="en-US" noProof="0" dirty="0">
                <a:cs typeface="Arial" pitchFamily="34" charset="0"/>
              </a:rPr>
              <a:t>  {  (</a:t>
            </a:r>
            <a:r>
              <a:rPr lang="en-US" i="1" noProof="0" dirty="0">
                <a:cs typeface="Arial" pitchFamily="34" charset="0"/>
              </a:rPr>
              <a:t>x</a:t>
            </a:r>
            <a:r>
              <a:rPr lang="en-US" noProof="0" dirty="0">
                <a:cs typeface="Arial" pitchFamily="34" charset="0"/>
              </a:rPr>
              <a:t>==0) ; print </a:t>
            </a:r>
            <a:r>
              <a:rPr lang="en-US" i="1" noProof="0" dirty="0">
                <a:cs typeface="Arial" pitchFamily="34" charset="0"/>
              </a:rPr>
              <a:t>x</a:t>
            </a:r>
            <a:r>
              <a:rPr lang="en-US" noProof="0" dirty="0">
                <a:cs typeface="Arial" pitchFamily="34" charset="0"/>
              </a:rPr>
              <a:t> }</a:t>
            </a:r>
          </a:p>
        </p:txBody>
      </p:sp>
      <p:sp>
        <p:nvSpPr>
          <p:cNvPr id="63498" name="TextBox 6"/>
          <p:cNvSpPr txBox="1">
            <a:spLocks noChangeArrowheads="1"/>
          </p:cNvSpPr>
          <p:nvPr/>
        </p:nvSpPr>
        <p:spPr bwMode="auto">
          <a:xfrm>
            <a:off x="4958973" y="1823890"/>
            <a:ext cx="319087" cy="461962"/>
          </a:xfrm>
          <a:prstGeom prst="rect">
            <a:avLst/>
          </a:prstGeom>
          <a:noFill/>
          <a:ln w="9525">
            <a:noFill/>
            <a:miter lim="800000"/>
            <a:headEnd/>
            <a:tailEnd/>
          </a:ln>
        </p:spPr>
        <p:txBody>
          <a:bodyPr wrap="none">
            <a:spAutoFit/>
          </a:bodyPr>
          <a:lstStyle/>
          <a:p>
            <a:r>
              <a:rPr lang="en-US" b="1" noProof="0" dirty="0"/>
              <a:t>||</a:t>
            </a:r>
          </a:p>
        </p:txBody>
      </p:sp>
      <p:sp>
        <p:nvSpPr>
          <p:cNvPr id="8" name="Tijdelijke aanduiding voor dianummer 7"/>
          <p:cNvSpPr>
            <a:spLocks noGrp="1"/>
          </p:cNvSpPr>
          <p:nvPr>
            <p:ph type="sldNum" sz="quarter" idx="12"/>
          </p:nvPr>
        </p:nvSpPr>
        <p:spPr/>
        <p:txBody>
          <a:bodyPr/>
          <a:lstStyle/>
          <a:p>
            <a:pPr>
              <a:defRPr/>
            </a:pPr>
            <a:fld id="{62C9D6C6-CC19-4C16-9A24-DE5BE84727B2}" type="slidenum">
              <a:rPr lang="en-US" noProof="0"/>
              <a:pPr>
                <a:defRPr/>
              </a:pPr>
              <a:t>58</a:t>
            </a:fld>
            <a:endParaRPr lang="en-US" noProof="0" dirty="0"/>
          </a:p>
        </p:txBody>
      </p:sp>
      <p:sp>
        <p:nvSpPr>
          <p:cNvPr id="10" name="TextBox 9"/>
          <p:cNvSpPr txBox="1"/>
          <p:nvPr/>
        </p:nvSpPr>
        <p:spPr>
          <a:xfrm>
            <a:off x="6230679" y="1297173"/>
            <a:ext cx="1689886" cy="276999"/>
          </a:xfrm>
          <a:prstGeom prst="rect">
            <a:avLst/>
          </a:prstGeom>
          <a:noFill/>
        </p:spPr>
        <p:txBody>
          <a:bodyPr wrap="none" rtlCol="0">
            <a:spAutoFit/>
          </a:bodyPr>
          <a:lstStyle/>
          <a:p>
            <a:r>
              <a:rPr lang="en-US" sz="1200" i="1" noProof="0" dirty="0"/>
              <a:t>execution blocks if false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Verifying properties under fairness</a:t>
            </a:r>
          </a:p>
        </p:txBody>
      </p:sp>
      <p:sp>
        <p:nvSpPr>
          <p:cNvPr id="3" name="Content Placeholder 2"/>
          <p:cNvSpPr>
            <a:spLocks noGrp="1"/>
          </p:cNvSpPr>
          <p:nvPr>
            <p:ph sz="quarter" idx="1"/>
          </p:nvPr>
        </p:nvSpPr>
        <p:spPr>
          <a:xfrm>
            <a:off x="2711259" y="1201479"/>
            <a:ext cx="6283885" cy="4818321"/>
          </a:xfrm>
        </p:spPr>
        <p:txBody>
          <a:bodyPr/>
          <a:lstStyle/>
          <a:p>
            <a:r>
              <a:rPr lang="en-US" noProof="0" dirty="0">
                <a:sym typeface="Wingdings"/>
              </a:rPr>
              <a:t>If a fairness assumption can be expressed with some LTL formula </a:t>
            </a:r>
            <a:r>
              <a:rPr lang="en-US" i="1" noProof="0" dirty="0">
                <a:sym typeface="Wingdings"/>
              </a:rPr>
              <a:t>F</a:t>
            </a:r>
            <a:r>
              <a:rPr lang="en-US" noProof="0" dirty="0">
                <a:sym typeface="Wingdings"/>
              </a:rPr>
              <a:t>, we can instead verify </a:t>
            </a:r>
            <a:r>
              <a:rPr lang="en-US" sz="2800" i="1" noProof="0" dirty="0">
                <a:cs typeface="Arial" charset="0"/>
              </a:rPr>
              <a:t>M</a:t>
            </a:r>
            <a:r>
              <a:rPr lang="en-US" sz="2800" noProof="0" dirty="0">
                <a:cs typeface="Arial" charset="0"/>
              </a:rPr>
              <a:t> |== </a:t>
            </a:r>
            <a:r>
              <a:rPr lang="en-US" sz="2800" i="1" noProof="0" dirty="0">
                <a:cs typeface="Arial" charset="0"/>
              </a:rPr>
              <a:t>F</a:t>
            </a:r>
            <a:r>
              <a:rPr lang="en-US" sz="2800" noProof="0" dirty="0">
                <a:cs typeface="Arial" charset="0"/>
              </a:rPr>
              <a:t> → </a:t>
            </a:r>
            <a:r>
              <a:rPr lang="en-US" sz="2800" noProof="0" dirty="0">
                <a:cs typeface="Arial" charset="0"/>
                <a:sym typeface="Symbol"/>
              </a:rPr>
              <a:t></a:t>
            </a:r>
            <a:endParaRPr lang="en-US" noProof="0" dirty="0">
              <a:sym typeface="Wingdings"/>
            </a:endParaRPr>
          </a:p>
          <a:p>
            <a:r>
              <a:rPr lang="en-US" noProof="0" dirty="0">
                <a:sym typeface="Wingdings"/>
              </a:rPr>
              <a:t>No need for a special algorithm!</a:t>
            </a:r>
          </a:p>
          <a:p>
            <a:r>
              <a:rPr lang="en-US" noProof="0" dirty="0">
                <a:sym typeface="Wingdings"/>
              </a:rPr>
              <a:t>E.g. weak fairness F</a:t>
            </a:r>
            <a:r>
              <a:rPr lang="en-US" baseline="-25000" noProof="0" dirty="0">
                <a:sym typeface="Wingdings"/>
              </a:rPr>
              <a:t>1</a:t>
            </a:r>
            <a:r>
              <a:rPr lang="en-US" noProof="0" dirty="0">
                <a:sym typeface="Wingdings"/>
              </a:rPr>
              <a:t>on the red (short dashed) arrow:</a:t>
            </a:r>
          </a:p>
          <a:p>
            <a:pPr lvl="1"/>
            <a:r>
              <a:rPr lang="en-US" noProof="0" dirty="0">
                <a:sym typeface="Wingdings"/>
              </a:rPr>
              <a:t>☐  (</a:t>
            </a:r>
            <a:r>
              <a:rPr lang="en-US" noProof="0" dirty="0">
                <a:highlight>
                  <a:srgbClr val="FFFF00"/>
                </a:highlight>
                <a:sym typeface="Wingdings"/>
              </a:rPr>
              <a:t>☐(</a:t>
            </a:r>
            <a:r>
              <a:rPr lang="en-US" i="1" noProof="0" dirty="0">
                <a:highlight>
                  <a:srgbClr val="FFFF00"/>
                </a:highlight>
                <a:sym typeface="Wingdings"/>
              </a:rPr>
              <a:t>p</a:t>
            </a:r>
            <a:r>
              <a:rPr lang="en-US" noProof="0" dirty="0">
                <a:highlight>
                  <a:srgbClr val="FFFF00"/>
                </a:highlight>
                <a:sym typeface="Symbol"/>
              </a:rPr>
              <a:t></a:t>
            </a:r>
            <a:r>
              <a:rPr lang="en-US" i="1" noProof="0" dirty="0">
                <a:highlight>
                  <a:srgbClr val="FFFF00"/>
                </a:highlight>
                <a:sym typeface="Symbol"/>
              </a:rPr>
              <a:t>q</a:t>
            </a:r>
            <a:r>
              <a:rPr lang="en-US" noProof="0" dirty="0">
                <a:highlight>
                  <a:srgbClr val="FFFF00"/>
                </a:highlight>
                <a:sym typeface="Symbol"/>
              </a:rPr>
              <a:t>) </a:t>
            </a:r>
            <a:r>
              <a:rPr lang="en-US" noProof="0" dirty="0">
                <a:sym typeface="Symbol"/>
              </a:rPr>
              <a:t> </a:t>
            </a:r>
            <a:r>
              <a:rPr lang="en-US" noProof="0" dirty="0">
                <a:sym typeface="Wingdings"/>
              </a:rPr>
              <a:t> </a:t>
            </a:r>
            <a:r>
              <a:rPr lang="en-US" noProof="0" dirty="0">
                <a:sym typeface="Symbol"/>
              </a:rPr>
              <a:t> (</a:t>
            </a:r>
            <a:r>
              <a:rPr lang="en-US" i="1" noProof="0" dirty="0" err="1">
                <a:sym typeface="Symbol"/>
              </a:rPr>
              <a:t>p</a:t>
            </a:r>
            <a:r>
              <a:rPr lang="en-US" noProof="0" dirty="0" err="1">
                <a:sym typeface="Symbol"/>
              </a:rPr>
              <a:t></a:t>
            </a:r>
            <a:r>
              <a:rPr lang="en-US" i="1" noProof="0" dirty="0" err="1">
                <a:sym typeface="Symbol"/>
              </a:rPr>
              <a:t>q</a:t>
            </a:r>
            <a:r>
              <a:rPr lang="en-US" noProof="0" dirty="0">
                <a:sym typeface="Symbol"/>
              </a:rPr>
              <a:t>))</a:t>
            </a:r>
          </a:p>
          <a:p>
            <a:r>
              <a:rPr lang="en-US" noProof="0" dirty="0">
                <a:sym typeface="Wingdings"/>
              </a:rPr>
              <a:t>Strong fairness F</a:t>
            </a:r>
            <a:r>
              <a:rPr lang="en-US" baseline="-25000" noProof="0" dirty="0">
                <a:sym typeface="Wingdings"/>
              </a:rPr>
              <a:t>2</a:t>
            </a:r>
            <a:r>
              <a:rPr lang="en-US" noProof="0" dirty="0">
                <a:sym typeface="Wingdings"/>
              </a:rPr>
              <a:t> on the blue (long dashed) arrow:</a:t>
            </a:r>
          </a:p>
          <a:p>
            <a:pPr marL="547687" lvl="2" indent="-273050">
              <a:spcBef>
                <a:spcPts val="575"/>
              </a:spcBef>
              <a:buClr>
                <a:schemeClr val="accent1"/>
              </a:buClr>
            </a:pPr>
            <a:r>
              <a:rPr lang="en-US" sz="2400" noProof="0" dirty="0">
                <a:sym typeface="Wingdings"/>
              </a:rPr>
              <a:t>☐  (</a:t>
            </a:r>
            <a:r>
              <a:rPr lang="en-US" sz="2400" noProof="0" dirty="0">
                <a:highlight>
                  <a:srgbClr val="FFFF00"/>
                </a:highlight>
                <a:sym typeface="Wingdings"/>
              </a:rPr>
              <a:t>☐</a:t>
            </a:r>
            <a:r>
              <a:rPr lang="en-US" sz="2400" noProof="0" dirty="0">
                <a:highlight>
                  <a:srgbClr val="FFFF00"/>
                </a:highlight>
                <a:sym typeface="Symbol"/>
              </a:rPr>
              <a:t>(</a:t>
            </a:r>
            <a:r>
              <a:rPr lang="en-US" sz="2400" i="1" noProof="0" dirty="0" err="1">
                <a:highlight>
                  <a:srgbClr val="FFFF00"/>
                </a:highlight>
                <a:sym typeface="Symbol"/>
              </a:rPr>
              <a:t>p</a:t>
            </a:r>
            <a:r>
              <a:rPr lang="en-US" sz="2400" noProof="0" dirty="0" err="1">
                <a:highlight>
                  <a:srgbClr val="FFFF00"/>
                </a:highlight>
                <a:sym typeface="Symbol"/>
              </a:rPr>
              <a:t></a:t>
            </a:r>
            <a:r>
              <a:rPr lang="en-US" sz="2400" i="1" noProof="0" dirty="0" err="1">
                <a:highlight>
                  <a:srgbClr val="FFFF00"/>
                </a:highlight>
                <a:sym typeface="Symbol"/>
              </a:rPr>
              <a:t>q</a:t>
            </a:r>
            <a:r>
              <a:rPr lang="en-US" sz="2400" noProof="0" dirty="0">
                <a:highlight>
                  <a:srgbClr val="FFFF00"/>
                </a:highlight>
                <a:sym typeface="Symbol"/>
              </a:rPr>
              <a:t>)</a:t>
            </a:r>
            <a:r>
              <a:rPr lang="en-US" sz="2400" noProof="0" dirty="0">
                <a:sym typeface="Wingdings"/>
              </a:rPr>
              <a:t> </a:t>
            </a:r>
            <a:r>
              <a:rPr lang="en-US" sz="2400" noProof="0" dirty="0">
                <a:sym typeface="Symbol"/>
              </a:rPr>
              <a:t> </a:t>
            </a:r>
            <a:r>
              <a:rPr lang="en-US" sz="2400" noProof="0" dirty="0">
                <a:sym typeface="Wingdings"/>
              </a:rPr>
              <a:t>(</a:t>
            </a:r>
            <a:r>
              <a:rPr lang="en-US" sz="2400" noProof="0" dirty="0">
                <a:sym typeface="Symbol"/>
              </a:rPr>
              <a:t></a:t>
            </a:r>
            <a:r>
              <a:rPr lang="en-US" sz="2400" i="1" noProof="0" dirty="0">
                <a:sym typeface="Wingdings"/>
              </a:rPr>
              <a:t>p</a:t>
            </a:r>
            <a:r>
              <a:rPr lang="en-US" sz="2400" noProof="0" dirty="0">
                <a:sym typeface="Symbol"/>
              </a:rPr>
              <a:t></a:t>
            </a:r>
            <a:r>
              <a:rPr lang="en-US" sz="2400" i="1" noProof="0" dirty="0">
                <a:sym typeface="Symbol"/>
              </a:rPr>
              <a:t>q</a:t>
            </a:r>
            <a:r>
              <a:rPr lang="en-US" sz="2400" noProof="0" dirty="0">
                <a:sym typeface="Symbol"/>
              </a:rPr>
              <a:t>))</a:t>
            </a:r>
          </a:p>
          <a:p>
            <a:pPr marL="273050" lvl="1" indent="-273050">
              <a:spcBef>
                <a:spcPts val="575"/>
              </a:spcBef>
              <a:buClr>
                <a:schemeClr val="accent1"/>
              </a:buClr>
            </a:pPr>
            <a:r>
              <a:rPr lang="en-US" sz="2800" noProof="0" dirty="0">
                <a:sym typeface="Symbol"/>
              </a:rPr>
              <a:t>Example of property to verify:</a:t>
            </a:r>
            <a:br>
              <a:rPr lang="en-US" sz="2800" noProof="0" dirty="0">
                <a:sym typeface="Symbol"/>
              </a:rPr>
            </a:br>
            <a:r>
              <a:rPr lang="en-US" sz="2800" noProof="0" dirty="0">
                <a:sym typeface="Symbol"/>
              </a:rPr>
              <a:t>F</a:t>
            </a:r>
            <a:r>
              <a:rPr lang="en-US" sz="2800" baseline="-25000" noProof="0" dirty="0">
                <a:sym typeface="Symbol"/>
              </a:rPr>
              <a:t>1</a:t>
            </a:r>
            <a:r>
              <a:rPr lang="en-US" sz="2800" noProof="0" dirty="0">
                <a:sym typeface="Symbol"/>
              </a:rPr>
              <a:t>  F</a:t>
            </a:r>
            <a:r>
              <a:rPr lang="en-US" sz="2800" baseline="-25000" noProof="0" dirty="0">
                <a:sym typeface="Symbol"/>
              </a:rPr>
              <a:t>2</a:t>
            </a:r>
            <a:r>
              <a:rPr lang="en-US" sz="2800" noProof="0" dirty="0">
                <a:sym typeface="Symbol"/>
              </a:rPr>
              <a:t> </a:t>
            </a:r>
            <a:r>
              <a:rPr lang="en-US" sz="2800" noProof="0" dirty="0">
                <a:cs typeface="Arial" charset="0"/>
              </a:rPr>
              <a:t>→  </a:t>
            </a:r>
            <a:r>
              <a:rPr lang="en-US" sz="2800" noProof="0" dirty="0">
                <a:sym typeface="Symbol"/>
              </a:rPr>
              <a:t></a:t>
            </a:r>
            <a:r>
              <a:rPr lang="en-US" sz="2800" noProof="0" dirty="0">
                <a:sym typeface="Wingdings"/>
              </a:rPr>
              <a:t>(</a:t>
            </a:r>
            <a:r>
              <a:rPr lang="en-US" sz="2800" noProof="0" dirty="0">
                <a:sym typeface="Symbol"/>
              </a:rPr>
              <a:t></a:t>
            </a:r>
            <a:r>
              <a:rPr lang="en-US" sz="2800" i="1" noProof="0" dirty="0">
                <a:sym typeface="Wingdings"/>
              </a:rPr>
              <a:t>p</a:t>
            </a:r>
            <a:r>
              <a:rPr lang="en-US" sz="2800" noProof="0" dirty="0">
                <a:sym typeface="Symbol"/>
              </a:rPr>
              <a:t></a:t>
            </a:r>
            <a:r>
              <a:rPr lang="en-US" sz="2800" i="1" noProof="0" dirty="0">
                <a:sym typeface="Symbol"/>
              </a:rPr>
              <a:t>q</a:t>
            </a:r>
            <a:r>
              <a:rPr lang="en-US" sz="2800" noProof="0" dirty="0">
                <a:sym typeface="Symbol"/>
              </a:rPr>
              <a:t>)</a:t>
            </a:r>
          </a:p>
        </p:txBody>
      </p:sp>
      <p:sp>
        <p:nvSpPr>
          <p:cNvPr id="4" name="Slide Number Placeholder 3"/>
          <p:cNvSpPr>
            <a:spLocks noGrp="1"/>
          </p:cNvSpPr>
          <p:nvPr>
            <p:ph type="sldNum" sz="quarter" idx="12"/>
          </p:nvPr>
        </p:nvSpPr>
        <p:spPr/>
        <p:txBody>
          <a:bodyPr/>
          <a:lstStyle/>
          <a:p>
            <a:pPr>
              <a:defRPr/>
            </a:pPr>
            <a:fld id="{035BBBAB-F59C-4A09-A6DF-04136A5C284F}" type="slidenum">
              <a:rPr lang="en-US" noProof="0" smtClean="0"/>
              <a:pPr>
                <a:defRPr/>
              </a:pPr>
              <a:t>59</a:t>
            </a:fld>
            <a:endParaRPr lang="en-US" noProof="0" dirty="0"/>
          </a:p>
        </p:txBody>
      </p:sp>
      <p:sp>
        <p:nvSpPr>
          <p:cNvPr id="5" name="Rounded Rectangle 4"/>
          <p:cNvSpPr/>
          <p:nvPr/>
        </p:nvSpPr>
        <p:spPr>
          <a:xfrm>
            <a:off x="543529" y="1827213"/>
            <a:ext cx="703263"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0</a:t>
            </a:r>
          </a:p>
        </p:txBody>
      </p:sp>
      <p:sp>
        <p:nvSpPr>
          <p:cNvPr id="6" name="Rounded Rectangle 5"/>
          <p:cNvSpPr/>
          <p:nvPr/>
        </p:nvSpPr>
        <p:spPr>
          <a:xfrm>
            <a:off x="634793" y="3128711"/>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1</a:t>
            </a:r>
          </a:p>
        </p:txBody>
      </p:sp>
      <p:cxnSp>
        <p:nvCxnSpPr>
          <p:cNvPr id="7" name="Curved Connector 8"/>
          <p:cNvCxnSpPr>
            <a:endCxn id="5" idx="0"/>
          </p:cNvCxnSpPr>
          <p:nvPr/>
        </p:nvCxnSpPr>
        <p:spPr>
          <a:xfrm rot="10800000">
            <a:off x="895162" y="1827213"/>
            <a:ext cx="351631" cy="296862"/>
          </a:xfrm>
          <a:prstGeom prst="curvedConnector4">
            <a:avLst>
              <a:gd name="adj1" fmla="val -103386"/>
              <a:gd name="adj2" fmla="val 247593"/>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a:cxnSpLocks/>
          </p:cNvCxnSpPr>
          <p:nvPr/>
        </p:nvCxnSpPr>
        <p:spPr>
          <a:xfrm>
            <a:off x="1054656" y="2420938"/>
            <a:ext cx="22273" cy="707773"/>
          </a:xfrm>
          <a:prstGeom prst="straightConnector1">
            <a:avLst/>
          </a:prstGeom>
          <a:ln w="38100">
            <a:solidFill>
              <a:schemeClr val="accent2"/>
            </a:solidFill>
            <a:prstDash val="sysDash"/>
            <a:tailEnd type="arrow"/>
          </a:ln>
        </p:spPr>
        <p:style>
          <a:lnRef idx="2">
            <a:schemeClr val="accent2"/>
          </a:lnRef>
          <a:fillRef idx="0">
            <a:schemeClr val="accent2"/>
          </a:fillRef>
          <a:effectRef idx="1">
            <a:schemeClr val="accent2"/>
          </a:effectRef>
          <a:fontRef idx="minor">
            <a:schemeClr val="tx1"/>
          </a:fontRef>
        </p:style>
      </p:cxnSp>
      <p:cxnSp>
        <p:nvCxnSpPr>
          <p:cNvPr id="9" name="Curved Connector 8"/>
          <p:cNvCxnSpPr>
            <a:endCxn id="6" idx="2"/>
          </p:cNvCxnSpPr>
          <p:nvPr/>
        </p:nvCxnSpPr>
        <p:spPr>
          <a:xfrm rot="10800000" flipV="1">
            <a:off x="963407" y="3425574"/>
            <a:ext cx="328613" cy="296862"/>
          </a:xfrm>
          <a:prstGeom prst="curvedConnector4">
            <a:avLst>
              <a:gd name="adj1" fmla="val -110144"/>
              <a:gd name="adj2" fmla="val 247594"/>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10" name="Straight Arrow Connector 9"/>
          <p:cNvCxnSpPr/>
          <p:nvPr/>
        </p:nvCxnSpPr>
        <p:spPr>
          <a:xfrm>
            <a:off x="257782" y="1771653"/>
            <a:ext cx="295273" cy="14128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1972279" y="1943100"/>
            <a:ext cx="787395" cy="461665"/>
          </a:xfrm>
          <a:prstGeom prst="rect">
            <a:avLst/>
          </a:prstGeom>
          <a:solidFill>
            <a:schemeClr val="bg2"/>
          </a:solidFill>
        </p:spPr>
        <p:txBody>
          <a:bodyPr wrap="none" rtlCol="0">
            <a:spAutoFit/>
          </a:bodyPr>
          <a:lstStyle/>
          <a:p>
            <a:r>
              <a:rPr lang="en-US" noProof="0" dirty="0">
                <a:cs typeface="Arial" pitchFamily="34" charset="0"/>
              </a:rPr>
              <a:t>{ p }</a:t>
            </a:r>
            <a:endParaRPr lang="en-US" noProof="0" dirty="0"/>
          </a:p>
        </p:txBody>
      </p:sp>
      <p:sp>
        <p:nvSpPr>
          <p:cNvPr id="12" name="TextBox 11"/>
          <p:cNvSpPr txBox="1"/>
          <p:nvPr/>
        </p:nvSpPr>
        <p:spPr>
          <a:xfrm>
            <a:off x="1751617" y="2594817"/>
            <a:ext cx="941283" cy="461665"/>
          </a:xfrm>
          <a:prstGeom prst="rect">
            <a:avLst/>
          </a:prstGeom>
          <a:solidFill>
            <a:srgbClr val="CCECFF"/>
          </a:solidFill>
        </p:spPr>
        <p:txBody>
          <a:bodyPr wrap="none" rtlCol="0">
            <a:spAutoFit/>
          </a:bodyPr>
          <a:lstStyle/>
          <a:p>
            <a:r>
              <a:rPr lang="en-US" noProof="0" dirty="0">
                <a:cs typeface="Arial" pitchFamily="34" charset="0"/>
              </a:rPr>
              <a:t>{ </a:t>
            </a:r>
            <a:r>
              <a:rPr lang="en-US" noProof="0" dirty="0" err="1">
                <a:cs typeface="Arial" pitchFamily="34" charset="0"/>
              </a:rPr>
              <a:t>p,q</a:t>
            </a:r>
            <a:r>
              <a:rPr lang="en-US" noProof="0" dirty="0">
                <a:cs typeface="Arial" pitchFamily="34" charset="0"/>
              </a:rPr>
              <a:t>}</a:t>
            </a:r>
          </a:p>
        </p:txBody>
      </p:sp>
      <p:cxnSp>
        <p:nvCxnSpPr>
          <p:cNvPr id="13" name="Straight Connector 12"/>
          <p:cNvCxnSpPr>
            <a:stCxn id="11" idx="1"/>
          </p:cNvCxnSpPr>
          <p:nvPr/>
        </p:nvCxnSpPr>
        <p:spPr>
          <a:xfrm flipH="1">
            <a:off x="1076929" y="2173933"/>
            <a:ext cx="895350" cy="930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cxnSpLocks/>
          </p:cNvCxnSpPr>
          <p:nvPr/>
        </p:nvCxnSpPr>
        <p:spPr>
          <a:xfrm flipH="1">
            <a:off x="1225344" y="3108719"/>
            <a:ext cx="723900" cy="169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a:off x="803019" y="2424483"/>
            <a:ext cx="0" cy="684236"/>
          </a:xfrm>
          <a:prstGeom prst="straightConnector1">
            <a:avLst/>
          </a:prstGeom>
          <a:ln>
            <a:solidFill>
              <a:schemeClr val="tx1"/>
            </a:solidFill>
            <a:headEnd type="arrow" w="med" len="med"/>
            <a:tailEnd type="none" w="med" len="med"/>
          </a:ln>
        </p:spPr>
        <p:style>
          <a:lnRef idx="2">
            <a:schemeClr val="accent2"/>
          </a:lnRef>
          <a:fillRef idx="0">
            <a:schemeClr val="accent2"/>
          </a:fillRef>
          <a:effectRef idx="1">
            <a:schemeClr val="accent2"/>
          </a:effectRef>
          <a:fontRef idx="minor">
            <a:schemeClr val="tx1"/>
          </a:fontRef>
        </p:style>
      </p:cxnSp>
      <p:sp>
        <p:nvSpPr>
          <p:cNvPr id="16" name="Rounded Rectangle 15"/>
          <p:cNvSpPr/>
          <p:nvPr/>
        </p:nvSpPr>
        <p:spPr>
          <a:xfrm>
            <a:off x="255563" y="4769669"/>
            <a:ext cx="657225" cy="593725"/>
          </a:xfrm>
          <a:prstGeom prst="roundRect">
            <a:avLst>
              <a:gd name="adj" fmla="val 37006"/>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noProof="0" dirty="0">
                <a:cs typeface="Arial" pitchFamily="34" charset="0"/>
              </a:rPr>
              <a:t>2</a:t>
            </a:r>
          </a:p>
        </p:txBody>
      </p:sp>
      <p:cxnSp>
        <p:nvCxnSpPr>
          <p:cNvPr id="17" name="Curved Connector 8"/>
          <p:cNvCxnSpPr/>
          <p:nvPr/>
        </p:nvCxnSpPr>
        <p:spPr>
          <a:xfrm rot="10800000" flipV="1">
            <a:off x="594810" y="5055908"/>
            <a:ext cx="328613" cy="296862"/>
          </a:xfrm>
          <a:prstGeom prst="curvedConnector4">
            <a:avLst>
              <a:gd name="adj1" fmla="val -110144"/>
              <a:gd name="adj2" fmla="val 247594"/>
            </a:avLst>
          </a:prstGeom>
          <a:ln>
            <a:solidFill>
              <a:schemeClr val="bg2">
                <a:lumMod val="10000"/>
              </a:schemeClr>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cxnSpLocks/>
            <a:stCxn id="6" idx="2"/>
            <a:endCxn id="16" idx="0"/>
          </p:cNvCxnSpPr>
          <p:nvPr/>
        </p:nvCxnSpPr>
        <p:spPr>
          <a:xfrm flipH="1">
            <a:off x="584176" y="3722436"/>
            <a:ext cx="379230" cy="1047233"/>
          </a:xfrm>
          <a:prstGeom prst="straightConnector1">
            <a:avLst/>
          </a:prstGeom>
          <a:ln w="38100">
            <a:solidFill>
              <a:srgbClr val="0000FF"/>
            </a:solidFill>
            <a:prstDash val="lgDash"/>
            <a:tailEnd type="arrow"/>
          </a:ln>
        </p:spPr>
        <p:style>
          <a:lnRef idx="2">
            <a:schemeClr val="accent2"/>
          </a:lnRef>
          <a:fillRef idx="0">
            <a:schemeClr val="accent2"/>
          </a:fillRef>
          <a:effectRef idx="1">
            <a:schemeClr val="accent2"/>
          </a:effectRef>
          <a:fontRef idx="minor">
            <a:schemeClr val="tx1"/>
          </a:fontRef>
        </p:style>
      </p:cxnSp>
      <p:sp>
        <p:nvSpPr>
          <p:cNvPr id="22" name="TextBox 21"/>
          <p:cNvSpPr txBox="1"/>
          <p:nvPr/>
        </p:nvSpPr>
        <p:spPr>
          <a:xfrm>
            <a:off x="1888990" y="4550750"/>
            <a:ext cx="437940" cy="461665"/>
          </a:xfrm>
          <a:prstGeom prst="rect">
            <a:avLst/>
          </a:prstGeom>
          <a:solidFill>
            <a:srgbClr val="CCECFF"/>
          </a:solidFill>
        </p:spPr>
        <p:txBody>
          <a:bodyPr wrap="none" rtlCol="0">
            <a:spAutoFit/>
          </a:bodyPr>
          <a:lstStyle/>
          <a:p>
            <a:r>
              <a:rPr lang="en-US" noProof="0" dirty="0">
                <a:cs typeface="Arial" pitchFamily="34" charset="0"/>
                <a:sym typeface="Symbol"/>
              </a:rPr>
              <a:t></a:t>
            </a:r>
            <a:endParaRPr lang="en-US" noProof="0" dirty="0">
              <a:cs typeface="Arial" pitchFamily="34" charset="0"/>
            </a:endParaRPr>
          </a:p>
        </p:txBody>
      </p:sp>
      <p:cxnSp>
        <p:nvCxnSpPr>
          <p:cNvPr id="23" name="Straight Connector 22"/>
          <p:cNvCxnSpPr>
            <a:stCxn id="22" idx="1"/>
          </p:cNvCxnSpPr>
          <p:nvPr/>
        </p:nvCxnSpPr>
        <p:spPr>
          <a:xfrm flipH="1">
            <a:off x="829340" y="4781583"/>
            <a:ext cx="1059650" cy="14130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500063" y="274638"/>
            <a:ext cx="8358187" cy="796925"/>
          </a:xfrm>
        </p:spPr>
        <p:txBody>
          <a:bodyPr/>
          <a:lstStyle/>
          <a:p>
            <a:pPr eaLnBrk="1" hangingPunct="1"/>
            <a:r>
              <a:rPr lang="en-US" noProof="0" dirty="0">
                <a:cs typeface="Arial" charset="0"/>
              </a:rPr>
              <a:t>Conclusion</a:t>
            </a:r>
          </a:p>
        </p:txBody>
      </p:sp>
      <p:sp>
        <p:nvSpPr>
          <p:cNvPr id="65539" name="Content Placeholder 2"/>
          <p:cNvSpPr>
            <a:spLocks noGrp="1"/>
          </p:cNvSpPr>
          <p:nvPr>
            <p:ph sz="quarter" idx="1"/>
          </p:nvPr>
        </p:nvSpPr>
        <p:spPr>
          <a:xfrm>
            <a:off x="500063" y="1447800"/>
            <a:ext cx="8358187" cy="4572000"/>
          </a:xfrm>
        </p:spPr>
        <p:txBody>
          <a:bodyPr/>
          <a:lstStyle/>
          <a:p>
            <a:pPr eaLnBrk="1" hangingPunct="1"/>
            <a:r>
              <a:rPr lang="en-US" sz="2400" noProof="0" dirty="0">
                <a:cs typeface="Arial" charset="0"/>
              </a:rPr>
              <a:t>We can use FSAs to abstractly model concurrent programs.</a:t>
            </a:r>
          </a:p>
          <a:p>
            <a:pPr eaLnBrk="1" hangingPunct="1"/>
            <a:r>
              <a:rPr lang="en-US" sz="2400" noProof="0" dirty="0">
                <a:cs typeface="Arial" charset="0"/>
              </a:rPr>
              <a:t>We can use LTL to express run-time properties: safety and progress.</a:t>
            </a:r>
          </a:p>
          <a:p>
            <a:pPr eaLnBrk="1" hangingPunct="1"/>
            <a:r>
              <a:rPr lang="en-US" sz="2400" noProof="0" dirty="0">
                <a:cs typeface="Arial" charset="0"/>
              </a:rPr>
              <a:t>The model checking algorithm is thorough.</a:t>
            </a:r>
          </a:p>
          <a:p>
            <a:pPr eaLnBrk="1" hangingPunct="1"/>
            <a:r>
              <a:rPr lang="en-US" sz="2400" noProof="0" dirty="0">
                <a:cs typeface="Arial" charset="0"/>
              </a:rPr>
              <a:t>Rather than FSAs with atomic predicates, you can imagine letting the FSAs to have concrete states.</a:t>
            </a:r>
          </a:p>
          <a:p>
            <a:pPr lvl="1" eaLnBrk="1" hangingPunct="1"/>
            <a:r>
              <a:rPr lang="en-US" sz="2000" noProof="0" dirty="0">
                <a:cs typeface="Arial" charset="0"/>
              </a:rPr>
              <a:t>You can then model check real programs.</a:t>
            </a:r>
          </a:p>
          <a:p>
            <a:pPr lvl="1" eaLnBrk="1" hangingPunct="1"/>
            <a:r>
              <a:rPr lang="en-US" sz="2000" noProof="0" dirty="0">
                <a:cs typeface="Arial" charset="0"/>
              </a:rPr>
              <a:t>The FSAs could be very large, but we can bound the input domains, and the depth of the search, </a:t>
            </a:r>
            <a:r>
              <a:rPr lang="en-US" sz="2000" noProof="0" dirty="0">
                <a:cs typeface="Arial" charset="0"/>
                <a:sym typeface="Wingdings" pitchFamily="2" charset="2"/>
              </a:rPr>
              <a:t> bounded model checking.</a:t>
            </a:r>
          </a:p>
          <a:p>
            <a:pPr lvl="1" eaLnBrk="1" hangingPunct="1"/>
            <a:r>
              <a:rPr lang="en-US" sz="2000" noProof="0" dirty="0">
                <a:cs typeface="Arial" charset="0"/>
              </a:rPr>
              <a:t>Combination with testing: to construct an execution so that M behaves as </a:t>
            </a:r>
            <a:r>
              <a:rPr lang="en-US" sz="2000" noProof="0" dirty="0">
                <a:cs typeface="Arial" charset="0"/>
                <a:sym typeface="Symbol"/>
              </a:rPr>
              <a:t>,  model-check this: </a:t>
            </a:r>
            <a:r>
              <a:rPr lang="en-US" sz="2000" noProof="0" dirty="0">
                <a:cs typeface="Arial" charset="0"/>
              </a:rPr>
              <a:t>L(</a:t>
            </a:r>
            <a:r>
              <a:rPr lang="en-US" sz="2000" i="1" noProof="0" dirty="0">
                <a:cs typeface="Arial" charset="0"/>
              </a:rPr>
              <a:t>B</a:t>
            </a:r>
            <a:r>
              <a:rPr lang="en-US" sz="2000" baseline="-25000" noProof="0" dirty="0">
                <a:cs typeface="Arial" charset="0"/>
              </a:rPr>
              <a:t>M</a:t>
            </a:r>
            <a:r>
              <a:rPr lang="en-US" sz="2000" noProof="0" dirty="0">
                <a:cs typeface="Arial" charset="0"/>
              </a:rPr>
              <a:t>  </a:t>
            </a:r>
            <a:r>
              <a:rPr lang="en-US" sz="2000" noProof="0" dirty="0">
                <a:cs typeface="Arial" charset="0"/>
                <a:sym typeface="Symbol" pitchFamily="18" charset="2"/>
              </a:rPr>
              <a:t>  </a:t>
            </a:r>
            <a:r>
              <a:rPr lang="en-US" sz="2000" i="1" noProof="0" dirty="0">
                <a:cs typeface="Arial" charset="0"/>
                <a:sym typeface="Symbol" pitchFamily="18" charset="2"/>
              </a:rPr>
              <a:t>B</a:t>
            </a:r>
            <a:r>
              <a:rPr lang="en-US" sz="2000" baseline="-25000" noProof="0" dirty="0">
                <a:cs typeface="Arial" charset="0"/>
                <a:sym typeface="Symbol" pitchFamily="18" charset="2"/>
              </a:rPr>
              <a:t></a:t>
            </a:r>
            <a:r>
              <a:rPr lang="en-US" sz="2000" noProof="0" dirty="0">
                <a:cs typeface="Arial" charset="0"/>
                <a:sym typeface="Symbol" pitchFamily="18" charset="2"/>
              </a:rPr>
              <a:t>)  =   </a:t>
            </a:r>
            <a:endParaRPr lang="en-US" sz="2000" noProof="0" dirty="0">
              <a:cs typeface="Arial" charset="0"/>
            </a:endParaRPr>
          </a:p>
        </p:txBody>
      </p:sp>
      <p:sp>
        <p:nvSpPr>
          <p:cNvPr id="5" name="Tijdelijke aanduiding voor dianummer 4"/>
          <p:cNvSpPr>
            <a:spLocks noGrp="1"/>
          </p:cNvSpPr>
          <p:nvPr>
            <p:ph type="sldNum" sz="quarter" idx="12"/>
          </p:nvPr>
        </p:nvSpPr>
        <p:spPr/>
        <p:txBody>
          <a:bodyPr/>
          <a:lstStyle/>
          <a:p>
            <a:pPr>
              <a:defRPr/>
            </a:pPr>
            <a:fld id="{A1C6E1F5-6EC6-4D77-9D26-DBE31E4CF6B7}" type="slidenum">
              <a:rPr lang="en-US" noProof="0"/>
              <a:pPr>
                <a:defRPr/>
              </a:pPr>
              <a:t>60</a:t>
            </a:fld>
            <a:endParaRPr lang="en-US" noProof="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moge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Kantoor - klassiek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Vermogen">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PVadmin_0910</Template>
  <TotalTime>31597</TotalTime>
  <Words>5006</Words>
  <Application>Microsoft Macintosh PowerPoint</Application>
  <PresentationFormat>On-screen Show (4:3)</PresentationFormat>
  <Paragraphs>780</Paragraphs>
  <Slides>60</Slides>
  <Notes>50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vt:lpstr>
      <vt:lpstr>Comic Sans MS</vt:lpstr>
      <vt:lpstr>Symbol</vt:lpstr>
      <vt:lpstr>Tahoma</vt:lpstr>
      <vt:lpstr>Times New Roman</vt:lpstr>
      <vt:lpstr>Wingdings</vt:lpstr>
      <vt:lpstr>Wingdings 2</vt:lpstr>
      <vt:lpstr>Vermogen</vt:lpstr>
      <vt:lpstr>LTL  Model Checking (Ch. 4 LN)</vt:lpstr>
      <vt:lpstr>Overview</vt:lpstr>
      <vt:lpstr>Run-time properties</vt:lpstr>
      <vt:lpstr>Finite State Automaton/Machine</vt:lpstr>
      <vt:lpstr>FSA</vt:lpstr>
      <vt:lpstr>Program compositions can be modeled by operations over FSA</vt:lpstr>
      <vt:lpstr>Intersection</vt:lpstr>
      <vt:lpstr>Parallel composition</vt:lpstr>
      <vt:lpstr>Parallel composition with synchronized actions</vt:lpstr>
      <vt:lpstr>Let’s add state-labels</vt:lpstr>
      <vt:lpstr>Kripke Structure</vt:lpstr>
      <vt:lpstr>Prop</vt:lpstr>
      <vt:lpstr>Execution</vt:lpstr>
      <vt:lpstr>Example</vt:lpstr>
      <vt:lpstr>LTL, informal meaning</vt:lpstr>
      <vt:lpstr>You can combine operators</vt:lpstr>
      <vt:lpstr>Syntax</vt:lpstr>
      <vt:lpstr>Defining the meaning of temporal formulas</vt:lpstr>
      <vt:lpstr>Meaning</vt:lpstr>
      <vt:lpstr>Meaning</vt:lpstr>
      <vt:lpstr>Example</vt:lpstr>
      <vt:lpstr>Derived operators</vt:lpstr>
      <vt:lpstr>Some derived operators</vt:lpstr>
      <vt:lpstr>Past operators</vt:lpstr>
      <vt:lpstr>Ok, so how can I verify  M |==   ?</vt:lpstr>
      <vt:lpstr>Representing   as an automaton …</vt:lpstr>
      <vt:lpstr>Re-express as a language problem</vt:lpstr>
      <vt:lpstr>Automaton with “acceptance”</vt:lpstr>
      <vt:lpstr>Buchi Automaton</vt:lpstr>
      <vt:lpstr>Expressing temporal formulas as Buchi</vt:lpstr>
      <vt:lpstr>To make the drawing less verbose...</vt:lpstr>
      <vt:lpstr>Always and Eventually</vt:lpstr>
      <vt:lpstr>Until</vt:lpstr>
      <vt:lpstr>Not Until</vt:lpstr>
      <vt:lpstr>Generalized Buchi Automaton</vt:lpstr>
      <vt:lpstr>Difficult cases</vt:lpstr>
      <vt:lpstr>Check list</vt:lpstr>
      <vt:lpstr>Label on state or label on arrow...</vt:lpstr>
      <vt:lpstr>Converting Kripke to Buchi</vt:lpstr>
      <vt:lpstr>Converting Kripke to Buchi</vt:lpstr>
      <vt:lpstr>Computing intersection</vt:lpstr>
      <vt:lpstr>Intersection</vt:lpstr>
      <vt:lpstr>Constructing Intersection, example</vt:lpstr>
      <vt:lpstr>Verification </vt:lpstr>
      <vt:lpstr>Approaches</vt:lpstr>
      <vt:lpstr>DFS-approach (SPIN)</vt:lpstr>
      <vt:lpstr>Example</vt:lpstr>
      <vt:lpstr>Adding cycle detection</vt:lpstr>
      <vt:lpstr>checkCycle is another DFS</vt:lpstr>
      <vt:lpstr>Example</vt:lpstr>
      <vt:lpstr>Tweak: lazy model checking</vt:lpstr>
      <vt:lpstr>Lazily constructing the intersection</vt:lpstr>
      <vt:lpstr>Dealing with concrete states</vt:lpstr>
      <vt:lpstr>Dealing with concrete states</vt:lpstr>
      <vt:lpstr>What if M = P1 || P2 || ...  ?</vt:lpstr>
      <vt:lpstr>Example constructing P1 || P2 </vt:lpstr>
      <vt:lpstr>What if M = P1 || P2 ?</vt:lpstr>
      <vt:lpstr>Fairness</vt:lpstr>
      <vt:lpstr>Verifying properties under fairness</vt:lpstr>
      <vt:lpstr>Conclusion</vt:lpstr>
    </vt:vector>
  </TitlesOfParts>
  <Company>Universiteit Utrecht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on Program Verification</dc:title>
  <dc:creator>wish</dc:creator>
  <cp:lastModifiedBy>ISWB Prasetya</cp:lastModifiedBy>
  <cp:revision>679</cp:revision>
  <dcterms:created xsi:type="dcterms:W3CDTF">2002-05-10T11:36:29Z</dcterms:created>
  <dcterms:modified xsi:type="dcterms:W3CDTF">2026-09-28T12:22:34Z</dcterms:modified>
</cp:coreProperties>
</file>