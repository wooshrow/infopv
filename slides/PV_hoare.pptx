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omments/comment4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83" r:id="rId1"/>
  </p:sldMasterIdLst>
  <p:notesMasterIdLst>
    <p:notesMasterId r:id="rId74"/>
  </p:notesMasterIdLst>
  <p:sldIdLst>
    <p:sldId id="256" r:id="rId2"/>
    <p:sldId id="318" r:id="rId3"/>
    <p:sldId id="277" r:id="rId4"/>
    <p:sldId id="279" r:id="rId5"/>
    <p:sldId id="306" r:id="rId6"/>
    <p:sldId id="305" r:id="rId7"/>
    <p:sldId id="304" r:id="rId8"/>
    <p:sldId id="366" r:id="rId9"/>
    <p:sldId id="314" r:id="rId10"/>
    <p:sldId id="300" r:id="rId11"/>
    <p:sldId id="330" r:id="rId12"/>
    <p:sldId id="367" r:id="rId13"/>
    <p:sldId id="298" r:id="rId14"/>
    <p:sldId id="355" r:id="rId15"/>
    <p:sldId id="319" r:id="rId16"/>
    <p:sldId id="320" r:id="rId17"/>
    <p:sldId id="321" r:id="rId18"/>
    <p:sldId id="310" r:id="rId19"/>
    <p:sldId id="323" r:id="rId20"/>
    <p:sldId id="322" r:id="rId21"/>
    <p:sldId id="382" r:id="rId22"/>
    <p:sldId id="375" r:id="rId23"/>
    <p:sldId id="373" r:id="rId24"/>
    <p:sldId id="374" r:id="rId25"/>
    <p:sldId id="377" r:id="rId26"/>
    <p:sldId id="381" r:id="rId27"/>
    <p:sldId id="384" r:id="rId28"/>
    <p:sldId id="383" r:id="rId29"/>
    <p:sldId id="376" r:id="rId30"/>
    <p:sldId id="372" r:id="rId31"/>
    <p:sldId id="362" r:id="rId32"/>
    <p:sldId id="281" r:id="rId33"/>
    <p:sldId id="385" r:id="rId34"/>
    <p:sldId id="363" r:id="rId35"/>
    <p:sldId id="369" r:id="rId36"/>
    <p:sldId id="368" r:id="rId37"/>
    <p:sldId id="325" r:id="rId38"/>
    <p:sldId id="336" r:id="rId39"/>
    <p:sldId id="353" r:id="rId40"/>
    <p:sldId id="356" r:id="rId41"/>
    <p:sldId id="327" r:id="rId42"/>
    <p:sldId id="337" r:id="rId43"/>
    <p:sldId id="334" r:id="rId44"/>
    <p:sldId id="335" r:id="rId45"/>
    <p:sldId id="338" r:id="rId46"/>
    <p:sldId id="340" r:id="rId47"/>
    <p:sldId id="339" r:id="rId48"/>
    <p:sldId id="386" r:id="rId49"/>
    <p:sldId id="371" r:id="rId50"/>
    <p:sldId id="326" r:id="rId51"/>
    <p:sldId id="342" r:id="rId52"/>
    <p:sldId id="344" r:id="rId53"/>
    <p:sldId id="346" r:id="rId54"/>
    <p:sldId id="347" r:id="rId55"/>
    <p:sldId id="348" r:id="rId56"/>
    <p:sldId id="349" r:id="rId57"/>
    <p:sldId id="350" r:id="rId58"/>
    <p:sldId id="351" r:id="rId59"/>
    <p:sldId id="328" r:id="rId60"/>
    <p:sldId id="378" r:id="rId61"/>
    <p:sldId id="379" r:id="rId62"/>
    <p:sldId id="345" r:id="rId63"/>
    <p:sldId id="329" r:id="rId64"/>
    <p:sldId id="357" r:id="rId65"/>
    <p:sldId id="358" r:id="rId66"/>
    <p:sldId id="359" r:id="rId67"/>
    <p:sldId id="360" r:id="rId68"/>
    <p:sldId id="365" r:id="rId69"/>
    <p:sldId id="361" r:id="rId70"/>
    <p:sldId id="370" r:id="rId71"/>
    <p:sldId id="380" r:id="rId72"/>
    <p:sldId id="352" r:id="rId7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underdark" initials="u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A6EFAB"/>
    <a:srgbClr val="A9E892"/>
    <a:srgbClr val="A50021"/>
    <a:srgbClr val="286014"/>
    <a:srgbClr val="225111"/>
    <a:srgbClr val="2A6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Geen stijl, tabel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76" autoAdjust="0"/>
    <p:restoredTop sz="90390" autoAdjust="0"/>
  </p:normalViewPr>
  <p:slideViewPr>
    <p:cSldViewPr snapToGrid="0">
      <p:cViewPr>
        <p:scale>
          <a:sx n="140" d="100"/>
          <a:sy n="140" d="100"/>
        </p:scale>
        <p:origin x="800" y="-13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3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160"/>
    </p:cViewPr>
  </p:sorterViewPr>
  <p:notesViewPr>
    <p:cSldViewPr snapToGrid="0">
      <p:cViewPr varScale="1">
        <p:scale>
          <a:sx n="61" d="100"/>
          <a:sy n="61" d="100"/>
        </p:scale>
        <p:origin x="-2381" y="-91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2">
    <p:pos x="5052" y="1680"/>
    <p:text>Make a note that a predicate transformer has this type!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1">
    <p:pos x="5052" y="1680"/>
    <p:text>Make a note that a predicate transformer has this type!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5:12:38.349" idx="3">
    <p:pos x="838" y="3958"/>
    <p:text>Alternatively with if ... then skip else raise
In some situation maybe we prefer to assume, rather than to assert.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3T15:30:26.735" idx="5">
    <p:pos x="178" y="1666"/>
    <p:text>This disjunction is ok; see the example in the notes.
Alternatively, use conjunction, but turn the ~exp and exc conjunct in the post-cond into implication.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A39CDBC-8017-4E8F-B9B6-0F2C755918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307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15572C9-71EC-402F-B1E0-7BB2079D502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0240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301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B16D72-5497-4264-8886-3FD665F4A92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810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/>
              <a:t>Mention the notation |-  O </a:t>
            </a:r>
            <a:r>
              <a:rPr lang="nl-NL">
                <a:sym typeface="Wingdings" pitchFamily="2" charset="2"/>
              </a:rPr>
              <a:t>==&gt; P used in the LN</a:t>
            </a:r>
            <a:endParaRPr lang="nl-NL"/>
          </a:p>
        </p:txBody>
      </p:sp>
      <p:sp>
        <p:nvSpPr>
          <p:cNvPr id="4403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330089E-6B69-453D-8092-3159F727868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55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505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Explain</a:t>
            </a:r>
            <a:r>
              <a:rPr lang="nl-NL" dirty="0"/>
              <a:t> SEQ; </a:t>
            </a:r>
            <a:r>
              <a:rPr lang="nl-NL" dirty="0" err="1"/>
              <a:t>only</a:t>
            </a:r>
            <a:r>
              <a:rPr lang="nl-NL" baseline="0" dirty="0"/>
              <a:t> </a:t>
            </a:r>
            <a:r>
              <a:rPr lang="nl-NL" baseline="0" dirty="0" err="1"/>
              <a:t>briefly</a:t>
            </a:r>
            <a:r>
              <a:rPr lang="nl-NL" baseline="0" dirty="0"/>
              <a:t> IF</a:t>
            </a:r>
            <a:endParaRPr lang="nl-NL" dirty="0"/>
          </a:p>
        </p:txBody>
      </p:sp>
      <p:sp>
        <p:nvSpPr>
          <p:cNvPr id="4506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C358A84-80B8-4A69-BAD9-ADDBF9DA3F4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9994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608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That is, let x’ represent the new value of x. So Q is a constraint on x’ actually; which is why we do the substitution x’/x on Q.</a:t>
            </a:r>
          </a:p>
        </p:txBody>
      </p:sp>
      <p:sp>
        <p:nvSpPr>
          <p:cNvPr id="4608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E49E5C9-BC3E-4DE3-A61F-DAF15F4BE63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7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71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Inv</a:t>
            </a:r>
            <a:r>
              <a:rPr lang="nl-NL" dirty="0"/>
              <a:t>:  k&gt;=0</a:t>
            </a:r>
          </a:p>
        </p:txBody>
      </p:sp>
      <p:sp>
        <p:nvSpPr>
          <p:cNvPr id="471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AC358F1-3747-4BF2-9BDA-FA02CDD9D1F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8667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(1) </a:t>
            </a:r>
            <a:r>
              <a:rPr lang="en-US" dirty="0" err="1"/>
              <a:t>Inv</a:t>
            </a:r>
            <a:r>
              <a:rPr lang="en-US" dirty="0"/>
              <a:t>:</a:t>
            </a:r>
            <a:r>
              <a:rPr lang="en-US" baseline="0" dirty="0"/>
              <a:t>  k&lt;=10 /\ y = 2*k</a:t>
            </a:r>
          </a:p>
          <a:p>
            <a:r>
              <a:rPr lang="en-US" baseline="0" dirty="0"/>
              <a:t>On termination k = 10</a:t>
            </a:r>
          </a:p>
          <a:p>
            <a:endParaRPr lang="en-US" baseline="0" dirty="0"/>
          </a:p>
          <a:p>
            <a:r>
              <a:rPr lang="en-US" baseline="0" dirty="0"/>
              <a:t>(2) Inv: y + 2k = 20</a:t>
            </a:r>
            <a:br>
              <a:rPr lang="en-US" baseline="0" dirty="0"/>
            </a:br>
            <a:r>
              <a:rPr lang="en-US" baseline="0" dirty="0"/>
              <a:t>Or y = 2(10-k)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15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aseline="0" dirty="0"/>
              <a:t>Inv of 2</a:t>
            </a:r>
            <a:r>
              <a:rPr lang="en-US" baseline="30000" dirty="0"/>
              <a:t>nd</a:t>
            </a:r>
            <a:r>
              <a:rPr lang="en-US" baseline="0" dirty="0"/>
              <a:t> loop:  s = (exists m : 0&lt;=m&lt;k : b[m])  /\  0&lt;=k&lt;=#b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3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915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915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FAAB7-9E9D-4ED9-8F35-F6F17DB9633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81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Inv</a:t>
            </a:r>
            <a:r>
              <a:rPr lang="en-US" dirty="0"/>
              <a:t>: the same as the pre-</a:t>
            </a:r>
            <a:r>
              <a:rPr lang="en-US" dirty="0" err="1"/>
              <a:t>cond</a:t>
            </a:r>
            <a:endParaRPr lang="en-US" dirty="0"/>
          </a:p>
          <a:p>
            <a:r>
              <a:rPr lang="en-US" dirty="0" err="1"/>
              <a:t>Inv</a:t>
            </a:r>
            <a:r>
              <a:rPr lang="en-US" dirty="0"/>
              <a:t> : x&gt;=0 /\ y&gt;=0</a:t>
            </a:r>
          </a:p>
          <a:p>
            <a:r>
              <a:rPr lang="en-US" dirty="0"/>
              <a:t>m : 101*x</a:t>
            </a:r>
            <a:r>
              <a:rPr lang="en-US" baseline="0" dirty="0"/>
              <a:t> + 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23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m:  if even(x)</a:t>
            </a:r>
            <a:r>
              <a:rPr lang="en-US" baseline="0" dirty="0"/>
              <a:t> then x else 3*x</a:t>
            </a:r>
          </a:p>
          <a:p>
            <a:endParaRPr lang="en-US" baseline="0" dirty="0"/>
          </a:p>
          <a:p>
            <a:r>
              <a:rPr lang="en-US" baseline="0" dirty="0" err="1"/>
              <a:t>inv</a:t>
            </a:r>
            <a:r>
              <a:rPr lang="en-US" baseline="0" dirty="0"/>
              <a:t>: x&gt;=0</a:t>
            </a:r>
          </a:p>
          <a:p>
            <a:endParaRPr lang="en-US" baseline="0" dirty="0"/>
          </a:p>
          <a:p>
            <a:r>
              <a:rPr lang="en-US" baseline="0" dirty="0"/>
              <a:t>example runs:</a:t>
            </a:r>
          </a:p>
          <a:p>
            <a:r>
              <a:rPr lang="en-US" baseline="0" dirty="0"/>
              <a:t>x0 = 4  m = 4</a:t>
            </a:r>
          </a:p>
          <a:p>
            <a:r>
              <a:rPr lang="en-US" baseline="0" dirty="0"/>
              <a:t>x1 = 2  m = 2</a:t>
            </a:r>
          </a:p>
          <a:p>
            <a:r>
              <a:rPr lang="en-US" baseline="0" dirty="0"/>
              <a:t>x2 = 0  m = 0</a:t>
            </a:r>
          </a:p>
          <a:p>
            <a:r>
              <a:rPr lang="en-US" baseline="0" dirty="0"/>
              <a:t>stop</a:t>
            </a:r>
          </a:p>
          <a:p>
            <a:endParaRPr lang="en-US" baseline="0" dirty="0"/>
          </a:p>
          <a:p>
            <a:r>
              <a:rPr lang="en-US" baseline="0" dirty="0"/>
              <a:t>x0=5  m=15</a:t>
            </a:r>
          </a:p>
          <a:p>
            <a:r>
              <a:rPr lang="en-US" baseline="0" dirty="0"/>
              <a:t>x1=3  m=9</a:t>
            </a:r>
          </a:p>
          <a:p>
            <a:r>
              <a:rPr lang="en-US" baseline="0" dirty="0"/>
              <a:t>x2=1  m=3</a:t>
            </a:r>
          </a:p>
          <a:p>
            <a:r>
              <a:rPr lang="en-US" baseline="0" dirty="0"/>
              <a:t>x3=2  m=2</a:t>
            </a:r>
          </a:p>
          <a:p>
            <a:r>
              <a:rPr lang="en-US" baseline="0" dirty="0"/>
              <a:t>x4=0  m=0</a:t>
            </a:r>
          </a:p>
          <a:p>
            <a:r>
              <a:rPr lang="en-US" baseline="0" dirty="0"/>
              <a:t>stop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70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018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DAD176D-1A76-46D7-BA14-BCDC459FACB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363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32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302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0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120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07DE320-98D6-4CC2-A988-C42BE525309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34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22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22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3BE35B-68AB-49A2-B6D2-AE81EA8AAB6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656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790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544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24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719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2429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694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986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8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8028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6199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708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ℰ⟦Q⟧ (𝒮⟦</a:t>
            </a:r>
            <a:r>
              <a:rPr lang="en-US" i="1" dirty="0">
                <a:solidFill>
                  <a:srgbClr val="000000"/>
                </a:solidFill>
              </a:rPr>
              <a:t>S1 ; S2</a:t>
            </a:r>
            <a:r>
              <a:rPr lang="en-US" dirty="0"/>
              <a:t>⟧s)  =  ℰ⟦Q⟧ (𝒮⟦</a:t>
            </a:r>
            <a:r>
              <a:rPr lang="en-US" i="1" dirty="0">
                <a:solidFill>
                  <a:srgbClr val="000000"/>
                </a:solidFill>
              </a:rPr>
              <a:t>S2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i="0" baseline="0" dirty="0">
                <a:solidFill>
                  <a:srgbClr val="000000"/>
                </a:solidFill>
              </a:rPr>
              <a:t>(</a:t>
            </a:r>
            <a:r>
              <a:rPr lang="en-US" dirty="0"/>
              <a:t>𝒮 ⟦</a:t>
            </a:r>
            <a:r>
              <a:rPr lang="en-US" i="1" dirty="0">
                <a:solidFill>
                  <a:srgbClr val="000000"/>
                </a:solidFill>
              </a:rPr>
              <a:t>S1</a:t>
            </a:r>
            <a:r>
              <a:rPr lang="en-US" dirty="0"/>
              <a:t>⟧s)) </a:t>
            </a:r>
          </a:p>
          <a:p>
            <a:r>
              <a:rPr lang="en-US" dirty="0"/>
              <a:t>                                =</a:t>
            </a:r>
            <a:r>
              <a:rPr lang="en-US" baseline="0" dirty="0"/>
              <a:t>  { induction </a:t>
            </a:r>
            <a:r>
              <a:rPr lang="en-US" baseline="0" dirty="0" err="1"/>
              <a:t>hyp</a:t>
            </a:r>
            <a:r>
              <a:rPr lang="en-US" baseline="0" dirty="0"/>
              <a:t> }</a:t>
            </a:r>
            <a:br>
              <a:rPr lang="en-US" baseline="0" dirty="0"/>
            </a:br>
            <a:r>
              <a:rPr lang="en-US" baseline="0" dirty="0"/>
              <a:t>                                     </a:t>
            </a:r>
            <a:r>
              <a:rPr lang="en-US" dirty="0" err="1"/>
              <a:t>ℰ⟦wlp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Q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i="0" baseline="0" dirty="0">
                <a:solidFill>
                  <a:srgbClr val="000000"/>
                </a:solidFill>
              </a:rPr>
              <a:t>(</a:t>
            </a:r>
            <a:r>
              <a:rPr lang="en-US" dirty="0"/>
              <a:t>𝒮 ⟦</a:t>
            </a:r>
            <a:r>
              <a:rPr lang="en-US" i="1" dirty="0">
                <a:solidFill>
                  <a:srgbClr val="000000"/>
                </a:solidFill>
              </a:rPr>
              <a:t>S1</a:t>
            </a:r>
            <a:r>
              <a:rPr lang="en-US" dirty="0"/>
              <a:t>⟧s)) </a:t>
            </a:r>
          </a:p>
          <a:p>
            <a:endParaRPr lang="en-US" dirty="0"/>
          </a:p>
          <a:p>
            <a:r>
              <a:rPr lang="en-US" dirty="0"/>
              <a:t>                                =</a:t>
            </a:r>
            <a:r>
              <a:rPr lang="en-US" baseline="0" dirty="0"/>
              <a:t>  { induction </a:t>
            </a:r>
            <a:r>
              <a:rPr lang="en-US" baseline="0" dirty="0" err="1"/>
              <a:t>hyp</a:t>
            </a:r>
            <a:r>
              <a:rPr lang="en-US" baseline="0" dirty="0"/>
              <a:t> }</a:t>
            </a:r>
            <a:br>
              <a:rPr lang="en-US" baseline="0" dirty="0"/>
            </a:br>
            <a:r>
              <a:rPr lang="en-US" baseline="0" dirty="0"/>
              <a:t>                                     </a:t>
            </a:r>
            <a:r>
              <a:rPr lang="en-US" dirty="0" err="1"/>
              <a:t>ℰ⟦wlp</a:t>
            </a:r>
            <a:r>
              <a:rPr lang="en-US" dirty="0"/>
              <a:t> S1 (</a:t>
            </a:r>
            <a:r>
              <a:rPr lang="en-US" dirty="0" err="1"/>
              <a:t>wlp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Q</a:t>
            </a:r>
            <a:r>
              <a:rPr lang="en-US" i="1" baseline="0" dirty="0">
                <a:solidFill>
                  <a:srgbClr val="000000"/>
                </a:solidFill>
              </a:rPr>
              <a:t> )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s</a:t>
            </a:r>
          </a:p>
          <a:p>
            <a:r>
              <a:rPr lang="en-US" baseline="0" dirty="0"/>
              <a:t>                                 =</a:t>
            </a:r>
            <a:r>
              <a:rPr lang="en-US" dirty="0"/>
              <a:t>     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                          </a:t>
            </a:r>
            <a:r>
              <a:rPr lang="en-US" dirty="0" err="1"/>
              <a:t>ℰ⟦wlp</a:t>
            </a:r>
            <a:r>
              <a:rPr lang="en-US" dirty="0"/>
              <a:t> (S1 ;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S2 ) Q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951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weakest = largest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6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219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Top = sup(A)</a:t>
            </a:r>
          </a:p>
          <a:p>
            <a:r>
              <a:rPr lang="en-US" dirty="0"/>
              <a:t>Bottom = </a:t>
            </a:r>
            <a:r>
              <a:rPr lang="en-US" dirty="0" err="1"/>
              <a:t>inf</a:t>
            </a:r>
            <a:r>
              <a:rPr lang="en-US" dirty="0"/>
              <a:t>(A)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1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Pred</a:t>
            </a:r>
            <a:r>
              <a:rPr lang="en-US" baseline="0" dirty="0"/>
              <a:t> is thus = </a:t>
            </a:r>
            <a:r>
              <a:rPr lang="en-US" i="1" dirty="0" err="1">
                <a:sym typeface="Symbol"/>
              </a:rPr>
              <a:t>pow</a:t>
            </a:r>
            <a:r>
              <a:rPr lang="en-US" dirty="0">
                <a:sym typeface="Symbol"/>
              </a:rPr>
              <a:t>(),</a:t>
            </a:r>
            <a:r>
              <a:rPr lang="en-US" baseline="0" dirty="0">
                <a:sym typeface="Symbol"/>
              </a:rPr>
              <a:t> so t</a:t>
            </a:r>
            <a:r>
              <a:rPr lang="en-US" dirty="0"/>
              <a:t>he domain (</a:t>
            </a:r>
            <a:r>
              <a:rPr lang="en-US" i="1" dirty="0" err="1"/>
              <a:t>Pred</a:t>
            </a:r>
            <a:r>
              <a:rPr lang="en-US" i="1" dirty="0"/>
              <a:t> , </a:t>
            </a:r>
            <a:r>
              <a:rPr lang="en-US" dirty="0">
                <a:sym typeface="Symbol"/>
              </a:rPr>
              <a:t>) is also a complete</a:t>
            </a:r>
            <a:r>
              <a:rPr lang="en-US" baseline="0" dirty="0">
                <a:sym typeface="Symbol"/>
              </a:rPr>
              <a:t> lattice.</a:t>
            </a:r>
          </a:p>
          <a:p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See the above equation a W = f(W)</a:t>
            </a:r>
            <a:endParaRPr lang="en-US" dirty="0">
              <a:sym typeface="Symbo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988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Proof</a:t>
            </a:r>
            <a:r>
              <a:rPr lang="en-US" baseline="0" dirty="0"/>
              <a:t> that </a:t>
            </a:r>
            <a:r>
              <a:rPr lang="en-US" dirty="0">
                <a:sym typeface="Symbol"/>
              </a:rPr>
              <a:t> -continuous</a:t>
            </a:r>
            <a:r>
              <a:rPr lang="en-US" baseline="0" dirty="0">
                <a:sym typeface="Symbol"/>
              </a:rPr>
              <a:t> implies </a:t>
            </a:r>
            <a:r>
              <a:rPr lang="en-US" dirty="0">
                <a:sym typeface="Symbol"/>
              </a:rPr>
              <a:t>monotonic: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We</a:t>
            </a:r>
            <a:r>
              <a:rPr lang="en-US" baseline="0" dirty="0">
                <a:sym typeface="Symbol"/>
              </a:rPr>
              <a:t> have to prove that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implies f(x) ⊆</a:t>
            </a:r>
            <a:r>
              <a:rPr lang="en-US" dirty="0">
                <a:sym typeface="Symbol"/>
              </a:rPr>
              <a:t> f(y).</a:t>
            </a:r>
          </a:p>
          <a:p>
            <a:endParaRPr lang="en-US" dirty="0">
              <a:sym typeface="Symbol"/>
            </a:endParaRPr>
          </a:p>
          <a:p>
            <a:r>
              <a:rPr lang="en-US" baseline="0" dirty="0">
                <a:sym typeface="Symbol"/>
              </a:rPr>
              <a:t>    f(x)</a:t>
            </a:r>
          </a:p>
          <a:p>
            <a:r>
              <a:rPr lang="en-US" baseline="0" dirty="0">
                <a:sym typeface="Symbol"/>
              </a:rPr>
              <a:t>=  // because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, then 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 = x</a:t>
            </a:r>
            <a:br>
              <a:rPr lang="en-US" baseline="0" dirty="0">
                <a:sym typeface="Symbol"/>
              </a:rPr>
            </a:br>
            <a:r>
              <a:rPr lang="en-US" baseline="0" dirty="0">
                <a:sym typeface="Symbol"/>
              </a:rPr>
              <a:t>   f (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ym typeface="Symbol"/>
              </a:rPr>
              <a:t>=  //  </a:t>
            </a:r>
            <a:r>
              <a:rPr lang="en-US" baseline="0" dirty="0" err="1">
                <a:sym typeface="Symbol"/>
              </a:rPr>
              <a:t>continous</a:t>
            </a:r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   f(x) </a:t>
            </a:r>
            <a:r>
              <a:rPr lang="en-US" dirty="0">
                <a:sym typeface="Symbol"/>
              </a:rPr>
              <a:t></a:t>
            </a:r>
            <a:r>
              <a:rPr lang="en-US" baseline="0" dirty="0">
                <a:sym typeface="Symbol"/>
              </a:rPr>
              <a:t> f(y)</a:t>
            </a:r>
          </a:p>
          <a:p>
            <a:r>
              <a:rPr lang="en-US" baseline="0" dirty="0">
                <a:sym typeface="Symbol"/>
              </a:rPr>
              <a:t>⊆</a:t>
            </a:r>
          </a:p>
          <a:p>
            <a:r>
              <a:rPr lang="en-US" baseline="0" dirty="0">
                <a:sym typeface="Symbol"/>
              </a:rPr>
              <a:t>   f(y)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829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Proof</a:t>
            </a:r>
            <a:r>
              <a:rPr lang="en-US" baseline="0" dirty="0"/>
              <a:t> (using A for </a:t>
            </a:r>
            <a:r>
              <a:rPr lang="en-US" dirty="0"/>
              <a:t>∑)</a:t>
            </a:r>
          </a:p>
          <a:p>
            <a:endParaRPr lang="en-US" dirty="0"/>
          </a:p>
          <a:p>
            <a:r>
              <a:rPr lang="en-US" dirty="0"/>
              <a:t>(1) prove that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is a fix point.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f ({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}) </a:t>
            </a:r>
          </a:p>
          <a:p>
            <a:r>
              <a:rPr lang="en-US" dirty="0">
                <a:sym typeface="Symbol"/>
              </a:rPr>
              <a:t>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r>
              <a:rPr lang="en-US" dirty="0">
                <a:sym typeface="Symbol"/>
              </a:rPr>
              <a:t>= // A is</a:t>
            </a:r>
            <a:r>
              <a:rPr lang="en-US" baseline="0" dirty="0">
                <a:sym typeface="Symbol"/>
              </a:rPr>
              <a:t> superset of all</a:t>
            </a:r>
            <a:endParaRPr lang="en-US" dirty="0">
              <a:sym typeface="Symbol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A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f^0(A)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</a:t>
            </a:r>
          </a:p>
          <a:p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pPr marL="228600" indent="-228600">
              <a:buAutoNum type="arabicParenBoth" startAt="2"/>
            </a:pPr>
            <a:r>
              <a:rPr lang="en-US" dirty="0">
                <a:sym typeface="Symbol"/>
              </a:rPr>
              <a:t>Prove that it is</a:t>
            </a:r>
            <a:r>
              <a:rPr lang="en-US" baseline="0" dirty="0">
                <a:sym typeface="Symbol"/>
              </a:rPr>
              <a:t> the largest fix point. Suppose x is a fix point, so x = f(x). We want to prove that x ⊆</a:t>
            </a:r>
            <a:r>
              <a:rPr lang="en-US" b="0" baseline="0" dirty="0">
                <a:sym typeface="Symbol"/>
              </a:rPr>
              <a:t>𝛂, where 𝛂 =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}.</a:t>
            </a:r>
            <a:r>
              <a:rPr lang="en-US" baseline="0" dirty="0">
                <a:sym typeface="Symbol"/>
              </a:rPr>
              <a:t> </a:t>
            </a:r>
          </a:p>
          <a:p>
            <a:pPr marL="0" indent="0">
              <a:buNone/>
            </a:pPr>
            <a:r>
              <a:rPr lang="en-US" b="0" baseline="0" dirty="0">
                <a:sym typeface="Symbol"/>
              </a:rPr>
              <a:t>Since 𝛂 is thus the greatest lower bound of all those </a:t>
            </a:r>
            <a:r>
              <a:rPr lang="en-US" b="0" baseline="0" dirty="0" err="1">
                <a:sym typeface="Symbol"/>
              </a:rPr>
              <a:t>f^k</a:t>
            </a:r>
            <a:r>
              <a:rPr lang="en-US" b="0" baseline="0" dirty="0">
                <a:sym typeface="Symbol"/>
              </a:rPr>
              <a:t>(A), it is sufficient to prove that x </a:t>
            </a:r>
            <a:r>
              <a:rPr lang="en-US" baseline="0" dirty="0">
                <a:sym typeface="Symbol"/>
              </a:rPr>
              <a:t>⊆</a:t>
            </a:r>
            <a:r>
              <a:rPr lang="en-US" baseline="0" dirty="0" err="1">
                <a:sym typeface="Symbol"/>
              </a:rPr>
              <a:t>f^k</a:t>
            </a:r>
            <a:r>
              <a:rPr lang="en-US" baseline="0" dirty="0">
                <a:sym typeface="Symbol"/>
              </a:rPr>
              <a:t>(A), for any k.</a:t>
            </a:r>
          </a:p>
          <a:p>
            <a:pPr marL="0" indent="0">
              <a:buNone/>
            </a:pPr>
            <a:r>
              <a:rPr lang="en-US" i="0" dirty="0">
                <a:sym typeface="Symbol"/>
              </a:rPr>
              <a:t>This can easily be shown</a:t>
            </a:r>
            <a:r>
              <a:rPr lang="en-US" i="0" baseline="0" dirty="0">
                <a:sym typeface="Symbol"/>
              </a:rPr>
              <a:t> by induction. The base case: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is obvious.  Now suppose: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/>
              <a:t>    </a:t>
            </a:r>
            <a:r>
              <a:rPr lang="en-US" i="0" baseline="0" dirty="0">
                <a:sym typeface="Symbol"/>
              </a:rPr>
              <a:t>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</a:t>
            </a:r>
            <a:r>
              <a:rPr lang="en-US" i="0" baseline="0" dirty="0">
                <a:sym typeface="Symbol"/>
              </a:rPr>
              <a:t> // </a:t>
            </a:r>
            <a:r>
              <a:rPr lang="en-US" i="0" baseline="0" dirty="0" err="1">
                <a:sym typeface="Symbol"/>
              </a:rPr>
              <a:t>monotonicity</a:t>
            </a:r>
            <a:r>
              <a:rPr lang="en-US" i="0" baseline="0" dirty="0">
                <a:sym typeface="Symbol"/>
              </a:rPr>
              <a:t> of f</a:t>
            </a:r>
            <a:br>
              <a:rPr lang="en-US" i="0" baseline="0" dirty="0">
                <a:sym typeface="Symbol"/>
              </a:rPr>
            </a:br>
            <a:r>
              <a:rPr lang="en-US" i="0" baseline="0" dirty="0">
                <a:sym typeface="Symbol"/>
              </a:rPr>
              <a:t> f(</a:t>
            </a:r>
            <a:r>
              <a:rPr lang="en-US" baseline="0" dirty="0">
                <a:sym typeface="Symbol"/>
              </a:rPr>
              <a:t>x)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// f(x)</a:t>
            </a:r>
            <a:r>
              <a:rPr lang="en-US" i="0" baseline="0" dirty="0">
                <a:sym typeface="Symbol"/>
              </a:rPr>
              <a:t> = x</a:t>
            </a:r>
          </a:p>
          <a:p>
            <a:pPr marL="228600" marR="0" indent="-2286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i="0" baseline="0" dirty="0">
                <a:sym typeface="Symbol"/>
              </a:rPr>
              <a:t>    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 </a:t>
            </a:r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459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536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3221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026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569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Recall, </a:t>
            </a:r>
            <a:r>
              <a:rPr lang="en-US" dirty="0" err="1"/>
              <a:t>wlp</a:t>
            </a:r>
            <a:r>
              <a:rPr lang="en-US" dirty="0"/>
              <a:t> is sound if:  P </a:t>
            </a:r>
            <a:r>
              <a:rPr lang="en-US" dirty="0">
                <a:sym typeface="Wingdings"/>
              </a:rPr>
              <a:t>==&gt;</a:t>
            </a:r>
            <a:r>
              <a:rPr lang="en-US" baseline="0" dirty="0">
                <a:sym typeface="Wingdings"/>
              </a:rPr>
              <a:t>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 implies {P} S {Q} is also valid. </a:t>
            </a:r>
            <a:br>
              <a:rPr lang="en-US" baseline="0" dirty="0">
                <a:sym typeface="Wingdings"/>
              </a:rPr>
            </a:b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Whereas a 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means:  if {P} S {Q} then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Q. </a:t>
            </a:r>
          </a:p>
          <a:p>
            <a:r>
              <a:rPr lang="en-US" baseline="0" dirty="0">
                <a:sym typeface="Wingdings"/>
              </a:rPr>
              <a:t>So, in this case knowing that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does not tell us anything about the validity</a:t>
            </a:r>
          </a:p>
          <a:p>
            <a:r>
              <a:rPr lang="en-US" baseline="0" dirty="0">
                <a:sym typeface="Wingdings"/>
              </a:rPr>
              <a:t>of {P} S {Q}. HOWEVER, by contraposition, if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turns out to be</a:t>
            </a:r>
          </a:p>
          <a:p>
            <a:r>
              <a:rPr lang="en-US" baseline="0" dirty="0">
                <a:sym typeface="Wingdings"/>
              </a:rPr>
              <a:t>invalid, then {P} S {Q} is not valid either. In other words, a bug found using an</a:t>
            </a:r>
          </a:p>
          <a:p>
            <a:r>
              <a:rPr lang="en-US" baseline="0" dirty="0">
                <a:sym typeface="Wingdings"/>
              </a:rPr>
              <a:t>incomplete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would be a real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67299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y&gt;0 </a:t>
            </a:r>
            <a:br>
              <a:rPr lang="en-US" dirty="0"/>
            </a:br>
            <a:r>
              <a:rPr lang="en-US" dirty="0"/>
              <a:t>    then y := y-1 ; if y&gt;0 </a:t>
            </a:r>
            <a:br>
              <a:rPr lang="en-US" dirty="0"/>
            </a:br>
            <a:r>
              <a:rPr lang="en-US" dirty="0"/>
              <a:t>                             then y := y-1 ; assume y&lt;=0</a:t>
            </a:r>
            <a:br>
              <a:rPr lang="en-US" dirty="0"/>
            </a:br>
            <a:r>
              <a:rPr lang="en-US" dirty="0"/>
              <a:t>                             else skip</a:t>
            </a:r>
            <a:br>
              <a:rPr lang="en-US" dirty="0"/>
            </a:br>
            <a:r>
              <a:rPr lang="en-US" dirty="0"/>
              <a:t>    else skip</a:t>
            </a:r>
            <a:br>
              <a:rPr lang="en-US" dirty="0"/>
            </a:br>
            <a:r>
              <a:rPr lang="en-US" dirty="0"/>
              <a:t>{ y = 0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WLP = (y=0) \/ (y=1) \/ (y&gt;=2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3998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first example should result in (</a:t>
            </a:r>
            <a:r>
              <a:rPr lang="en-US" dirty="0" err="1"/>
              <a:t>Forall</a:t>
            </a:r>
            <a:r>
              <a:rPr lang="en-US" dirty="0"/>
              <a:t> x’ :: x = y+1) which is equivalent to</a:t>
            </a:r>
            <a:r>
              <a:rPr lang="en-US" baseline="0" dirty="0"/>
              <a:t> just x=y+1.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second example should</a:t>
            </a:r>
            <a:r>
              <a:rPr lang="en-US" baseline="0" dirty="0"/>
              <a:t> result in (</a:t>
            </a:r>
            <a:r>
              <a:rPr lang="en-US" baseline="0" dirty="0" err="1"/>
              <a:t>Forall</a:t>
            </a:r>
            <a:r>
              <a:rPr lang="en-US" baseline="0" dirty="0"/>
              <a:t> x’ : x’&gt;0 : x = </a:t>
            </a:r>
            <a:r>
              <a:rPr lang="en-US" baseline="0" dirty="0" err="1"/>
              <a:t>y+x</a:t>
            </a:r>
            <a:r>
              <a:rPr lang="en-US" baseline="0" dirty="0"/>
              <a:t>’)  which is not a </a:t>
            </a:r>
            <a:r>
              <a:rPr lang="en-US" baseline="0" dirty="0" err="1"/>
              <a:t>satisfiable</a:t>
            </a:r>
            <a:r>
              <a:rPr lang="en-US" baseline="0" dirty="0"/>
              <a:t>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321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(x=y)</a:t>
            </a:r>
            <a:r>
              <a:rPr lang="en-US" baseline="0" dirty="0"/>
              <a:t> [</a:t>
            </a:r>
            <a:r>
              <a:rPr lang="en-US" baseline="0" dirty="0" err="1"/>
              <a:t>y,x+y</a:t>
            </a:r>
            <a:r>
              <a:rPr lang="en-US" baseline="0" dirty="0"/>
              <a:t> / </a:t>
            </a:r>
            <a:r>
              <a:rPr lang="en-US" baseline="0" dirty="0" err="1"/>
              <a:t>x,y</a:t>
            </a:r>
            <a:r>
              <a:rPr lang="en-US" baseline="0" dirty="0"/>
              <a:t>] </a:t>
            </a:r>
            <a:r>
              <a:rPr lang="en-US" baseline="0" dirty="0">
                <a:sym typeface="Wingdings"/>
              </a:rPr>
              <a:t> y=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(x=y)</a:t>
            </a:r>
            <a:r>
              <a:rPr lang="en-US" baseline="0" dirty="0"/>
              <a:t> [y/x][</a:t>
            </a:r>
            <a:r>
              <a:rPr lang="en-US" baseline="0" dirty="0" err="1"/>
              <a:t>x+y</a:t>
            </a:r>
            <a:r>
              <a:rPr lang="en-US" baseline="0" dirty="0"/>
              <a:t>/y] </a:t>
            </a:r>
            <a:r>
              <a:rPr lang="en-US" baseline="0" dirty="0">
                <a:sym typeface="Wingdings"/>
              </a:rPr>
              <a:t> </a:t>
            </a:r>
            <a:r>
              <a:rPr lang="en-US" baseline="0" dirty="0" err="1">
                <a:sym typeface="Wingdings"/>
              </a:rPr>
              <a:t>x+y</a:t>
            </a:r>
            <a:r>
              <a:rPr lang="en-US" baseline="0" dirty="0">
                <a:sym typeface="Wingdings"/>
              </a:rPr>
              <a:t>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67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</a:t>
            </a:r>
            <a:r>
              <a:rPr lang="en-US" baseline="0" dirty="0"/>
              <a:t> := </a:t>
            </a:r>
            <a:r>
              <a:rPr lang="en-US" baseline="0" dirty="0" err="1"/>
              <a:t>inc</a:t>
            </a:r>
            <a:r>
              <a:rPr lang="en-US" baseline="0" dirty="0"/>
              <a:t>(x)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>
                <a:sym typeface="Wingdings"/>
              </a:rPr>
              <a:t>transformer to  </a:t>
            </a:r>
            <a:r>
              <a:rPr lang="en-US" baseline="0" dirty="0" err="1">
                <a:sym typeface="Wingdings"/>
              </a:rPr>
              <a:t>var</a:t>
            </a:r>
            <a:r>
              <a:rPr lang="en-US" baseline="0" dirty="0">
                <a:sym typeface="Wingdings"/>
              </a:rPr>
              <a:t> x’ , r in x’:=x ; r:=x’+1 ; x:=r end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(...)  x&gt;1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(</a:t>
            </a:r>
            <a:r>
              <a:rPr lang="en-US" baseline="0" dirty="0" err="1">
                <a:sym typeface="Wingdings"/>
              </a:rPr>
              <a:t>forall</a:t>
            </a:r>
            <a:r>
              <a:rPr lang="en-US" baseline="0" dirty="0">
                <a:sym typeface="Wingdings"/>
              </a:rPr>
              <a:t> x’ :: x+1&gt;1)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x+1 &gt;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6644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= </a:t>
            </a:r>
          </a:p>
          <a:p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(</a:t>
            </a:r>
            <a:r>
              <a:rPr lang="en-US" dirty="0" err="1">
                <a:sym typeface="Symbol"/>
              </a:rPr>
              <a:t>var</a:t>
            </a:r>
            <a:r>
              <a:rPr lang="en-US" dirty="0">
                <a:sym typeface="Symbol"/>
              </a:rPr>
              <a:t> </a:t>
            </a:r>
            <a:r>
              <a:rPr lang="en-US" dirty="0" err="1">
                <a:sym typeface="Symbol"/>
              </a:rPr>
              <a:t>x’,r</a:t>
            </a:r>
            <a:r>
              <a:rPr lang="en-US" dirty="0">
                <a:sym typeface="Symbol"/>
              </a:rPr>
              <a:t> in x’ := x</a:t>
            </a:r>
            <a:r>
              <a:rPr lang="en-US" baseline="0" dirty="0">
                <a:sym typeface="Symbol"/>
              </a:rPr>
              <a:t> ; assert x’&gt;0 ; assume r&lt;x’ ; x := r)  x&lt;7</a:t>
            </a:r>
          </a:p>
          <a:p>
            <a:r>
              <a:rPr lang="en-US" baseline="0" dirty="0">
                <a:sym typeface="Symbol"/>
              </a:rPr>
              <a:t>=</a:t>
            </a:r>
          </a:p>
          <a:p>
            <a:r>
              <a:rPr lang="en-US" baseline="0" dirty="0">
                <a:sym typeface="Symbol"/>
              </a:rPr>
              <a:t>(</a:t>
            </a:r>
            <a:r>
              <a:rPr lang="en-US" baseline="0" dirty="0" err="1">
                <a:sym typeface="Symbol"/>
              </a:rPr>
              <a:t>Forall</a:t>
            </a:r>
            <a:r>
              <a:rPr lang="en-US" baseline="0" dirty="0">
                <a:sym typeface="Symbol"/>
              </a:rPr>
              <a:t> r :: x&gt;0 /\ (r&lt;x  =&gt; r&lt;7))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24310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1357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examples:</a:t>
            </a:r>
          </a:p>
          <a:p>
            <a:endParaRPr lang="en-US" dirty="0"/>
          </a:p>
          <a:p>
            <a:r>
              <a:rPr lang="en-US" dirty="0"/>
              <a:t>(1) </a:t>
            </a:r>
          </a:p>
          <a:p>
            <a:r>
              <a:rPr lang="en-US" dirty="0" err="1"/>
              <a:t>wlp</a:t>
            </a:r>
            <a:r>
              <a:rPr lang="en-US" baseline="0" dirty="0"/>
              <a:t> skip ; skip  (x=0) </a:t>
            </a:r>
          </a:p>
          <a:p>
            <a:r>
              <a:rPr lang="en-US" baseline="0" dirty="0"/>
              <a:t>   =</a:t>
            </a:r>
          </a:p>
          <a:p>
            <a:r>
              <a:rPr lang="en-US" dirty="0"/>
              <a:t>  </a:t>
            </a:r>
            <a:r>
              <a:rPr lang="en-US" dirty="0" err="1"/>
              <a:t>wlp</a:t>
            </a:r>
            <a:r>
              <a:rPr lang="en-US" baseline="0" dirty="0"/>
              <a:t> skip (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 </a:t>
            </a:r>
            <a:r>
              <a:rPr lang="en-US" baseline="0" dirty="0" err="1"/>
              <a:t>wlp</a:t>
            </a:r>
            <a:r>
              <a:rPr lang="en-US" baseline="0" dirty="0"/>
              <a:t> skip (!</a:t>
            </a:r>
            <a:r>
              <a:rPr lang="en-US" baseline="0" dirty="0" err="1"/>
              <a:t>exc</a:t>
            </a:r>
            <a:r>
              <a:rPr lang="en-US" baseline="0" dirty="0"/>
              <a:t> /\ </a:t>
            </a:r>
            <a:r>
              <a:rPr lang="en-US" baseline="0" dirty="0" err="1"/>
              <a:t>wlp</a:t>
            </a:r>
            <a:r>
              <a:rPr lang="en-US" baseline="0" dirty="0"/>
              <a:t> skip x=0)</a:t>
            </a:r>
          </a:p>
          <a:p>
            <a:r>
              <a:rPr lang="en-US" baseline="0" dirty="0"/>
              <a:t>  =</a:t>
            </a:r>
          </a:p>
          <a:p>
            <a:r>
              <a:rPr lang="en-US" baseline="0" dirty="0"/>
              <a:t>  (</a:t>
            </a:r>
            <a:r>
              <a:rPr lang="en-US" baseline="0" dirty="0" err="1"/>
              <a:t>exc</a:t>
            </a:r>
            <a:r>
              <a:rPr lang="en-US" baseline="0" dirty="0"/>
              <a:t> /\ x=0)  \/  (!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0059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example: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 (if (x=0)</a:t>
            </a:r>
            <a:r>
              <a:rPr lang="en-US" baseline="0" dirty="0"/>
              <a:t> raise else skip) ! x=1  { x&gt;0 }</a:t>
            </a:r>
          </a:p>
          <a:p>
            <a:endParaRPr lang="en-US" baseline="0" dirty="0"/>
          </a:p>
          <a:p>
            <a:r>
              <a:rPr lang="en-US" baseline="0" dirty="0"/>
              <a:t>= </a:t>
            </a:r>
            <a:r>
              <a:rPr lang="en-US" baseline="0" dirty="0" err="1"/>
              <a:t>wlp</a:t>
            </a:r>
            <a:r>
              <a:rPr lang="en-US" baseline="0" dirty="0"/>
              <a:t>  (</a:t>
            </a:r>
            <a:r>
              <a:rPr lang="en-US" dirty="0"/>
              <a:t>if (x=0)</a:t>
            </a:r>
            <a:r>
              <a:rPr lang="en-US" baseline="0" dirty="0"/>
              <a:t> raise else skip)) (~</a:t>
            </a:r>
            <a:r>
              <a:rPr lang="en-US" baseline="0" dirty="0" err="1"/>
              <a:t>exc</a:t>
            </a:r>
            <a:r>
              <a:rPr lang="en-US" baseline="0" dirty="0"/>
              <a:t> /\ x&gt;0)  </a:t>
            </a:r>
          </a:p>
          <a:p>
            <a:r>
              <a:rPr lang="en-US" baseline="0" dirty="0"/>
              <a:t>    \/</a:t>
            </a:r>
          </a:p>
          <a:p>
            <a:r>
              <a:rPr lang="en-US" baseline="0" dirty="0"/>
              <a:t>    </a:t>
            </a:r>
            <a:r>
              <a:rPr lang="en-US" baseline="0" dirty="0" err="1"/>
              <a:t>wlp</a:t>
            </a:r>
            <a:r>
              <a:rPr lang="en-US" baseline="0" dirty="0"/>
              <a:t> (</a:t>
            </a:r>
            <a:r>
              <a:rPr lang="en-US" dirty="0"/>
              <a:t>if (x=0)</a:t>
            </a:r>
            <a:r>
              <a:rPr lang="en-US" baseline="0" dirty="0"/>
              <a:t> raise else skip))  (</a:t>
            </a:r>
            <a:r>
              <a:rPr lang="en-US" baseline="0" dirty="0" err="1"/>
              <a:t>exc</a:t>
            </a:r>
            <a:r>
              <a:rPr lang="en-US" baseline="0" dirty="0"/>
              <a:t> /\ 1&gt;0)</a:t>
            </a:r>
            <a:endParaRPr lang="en-US" baseline="0" dirty="0">
              <a:sym typeface="Wingdings" pitchFamily="2" charset="2"/>
            </a:endParaRP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 (x=0 ==&gt; </a:t>
            </a:r>
            <a:r>
              <a:rPr lang="en-US" baseline="0" dirty="0" err="1"/>
              <a:t>wlp</a:t>
            </a:r>
            <a:r>
              <a:rPr lang="en-US" baseline="0" dirty="0"/>
              <a:t> raise (~</a:t>
            </a:r>
            <a:r>
              <a:rPr lang="en-US" baseline="0" dirty="0" err="1"/>
              <a:t>exc</a:t>
            </a:r>
            <a:r>
              <a:rPr lang="en-US" baseline="0" dirty="0"/>
              <a:t>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(x=0 ==&gt; </a:t>
            </a:r>
            <a:r>
              <a:rPr lang="en-US" baseline="0" dirty="0" err="1"/>
              <a:t>wlp</a:t>
            </a:r>
            <a:r>
              <a:rPr lang="en-US" baseline="0" dirty="0"/>
              <a:t> raise </a:t>
            </a:r>
            <a:r>
              <a:rPr lang="en-US" baseline="0" dirty="0" err="1"/>
              <a:t>exc</a:t>
            </a:r>
            <a:r>
              <a:rPr lang="en-US" baseline="0" dirty="0"/>
              <a:t>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(x=0 ==&gt; ~true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(x=0 ==&gt; true)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(x=0 ==&gt; false)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\/</a:t>
            </a:r>
          </a:p>
          <a:p>
            <a:r>
              <a:rPr lang="en-US" baseline="0" dirty="0"/>
              <a:t> true /\ 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(x&lt;&gt;0 </a:t>
            </a:r>
            <a:r>
              <a:rPr lang="en-US" baseline="0" dirty="0">
                <a:sym typeface="Wingdings" pitchFamily="2" charset="2"/>
              </a:rPr>
              <a:t>/\ </a:t>
            </a:r>
            <a:r>
              <a:rPr lang="en-US" baseline="0" dirty="0"/>
              <a:t>~</a:t>
            </a:r>
            <a:r>
              <a:rPr lang="en-US" baseline="0" dirty="0" err="1"/>
              <a:t>exc</a:t>
            </a:r>
            <a:r>
              <a:rPr lang="en-US" baseline="0" dirty="0"/>
              <a:t> /\ x&gt;0)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x=0 \/ </a:t>
            </a:r>
            <a:r>
              <a:rPr lang="en-US" baseline="0" dirty="0" err="1"/>
              <a:t>exc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41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989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04955"/>
          </a:xfrm>
          <a:gradFill flip="none" rotWithShape="1">
            <a:gsLst>
              <a:gs pos="0">
                <a:schemeClr val="bg1">
                  <a:tint val="90000"/>
                  <a:lumMod val="110000"/>
                </a:schemeClr>
              </a:gs>
              <a:gs pos="100000">
                <a:srgbClr val="C00000">
                  <a:alpha val="27000"/>
                  <a:lumMod val="66000"/>
                </a:srgbClr>
              </a:gs>
            </a:gsLst>
            <a:lin ang="5400000" scaled="1"/>
            <a:tileRect/>
          </a:gradFill>
        </p:spPr>
        <p:txBody>
          <a:bodyPr>
            <a:normAutofit/>
          </a:bodyPr>
          <a:lstStyle>
            <a:lvl1pPr algn="ctr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62142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84960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21108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921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8468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83725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4725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00996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81951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23500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032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7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4" r:id="rId1"/>
    <p:sldLayoutId id="2147484085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091" r:id="rId8"/>
    <p:sldLayoutId id="2147484092" r:id="rId9"/>
    <p:sldLayoutId id="2147484093" r:id="rId10"/>
    <p:sldLayoutId id="214748409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98500" y="1485900"/>
            <a:ext cx="7759701" cy="2819400"/>
          </a:xfrm>
        </p:spPr>
        <p:txBody>
          <a:bodyPr/>
          <a:lstStyle/>
          <a:p>
            <a:pPr algn="ctr" eaLnBrk="1" hangingPunct="1"/>
            <a:r>
              <a:rPr sz="4400" dirty="0"/>
              <a:t>Predicate</a:t>
            </a:r>
            <a:r>
              <a:rPr lang="en-US" sz="4400" dirty="0"/>
              <a:t>-t</a:t>
            </a:r>
            <a:r>
              <a:rPr sz="4400" dirty="0"/>
              <a:t>ransformer</a:t>
            </a:r>
            <a:r>
              <a:rPr lang="en-US" sz="4400" dirty="0"/>
              <a:t>–based Verification</a:t>
            </a:r>
            <a:br>
              <a:rPr lang="en-US" sz="8000" dirty="0"/>
            </a:br>
            <a:r>
              <a:rPr lang="en-US" sz="3200" dirty="0"/>
              <a:t>(LN Chapter 2)</a:t>
            </a:r>
            <a:endParaRPr sz="80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38199" y="5080000"/>
            <a:ext cx="7620002" cy="990600"/>
          </a:xfrm>
        </p:spPr>
        <p:txBody>
          <a:bodyPr>
            <a:normAutofit fontScale="92500" lnSpcReduction="20000"/>
          </a:bodyPr>
          <a:lstStyle/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400" dirty="0" err="1"/>
              <a:t>Wishnu</a:t>
            </a:r>
            <a:r>
              <a:rPr lang="en-US" sz="2400" dirty="0"/>
              <a:t> </a:t>
            </a:r>
            <a:r>
              <a:rPr lang="en-US" sz="2400" dirty="0" err="1"/>
              <a:t>Prasetya</a:t>
            </a:r>
            <a:endParaRPr lang="en-US" sz="2000" dirty="0">
              <a:hlinkClick r:id="rId3"/>
            </a:endParaRPr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>
                <a:hlinkClick r:id="rId3"/>
              </a:rPr>
              <a:t>wishnu@cs.uu.nl</a:t>
            </a:r>
            <a:endParaRPr lang="en-US" sz="2000" dirty="0"/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 err="1">
                <a:solidFill>
                  <a:schemeClr val="accent2"/>
                </a:solidFill>
              </a:rPr>
              <a:t>www.cs.uu.nl</a:t>
            </a:r>
            <a:r>
              <a:rPr lang="en-US" sz="2000" dirty="0">
                <a:solidFill>
                  <a:schemeClr val="accent2"/>
                </a:solidFill>
              </a:rPr>
              <a:t>/docs/</a:t>
            </a:r>
            <a:r>
              <a:rPr lang="en-US" sz="2000" dirty="0" err="1">
                <a:solidFill>
                  <a:schemeClr val="accent2"/>
                </a:solidFill>
              </a:rPr>
              <a:t>vakken</a:t>
            </a:r>
            <a:r>
              <a:rPr lang="en-US" sz="2000" dirty="0">
                <a:solidFill>
                  <a:schemeClr val="accent2"/>
                </a:solidFill>
              </a:rPr>
              <a:t>/</a:t>
            </a:r>
            <a:r>
              <a:rPr lang="en-US" sz="2000" dirty="0" err="1">
                <a:solidFill>
                  <a:schemeClr val="accent2"/>
                </a:solidFill>
              </a:rPr>
              <a:t>pv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Hoare logic</a:t>
            </a:r>
          </a:p>
          <a:p>
            <a:r>
              <a:rPr lang="en-US" dirty="0"/>
              <a:t>Verification using predicate transformers</a:t>
            </a:r>
          </a:p>
          <a:p>
            <a:r>
              <a:rPr lang="en-US" dirty="0"/>
              <a:t>Verification with “Guarded Command Language” (GCL)</a:t>
            </a:r>
          </a:p>
          <a:p>
            <a:r>
              <a:rPr lang="en-US" dirty="0"/>
              <a:t>Objects and exceptions</a:t>
            </a:r>
          </a:p>
          <a:p>
            <a:r>
              <a:rPr lang="en-US" dirty="0"/>
              <a:t>Should at end give an answer to “how to mechanically verify a real program”.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3BD62-7E14-475C-9849-27C28F6B3327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5499100" y="3448434"/>
            <a:ext cx="2578100" cy="684582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programs</a:t>
            </a:r>
            <a:endParaRPr lang="nl-NL" dirty="0"/>
          </a:p>
        </p:txBody>
      </p:sp>
      <p:sp>
        <p:nvSpPr>
          <p:cNvPr id="9219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We can use “Hoare triples”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US" dirty="0">
              <a:sym typeface="Symbol" pitchFamily="18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r>
              <a:rPr lang="en-US" i="1" dirty="0">
                <a:sym typeface="Wingdings" pitchFamily="2" charset="2"/>
              </a:rPr>
              <a:t>total </a:t>
            </a:r>
            <a:r>
              <a:rPr lang="en-US" dirty="0">
                <a:sym typeface="Wingdings" pitchFamily="2" charset="2"/>
              </a:rPr>
              <a:t>and </a:t>
            </a:r>
            <a:r>
              <a:rPr lang="en-US" i="1" dirty="0">
                <a:sym typeface="Wingdings" pitchFamily="2" charset="2"/>
              </a:rPr>
              <a:t>partial correctness </a:t>
            </a:r>
            <a:r>
              <a:rPr lang="en-US" dirty="0">
                <a:sym typeface="Wingdings" pitchFamily="2" charset="2"/>
              </a:rPr>
              <a:t>interpretation.</a:t>
            </a:r>
            <a:endParaRPr lang="en-US" dirty="0">
              <a:sym typeface="Symbol" pitchFamily="18" charset="2"/>
            </a:endParaRPr>
          </a:p>
          <a:p>
            <a:pPr eaLnBrk="1" hangingPunct="1">
              <a:buFont typeface="Wingdings" pitchFamily="2" charset="2"/>
              <a:buNone/>
            </a:pP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74EE3C-B5A6-4179-981E-3B826A827077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409827" y="3544243"/>
            <a:ext cx="8315073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7030A0"/>
                </a:solidFill>
              </a:rPr>
              <a:t>{ #S&gt;0 </a:t>
            </a:r>
            <a:r>
              <a:rPr lang="en-US">
                <a:solidFill>
                  <a:srgbClr val="7030A0"/>
                </a:solidFill>
              </a:rPr>
              <a:t>}  </a:t>
            </a:r>
            <a:r>
              <a:rPr lang="en-US"/>
              <a:t>max(S) </a:t>
            </a:r>
            <a:r>
              <a:rPr lang="en-US" i="1"/>
              <a:t>body</a:t>
            </a:r>
            <a:r>
              <a:rPr lang="en-US"/>
              <a:t>  </a:t>
            </a:r>
            <a:r>
              <a:rPr lang="en-US" dirty="0">
                <a:solidFill>
                  <a:srgbClr val="7030A0"/>
                </a:solidFill>
              </a:rPr>
              <a:t>{ return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 S  /\  (x: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xS</a:t>
            </a:r>
            <a:r>
              <a:rPr lang="en-US" dirty="0">
                <a:solidFill>
                  <a:srgbClr val="7030A0"/>
                </a:solidFill>
                <a:sym typeface="Symbol"/>
              </a:rPr>
              <a:t> 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return≥x</a:t>
            </a:r>
            <a:r>
              <a:rPr lang="en-US" dirty="0">
                <a:solidFill>
                  <a:srgbClr val="7030A0"/>
                </a:solidFill>
                <a:sym typeface="Symbol"/>
              </a:rPr>
              <a:t>) 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6" name="Rechthoek 5"/>
          <p:cNvSpPr/>
          <p:nvPr/>
        </p:nvSpPr>
        <p:spPr>
          <a:xfrm>
            <a:off x="409827" y="2194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8" name="Tekstvak 4"/>
          <p:cNvSpPr txBox="1"/>
          <p:nvPr/>
        </p:nvSpPr>
        <p:spPr>
          <a:xfrm>
            <a:off x="1543259" y="2401243"/>
            <a:ext cx="6181558" cy="461665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7030A0"/>
                </a:solidFill>
              </a:rPr>
              <a:t>{ true }   </a:t>
            </a:r>
            <a:r>
              <a:rPr lang="en-US" dirty="0" err="1"/>
              <a:t>plusOne</a:t>
            </a:r>
            <a:r>
              <a:rPr lang="en-US" dirty="0"/>
              <a:t>(x) </a:t>
            </a:r>
            <a:r>
              <a:rPr lang="en-US" i="1" dirty="0"/>
              <a:t>body</a:t>
            </a:r>
            <a:r>
              <a:rPr lang="en-US" dirty="0"/>
              <a:t>   </a:t>
            </a:r>
            <a:r>
              <a:rPr lang="en-US" dirty="0">
                <a:solidFill>
                  <a:srgbClr val="7030A0"/>
                </a:solidFill>
              </a:rPr>
              <a:t>{ return = x+1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9" name="Rechthoek 5"/>
          <p:cNvSpPr/>
          <p:nvPr/>
        </p:nvSpPr>
        <p:spPr>
          <a:xfrm>
            <a:off x="409827" y="3337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600" dirty="0" err="1"/>
              <a:t>Hoare</a:t>
            </a:r>
            <a:r>
              <a:rPr lang="nl-NL" sz="3600" dirty="0"/>
              <a:t> Logic</a:t>
            </a:r>
          </a:p>
        </p:txBody>
      </p:sp>
      <p:sp>
        <p:nvSpPr>
          <p:cNvPr id="1024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Provides a set of “inference rules” to prove the validity of Hoare triples. Example: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LN uses the notation    ⊢  </a:t>
            </a:r>
            <a:r>
              <a:rPr lang="en-US" sz="2000" i="1" dirty="0">
                <a:sym typeface="Symbol" pitchFamily="18" charset="2"/>
              </a:rPr>
              <a:t>O</a:t>
            </a:r>
            <a:r>
              <a:rPr lang="en-US" sz="2000" dirty="0"/>
              <a:t> </a:t>
            </a:r>
            <a:r>
              <a:rPr lang="en-US" sz="2000" dirty="0">
                <a:latin typeface="Symbol" pitchFamily="18" charset="2"/>
              </a:rPr>
              <a:t></a:t>
            </a:r>
            <a:r>
              <a:rPr lang="en-US" sz="2000" dirty="0"/>
              <a:t> </a:t>
            </a:r>
            <a:r>
              <a:rPr lang="en-US" sz="2000" i="1" dirty="0"/>
              <a:t>P</a:t>
            </a:r>
            <a:endParaRPr lang="en-US" sz="200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43E4B4-0FD0-40C8-9227-C426F2E6A75F}" type="slidenum">
              <a:rPr lang="en-US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2209814" y="2794000"/>
            <a:ext cx="4724370" cy="1200329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  ,   </a:t>
            </a:r>
            <a:r>
              <a:rPr lang="en-US" dirty="0">
                <a:solidFill>
                  <a:schemeClr val="tx1"/>
                </a:solidFill>
              </a:rPr>
              <a:t>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 S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}    S 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sz="3600" dirty="0"/>
              <a:t>The logic’s general idea:  break it down!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64BB03-8F66-434C-A64E-D67186BD5694}" type="slidenum">
              <a:rPr lang="en-US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66193" y="2018215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  <p:sp>
        <p:nvSpPr>
          <p:cNvPr id="7" name="Tekstvak 4"/>
          <p:cNvSpPr txBox="1">
            <a:spLocks noChangeArrowheads="1"/>
          </p:cNvSpPr>
          <p:nvPr/>
        </p:nvSpPr>
        <p:spPr bwMode="auto">
          <a:xfrm>
            <a:off x="1516479" y="3914775"/>
            <a:ext cx="6135688" cy="1200150"/>
          </a:xfrm>
          <a:prstGeom prst="rect">
            <a:avLst/>
          </a:prstGeom>
          <a:noFill/>
          <a:ln w="9525">
            <a:solidFill>
              <a:schemeClr val="accent6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 }   S</a:t>
            </a:r>
            <a:r>
              <a:rPr lang="en-US" baseline="-25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  { </a:t>
            </a:r>
            <a:r>
              <a:rPr lang="en-US" i="1" dirty="0">
                <a:latin typeface="+mn-lt"/>
              </a:rPr>
              <a:t>Q</a:t>
            </a:r>
            <a:r>
              <a:rPr lang="en-US" dirty="0">
                <a:latin typeface="+mn-lt"/>
              </a:rPr>
              <a:t> }   ,   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dirty="0">
                <a:latin typeface="+mn-lt"/>
                <a:sym typeface="Symbol" pitchFamily="18" charset="2"/>
              </a:rPr>
              <a:t>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} 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</a:t>
            </a:r>
            <a:r>
              <a:rPr lang="en-US" dirty="0">
                <a:latin typeface="+mn-lt"/>
                <a:sym typeface="Symbol" pitchFamily="18" charset="2"/>
              </a:rPr>
              <a:t>  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----------------------------------------------------------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P</a:t>
            </a:r>
            <a:r>
              <a:rPr lang="en-US" dirty="0">
                <a:latin typeface="+mn-lt"/>
                <a:sym typeface="Symbol" pitchFamily="18" charset="2"/>
              </a:rPr>
              <a:t> }   </a:t>
            </a:r>
            <a:r>
              <a:rPr lang="en-US" b="1" dirty="0">
                <a:latin typeface="+mn-lt"/>
                <a:sym typeface="Symbol" pitchFamily="18" charset="2"/>
              </a:rPr>
              <a:t>if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b="1" dirty="0">
                <a:latin typeface="+mn-lt"/>
                <a:sym typeface="Symbol" pitchFamily="18" charset="2"/>
              </a:rPr>
              <a:t>then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1  </a:t>
            </a:r>
            <a:r>
              <a:rPr lang="en-US" b="1" dirty="0">
                <a:latin typeface="+mn-lt"/>
                <a:sym typeface="Symbol" pitchFamily="18" charset="2"/>
              </a:rPr>
              <a:t>else 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   </a:t>
            </a: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  <a:endParaRPr lang="en-US" dirty="0"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Assignment</a:t>
            </a:r>
          </a:p>
        </p:txBody>
      </p:sp>
      <p:sp>
        <p:nvSpPr>
          <p:cNvPr id="12291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dirty="0"/>
              <a:t>Eventually, everything boils down to “assignments”</a:t>
            </a:r>
          </a:p>
          <a:p>
            <a:pPr eaLnBrk="1" hangingPunct="1"/>
            <a:r>
              <a:rPr lang="en-US" dirty="0"/>
              <a:t>An assignment is correct if .....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b="1" dirty="0"/>
              <a:t>Note</a:t>
            </a:r>
            <a:r>
              <a:rPr lang="en-US" dirty="0"/>
              <a:t>: this assumes that the assignment only changes the value of x (it does not silently affect other variables)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marL="0" indent="0" eaLnBrk="1" hangingPunct="1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B42965-0CA2-4CAA-AA68-53C7A2CE1708}" type="slidenum">
              <a:rPr lang="en-US"/>
              <a:pPr>
                <a:defRPr/>
              </a:pPr>
              <a:t>6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1565275" y="2803943"/>
            <a:ext cx="4346575" cy="1200150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[e/x]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x:=e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Loop</a:t>
            </a:r>
            <a:endParaRPr lang="nl-NL"/>
          </a:p>
        </p:txBody>
      </p:sp>
      <p:sp>
        <p:nvSpPr>
          <p:cNvPr id="13315" name="Tijdelijke aanduiding voor inhoud 2"/>
          <p:cNvSpPr>
            <a:spLocks noGrp="1"/>
          </p:cNvSpPr>
          <p:nvPr>
            <p:ph idx="1"/>
          </p:nvPr>
        </p:nvSpPr>
        <p:spPr>
          <a:xfrm>
            <a:off x="344488" y="1395413"/>
            <a:ext cx="8621712" cy="5262562"/>
          </a:xfrm>
        </p:spPr>
        <p:txBody>
          <a:bodyPr/>
          <a:lstStyle/>
          <a:p>
            <a:pPr eaLnBrk="1" hangingPunct="1"/>
            <a:r>
              <a:rPr lang="en-US" dirty="0"/>
              <a:t>A loop is correct if you can find an “invariant” 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E.g. a trivial loop:</a:t>
            </a:r>
          </a:p>
          <a:p>
            <a:pPr eaLnBrk="1" hangingPunct="1"/>
            <a:endParaRPr lang="en-US" dirty="0"/>
          </a:p>
        </p:txBody>
      </p:sp>
      <p:sp>
        <p:nvSpPr>
          <p:cNvPr id="18436" name="Tijdelijke aanduiding voor dianummer 3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72472A88-3122-4AE1-B7A4-CE9FC6DC19B2}" type="slidenum">
              <a:rPr lang="en-US"/>
              <a:pPr>
                <a:defRPr/>
              </a:pPr>
              <a:t>7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2428081" y="2303463"/>
            <a:ext cx="4287837" cy="193992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Symbol"/>
              </a:rPr>
              <a:t>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</a:p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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  Q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dirty="0">
                <a:solidFill>
                  <a:schemeClr val="tx1"/>
                </a:solidFill>
                <a:sym typeface="Symbol"/>
              </a:rPr>
            </a:br>
            <a:r>
              <a:rPr lang="en-US" dirty="0">
                <a:solidFill>
                  <a:schemeClr val="tx1"/>
                </a:solidFill>
                <a:sym typeface="Symbol"/>
              </a:rPr>
              <a:t>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P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Q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1681276" y="5545138"/>
            <a:ext cx="5544916" cy="46166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0070C0"/>
                </a:solidFill>
              </a:rPr>
              <a:t> { k=1000 }     </a:t>
            </a:r>
            <a:r>
              <a:rPr lang="en-US" b="1" dirty="0">
                <a:solidFill>
                  <a:schemeClr val="tx1"/>
                </a:solidFill>
              </a:rPr>
              <a:t>while</a:t>
            </a:r>
            <a:r>
              <a:rPr lang="en-US" dirty="0">
                <a:solidFill>
                  <a:schemeClr val="tx1"/>
                </a:solidFill>
              </a:rPr>
              <a:t> k&gt;0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k := k-1   </a:t>
            </a:r>
            <a:r>
              <a:rPr lang="en-US" dirty="0">
                <a:solidFill>
                  <a:srgbClr val="0070C0"/>
                </a:solidFill>
              </a:rPr>
              <a:t>{ k=0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6" name="Tekstvak 6"/>
          <p:cNvSpPr txBox="1"/>
          <p:nvPr/>
        </p:nvSpPr>
        <p:spPr>
          <a:xfrm>
            <a:off x="361950" y="187483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k&lt;10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k++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361950" y="374090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k=10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 ≠ 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k--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719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Tekstvak 6"/>
          <p:cNvSpPr txBox="1"/>
          <p:nvPr/>
        </p:nvSpPr>
        <p:spPr>
          <a:xfrm>
            <a:off x="2105025" y="1957388"/>
            <a:ext cx="5137150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Home work: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rgbClr val="0070C0"/>
                </a:solidFill>
              </a:rPr>
              <a:t>{ s=false  /\  k=0 }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while</a:t>
            </a:r>
            <a:r>
              <a:rPr lang="en-US" dirty="0">
                <a:solidFill>
                  <a:schemeClr val="tx1"/>
                </a:solidFill>
              </a:rPr>
              <a:t> k&lt;#b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s   =  s \/ b[k]  ;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k = k + 1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}    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105025" y="5232400"/>
            <a:ext cx="5137150" cy="46166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{   s    =   (∃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: 0≤i&lt;#b : b[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])   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Proving termination (of loop)</a:t>
            </a:r>
            <a:endParaRPr lang="nl-NL" sz="36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85800" y="1383957"/>
            <a:ext cx="7729538" cy="525395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Extend the previous rule to: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i="1" dirty="0"/>
              <a:t>P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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					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}    S    {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 }	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I  /\ g    Q 		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}    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:=</a:t>
            </a:r>
            <a:r>
              <a:rPr lang="en-US" i="1" dirty="0">
                <a:sym typeface="Symbol"/>
              </a:rPr>
              <a:t>m </a:t>
            </a:r>
            <a:r>
              <a:rPr lang="en-US" dirty="0">
                <a:sym typeface="Symbol"/>
              </a:rPr>
              <a:t>; S   { </a:t>
            </a:r>
            <a:r>
              <a:rPr lang="en-US" i="1" dirty="0">
                <a:sym typeface="Symbol"/>
              </a:rPr>
              <a:t>m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 } 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m decreasing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  </a:t>
            </a:r>
            <a:r>
              <a:rPr lang="en-US" i="1" dirty="0"/>
              <a:t>m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&gt; 0	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 m bounded below</a:t>
            </a:r>
            <a:r>
              <a:rPr lang="en-US" dirty="0">
                <a:sym typeface="Symbol"/>
              </a:rPr>
              <a:t>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}   </a:t>
            </a:r>
            <a:r>
              <a:rPr lang="en-US" b="1" u="sng" dirty="0">
                <a:sym typeface="Symbol"/>
              </a:rPr>
              <a:t>while</a:t>
            </a:r>
            <a:r>
              <a:rPr lang="en-US" dirty="0">
                <a:sym typeface="Symbol"/>
              </a:rPr>
              <a:t> 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</a:t>
            </a:r>
            <a:r>
              <a:rPr lang="en-US" b="1" u="sng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}</a:t>
            </a:r>
            <a:br>
              <a:rPr lang="en-US" dirty="0">
                <a:sym typeface="Symbol"/>
              </a:rPr>
            </a:b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76CFF6-134D-45CE-ABDE-848AF3C1C4A2}" type="slidenum">
              <a:rPr lang="en-US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Rechthoek 4"/>
          <p:cNvSpPr/>
          <p:nvPr/>
        </p:nvSpPr>
        <p:spPr>
          <a:xfrm>
            <a:off x="960438" y="2200275"/>
            <a:ext cx="4805362" cy="37560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6" name="Rechthoek 5"/>
          <p:cNvSpPr/>
          <p:nvPr/>
        </p:nvSpPr>
        <p:spPr>
          <a:xfrm>
            <a:off x="781050" y="3494201"/>
            <a:ext cx="358775" cy="103346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270375" y="1998496"/>
            <a:ext cx="48035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sym typeface="Symbol"/>
              </a:rPr>
              <a:t>0  /\  y0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x+y</a:t>
            </a:r>
            <a:r>
              <a:rPr lang="en-US" dirty="0">
                <a:solidFill>
                  <a:schemeClr val="tx1"/>
                </a:solidFill>
              </a:rPr>
              <a:t>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x&gt;0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{ x--   ;   y := y+100 }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y--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{ x=0 /\  y=0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716337" y="1833396"/>
            <a:ext cx="37113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x&gt;1 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x&gt;0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x&gt;1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x := x - 2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x :=  x + 1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true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824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200"/>
              <a:t>Hoare logic cannot be directly automated</a:t>
            </a:r>
          </a:p>
        </p:txBody>
      </p:sp>
      <p:sp>
        <p:nvSpPr>
          <p:cNvPr id="17411" name="Tijdelijke aanduiding voor inhoud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Problem: 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Let’s now look at “predicate transformer-based verification”. A </a:t>
            </a:r>
            <a:r>
              <a:rPr lang="en-US" i="1" dirty="0"/>
              <a:t>predicate transformer </a:t>
            </a:r>
            <a:r>
              <a:rPr lang="en-US" dirty="0"/>
              <a:t>is a function of type :</a:t>
            </a:r>
            <a:br>
              <a:rPr lang="en-US" dirty="0"/>
            </a:br>
            <a:r>
              <a:rPr lang="en-US" dirty="0"/>
              <a:t>	    Statement </a:t>
            </a:r>
            <a:r>
              <a:rPr lang="en-US" dirty="0">
                <a:sym typeface="Symbol" pitchFamily="18" charset="2"/>
              </a:rPr>
              <a:t> Predicate  Predicate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1508" name="Tijdelijke aanduiding voor dianummer 2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E5718FAB-247B-4B16-8ACB-CF5E6B35F3CC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56544" y="2128838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(forward) : transform a given pre-condition </a:t>
            </a:r>
            <a:r>
              <a:rPr lang="en-US" i="1" dirty="0"/>
              <a:t>P</a:t>
            </a:r>
            <a:r>
              <a:rPr lang="en-US" dirty="0"/>
              <a:t> to a post-condition. 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>
                <a:solidFill>
                  <a:srgbClr val="0070C0"/>
                </a:solidFill>
                <a:sym typeface="Wingdings 3" pitchFamily="18" charset="2"/>
              </a:rPr>
              <a:t> </a:t>
            </a:r>
            <a:r>
              <a:rPr lang="en-US" dirty="0">
                <a:sym typeface="Wingdings 3" pitchFamily="18" charset="2"/>
              </a:rPr>
              <a:t>S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 (backward) : transform a given post-condition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to a pre-condition.</a:t>
            </a:r>
          </a:p>
          <a:p>
            <a:endParaRPr lang="en-US" dirty="0"/>
          </a:p>
          <a:p>
            <a:r>
              <a:rPr lang="en-US" dirty="0"/>
              <a:t>Do they produce valid (sound) pre/post conditions? Yes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}    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{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  It follows that to prove  {P} S {Q}, we can prove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>
                <a:sym typeface="Symbol" pitchFamily="18" charset="2"/>
              </a:rPr>
              <a:t> Q instead. Or, we prove</a:t>
            </a:r>
            <a:r>
              <a:rPr lang="en-US" i="1" dirty="0"/>
              <a:t> </a:t>
            </a:r>
            <a:r>
              <a:rPr lang="en-US" dirty="0"/>
              <a:t>P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8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if:</a:t>
            </a:r>
          </a:p>
          <a:p>
            <a:pPr marL="0" indent="0">
              <a:buNone/>
            </a:pP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    valid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   valid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Sound and complete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489200" y="1383957"/>
            <a:ext cx="1168400" cy="432143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WP and WLP transformer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wp</a:t>
            </a:r>
            <a:r>
              <a:rPr lang="en-US" dirty="0"/>
              <a:t> </a:t>
            </a:r>
            <a:r>
              <a:rPr lang="en-US" i="1" dirty="0"/>
              <a:t>S </a:t>
            </a:r>
            <a:r>
              <a:rPr lang="en-US" dirty="0"/>
              <a:t>Q : the weakest pre-</a:t>
            </a:r>
            <a:r>
              <a:rPr lang="en-US" dirty="0" err="1"/>
              <a:t>condtion</a:t>
            </a:r>
            <a:r>
              <a:rPr lang="en-US" dirty="0"/>
              <a:t> so that S terminates in </a:t>
            </a:r>
            <a:r>
              <a:rPr lang="en-US" i="1" dirty="0"/>
              <a:t>Q</a:t>
            </a:r>
            <a:r>
              <a:rPr lang="en-US" dirty="0"/>
              <a:t>.</a:t>
            </a:r>
          </a:p>
          <a:p>
            <a:r>
              <a:rPr lang="en-US" b="1" dirty="0" err="1"/>
              <a:t>wlp</a:t>
            </a:r>
            <a:r>
              <a:rPr lang="en-US" dirty="0"/>
              <a:t> S</a:t>
            </a:r>
            <a:r>
              <a:rPr lang="en-US" i="1" dirty="0"/>
              <a:t> Q </a:t>
            </a:r>
            <a:r>
              <a:rPr lang="en-US" dirty="0"/>
              <a:t>: the weakest pre-condition so that S, if it terminates, will terminate in </a:t>
            </a:r>
            <a:r>
              <a:rPr lang="en-US" i="1" dirty="0"/>
              <a:t>Q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b="1" dirty="0" err="1"/>
              <a:t>wlp</a:t>
            </a:r>
            <a:r>
              <a:rPr lang="en-US" dirty="0"/>
              <a:t> = weakest liberal pre-</a:t>
            </a:r>
            <a:r>
              <a:rPr lang="en-US" dirty="0" err="1"/>
              <a:t>conidtion</a:t>
            </a:r>
            <a:r>
              <a:rPr lang="en-US" dirty="0"/>
              <a:t>.</a:t>
            </a:r>
          </a:p>
          <a:p>
            <a:endParaRPr lang="en-US" i="1" dirty="0"/>
          </a:p>
          <a:p>
            <a:r>
              <a:rPr lang="en-US" dirty="0"/>
              <a:t>Though, we will see later, that we may have to drop the completeness property of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,</a:t>
            </a:r>
            <a:r>
              <a:rPr lang="en-US" i="1" dirty="0"/>
              <a:t> </a:t>
            </a:r>
            <a:r>
              <a:rPr lang="en-US" dirty="0"/>
              <a:t>but we will still call them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A1559C-DEB8-4CAA-BD47-CF3488CF735D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/>
              <a:t>Guarded Command Language (GCL)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Simple language to start</a:t>
            </a:r>
          </a:p>
          <a:p>
            <a:r>
              <a:rPr lang="en-US" dirty="0"/>
              <a:t>Expressive enough to encode larger languages</a:t>
            </a:r>
          </a:p>
          <a:p>
            <a:r>
              <a:rPr lang="en-US" dirty="0"/>
              <a:t>So that you can keep your logic-core simple</a:t>
            </a:r>
          </a:p>
          <a:p>
            <a:r>
              <a:rPr lang="en-US" dirty="0"/>
              <a:t>Constructs </a:t>
            </a:r>
          </a:p>
          <a:p>
            <a:pPr lvl="1"/>
            <a:r>
              <a:rPr lang="en-US" sz="2400" dirty="0"/>
              <a:t>assignment, </a:t>
            </a:r>
            <a:r>
              <a:rPr lang="en-US" sz="2400" dirty="0" err="1"/>
              <a:t>seq</a:t>
            </a:r>
            <a:r>
              <a:rPr lang="en-US" sz="2400" dirty="0"/>
              <a:t>, </a:t>
            </a:r>
            <a:r>
              <a:rPr lang="en-US" sz="2400" b="1" dirty="0"/>
              <a:t>while, if-then-else</a:t>
            </a:r>
          </a:p>
          <a:p>
            <a:pPr lvl="1"/>
            <a:r>
              <a:rPr lang="en-US" sz="2400" b="1" dirty="0" err="1">
                <a:sym typeface="Wingdings" pitchFamily="2" charset="2"/>
              </a:rPr>
              <a:t>var</a:t>
            </a:r>
            <a:r>
              <a:rPr lang="en-US" sz="2400" b="1" dirty="0">
                <a:sym typeface="Wingdings" pitchFamily="2" charset="2"/>
              </a:rPr>
              <a:t> </a:t>
            </a:r>
            <a:r>
              <a:rPr lang="en-US" sz="2400" dirty="0">
                <a:sym typeface="Wingdings" pitchFamily="2" charset="2"/>
              </a:rPr>
              <a:t>x </a:t>
            </a:r>
            <a:r>
              <a:rPr lang="en-US" sz="2400" b="1" dirty="0">
                <a:sym typeface="Wingdings" pitchFamily="2" charset="2"/>
              </a:rPr>
              <a:t>in </a:t>
            </a:r>
            <a:r>
              <a:rPr lang="en-US" sz="2400" dirty="0">
                <a:sym typeface="Wingdings" pitchFamily="2" charset="2"/>
              </a:rPr>
              <a:t>S ,  uninitialized local-var. 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assert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="1" i="1" dirty="0">
                <a:sym typeface="Wingdings" pitchFamily="2" charset="2"/>
              </a:rPr>
              <a:t>  ,  </a:t>
            </a:r>
            <a:r>
              <a:rPr lang="en-US" sz="2400" b="1" dirty="0">
                <a:sym typeface="Wingdings" pitchFamily="2" charset="2"/>
              </a:rPr>
              <a:t>assume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try-catch</a:t>
            </a:r>
            <a:endParaRPr lang="en-US" sz="2400" b="1" dirty="0"/>
          </a:p>
          <a:p>
            <a:pPr lvl="1"/>
            <a:r>
              <a:rPr lang="en-US" sz="2400" dirty="0">
                <a:sym typeface="Wingdings" pitchFamily="2" charset="2"/>
              </a:rPr>
              <a:t>program </a:t>
            </a:r>
            <a:r>
              <a:rPr lang="en-US" sz="2400" dirty="0" err="1">
                <a:sym typeface="Wingdings" pitchFamily="2" charset="2"/>
              </a:rPr>
              <a:t>decl</a:t>
            </a:r>
            <a:r>
              <a:rPr lang="en-US" sz="2400" dirty="0">
                <a:sym typeface="Wingdings" pitchFamily="2" charset="2"/>
              </a:rPr>
              <a:t>, program call</a:t>
            </a:r>
          </a:p>
          <a:p>
            <a:pPr lvl="1"/>
            <a:r>
              <a:rPr lang="en-US" sz="2400" dirty="0">
                <a:sym typeface="Wingdings" pitchFamily="2" charset="2"/>
              </a:rPr>
              <a:t>primitive types, arrays</a:t>
            </a:r>
          </a:p>
          <a:p>
            <a:pPr lvl="1"/>
            <a:endParaRPr lang="en-US" sz="2400" dirty="0"/>
          </a:p>
          <a:p>
            <a:pPr lvl="1"/>
            <a:endParaRPr lang="en-US" sz="2400" b="1" dirty="0"/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3148F8-8127-43D6-87F8-DC9C54A8960E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/>
              <a:t>wlp</a:t>
            </a:r>
            <a:endParaRPr lang="en-US" b="1" dirty="0"/>
          </a:p>
        </p:txBody>
      </p:sp>
      <p:sp>
        <p:nvSpPr>
          <p:cNvPr id="21507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b="1" dirty="0"/>
              <a:t>  skip  </a:t>
            </a:r>
            <a:r>
              <a:rPr lang="en-US" i="1" dirty="0"/>
              <a:t>Q     =  Q</a:t>
            </a:r>
            <a:endParaRPr lang="en-US" b="1" i="1" dirty="0"/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(x:=e)   </a:t>
            </a:r>
            <a:r>
              <a:rPr lang="en-US" i="1" dirty="0"/>
              <a:t>Q</a:t>
            </a:r>
            <a:r>
              <a:rPr lang="en-US" dirty="0"/>
              <a:t>  =  </a:t>
            </a:r>
            <a:r>
              <a:rPr lang="en-US" i="1" dirty="0"/>
              <a:t>Q</a:t>
            </a:r>
            <a:r>
              <a:rPr lang="en-US" dirty="0"/>
              <a:t>[e/x]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1</a:t>
            </a:r>
            <a:r>
              <a:rPr lang="en-US" dirty="0"/>
              <a:t>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2</a:t>
            </a:r>
            <a:r>
              <a:rPr lang="en-US" dirty="0"/>
              <a:t>  Q)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don’t need to propose our own intermediate predicate!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Example, prove: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AB0902-9405-4BAA-AE9B-8CFF9B05769A}" type="slidenum">
              <a:rPr lang="en-US"/>
              <a:pPr>
                <a:defRPr/>
              </a:pPr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2398" y="4744453"/>
            <a:ext cx="6511719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  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:= x  ; x:=y ; y:=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  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2531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assert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i="1" dirty="0"/>
              <a:t>e</a:t>
            </a:r>
            <a:r>
              <a:rPr lang="en-US" dirty="0"/>
              <a:t> /\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assume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</a:t>
            </a:r>
            <a:r>
              <a:rPr lang="en-US" i="1" dirty="0"/>
              <a:t>Q</a:t>
            </a:r>
            <a:r>
              <a:rPr lang="en-US" dirty="0"/>
              <a:t>   =    </a:t>
            </a:r>
            <a:r>
              <a:rPr lang="en-US" i="1" dirty="0"/>
              <a:t>e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 </a:t>
            </a:r>
            <a:r>
              <a:rPr lang="en-US" dirty="0">
                <a:sym typeface="Wingdings" pitchFamily="2" charset="2"/>
              </a:rPr>
              <a:t>[] T)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   = 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dirty="0">
                <a:sym typeface="Wingdings" pitchFamily="2" charset="2"/>
              </a:rPr>
              <a:t>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 /\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T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eaLnBrk="1" hangingPunct="1"/>
            <a:endParaRPr lang="en-US" b="1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With respect to Hoare triples these two are equivalent (any Hoare triple satisfied by one is satisfied by the other) :</a:t>
            </a:r>
          </a:p>
          <a:p>
            <a:pPr marL="274320" lvl="1" indent="0">
              <a:buNone/>
            </a:pPr>
            <a:br>
              <a:rPr lang="en-US" dirty="0">
                <a:sym typeface="Wingdings" pitchFamily="2" charset="2"/>
              </a:rPr>
            </a:br>
            <a:r>
              <a:rPr lang="en-US" sz="2800" b="1" dirty="0">
                <a:sym typeface="Wingdings" pitchFamily="2" charset="2"/>
              </a:rPr>
              <a:t>if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i="1" dirty="0">
                <a:sym typeface="Wingdings" pitchFamily="2" charset="2"/>
              </a:rPr>
              <a:t>g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then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else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dirty="0">
                <a:sym typeface="Wingdings" pitchFamily="2" charset="2"/>
              </a:rPr>
              <a:t>   </a:t>
            </a:r>
            <a:br>
              <a:rPr lang="en-US" sz="2800" dirty="0">
                <a:sym typeface="Wingdings" pitchFamily="2" charset="2"/>
              </a:rPr>
            </a:br>
            <a:r>
              <a:rPr lang="en-US" sz="2800" dirty="0">
                <a:sym typeface="Symbol" pitchFamily="18" charset="2"/>
              </a:rPr>
              <a:t>  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(</a:t>
            </a:r>
            <a:r>
              <a:rPr lang="en-US" sz="2800" b="1" dirty="0">
                <a:sym typeface="Symbol" pitchFamily="18" charset="2"/>
              </a:rPr>
              <a:t>assume</a:t>
            </a:r>
            <a:r>
              <a:rPr lang="en-US" sz="2800" dirty="0">
                <a:sym typeface="Symbol" pitchFamily="18" charset="2"/>
              </a:rPr>
              <a:t> 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dirty="0">
                <a:sym typeface="Symbol" pitchFamily="18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Symbol" pitchFamily="18" charset="2"/>
              </a:rPr>
              <a:t> ) </a:t>
            </a:r>
            <a:r>
              <a:rPr lang="en-US" sz="2800" dirty="0">
                <a:sym typeface="Wingdings" pitchFamily="2" charset="2"/>
              </a:rPr>
              <a:t>[]   </a:t>
            </a:r>
            <a:r>
              <a:rPr lang="en-US" sz="2800" b="1" dirty="0">
                <a:sym typeface="Wingdings" pitchFamily="2" charset="2"/>
              </a:rPr>
              <a:t>(assume </a:t>
            </a:r>
            <a:r>
              <a:rPr lang="en-US" sz="2800" dirty="0">
                <a:sym typeface="Symbol" pitchFamily="18" charset="2"/>
              </a:rPr>
              <a:t>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b="1" dirty="0">
                <a:sym typeface="Wingdings" pitchFamily="2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b="1" dirty="0">
                <a:sym typeface="Wingdings" pitchFamily="2" charset="2"/>
              </a:rPr>
              <a:t> )</a:t>
            </a:r>
            <a:endParaRPr lang="en-US" sz="2800" b="1" dirty="0"/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1516C0-9F10-4120-8E08-7AE4972BA378}" type="slidenum">
              <a:rPr lang="en-US"/>
              <a:pPr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So, it follows:</a:t>
            </a:r>
            <a:br>
              <a:rPr lang="en-US" dirty="0"/>
            </a:br>
            <a:br>
              <a:rPr lang="en-US" b="1" dirty="0"/>
            </a:b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b="1" dirty="0"/>
              <a:t>then</a:t>
            </a:r>
            <a:r>
              <a:rPr lang="en-US" dirty="0"/>
              <a:t> 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br>
              <a:rPr lang="en-US" dirty="0"/>
            </a:br>
            <a:r>
              <a:rPr lang="en-US" dirty="0"/>
              <a:t>	=</a:t>
            </a:r>
            <a:br>
              <a:rPr lang="en-US" dirty="0"/>
            </a:br>
            <a:r>
              <a:rPr lang="en-US" dirty="0"/>
              <a:t>	(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)   /\    (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2</a:t>
            </a:r>
            <a:r>
              <a:rPr lang="en-US" dirty="0"/>
              <a:t>  </a:t>
            </a:r>
            <a:r>
              <a:rPr lang="en-US" i="1" dirty="0"/>
              <a:t>Q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it is equivalent to (</a:t>
            </a:r>
            <a:r>
              <a:rPr lang="en-US" sz="2000" i="1" dirty="0"/>
              <a:t>g </a:t>
            </a:r>
            <a:r>
              <a:rPr lang="en-US" sz="2000" dirty="0"/>
              <a:t>/\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i="1" dirty="0"/>
              <a:t>Q</a:t>
            </a:r>
            <a:r>
              <a:rPr lang="en-US" sz="2000" dirty="0"/>
              <a:t>)   \/    (</a:t>
            </a:r>
            <a:r>
              <a:rPr lang="en-US" sz="2000" dirty="0">
                <a:sym typeface="Symbol" pitchFamily="18" charset="2"/>
              </a:rPr>
              <a:t></a:t>
            </a:r>
            <a:r>
              <a:rPr lang="en-US" sz="2000" i="1" dirty="0">
                <a:sym typeface="Symbol" pitchFamily="18" charset="2"/>
              </a:rPr>
              <a:t>g</a:t>
            </a:r>
            <a:r>
              <a:rPr lang="en-US" sz="2000" dirty="0">
                <a:sym typeface="Symbol" pitchFamily="18" charset="2"/>
              </a:rPr>
              <a:t>  /\ 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  </a:t>
            </a:r>
            <a:r>
              <a:rPr lang="en-US" sz="2000" i="1" dirty="0"/>
              <a:t>Q</a:t>
            </a:r>
            <a:r>
              <a:rPr lang="en-US" sz="2000" dirty="0"/>
              <a:t>)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Formula growth</a:t>
            </a:r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Note that </a:t>
            </a:r>
            <a:r>
              <a:rPr lang="en-US" dirty="0" err="1"/>
              <a:t>wlp</a:t>
            </a:r>
            <a:r>
              <a:rPr lang="en-US" dirty="0"/>
              <a:t> of if-then-else “duplicates” Q (2x).</a:t>
            </a:r>
          </a:p>
          <a:p>
            <a:pPr eaLnBrk="1" hangingPunct="1"/>
            <a:r>
              <a:rPr lang="en-US" dirty="0"/>
              <a:t>So a series like: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 err="1"/>
              <a:t>wlp</a:t>
            </a:r>
            <a:r>
              <a:rPr lang="en-US" dirty="0"/>
              <a:t> (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S1 </a:t>
            </a:r>
            <a:r>
              <a:rPr lang="en-US" b="1" dirty="0"/>
              <a:t>else</a:t>
            </a:r>
            <a:r>
              <a:rPr lang="en-US" dirty="0"/>
              <a:t> S2 ;</a:t>
            </a:r>
            <a:br>
              <a:rPr lang="en-US" dirty="0"/>
            </a:br>
            <a:r>
              <a:rPr lang="en-US" dirty="0"/>
              <a:t>    	         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S3 </a:t>
            </a:r>
            <a:r>
              <a:rPr lang="en-US" b="1" dirty="0"/>
              <a:t>else</a:t>
            </a:r>
            <a:r>
              <a:rPr lang="en-US" dirty="0"/>
              <a:t> S4 ;</a:t>
            </a:r>
            <a:br>
              <a:rPr lang="en-US" dirty="0"/>
            </a:br>
            <a:r>
              <a:rPr lang="en-US" dirty="0"/>
              <a:t>      	          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I 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S5 </a:t>
            </a:r>
            <a:r>
              <a:rPr lang="en-US" b="1" dirty="0"/>
              <a:t>else</a:t>
            </a:r>
            <a:r>
              <a:rPr lang="en-US" dirty="0"/>
              <a:t> S5 )  </a:t>
            </a:r>
            <a:r>
              <a:rPr lang="en-US" i="1" dirty="0"/>
              <a:t>Q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will duplicate Q 8x. (exponential growth in the size of the resulting </a:t>
            </a:r>
            <a:r>
              <a:rPr lang="en-US" dirty="0" err="1"/>
              <a:t>wlp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81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306B-C16C-DA4A-8EAF-06F2B023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F9282-FA7F-094B-BF84-0647CC24B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20253"/>
            <a:ext cx="7772400" cy="482867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Any program S that does not contain a loop or recursion can be equivalently decomposed  into linear “program paths”.</a:t>
            </a:r>
          </a:p>
          <a:p>
            <a:r>
              <a:rPr lang="en-US" dirty="0"/>
              <a:t>Example :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r>
              <a:rPr lang="en-US" dirty="0"/>
              <a:t>Can be decomposed to: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 </a:t>
            </a:r>
            <a:r>
              <a:rPr lang="en-US" dirty="0"/>
              <a:t>;    x:=e</a:t>
            </a:r>
            <a:r>
              <a:rPr lang="en-US" baseline="-25000" dirty="0"/>
              <a:t>1</a:t>
            </a:r>
            <a:r>
              <a:rPr lang="en-US" dirty="0"/>
              <a:t> ;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 ; 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</a:t>
            </a:r>
            <a:r>
              <a:rPr lang="en-US" dirty="0"/>
              <a:t> ;   x:=e</a:t>
            </a:r>
            <a:r>
              <a:rPr lang="en-US" baseline="-25000" dirty="0"/>
              <a:t>1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;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C26-ABBC-0643-A548-294980EE7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31F8F8-3F6E-0547-B294-BF2EECCFC570}"/>
              </a:ext>
            </a:extLst>
          </p:cNvPr>
          <p:cNvSpPr txBox="1"/>
          <p:nvPr/>
        </p:nvSpPr>
        <p:spPr>
          <a:xfrm>
            <a:off x="2422358" y="2583283"/>
            <a:ext cx="4299284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655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B9B42CAA-CC4E-5C46-8AF8-5F5813107E50}"/>
              </a:ext>
            </a:extLst>
          </p:cNvPr>
          <p:cNvSpPr/>
          <p:nvPr/>
        </p:nvSpPr>
        <p:spPr>
          <a:xfrm>
            <a:off x="3320717" y="2978704"/>
            <a:ext cx="914400" cy="4170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137" y="1383956"/>
            <a:ext cx="8530269" cy="5081011"/>
          </a:xfrm>
        </p:spPr>
        <p:txBody>
          <a:bodyPr>
            <a:noAutofit/>
          </a:bodyPr>
          <a:lstStyle/>
          <a:p>
            <a:r>
              <a:rPr lang="en-US" dirty="0"/>
              <a:t>{P} S {Q} is valid   ≡  </a:t>
            </a:r>
            <a:r>
              <a:rPr lang="en-US" dirty="0" err="1"/>
              <a:t>forall</a:t>
            </a:r>
            <a:r>
              <a:rPr lang="en-US" dirty="0"/>
              <a:t> program path 𝜎 of S: {P} 𝜎 {Q} is valid.</a:t>
            </a:r>
          </a:p>
          <a:p>
            <a:r>
              <a:rPr lang="en-US" dirty="0"/>
              <a:t>E.g. to verify 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approach of verification is also called “</a:t>
            </a:r>
            <a:r>
              <a:rPr lang="en-US" b="1" dirty="0"/>
              <a:t>symbolic execution</a:t>
            </a:r>
            <a:r>
              <a:rPr lang="en-US" dirty="0"/>
              <a:t>”, because it as if we symbolically execute each control path in the target program.</a:t>
            </a:r>
          </a:p>
          <a:p>
            <a:r>
              <a:rPr lang="en-US" dirty="0"/>
              <a:t>The number of paths can still be a lot, but we can verify them incrementally, and even choose which ones to verify.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E5CB1-795B-334B-93A3-F4DA7217C35B}"/>
              </a:ext>
            </a:extLst>
          </p:cNvPr>
          <p:cNvSpPr txBox="1"/>
          <p:nvPr/>
        </p:nvSpPr>
        <p:spPr>
          <a:xfrm>
            <a:off x="208547" y="2435739"/>
            <a:ext cx="3673642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{  P  }</a:t>
            </a:r>
          </a:p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</a:p>
          <a:p>
            <a:pPr algn="ctr"/>
            <a:r>
              <a:rPr lang="en-US" dirty="0"/>
              <a:t>{ Q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23C121-0003-234C-A3F1-5E4B2324C236}"/>
              </a:ext>
            </a:extLst>
          </p:cNvPr>
          <p:cNvSpPr txBox="1"/>
          <p:nvPr/>
        </p:nvSpPr>
        <p:spPr>
          <a:xfrm>
            <a:off x="4235117" y="2681960"/>
            <a:ext cx="4728289" cy="10772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1.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2.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  <a:p>
            <a:r>
              <a:rPr lang="en-US" sz="1600" dirty="0"/>
              <a:t>3.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4.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2C204-F905-6041-8D83-E7B5ED9AF846}"/>
              </a:ext>
            </a:extLst>
          </p:cNvPr>
          <p:cNvSpPr txBox="1"/>
          <p:nvPr/>
        </p:nvSpPr>
        <p:spPr>
          <a:xfrm>
            <a:off x="4235117" y="3938764"/>
            <a:ext cx="4728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Each is reducible to pred. logic formula. We can automate this!</a:t>
            </a:r>
          </a:p>
        </p:txBody>
      </p:sp>
    </p:spTree>
    <p:extLst>
      <p:ext uri="{BB962C8B-B14F-4D97-AF65-F5344CB8AC3E}">
        <p14:creationId xmlns:p14="http://schemas.microsoft.com/office/powerpoint/2010/main" val="1693600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Unfeasible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267326"/>
            <a:ext cx="8674648" cy="5370583"/>
          </a:xfrm>
        </p:spPr>
        <p:txBody>
          <a:bodyPr>
            <a:noAutofit/>
          </a:bodyPr>
          <a:lstStyle/>
          <a:p>
            <a:r>
              <a:rPr lang="en-US" dirty="0"/>
              <a:t>Consider as an example of program path (recall that the “assumes” came originally from branch-guards) 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program path can turn out to be </a:t>
            </a:r>
            <a:r>
              <a:rPr lang="en-US" b="1" dirty="0"/>
              <a:t>unfeasible</a:t>
            </a:r>
            <a:r>
              <a:rPr lang="en-US" dirty="0"/>
              <a:t> if no actual execution can trigger it. This happens if one of its branch-guard is unfeasible towards the path pre-condition (P above) :</a:t>
            </a:r>
          </a:p>
          <a:p>
            <a:pPr lvl="1"/>
            <a:r>
              <a:rPr lang="en-US" sz="2400" dirty="0"/>
              <a:t>Condition g above is unfeasible if C</a:t>
            </a:r>
            <a:r>
              <a:rPr lang="en-US" sz="2400" baseline="-25000" dirty="0"/>
              <a:t>1</a:t>
            </a:r>
            <a:r>
              <a:rPr lang="en-US" sz="2400" dirty="0"/>
              <a:t> is </a:t>
            </a:r>
            <a:r>
              <a:rPr lang="en-US" sz="2400" i="1" dirty="0"/>
              <a:t>unsatisfiable</a:t>
            </a:r>
          </a:p>
          <a:p>
            <a:pPr lvl="1"/>
            <a:r>
              <a:rPr lang="en-US" sz="2400" dirty="0"/>
              <a:t>Condition h is unsatisfiable if C</a:t>
            </a:r>
            <a:r>
              <a:rPr lang="en-US" sz="2400" baseline="-25000" dirty="0"/>
              <a:t>2</a:t>
            </a:r>
            <a:r>
              <a:rPr lang="en-US" sz="2400" dirty="0"/>
              <a:t> in </a:t>
            </a:r>
            <a:r>
              <a:rPr lang="en-US" sz="2400" i="1" dirty="0"/>
              <a:t>unsatisfiable</a:t>
            </a:r>
          </a:p>
          <a:p>
            <a:r>
              <a:rPr lang="en-US" dirty="0"/>
              <a:t>Verifying an unfeasible path is waste of effort, but checking if a path in unfeasible also takes effort (above, you need to check C</a:t>
            </a:r>
            <a:r>
              <a:rPr lang="en-US" baseline="-25000" dirty="0"/>
              <a:t>1</a:t>
            </a:r>
            <a:r>
              <a:rPr lang="en-US" dirty="0"/>
              <a:t> and C</a:t>
            </a:r>
            <a:r>
              <a:rPr lang="en-US" baseline="-25000" dirty="0"/>
              <a:t>2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C4D23-BC25-0D45-B3C4-BD3798157F15}"/>
              </a:ext>
            </a:extLst>
          </p:cNvPr>
          <p:cNvSpPr txBox="1"/>
          <p:nvPr/>
        </p:nvSpPr>
        <p:spPr>
          <a:xfrm>
            <a:off x="1217628" y="2181726"/>
            <a:ext cx="664457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{ P } </a:t>
            </a:r>
            <a:r>
              <a:rPr lang="en-US" b="1" dirty="0"/>
              <a:t>assume</a:t>
            </a:r>
            <a:r>
              <a:rPr lang="en-US" dirty="0"/>
              <a:t> g ; x:=x+1 ; </a:t>
            </a:r>
            <a:r>
              <a:rPr lang="en-US" b="1" dirty="0"/>
              <a:t>assume</a:t>
            </a:r>
            <a:r>
              <a:rPr lang="en-US" dirty="0"/>
              <a:t> h ; y := x  { y&gt;z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8AB4E-50C2-8043-8A44-9B7011C98EC2}"/>
              </a:ext>
            </a:extLst>
          </p:cNvPr>
          <p:cNvSpPr txBox="1"/>
          <p:nvPr/>
        </p:nvSpPr>
        <p:spPr>
          <a:xfrm>
            <a:off x="2277981" y="2969992"/>
            <a:ext cx="150855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1</a:t>
            </a:r>
            <a:r>
              <a:rPr lang="en-US" dirty="0"/>
              <a:t> = P /\ 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7C613-376E-744D-8768-F1B1285E4AF7}"/>
              </a:ext>
            </a:extLst>
          </p:cNvPr>
          <p:cNvSpPr txBox="1"/>
          <p:nvPr/>
        </p:nvSpPr>
        <p:spPr>
          <a:xfrm>
            <a:off x="4235125" y="2974966"/>
            <a:ext cx="2988126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2</a:t>
            </a:r>
            <a:r>
              <a:rPr lang="en-US" dirty="0"/>
              <a:t> = P /\ g  /\ h[x+1/x]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65713C-53C1-5F46-B608-323E7FA082E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032259" y="2650343"/>
            <a:ext cx="0" cy="319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5B2806-EA1C-9F46-86D5-7696FBE0AC0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614737" y="2643391"/>
            <a:ext cx="114451" cy="331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325" y="1383957"/>
            <a:ext cx="8829675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executing a program path, using “variables” to symbolically represent all possible inputs.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dirty="0"/>
              <a:t>”  means the variable x has the value x</a:t>
            </a:r>
            <a:r>
              <a:rPr lang="en-US" baseline="-25000" dirty="0"/>
              <a:t>0</a:t>
            </a:r>
            <a:r>
              <a:rPr lang="en-US" dirty="0"/>
              <a:t>.</a:t>
            </a:r>
          </a:p>
          <a:p>
            <a:r>
              <a:rPr lang="en-US" dirty="0"/>
              <a:t>x0, y0, z0 : fresh variables representing initial values of </a:t>
            </a:r>
            <a:r>
              <a:rPr lang="en-US" dirty="0" err="1"/>
              <a:t>x,y,z</a:t>
            </a:r>
            <a:r>
              <a:rPr lang="en-US" dirty="0"/>
              <a:t>.</a:t>
            </a:r>
          </a:p>
          <a:p>
            <a:r>
              <a:rPr lang="en-US" dirty="0"/>
              <a:t>“Constraint” is a condition that the symbolic values must satisfy, e.g. because it is imposed by the program’s pre-condition.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992278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70288" y="2459504"/>
            <a:ext cx="5159387" cy="1938992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maintain a “symbolic” state. Initially</a:t>
            </a:r>
          </a:p>
          <a:p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</a:p>
          <a:p>
            <a:r>
              <a:rPr lang="en-US" b="1" dirty="0">
                <a:solidFill>
                  <a:srgbClr val="C00000"/>
                </a:solidFill>
              </a:rPr>
              <a:t> y ⟼ 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  <a:p>
            <a:r>
              <a:rPr lang="en-US" b="1" dirty="0">
                <a:solidFill>
                  <a:srgbClr val="C00000"/>
                </a:solidFill>
              </a:rPr>
              <a:t> z ⟼ 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Constraint: 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484891" y="2644170"/>
            <a:ext cx="1125855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4500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we execute a program, taking a formula as its input 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Hoare triple on the left is valid if and only if the final symbolic state implies the post-condition. That is, if this is valid: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335184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60300" y="2413337"/>
            <a:ext cx="4775666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(0)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735317" y="3133818"/>
            <a:ext cx="707536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4834C-D243-024D-A75E-DDBF4D25D939}"/>
              </a:ext>
            </a:extLst>
          </p:cNvPr>
          <p:cNvSpPr txBox="1"/>
          <p:nvPr/>
        </p:nvSpPr>
        <p:spPr>
          <a:xfrm>
            <a:off x="3660300" y="2962537"/>
            <a:ext cx="4966424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>
                <a:solidFill>
                  <a:srgbClr val="C00000"/>
                </a:solidFill>
              </a:rPr>
              <a:t>(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+2 ,</a:t>
            </a:r>
            <a:r>
              <a:rPr lang="en-US" b="1" dirty="0">
                <a:solidFill>
                  <a:srgbClr val="C00000"/>
                </a:solidFill>
              </a:rPr>
              <a:t>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409D2C-DAC9-DE4F-9475-6A2737C289D6}"/>
              </a:ext>
            </a:extLst>
          </p:cNvPr>
          <p:cNvSpPr txBox="1"/>
          <p:nvPr/>
        </p:nvSpPr>
        <p:spPr>
          <a:xfrm>
            <a:off x="3660300" y="3493348"/>
            <a:ext cx="5416868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(2)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,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z⟼x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+2-1  ,</a:t>
            </a:r>
            <a:r>
              <a:rPr lang="en-US" b="1" dirty="0">
                <a:solidFill>
                  <a:srgbClr val="C00000"/>
                </a:solidFill>
              </a:rPr>
              <a:t>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634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13" grpId="0" build="allAtOnce" animBg="1"/>
      <p:bldP spid="14" grpId="0" build="allAtOnce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dirty="0"/>
              <a:t>More generally a symbolic state consist of a pair (</a:t>
            </a:r>
            <a:r>
              <a:rPr lang="en-US" dirty="0" err="1"/>
              <a:t>s,C</a:t>
            </a:r>
            <a:r>
              <a:rPr lang="en-US" dirty="0"/>
              <a:t>) where C is a constrain and s is a mapping   </a:t>
            </a:r>
            <a:r>
              <a:rPr lang="en-US" b="1" dirty="0">
                <a:solidFill>
                  <a:srgbClr val="C00000"/>
                </a:solidFill>
              </a:rPr>
              <a:t>x ⟼ e </a:t>
            </a:r>
            <a:r>
              <a:rPr lang="en-US" dirty="0"/>
              <a:t>that maps every program variable to its symbolic value (which can be an expression e.g. 𝛼+1). To keep it simple, we won’t keep track of a stack (needed if you have recursive calls).</a:t>
            </a:r>
          </a:p>
          <a:p>
            <a:r>
              <a:rPr lang="en-US" dirty="0"/>
              <a:t>Initially the symbolic state is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b="1" dirty="0">
                <a:solidFill>
                  <a:schemeClr val="accent1"/>
                </a:solidFill>
              </a:rPr>
              <a:t>[x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, x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, ... ] , </a:t>
            </a:r>
            <a:r>
              <a:rPr lang="en-US" i="1" dirty="0">
                <a:solidFill>
                  <a:schemeClr val="accent1"/>
                </a:solidFill>
              </a:rPr>
              <a:t>true</a:t>
            </a:r>
            <a:r>
              <a:rPr lang="en-US" b="1" dirty="0">
                <a:solidFill>
                  <a:schemeClr val="accent1"/>
                </a:solidFill>
              </a:rPr>
              <a:t>) </a:t>
            </a:r>
            <a:r>
              <a:rPr lang="en-US" dirty="0"/>
              <a:t>where 𝛼</a:t>
            </a:r>
            <a:r>
              <a:rPr lang="en-US" baseline="-25000" dirty="0"/>
              <a:t>k</a:t>
            </a:r>
            <a:r>
              <a:rPr lang="en-US" dirty="0"/>
              <a:t> is a fresh variable representing an arbitrary initial value of</a:t>
            </a:r>
            <a:r>
              <a:rPr lang="en-US" baseline="-25000" dirty="0"/>
              <a:t>   </a:t>
            </a:r>
            <a:r>
              <a:rPr lang="en-US" dirty="0" err="1"/>
              <a:t>x</a:t>
            </a:r>
            <a:r>
              <a:rPr lang="en-US" baseline="-25000" dirty="0" err="1"/>
              <a:t>k</a:t>
            </a:r>
            <a:r>
              <a:rPr lang="en-US" dirty="0"/>
              <a:t> .</a:t>
            </a:r>
          </a:p>
          <a:p>
            <a:r>
              <a:rPr lang="en-US" dirty="0"/>
              <a:t>Convert the starting pre-condition P to an </a:t>
            </a:r>
            <a:r>
              <a:rPr lang="en-US" dirty="0" err="1"/>
              <a:t>stmt</a:t>
            </a:r>
            <a:r>
              <a:rPr lang="en-US" dirty="0"/>
              <a:t> </a:t>
            </a:r>
            <a:r>
              <a:rPr lang="en-US" b="1" dirty="0"/>
              <a:t>assume</a:t>
            </a:r>
            <a:r>
              <a:rPr lang="en-US" dirty="0"/>
              <a:t> P.</a:t>
            </a:r>
          </a:p>
          <a:p>
            <a:r>
              <a:rPr lang="en-US" dirty="0"/>
              <a:t>Given a program path 𝜌 (sequence of instructions), and an initial symbolic state (</a:t>
            </a:r>
            <a:r>
              <a:rPr lang="en-US" dirty="0" err="1"/>
              <a:t>s,C</a:t>
            </a:r>
            <a:r>
              <a:rPr lang="en-US" dirty="0"/>
              <a:t>), to symbolically execute 𝜌 we simply execute the instructions in 𝜌 in the order as they appear, passing on the new symbolic state after an instruction 𝜌</a:t>
            </a:r>
            <a:r>
              <a:rPr lang="en-US" baseline="-25000" dirty="0"/>
              <a:t>k</a:t>
            </a:r>
            <a:r>
              <a:rPr lang="en-US" dirty="0"/>
              <a:t> to the execution of the instruction 𝜌</a:t>
            </a:r>
            <a:r>
              <a:rPr lang="en-US" baseline="-25000" dirty="0"/>
              <a:t>k+1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17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P</a:t>
            </a:r>
            <a:r>
              <a:rPr lang="en-US" dirty="0"/>
              <a:t> on (</a:t>
            </a:r>
            <a:r>
              <a:rPr lang="en-US" dirty="0" err="1"/>
              <a:t>s,C</a:t>
            </a:r>
            <a:r>
              <a:rPr lang="en-US" dirty="0"/>
              <a:t>) gives (s, P ∧ C’) as the new symbolic state. C’ is obtained by replacing every program variable z that occurs in C with s(z) (the symbolic value of z in the state s).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assert</a:t>
            </a:r>
            <a:r>
              <a:rPr lang="en-US" dirty="0">
                <a:solidFill>
                  <a:srgbClr val="0070C0"/>
                </a:solidFill>
              </a:rPr>
              <a:t> Q</a:t>
            </a:r>
            <a:r>
              <a:rPr lang="en-US" dirty="0"/>
              <a:t> on (</a:t>
            </a:r>
            <a:r>
              <a:rPr lang="en-US" dirty="0" err="1"/>
              <a:t>s,C</a:t>
            </a:r>
            <a:r>
              <a:rPr lang="en-US" dirty="0"/>
              <a:t>) gives the same state (</a:t>
            </a:r>
            <a:r>
              <a:rPr lang="en-US" dirty="0" err="1"/>
              <a:t>s,C</a:t>
            </a:r>
            <a:r>
              <a:rPr lang="en-US" dirty="0"/>
              <a:t>) as the new symbolic state, if C ∧ s ⟹ Q holds. Else the execution is aborted, reporting an error (the asserted Q is violated).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 y:=e </a:t>
            </a:r>
            <a:r>
              <a:rPr lang="en-US" dirty="0"/>
              <a:t>on (</a:t>
            </a:r>
            <a:r>
              <a:rPr lang="en-US" dirty="0" err="1"/>
              <a:t>s,C</a:t>
            </a:r>
            <a:r>
              <a:rPr lang="en-US" dirty="0"/>
              <a:t>) gives (</a:t>
            </a:r>
            <a:r>
              <a:rPr lang="en-US" b="1" dirty="0"/>
              <a:t>update</a:t>
            </a:r>
            <a:r>
              <a:rPr lang="en-US" dirty="0"/>
              <a:t> y e’ s, C) as the new symbolic state, where e’ is the symbolic value of the expression e on the state s, which can be obtained by replacing every program variable z that occurs in e with s(z) (the symbolic value of z in the state s).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90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383957"/>
            <a:ext cx="8563356" cy="5253953"/>
          </a:xfrm>
        </p:spPr>
        <p:txBody>
          <a:bodyPr>
            <a:normAutofit/>
          </a:bodyPr>
          <a:lstStyle/>
          <a:p>
            <a:r>
              <a:rPr lang="en-US" dirty="0"/>
              <a:t>Consider again the verification of: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-based. The program is valid </a:t>
            </a:r>
            <a:r>
              <a:rPr lang="en-US" dirty="0" err="1"/>
              <a:t>iff</a:t>
            </a:r>
            <a:r>
              <a:rPr lang="en-US" dirty="0"/>
              <a:t> 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br>
              <a:rPr lang="en-US" b="1" dirty="0">
                <a:solidFill>
                  <a:srgbClr val="0070C0"/>
                </a:solidFill>
              </a:rPr>
            </a:br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Forward symbolic execution: the program is valid </a:t>
            </a:r>
            <a:r>
              <a:rPr lang="en-US" dirty="0" err="1"/>
              <a:t>iff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489237" y="2239950"/>
            <a:ext cx="2198038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z:=x-1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5592137" y="2609279"/>
            <a:ext cx="1973617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endParaRPr lang="en-US" dirty="0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3829597" y="2544931"/>
            <a:ext cx="1572127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02DA8-FF54-C745-83B7-1F96BD1A9918}"/>
              </a:ext>
            </a:extLst>
          </p:cNvPr>
          <p:cNvSpPr txBox="1"/>
          <p:nvPr/>
        </p:nvSpPr>
        <p:spPr>
          <a:xfrm>
            <a:off x="4020013" y="3191130"/>
            <a:ext cx="1572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 err="1"/>
              <a:t>wlp</a:t>
            </a:r>
            <a:r>
              <a:rPr lang="en-US" sz="1800" dirty="0"/>
              <a:t>-based verification</a:t>
            </a:r>
          </a:p>
        </p:txBody>
      </p:sp>
    </p:spTree>
    <p:extLst>
      <p:ext uri="{BB962C8B-B14F-4D97-AF65-F5344CB8AC3E}">
        <p14:creationId xmlns:p14="http://schemas.microsoft.com/office/powerpoint/2010/main" val="2475470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77C5794-7A20-7C4E-915A-2404470DDF25}"/>
              </a:ext>
            </a:extLst>
          </p:cNvPr>
          <p:cNvSpPr/>
          <p:nvPr/>
        </p:nvSpPr>
        <p:spPr>
          <a:xfrm>
            <a:off x="1347537" y="2438400"/>
            <a:ext cx="4766824" cy="609600"/>
          </a:xfrm>
          <a:prstGeom prst="roundRect">
            <a:avLst>
              <a:gd name="adj" fmla="val 33334"/>
            </a:avLst>
          </a:prstGeom>
          <a:solidFill>
            <a:srgbClr val="00B0F0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1383957"/>
            <a:ext cx="8229599" cy="5253953"/>
          </a:xfrm>
        </p:spPr>
        <p:txBody>
          <a:bodyPr>
            <a:normAutofit/>
          </a:bodyPr>
          <a:lstStyle/>
          <a:p>
            <a:r>
              <a:rPr lang="en-US" dirty="0"/>
              <a:t>Backward execution yields:  x=y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r>
              <a:rPr lang="en-US" dirty="0"/>
              <a:t>.</a:t>
            </a:r>
          </a:p>
          <a:p>
            <a:r>
              <a:rPr lang="en-US" dirty="0"/>
              <a:t>Forward execution yields: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x =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/\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 </a:t>
            </a:r>
            <a:r>
              <a:rPr lang="en-US" dirty="0">
                <a:solidFill>
                  <a:srgbClr val="C00000"/>
                </a:solidFill>
              </a:rPr>
              <a:t>⇒ </a:t>
            </a:r>
            <a:r>
              <a:rPr lang="en-US" b="1" dirty="0">
                <a:solidFill>
                  <a:srgbClr val="C00000"/>
                </a:solidFill>
              </a:rPr>
              <a:t>x&gt;y</a:t>
            </a:r>
            <a:br>
              <a:rPr lang="en-US" dirty="0"/>
            </a:br>
            <a:endParaRPr lang="en-US" dirty="0"/>
          </a:p>
          <a:p>
            <a:r>
              <a:rPr lang="en-US" dirty="0"/>
              <a:t>Backward transformation:  yields cleaner formulas, containing only conditions relevant towards the post-cond.</a:t>
            </a:r>
          </a:p>
          <a:p>
            <a:r>
              <a:rPr lang="en-US" dirty="0"/>
              <a:t>Forward transformation</a:t>
            </a:r>
          </a:p>
          <a:p>
            <a:pPr lvl="1"/>
            <a:r>
              <a:rPr lang="en-US" dirty="0"/>
              <a:t>The direction is more intuitive</a:t>
            </a:r>
          </a:p>
          <a:p>
            <a:pPr lvl="1"/>
            <a:r>
              <a:rPr lang="en-US" dirty="0"/>
              <a:t>The intermediate formulas also produce conditions that correspond to the feasibility of each branch-guard (1x, the blue box above), so you can immediately check the guard feasibility. Note we can also check this via </a:t>
            </a:r>
            <a:r>
              <a:rPr lang="en-US" dirty="0" err="1"/>
              <a:t>wlp</a:t>
            </a:r>
            <a:r>
              <a:rPr lang="en-US" dirty="0"/>
              <a:t>; it is just that we need more staging in the corresponding symbolic execution.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008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Can we prove the soundness and completeness of the </a:t>
            </a:r>
            <a:r>
              <a:rPr lang="en-US" sz="2800" b="1" dirty="0" err="1"/>
              <a:t>wlp</a:t>
            </a:r>
            <a:r>
              <a:rPr lang="en-US" sz="2800" b="1" dirty="0"/>
              <a:t> </a:t>
            </a:r>
            <a:r>
              <a:rPr lang="en-US" sz="2800" dirty="0"/>
              <a:t>transformer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Yes, e.g. </a:t>
            </a:r>
            <a:r>
              <a:rPr lang="en-US" dirty="0" err="1"/>
              <a:t>wrt</a:t>
            </a:r>
            <a:r>
              <a:rPr lang="en-US" dirty="0"/>
              <a:t> a </a:t>
            </a:r>
            <a:r>
              <a:rPr lang="en-US" dirty="0" err="1"/>
              <a:t>denotational</a:t>
            </a:r>
            <a:r>
              <a:rPr lang="en-US" dirty="0"/>
              <a:t> semantic. I will just give a sketch of how to do this.</a:t>
            </a:r>
          </a:p>
          <a:p>
            <a:endParaRPr lang="en-US" dirty="0"/>
          </a:p>
          <a:p>
            <a:r>
              <a:rPr lang="en-US" dirty="0"/>
              <a:t>Consider the following domains as a simple model of program states:</a:t>
            </a:r>
          </a:p>
          <a:p>
            <a:pPr lvl="1"/>
            <a:r>
              <a:rPr lang="en-US" b="1" dirty="0" err="1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 : the space of all possible values of program variables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A state is modelled as a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function</a:t>
            </a:r>
            <a:r>
              <a:rPr lang="en-US" dirty="0">
                <a:solidFill>
                  <a:srgbClr val="000000"/>
                </a:solidFill>
              </a:rPr>
              <a:t> from variable-names to </a:t>
            </a:r>
            <a:r>
              <a:rPr lang="en-US" b="1" dirty="0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. So, if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 is a state, “</a:t>
            </a:r>
            <a:r>
              <a:rPr lang="en-US" i="1" dirty="0">
                <a:solidFill>
                  <a:srgbClr val="000000"/>
                </a:solidFill>
              </a:rPr>
              <a:t>s x</a:t>
            </a:r>
            <a:r>
              <a:rPr lang="en-US" dirty="0">
                <a:solidFill>
                  <a:srgbClr val="000000"/>
                </a:solidFill>
              </a:rPr>
              <a:t>” is the value of variable </a:t>
            </a:r>
            <a:r>
              <a:rPr lang="en-US" i="1" dirty="0">
                <a:solidFill>
                  <a:srgbClr val="000000"/>
                </a:solidFill>
              </a:rPr>
              <a:t>x</a:t>
            </a:r>
            <a:r>
              <a:rPr lang="en-US" dirty="0">
                <a:solidFill>
                  <a:srgbClr val="000000"/>
                </a:solidFill>
              </a:rPr>
              <a:t> in the state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.</a:t>
            </a:r>
          </a:p>
          <a:p>
            <a:pPr lvl="1"/>
            <a:r>
              <a:rPr lang="en-US" b="1" dirty="0"/>
              <a:t>State : </a:t>
            </a:r>
            <a:r>
              <a:rPr lang="en-US" dirty="0">
                <a:solidFill>
                  <a:srgbClr val="000000"/>
                </a:solidFill>
              </a:rPr>
              <a:t>the space of all possible program states.</a:t>
            </a:r>
          </a:p>
          <a:p>
            <a:pPr lvl="1"/>
            <a:endParaRPr lang="en-US" dirty="0">
              <a:solidFill>
                <a:srgbClr val="000000"/>
              </a:solidFill>
            </a:endParaRPr>
          </a:p>
          <a:p>
            <a:r>
              <a:rPr lang="en-US" sz="1800" dirty="0">
                <a:solidFill>
                  <a:srgbClr val="000000"/>
                </a:solidFill>
              </a:rPr>
              <a:t>Note: Chapter 1 and 2 propose two different representations of states. They are both usable, as they both support state query and update.</a:t>
            </a:r>
            <a:endParaRPr lang="nl-NL" sz="1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657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expr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val</a:t>
            </a:r>
            <a:r>
              <a:rPr lang="en-US" dirty="0"/>
              <a:t>)</a:t>
            </a:r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</a:t>
            </a:r>
            <a:r>
              <a:rPr lang="en-US" b="1" dirty="0" err="1"/>
              <a:t>Pred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bool</a:t>
            </a:r>
            <a:r>
              <a:rPr lang="en-US" dirty="0"/>
              <a:t>)  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overloading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ℰ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olidFill>
                  <a:srgbClr val="000000"/>
                </a:solidFill>
              </a:rPr>
              <a:t>e.g. </a:t>
            </a: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	</a:t>
            </a:r>
            <a:r>
              <a:rPr lang="en-US" dirty="0"/>
              <a:t>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 err="1"/>
              <a:t>⟦</a:t>
            </a:r>
            <a:r>
              <a:rPr lang="en-US" i="1" dirty="0" err="1">
                <a:solidFill>
                  <a:srgbClr val="000000"/>
                </a:solidFill>
                <a:highlight>
                  <a:srgbClr val="FFFF00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&gt;</a:t>
            </a:r>
            <a:r>
              <a:rPr lang="en-US" i="1" dirty="0">
                <a:solidFill>
                  <a:srgbClr val="000000"/>
                </a:solidFill>
                <a:highlight>
                  <a:srgbClr val="FFFF00"/>
                </a:highlight>
              </a:rPr>
              <a:t>y</a:t>
            </a:r>
            <a:r>
              <a:rPr lang="en-US" dirty="0"/>
              <a:t>⟧ </a:t>
            </a:r>
            <a:r>
              <a:rPr lang="en-US" dirty="0">
                <a:solidFill>
                  <a:srgbClr val="000000"/>
                </a:solidFill>
              </a:rPr>
              <a:t> =  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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. 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  &gt;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s y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)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</a:t>
            </a:r>
          </a:p>
          <a:p>
            <a:pPr marL="0" indent="0" eaLnBrk="1" hangingPunct="1">
              <a:buNone/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0303DA-84E6-2EEA-0871-F6B0379A8DED}"/>
              </a:ext>
            </a:extLst>
          </p:cNvPr>
          <p:cNvSpPr txBox="1"/>
          <p:nvPr/>
        </p:nvSpPr>
        <p:spPr>
          <a:xfrm>
            <a:off x="2148840" y="4201339"/>
            <a:ext cx="2021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syntax structure/string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2AE5CB-A6BF-B2F4-48B0-CC2F8118FB68}"/>
              </a:ext>
            </a:extLst>
          </p:cNvPr>
          <p:cNvSpPr txBox="1"/>
          <p:nvPr/>
        </p:nvSpPr>
        <p:spPr>
          <a:xfrm>
            <a:off x="5014301" y="4256348"/>
            <a:ext cx="16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meaning/semantic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817753-D4D0-31C4-1AC0-32DC5015A28F}"/>
              </a:ext>
            </a:extLst>
          </p:cNvPr>
          <p:cNvCxnSpPr/>
          <p:nvPr/>
        </p:nvCxnSpPr>
        <p:spPr>
          <a:xfrm flipV="1">
            <a:off x="3159693" y="3643555"/>
            <a:ext cx="0" cy="557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3FB62-7655-0790-C9D1-8EAA8E5FDFED}"/>
              </a:ext>
            </a:extLst>
          </p:cNvPr>
          <p:cNvCxnSpPr>
            <a:cxnSpLocks/>
          </p:cNvCxnSpPr>
          <p:nvPr/>
        </p:nvCxnSpPr>
        <p:spPr>
          <a:xfrm flipH="1" flipV="1">
            <a:off x="5014301" y="3634556"/>
            <a:ext cx="334197" cy="62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D9F1E3-3D45-A3C1-95F5-0DB3AC646D55}"/>
              </a:ext>
            </a:extLst>
          </p:cNvPr>
          <p:cNvSpPr txBox="1"/>
          <p:nvPr/>
        </p:nvSpPr>
        <p:spPr>
          <a:xfrm>
            <a:off x="-49356" y="3136612"/>
            <a:ext cx="21483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L" sz="1600" dirty="0"/>
              <a:t>semantic-interpretation </a:t>
            </a:r>
          </a:p>
          <a:p>
            <a:pPr algn="r"/>
            <a:r>
              <a:rPr lang="en-NL" sz="1600" dirty="0"/>
              <a:t>function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0114FC-E4C2-E9A7-896D-A915CF80DE30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2098989" y="3428999"/>
            <a:ext cx="52533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Note that </a:t>
            </a:r>
            <a:r>
              <a:rPr lang="en-US" i="1" dirty="0"/>
              <a:t>P </a:t>
            </a:r>
            <a:r>
              <a:rPr lang="en-US" dirty="0"/>
              <a:t>: </a:t>
            </a:r>
            <a:r>
              <a:rPr lang="en-US" b="1" dirty="0"/>
              <a:t>State</a:t>
            </a:r>
            <a:r>
              <a:rPr lang="en-US" dirty="0"/>
              <a:t> → </a:t>
            </a:r>
            <a:r>
              <a:rPr lang="en-US" b="1" dirty="0"/>
              <a:t>bool</a:t>
            </a:r>
            <a:r>
              <a:rPr lang="en-US" dirty="0"/>
              <a:t> can equivalently be seen as a set of all the states on which P is true: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“</a:t>
            </a:r>
            <a:r>
              <a:rPr lang="en-US" i="1" dirty="0"/>
              <a:t>P  </a:t>
            </a:r>
            <a:r>
              <a:rPr lang="en-US" dirty="0"/>
              <a:t>as a set”</a:t>
            </a:r>
            <a:r>
              <a:rPr lang="en-US" i="1" dirty="0"/>
              <a:t>  </a:t>
            </a:r>
            <a:r>
              <a:rPr lang="en-US" dirty="0"/>
              <a:t>=  {  </a:t>
            </a:r>
            <a:r>
              <a:rPr lang="en-US" i="1" dirty="0"/>
              <a:t>s</a:t>
            </a:r>
            <a:r>
              <a:rPr lang="en-US" dirty="0"/>
              <a:t>  |  </a:t>
            </a:r>
            <a:r>
              <a:rPr lang="en-US" i="1" dirty="0"/>
              <a:t>s </a:t>
            </a:r>
            <a:r>
              <a:rPr lang="en-US" dirty="0">
                <a:sym typeface="Symbol"/>
              </a:rPr>
              <a:t>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s</a:t>
            </a:r>
            <a:r>
              <a:rPr lang="en-US" dirty="0">
                <a:sym typeface="Symbol"/>
              </a:rPr>
              <a:t> }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Predicate operators translate to set operators, e.g. /\, \/ to   , negation to complement </a:t>
            </a:r>
            <a:r>
              <a:rPr lang="en-US" dirty="0" err="1">
                <a:sym typeface="Symbol"/>
              </a:rPr>
              <a:t>wrt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.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This ordering: “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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 is valid”  translates to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 </a:t>
            </a:r>
            <a:r>
              <a:rPr lang="en-US" i="1" dirty="0">
                <a:sym typeface="Symbol"/>
              </a:rPr>
              <a:t>Q</a:t>
            </a:r>
            <a:endParaRPr lang="en-US" i="1" dirty="0"/>
          </a:p>
          <a:p>
            <a:pPr eaLnBrk="1" hangingPunct="1"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5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statements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We model a statement as a function of type 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State. </a:t>
            </a:r>
            <a:br>
              <a:rPr lang="en-US" b="1" dirty="0"/>
            </a:br>
            <a:br>
              <a:rPr lang="en-US" b="1" dirty="0"/>
            </a:b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</a:t>
            </a:r>
            <a:r>
              <a:rPr lang="en-US" dirty="0"/>
              <a:t>)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Alternatively: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)) to allow non-determinism.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 is the domain of all subsets of </a:t>
            </a:r>
            <a:r>
              <a:rPr lang="en-US" b="1" dirty="0"/>
              <a:t>State</a:t>
            </a:r>
            <a:r>
              <a:rPr lang="en-US" dirty="0"/>
              <a:t>. On this domain, we have: ∩ ∪ ⊆ ⊇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749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semantic of statements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</a:t>
            </a:r>
            <a:r>
              <a:rPr lang="en-US" b="1" dirty="0">
                <a:solidFill>
                  <a:srgbClr val="000000"/>
                </a:solidFill>
              </a:rPr>
              <a:t>skip</a:t>
            </a:r>
            <a:r>
              <a:rPr lang="en-US" dirty="0"/>
              <a:t>⟧      =  (𝜆</a:t>
            </a:r>
            <a:r>
              <a:rPr lang="en-US" i="1" dirty="0"/>
              <a:t>s</a:t>
            </a:r>
            <a:r>
              <a:rPr lang="en-US" dirty="0"/>
              <a:t>. </a:t>
            </a:r>
            <a:r>
              <a:rPr lang="en-US" i="1" dirty="0">
                <a:solidFill>
                  <a:srgbClr val="000000"/>
                </a:solidFill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x := e </a:t>
            </a:r>
            <a:r>
              <a:rPr lang="en-US" dirty="0"/>
              <a:t>⟧  =  (𝜆s. </a:t>
            </a:r>
            <a:r>
              <a:rPr lang="en-US" b="1" dirty="0">
                <a:solidFill>
                  <a:srgbClr val="000000"/>
                </a:solidFill>
                <a:sym typeface="Symbol"/>
              </a:rPr>
              <a:t>update</a:t>
            </a:r>
            <a:r>
              <a:rPr lang="en-US" dirty="0">
                <a:solidFill>
                  <a:srgbClr val="000000"/>
                </a:solidFill>
                <a:sym typeface="Symbol"/>
              </a:rPr>
              <a:t> s x  (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e </a:t>
            </a:r>
            <a:r>
              <a:rPr lang="en-US" dirty="0"/>
              <a:t>⟧ s) )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⟧  =  (𝜆s.  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2</a:t>
            </a:r>
            <a:r>
              <a:rPr lang="en-US" dirty="0"/>
              <a:t> ⟧ 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⟧ s) )</a:t>
            </a:r>
          </a:p>
          <a:p>
            <a:endParaRPr lang="en-US" dirty="0"/>
          </a:p>
          <a:p>
            <a:r>
              <a:rPr lang="en-US" dirty="0"/>
              <a:t>We can now “execute” a program over our model-states. We can also study properties about programs by studying their semantical models.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712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Semantic of Hoare Triple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2657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 : Hoare-triple ⟶ bool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( {P}  S  {Q} )     =    ∀s: 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⟦P⟧ s :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 s)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is sound and complete if: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{P}  S  {Q}   if and only if  P ⇒ </a:t>
            </a:r>
            <a:r>
              <a:rPr lang="en-US" b="1" dirty="0" err="1"/>
              <a:t>wlp</a:t>
            </a:r>
            <a:r>
              <a:rPr lang="en-US" dirty="0"/>
              <a:t> S Q is valid</a:t>
            </a:r>
          </a:p>
          <a:p>
            <a:endParaRPr lang="en-US" dirty="0"/>
          </a:p>
          <a:p>
            <a:r>
              <a:rPr lang="en-US" dirty="0"/>
              <a:t>In comes down to proving that: for all state s, and post-</a:t>
            </a:r>
            <a:r>
              <a:rPr lang="en-US" dirty="0" err="1"/>
              <a:t>cond</a:t>
            </a:r>
            <a:r>
              <a:rPr lang="en-US" dirty="0"/>
              <a:t> Q: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⟧s)  if and only if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⟦ </a:t>
            </a:r>
            <a:r>
              <a:rPr lang="en-US" b="1" dirty="0" err="1"/>
              <a:t>wlp</a:t>
            </a:r>
            <a:r>
              <a:rPr lang="en-US" dirty="0"/>
              <a:t> S Q ⟧ 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Can be proven inductively over the structure of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98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Dealing with loop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Unfortunately, no general way to calculate </a:t>
            </a:r>
            <a:r>
              <a:rPr lang="en-US" b="1" dirty="0" err="1"/>
              <a:t>wlp</a:t>
            </a:r>
            <a:r>
              <a:rPr lang="en-US" dirty="0"/>
              <a:t> of loops.</a:t>
            </a:r>
          </a:p>
          <a:p>
            <a:r>
              <a:rPr lang="en-US" dirty="0"/>
              <a:t>For annotated loop, let’s “define” :</a:t>
            </a:r>
            <a:br>
              <a:rPr lang="en-US" dirty="0"/>
            </a:br>
            <a:br>
              <a:rPr lang="en-US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b="1" dirty="0"/>
              <a:t>inv </a:t>
            </a:r>
            <a:r>
              <a:rPr lang="en-US" i="1" dirty="0"/>
              <a:t>I</a:t>
            </a:r>
            <a:r>
              <a:rPr lang="en-US" b="1" dirty="0"/>
              <a:t> while </a:t>
            </a:r>
            <a:r>
              <a:rPr lang="en-US" i="1" dirty="0"/>
              <a:t>g </a:t>
            </a:r>
            <a:r>
              <a:rPr lang="en-US" b="1" dirty="0"/>
              <a:t>do </a:t>
            </a:r>
            <a:r>
              <a:rPr lang="en-US" dirty="0"/>
              <a:t>S)  </a:t>
            </a:r>
            <a:r>
              <a:rPr lang="en-US" i="1" dirty="0"/>
              <a:t>Q</a:t>
            </a:r>
            <a:r>
              <a:rPr lang="en-US" dirty="0"/>
              <a:t>   =   </a:t>
            </a:r>
            <a:r>
              <a:rPr lang="en-US" i="1" dirty="0"/>
              <a:t>I</a:t>
            </a:r>
            <a:r>
              <a:rPr lang="en-US" dirty="0"/>
              <a:t>   ,  provided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</a:t>
            </a:r>
            <a:r>
              <a:rPr lang="en-US" i="1" dirty="0">
                <a:sym typeface="Symbol" pitchFamily="18" charset="2"/>
              </a:rPr>
              <a:t>Q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    </a:t>
            </a:r>
            <a:r>
              <a:rPr lang="en-US" b="1" dirty="0" err="1">
                <a:solidFill>
                  <a:srgbClr val="FF0000"/>
                </a:solidFill>
                <a:sym typeface="Symbol" pitchFamily="18" charset="2"/>
              </a:rPr>
              <a:t>wlp</a:t>
            </a:r>
            <a:r>
              <a:rPr lang="en-US" b="1" dirty="0">
                <a:solidFill>
                  <a:srgbClr val="FF0000"/>
                </a:solidFill>
                <a:sym typeface="Symbol" pitchFamily="18" charset="2"/>
              </a:rPr>
              <a:t> </a:t>
            </a:r>
            <a:r>
              <a:rPr lang="en-US" dirty="0">
                <a:sym typeface="Symbol" pitchFamily="18" charset="2"/>
              </a:rPr>
              <a:t>S </a:t>
            </a:r>
            <a:r>
              <a:rPr lang="en-US" i="1" dirty="0">
                <a:sym typeface="Symbol" pitchFamily="18" charset="2"/>
              </a:rPr>
              <a:t>I</a:t>
            </a:r>
          </a:p>
          <a:p>
            <a:pPr lvl="1"/>
            <a:endParaRPr lang="en-US" i="1" dirty="0">
              <a:sym typeface="Symbol" pitchFamily="18" charset="2"/>
            </a:endParaRPr>
          </a:p>
          <a:p>
            <a:pPr marL="0" indent="0">
              <a:buNone/>
            </a:pPr>
            <a:r>
              <a:rPr lang="en-US" sz="2000" dirty="0">
                <a:sym typeface="Symbol" pitchFamily="18" charset="2"/>
              </a:rPr>
              <a:t>Note that this gives a sound pre-</a:t>
            </a:r>
            <a:r>
              <a:rPr lang="en-US" sz="2000" dirty="0" err="1">
                <a:sym typeface="Symbol" pitchFamily="18" charset="2"/>
              </a:rPr>
              <a:t>cond</a:t>
            </a:r>
            <a:r>
              <a:rPr lang="en-US" sz="2000" dirty="0">
                <a:sym typeface="Symbol" pitchFamily="18" charset="2"/>
              </a:rPr>
              <a:t>, but does not necessarily give the weakest pre-cond. </a:t>
            </a:r>
          </a:p>
          <a:p>
            <a:pPr lvl="1"/>
            <a:endParaRPr lang="en-US" dirty="0">
              <a:sym typeface="Symbol" pitchFamily="18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357A4D-050C-401B-9FA6-443CD1C3F6F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there is no I annotated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Heuristics to construct invariants e.g. based on the form of the post-condition → not in scope.</a:t>
            </a:r>
          </a:p>
          <a:p>
            <a:r>
              <a:rPr lang="en-US" dirty="0"/>
              <a:t>Dynamically infer invariants → not in scope.</a:t>
            </a:r>
          </a:p>
          <a:p>
            <a:r>
              <a:rPr lang="en-US" dirty="0"/>
              <a:t>Ask an LLM </a:t>
            </a:r>
            <a:r>
              <a:rPr lang="en-US" dirty="0">
                <a:sym typeface="Wingdings" pitchFamily="2" charset="2"/>
              </a:rPr>
              <a:t> not in scope.</a:t>
            </a:r>
            <a:endParaRPr lang="en-US" dirty="0"/>
          </a:p>
          <a:p>
            <a:r>
              <a:rPr lang="en-US" dirty="0"/>
              <a:t>Non-heuristic approaches, simple; can be used as starting points.</a:t>
            </a:r>
          </a:p>
          <a:p>
            <a:pPr lvl="1"/>
            <a:r>
              <a:rPr lang="en-US" dirty="0"/>
              <a:t>Fix point based </a:t>
            </a:r>
          </a:p>
          <a:p>
            <a:pPr lvl="1"/>
            <a:r>
              <a:rPr lang="en-US" dirty="0"/>
              <a:t>Unfolding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wlp</a:t>
            </a:r>
            <a:r>
              <a:rPr lang="en-US" dirty="0"/>
              <a:t> as fix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97112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Note this first:</a:t>
            </a:r>
            <a:endParaRPr lang="en-US" b="1" dirty="0"/>
          </a:p>
          <a:p>
            <a:pPr>
              <a:buNone/>
            </a:pPr>
            <a:r>
              <a:rPr lang="en-US" b="1" dirty="0"/>
              <a:t>       while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do</a:t>
            </a:r>
            <a:r>
              <a:rPr lang="en-US" dirty="0"/>
              <a:t> S  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/>
              </a:rPr>
              <a:t>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g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{ S ; </a:t>
            </a:r>
            <a:r>
              <a:rPr lang="en-US" b="1" dirty="0">
                <a:sym typeface="Symbol"/>
              </a:rPr>
              <a:t>while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S } </a:t>
            </a:r>
            <a:r>
              <a:rPr lang="en-US" b="1" dirty="0">
                <a:sym typeface="Symbol"/>
              </a:rPr>
              <a:t>else</a:t>
            </a:r>
            <a:r>
              <a:rPr lang="en-US" dirty="0"/>
              <a:t>  skip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i="1" dirty="0"/>
              <a:t>W  </a:t>
            </a:r>
            <a:r>
              <a:rPr lang="en-US" dirty="0"/>
              <a:t>=  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              =  (</a:t>
            </a:r>
            <a:r>
              <a:rPr lang="en-US" i="1" dirty="0"/>
              <a:t>g</a:t>
            </a:r>
            <a:r>
              <a:rPr lang="en-US" dirty="0"/>
              <a:t>  ⇒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/\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dirty="0"/>
              <a:t>⇒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    </a:t>
            </a:r>
            <a:r>
              <a:rPr lang="en-US" i="1" dirty="0"/>
              <a:t>   </a:t>
            </a:r>
            <a:r>
              <a:rPr lang="en-US" dirty="0"/>
              <a:t>      =  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\/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are looking for the “weakest” solution of </a:t>
            </a:r>
            <a:r>
              <a:rPr lang="en-US" i="1" dirty="0"/>
              <a:t>W</a:t>
            </a:r>
            <a:r>
              <a:rPr lang="en-US" dirty="0"/>
              <a:t> = </a:t>
            </a:r>
            <a:r>
              <a:rPr lang="en-US" b="1" dirty="0"/>
              <a:t>F</a:t>
            </a:r>
            <a:r>
              <a:rPr lang="en-US" dirty="0"/>
              <a:t>(</a:t>
            </a:r>
            <a:r>
              <a:rPr lang="en-US" i="1" dirty="0"/>
              <a:t>W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154906" y="1216967"/>
            <a:ext cx="731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1123" y="1650649"/>
            <a:ext cx="1840460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616368" y="2196433"/>
            <a:ext cx="1664704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>
            <a:stCxn id="6" idx="3"/>
            <a:endCxn id="5" idx="1"/>
          </p:cNvCxnSpPr>
          <p:nvPr/>
        </p:nvCxnSpPr>
        <p:spPr>
          <a:xfrm flipV="1">
            <a:off x="2881583" y="1447800"/>
            <a:ext cx="1273323" cy="43546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stCxn id="7" idx="0"/>
            <a:endCxn id="5" idx="1"/>
          </p:cNvCxnSpPr>
          <p:nvPr/>
        </p:nvCxnSpPr>
        <p:spPr>
          <a:xfrm flipV="1">
            <a:off x="3448720" y="1447800"/>
            <a:ext cx="706186" cy="748633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6695" y="4788056"/>
            <a:ext cx="474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+mn-lt"/>
              </a:rPr>
              <a:t>W</a:t>
            </a:r>
          </a:p>
        </p:txBody>
      </p:sp>
      <p:sp>
        <p:nvSpPr>
          <p:cNvPr id="15" name="Right Brace 14"/>
          <p:cNvSpPr/>
          <p:nvPr/>
        </p:nvSpPr>
        <p:spPr>
          <a:xfrm rot="5400000">
            <a:off x="3777102" y="4032855"/>
            <a:ext cx="373997" cy="1390687"/>
          </a:xfrm>
          <a:prstGeom prst="rightBrace">
            <a:avLst>
              <a:gd name="adj1" fmla="val 23322"/>
              <a:gd name="adj2" fmla="val 50000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3799230" y="2914306"/>
            <a:ext cx="510183" cy="4625108"/>
          </a:xfrm>
          <a:prstGeom prst="rightBrace">
            <a:avLst>
              <a:gd name="adj1" fmla="val 30154"/>
              <a:gd name="adj2" fmla="val 75234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21360" y="5418109"/>
            <a:ext cx="8675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+mn-lt"/>
              </a:rPr>
              <a:t>F</a:t>
            </a:r>
            <a:r>
              <a:rPr lang="en-US" i="1" dirty="0">
                <a:latin typeface="+mn-lt"/>
              </a:rPr>
              <a:t>(W)</a:t>
            </a:r>
          </a:p>
        </p:txBody>
      </p:sp>
    </p:spTree>
    <p:extLst>
      <p:ext uri="{BB962C8B-B14F-4D97-AF65-F5344CB8AC3E}">
        <p14:creationId xmlns:p14="http://schemas.microsoft.com/office/powerpoint/2010/main" val="46404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14" grpId="0"/>
      <p:bldP spid="15" grpId="0" animBg="1"/>
      <p:bldP spid="16" grpId="0" animBg="1"/>
      <p:bldP spid="1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/>
              <a:t>The domain of </a:t>
            </a:r>
            <a:r>
              <a:rPr lang="en-US" sz="3600"/>
              <a:t>state predicates, Pow</a:t>
            </a:r>
            <a:r>
              <a:rPr lang="en-US" sz="3600" dirty="0"/>
              <a:t>(∑)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Suppose ∑ (set of all states) = { </a:t>
            </a:r>
            <a:r>
              <a:rPr lang="en-US" sz="2400" dirty="0" err="1"/>
              <a:t>s,t,u</a:t>
            </a:r>
            <a:r>
              <a:rPr lang="en-US" sz="2400" dirty="0"/>
              <a:t> }. The domain Pow(∑), ordered by ⊆ 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38095" y="2553800"/>
            <a:ext cx="114646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</a:t>
            </a:r>
            <a:r>
              <a:rPr lang="en-US" dirty="0" err="1"/>
              <a:t>s,t,u</a:t>
            </a:r>
            <a:r>
              <a:rPr lang="en-US" dirty="0"/>
              <a:t>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4934" y="3451871"/>
            <a:ext cx="76174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s,t</a:t>
            </a:r>
            <a:r>
              <a:rPr lang="en-US" dirty="0"/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992" y="3451872"/>
            <a:ext cx="8306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s,u</a:t>
            </a:r>
            <a:r>
              <a:rPr lang="en-US" dirty="0"/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3380" y="3451871"/>
            <a:ext cx="795411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t,u</a:t>
            </a:r>
            <a:r>
              <a:rPr lang="en-US" dirty="0"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393" y="4289790"/>
            <a:ext cx="599844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{s}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5258" y="4274170"/>
            <a:ext cx="5645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{t}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4331" y="4274170"/>
            <a:ext cx="63350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{u}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052" y="5146985"/>
            <a:ext cx="338555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∅</a:t>
            </a:r>
          </a:p>
        </p:txBody>
      </p:sp>
      <p:cxnSp>
        <p:nvCxnSpPr>
          <p:cNvPr id="15" name="Straight Connector 14"/>
          <p:cNvCxnSpPr>
            <a:stCxn id="5" idx="2"/>
            <a:endCxn id="6" idx="0"/>
          </p:cNvCxnSpPr>
          <p:nvPr/>
        </p:nvCxnSpPr>
        <p:spPr>
          <a:xfrm flipH="1">
            <a:off x="3025808" y="3015465"/>
            <a:ext cx="1285521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5" idx="2"/>
            <a:endCxn id="8" idx="0"/>
          </p:cNvCxnSpPr>
          <p:nvPr/>
        </p:nvCxnSpPr>
        <p:spPr>
          <a:xfrm>
            <a:off x="4311329" y="3015465"/>
            <a:ext cx="2" cy="4364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5" idx="2"/>
            <a:endCxn id="9" idx="0"/>
          </p:cNvCxnSpPr>
          <p:nvPr/>
        </p:nvCxnSpPr>
        <p:spPr>
          <a:xfrm>
            <a:off x="4311329" y="3015465"/>
            <a:ext cx="1359757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6" idx="2"/>
            <a:endCxn id="10" idx="0"/>
          </p:cNvCxnSpPr>
          <p:nvPr/>
        </p:nvCxnSpPr>
        <p:spPr>
          <a:xfrm>
            <a:off x="3025808" y="3913536"/>
            <a:ext cx="8507" cy="3762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0" idx="0"/>
            <a:endCxn id="8" idx="2"/>
          </p:cNvCxnSpPr>
          <p:nvPr/>
        </p:nvCxnSpPr>
        <p:spPr>
          <a:xfrm flipV="1">
            <a:off x="3034315" y="3913537"/>
            <a:ext cx="1277016" cy="3762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9" idx="2"/>
            <a:endCxn id="12" idx="0"/>
          </p:cNvCxnSpPr>
          <p:nvPr/>
        </p:nvCxnSpPr>
        <p:spPr>
          <a:xfrm flipH="1">
            <a:off x="5671085" y="3913536"/>
            <a:ext cx="1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" idx="2"/>
            <a:endCxn id="12" idx="0"/>
          </p:cNvCxnSpPr>
          <p:nvPr/>
        </p:nvCxnSpPr>
        <p:spPr>
          <a:xfrm>
            <a:off x="4311331" y="3913537"/>
            <a:ext cx="1359754" cy="3606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" idx="2"/>
            <a:endCxn id="11" idx="0"/>
          </p:cNvCxnSpPr>
          <p:nvPr/>
        </p:nvCxnSpPr>
        <p:spPr>
          <a:xfrm>
            <a:off x="3025808" y="3913536"/>
            <a:ext cx="12917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11" idx="2"/>
            <a:endCxn id="13" idx="0"/>
          </p:cNvCxnSpPr>
          <p:nvPr/>
        </p:nvCxnSpPr>
        <p:spPr>
          <a:xfrm flipH="1">
            <a:off x="4311330" y="4735835"/>
            <a:ext cx="6217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10" idx="2"/>
            <a:endCxn id="13" idx="0"/>
          </p:cNvCxnSpPr>
          <p:nvPr/>
        </p:nvCxnSpPr>
        <p:spPr>
          <a:xfrm>
            <a:off x="3034315" y="4751455"/>
            <a:ext cx="1277015" cy="3955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2" idx="2"/>
            <a:endCxn id="13" idx="0"/>
          </p:cNvCxnSpPr>
          <p:nvPr/>
        </p:nvCxnSpPr>
        <p:spPr>
          <a:xfrm flipH="1">
            <a:off x="4311330" y="4735835"/>
            <a:ext cx="1359755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9" idx="2"/>
            <a:endCxn id="11" idx="0"/>
          </p:cNvCxnSpPr>
          <p:nvPr/>
        </p:nvCxnSpPr>
        <p:spPr>
          <a:xfrm flipH="1">
            <a:off x="4317547" y="3913536"/>
            <a:ext cx="13535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991207" y="2599966"/>
            <a:ext cx="3238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top ( ⟙ ) ... corresponds to “true”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93082" y="5544624"/>
            <a:ext cx="378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bottom ( ⟘ )  .... corresponds to “false”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1327" y="3018933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related by 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12858" y="6004180"/>
            <a:ext cx="66913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X</a:t>
            </a:r>
            <a:r>
              <a:rPr lang="en-US" sz="2000" dirty="0"/>
              <a:t>∪Y (union) acts as the least upper bound of 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  <a:p>
            <a:r>
              <a:rPr lang="en-US" sz="2000" i="1" dirty="0"/>
              <a:t>X</a:t>
            </a:r>
            <a:r>
              <a:rPr lang="en-US" sz="2000" dirty="0"/>
              <a:t> ∩ </a:t>
            </a:r>
            <a:r>
              <a:rPr lang="en-US" sz="2000" i="1" dirty="0"/>
              <a:t>Y</a:t>
            </a:r>
            <a:r>
              <a:rPr lang="en-US" sz="2000" dirty="0"/>
              <a:t> (intersection) acts as the greatest lower bound of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20594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2662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where  is a p.o., is a </a:t>
            </a:r>
            <a:r>
              <a:rPr lang="nl-NL" i="1" dirty="0">
                <a:sym typeface="Symbol"/>
              </a:rPr>
              <a:t>complete lattice</a:t>
            </a:r>
            <a:r>
              <a:rPr lang="nl-NL" dirty="0">
                <a:sym typeface="Symbol"/>
              </a:rPr>
              <a:t>,  if every subset </a:t>
            </a:r>
            <a:r>
              <a:rPr lang="nl-NL" i="1" dirty="0">
                <a:sym typeface="Symbol"/>
              </a:rPr>
              <a:t>X </a:t>
            </a:r>
            <a:r>
              <a:rPr lang="nl-NL" dirty="0">
                <a:sym typeface="Symbol"/>
              </a:rPr>
              <a:t>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 has a supremum and infimum.</a:t>
            </a:r>
          </a:p>
          <a:p>
            <a:pPr lvl="1"/>
            <a:r>
              <a:rPr lang="nl-NL" dirty="0">
                <a:sym typeface="Symbol"/>
              </a:rPr>
              <a:t>Supremum = least upper bound = </a:t>
            </a:r>
            <a:r>
              <a:rPr lang="nl-NL" dirty="0" err="1">
                <a:sym typeface="Symbol"/>
              </a:rPr>
              <a:t>join</a:t>
            </a:r>
            <a:r>
              <a:rPr lang="nl-NL" dirty="0">
                <a:sym typeface="Symbol"/>
              </a:rPr>
              <a:t>        \/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 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>
                <a:sym typeface="Symbol"/>
              </a:rPr>
              <a:t>Infimum = greatest lower bound = meet   /\ 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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 err="1">
                <a:sym typeface="Symbol"/>
              </a:rPr>
              <a:t>So</a:t>
            </a:r>
            <a:r>
              <a:rPr lang="nl-NL" dirty="0">
                <a:sym typeface="Symbol"/>
              </a:rPr>
              <a:t>,  we will also have the supremum and infimum of the whole A, often called top ⊤ </a:t>
            </a:r>
            <a:r>
              <a:rPr lang="nl-NL" dirty="0" err="1">
                <a:sym typeface="Symbol"/>
              </a:rPr>
              <a:t>and</a:t>
            </a:r>
            <a:r>
              <a:rPr lang="nl-NL" dirty="0">
                <a:sym typeface="Symbol"/>
              </a:rPr>
              <a:t> </a:t>
            </a:r>
            <a:r>
              <a:rPr lang="nl-NL" dirty="0" err="1">
                <a:sym typeface="Symbol"/>
              </a:rPr>
              <a:t>bottom</a:t>
            </a:r>
            <a:r>
              <a:rPr lang="nl-NL" dirty="0">
                <a:sym typeface="Symbol"/>
              </a:rPr>
              <a:t> ⊥.</a:t>
            </a:r>
          </a:p>
          <a:p>
            <a:r>
              <a:rPr lang="nl-NL" dirty="0">
                <a:sym typeface="Symbol"/>
              </a:rPr>
              <a:t>Let </a:t>
            </a: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A. </a:t>
            </a:r>
            <a:r>
              <a:rPr lang="nl-NL" dirty="0">
                <a:sym typeface="Symbol"/>
              </a:rPr>
              <a:t>An x such that x = f(x) is a </a:t>
            </a:r>
            <a:r>
              <a:rPr lang="nl-NL" i="1" dirty="0">
                <a:sym typeface="Symbol"/>
              </a:rPr>
              <a:t>fix point</a:t>
            </a:r>
            <a:r>
              <a:rPr lang="nl-NL" dirty="0">
                <a:sym typeface="Symbol"/>
              </a:rPr>
              <a:t> of </a:t>
            </a:r>
            <a:r>
              <a:rPr lang="nl-NL" i="1" dirty="0">
                <a:sym typeface="Symbol"/>
              </a:rPr>
              <a:t>f</a:t>
            </a:r>
            <a:r>
              <a:rPr lang="nl-NL" dirty="0">
                <a:sym typeface="Symbol"/>
              </a:rPr>
              <a:t>.</a:t>
            </a:r>
          </a:p>
          <a:p>
            <a:r>
              <a:rPr lang="nl-NL" b="1" dirty="0">
                <a:sym typeface="Symbol"/>
              </a:rPr>
              <a:t>Knaster-Tarski</a:t>
            </a:r>
            <a:r>
              <a:rPr lang="nl-NL" dirty="0">
                <a:sym typeface="Symbol"/>
              </a:rPr>
              <a:t>. Let </a:t>
            </a:r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be a complete lattice. If </a:t>
            </a:r>
            <a:br>
              <a:rPr lang="nl-NL" dirty="0">
                <a:sym typeface="Symbol"/>
              </a:rPr>
            </a:b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  </a:t>
            </a:r>
            <a:r>
              <a:rPr lang="nl-NL" dirty="0">
                <a:sym typeface="Symbol"/>
              </a:rPr>
              <a:t>is monotonic over , and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the set of all its fix points, then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non-empty, and (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, ) is a complete lattice. </a:t>
            </a:r>
          </a:p>
          <a:p>
            <a:r>
              <a:rPr lang="nl-NL" dirty="0">
                <a:sym typeface="Symbol"/>
              </a:rPr>
              <a:t>(thus, both 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and 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are also in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).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4C70E3-5EAC-4C30-ACC5-13624AD0324F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The domain (</a:t>
            </a:r>
            <a:r>
              <a:rPr lang="en-US" b="1" dirty="0"/>
              <a:t>pow</a:t>
            </a:r>
            <a:r>
              <a:rPr lang="en-US" dirty="0"/>
              <a:t>(∑)</a:t>
            </a:r>
            <a:r>
              <a:rPr lang="en-US" i="1" dirty="0"/>
              <a:t>, </a:t>
            </a:r>
            <a:r>
              <a:rPr lang="en-US" dirty="0">
                <a:sym typeface="Symbol"/>
              </a:rPr>
              <a:t>) is a complete lattice.</a:t>
            </a:r>
          </a:p>
          <a:p>
            <a:pPr lvl="1"/>
            <a:r>
              <a:rPr lang="en-US" dirty="0"/>
              <a:t>∑ = top</a:t>
            </a:r>
          </a:p>
          <a:p>
            <a:pPr lvl="1"/>
            <a:r>
              <a:rPr lang="en-US" i="1" dirty="0"/>
              <a:t>∅ </a:t>
            </a:r>
            <a:r>
              <a:rPr lang="en-US" dirty="0"/>
              <a:t>= bottom</a:t>
            </a:r>
          </a:p>
          <a:p>
            <a:pPr lvl="1"/>
            <a:r>
              <a:rPr lang="en-US" dirty="0"/>
              <a:t>A∪B  : least upper bound (\/)</a:t>
            </a:r>
          </a:p>
          <a:p>
            <a:pPr lvl="1"/>
            <a:r>
              <a:rPr lang="en-US" dirty="0"/>
              <a:t>A ∩ B  : greatest lower bound (/\)</a:t>
            </a:r>
          </a:p>
          <a:p>
            <a:r>
              <a:rPr lang="en-US" dirty="0">
                <a:sym typeface="Symbol"/>
              </a:rPr>
              <a:t>So, if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defined before is monotonic within this domain, then it has a greatest fix-point. 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monotonic ?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monotonic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>
                <a:sym typeface="Symbol"/>
              </a:rPr>
              <a:t>Consider now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: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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). It is -continuous if for all decreasing chain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⊇</a:t>
            </a:r>
            <a:r>
              <a:rPr lang="en-US" i="1" dirty="0">
                <a:sym typeface="Symbol"/>
              </a:rPr>
              <a:t> X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 ... :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</a:t>
            </a:r>
            <a:r>
              <a:rPr lang="en-US" i="1" dirty="0">
                <a:sym typeface="Symbol"/>
              </a:rPr>
              <a:t> f </a:t>
            </a:r>
            <a:r>
              <a:rPr lang="en-US" dirty="0">
                <a:sym typeface="Symbol"/>
              </a:rPr>
              <a:t>(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 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 ... )  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)  ...  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If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-continuous, it is also monotonic.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-continuous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Define:</a:t>
            </a:r>
          </a:p>
          <a:p>
            <a:pPr lvl="1"/>
            <a:r>
              <a:rPr lang="en-US" i="1" dirty="0"/>
              <a:t>f </a:t>
            </a:r>
            <a:r>
              <a:rPr lang="en-US" baseline="30000" dirty="0"/>
              <a:t>0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X   ,</a:t>
            </a:r>
          </a:p>
          <a:p>
            <a:pPr lvl="1"/>
            <a:r>
              <a:rPr lang="en-US" i="1" dirty="0"/>
              <a:t>f </a:t>
            </a:r>
            <a:r>
              <a:rPr lang="en-US" i="1" baseline="30000" dirty="0"/>
              <a:t>k+1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f ( f </a:t>
            </a:r>
            <a:r>
              <a:rPr lang="en-US" i="1" baseline="30000" dirty="0"/>
              <a:t>k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))</a:t>
            </a:r>
          </a:p>
          <a:p>
            <a:r>
              <a:rPr lang="en-US" dirty="0">
                <a:sym typeface="Symbol"/>
              </a:rPr>
              <a:t>Suppose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-continuous. Consider the series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...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Corollaries:</a:t>
            </a:r>
          </a:p>
          <a:p>
            <a:pPr lvl="1"/>
            <a:r>
              <a:rPr lang="en-US" i="1" dirty="0"/>
              <a:t>f</a:t>
            </a:r>
            <a:r>
              <a:rPr lang="en-US" dirty="0">
                <a:sym typeface="Symbol"/>
              </a:rPr>
              <a:t> is also monotonic.</a:t>
            </a:r>
          </a:p>
          <a:p>
            <a:pPr lvl="1"/>
            <a:r>
              <a:rPr lang="en-US" dirty="0">
                <a:sym typeface="Symbol"/>
              </a:rPr>
              <a:t>The series is a decreasing chain.</a:t>
            </a:r>
          </a:p>
          <a:p>
            <a:pPr lvl="1"/>
            <a:r>
              <a:rPr lang="en-US" dirty="0">
                <a:sym typeface="Symbol"/>
              </a:rPr>
              <a:t>𝛼 =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... is a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pPr lvl="1"/>
            <a:r>
              <a:rPr lang="en-US" dirty="0">
                <a:sym typeface="Symbol"/>
              </a:rPr>
              <a:t>𝛼 is the greatest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endParaRPr lang="en-US" dirty="0">
              <a:sym typeface="Symbol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compute</a:t>
            </a:r>
            <a:r>
              <a:rPr lang="en-US" i="1" dirty="0"/>
              <a:t>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?  </a:t>
            </a:r>
          </a:p>
          <a:p>
            <a:pPr lvl="1"/>
            <a:r>
              <a:rPr lang="en-US" dirty="0">
                <a:sym typeface="Symbol"/>
              </a:rPr>
              <a:t>compute</a:t>
            </a:r>
            <a:r>
              <a:rPr lang="en-US" i="1" dirty="0">
                <a:sym typeface="Symbol"/>
              </a:rPr>
              <a:t> f </a:t>
            </a:r>
            <a:r>
              <a:rPr lang="en-US" baseline="30000" dirty="0">
                <a:sym typeface="Symbol"/>
              </a:rPr>
              <a:t>0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1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2</a:t>
            </a:r>
            <a:r>
              <a:rPr lang="en-US" i="1" dirty="0">
                <a:sym typeface="Symbol"/>
              </a:rPr>
              <a:t>, ... </a:t>
            </a:r>
            <a:r>
              <a:rPr lang="en-US" dirty="0">
                <a:sym typeface="Symbol"/>
              </a:rPr>
              <a:t>but notice you only need to keep track of the last.</a:t>
            </a:r>
            <a:endParaRPr lang="en-US" dirty="0"/>
          </a:p>
          <a:p>
            <a:pPr lvl="1"/>
            <a:r>
              <a:rPr lang="en-US" i="1" dirty="0"/>
              <a:t>X</a:t>
            </a:r>
            <a:r>
              <a:rPr lang="en-US" dirty="0"/>
              <a:t> := ∑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X</a:t>
            </a:r>
            <a:r>
              <a:rPr lang="en-US" dirty="0">
                <a:sym typeface="Symbol"/>
              </a:rPr>
              <a:t> 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Will give the greatest FP, if it terminates.</a:t>
            </a:r>
          </a:p>
          <a:p>
            <a:r>
              <a:rPr lang="en-US" dirty="0">
                <a:sym typeface="Symbol"/>
              </a:rPr>
              <a:t>For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:</a:t>
            </a:r>
          </a:p>
          <a:p>
            <a:pPr lvl="1"/>
            <a:r>
              <a:rPr lang="en-US" i="1" dirty="0"/>
              <a:t>W</a:t>
            </a:r>
            <a:r>
              <a:rPr lang="en-US" dirty="0"/>
              <a:t>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W</a:t>
            </a:r>
            <a:r>
              <a:rPr lang="en-US" dirty="0">
                <a:sym typeface="Symbol"/>
              </a:rPr>
              <a:t> 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W </a:t>
            </a:r>
            <a:r>
              <a:rPr lang="en-US" dirty="0">
                <a:sym typeface="Symbol"/>
              </a:rPr>
              <a:t>:=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where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=  </a:t>
            </a:r>
            <a:r>
              <a:rPr lang="en-US" dirty="0"/>
              <a:t>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S </a:t>
            </a:r>
            <a:r>
              <a:rPr lang="en-US" i="1" dirty="0"/>
              <a:t>W</a:t>
            </a:r>
            <a:r>
              <a:rPr lang="en-US" dirty="0"/>
              <a:t>)  \/ 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>
                <a:sym typeface="Symbol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2346159"/>
            <a:ext cx="8358246" cy="3653587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Q is y=0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y=0)</a:t>
            </a:r>
          </a:p>
          <a:p>
            <a:pPr>
              <a:buNone/>
            </a:pPr>
            <a:r>
              <a:rPr lang="en-US" sz="2400" dirty="0">
                <a:sym typeface="Symbol"/>
              </a:rPr>
              <a:t>          =   y0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y-10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y</a:t>
            </a:r>
            <a:r>
              <a:rPr lang="en-US" sz="2400" dirty="0">
                <a:sym typeface="Symbol"/>
              </a:rPr>
              <a:t> 1  \/  y=0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  = y0</a:t>
            </a:r>
          </a:p>
          <a:p>
            <a:r>
              <a:rPr lang="en-US" sz="2400" dirty="0">
                <a:sym typeface="Symbol"/>
              </a:rPr>
              <a:t>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  </a:t>
            </a:r>
            <a:r>
              <a:rPr lang="en-US" sz="2400" dirty="0">
                <a:sym typeface="Symbol"/>
              </a:rPr>
              <a:t>=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br>
              <a:rPr lang="en-US" sz="2400" dirty="0">
                <a:sym typeface="Symbol"/>
              </a:rPr>
            </a:br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50" y="1638297"/>
            <a:ext cx="7722603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   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y := y−1  }   </a:t>
            </a:r>
            <a:r>
              <a:rPr lang="en-US" sz="28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</a:t>
            </a:r>
            <a:r>
              <a:rPr lang="en-US" sz="2400" dirty="0">
                <a:sym typeface="Symbol"/>
              </a:rPr>
              <a:t>y&gt;1</a:t>
            </a:r>
            <a:r>
              <a:rPr lang="en-US" sz="2400" dirty="0"/>
              <a:t>)   \/ 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/>
          </a:bodyPr>
          <a:lstStyle/>
          <a:p>
            <a:r>
              <a:rPr lang="en-US" sz="2400" dirty="0"/>
              <a:t>....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</a:p>
          <a:p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But</a:t>
            </a:r>
            <a:r>
              <a:rPr lang="en-US" dirty="0">
                <a:sym typeface="Wingdings" pitchFamily="2" charset="2"/>
              </a:rPr>
              <a:t> we know that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</a:t>
            </a:r>
            <a:r>
              <a:rPr lang="en-US" dirty="0">
                <a:sym typeface="Symbol"/>
              </a:rPr>
              <a:t>⊇ the actual fix-point (the 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).</a:t>
            </a:r>
          </a:p>
          <a:p>
            <a:r>
              <a:rPr lang="en-US" dirty="0">
                <a:sym typeface="Symbol"/>
              </a:rPr>
              <a:t>We can take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as the </a:t>
            </a:r>
            <a:r>
              <a:rPr lang="en-US" dirty="0">
                <a:sym typeface="Symbol"/>
              </a:rPr>
              <a:t>”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” of the loop. If P is the given pre-</a:t>
            </a:r>
            <a:r>
              <a:rPr lang="en-US" dirty="0" err="1">
                <a:sym typeface="Symbol"/>
              </a:rPr>
              <a:t>cond</a:t>
            </a:r>
            <a:r>
              <a:rPr lang="en-US" dirty="0">
                <a:sym typeface="Symbol"/>
              </a:rPr>
              <a:t> of the loop: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not valid </a:t>
            </a:r>
            <a:r>
              <a:rPr lang="en-US" sz="2000" dirty="0">
                <a:sym typeface="Wingdings" pitchFamily="2" charset="2"/>
              </a:rPr>
              <a:t> we find a bug!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valid </a:t>
            </a:r>
            <a:r>
              <a:rPr lang="en-US" sz="2000" dirty="0">
                <a:sym typeface="Wingdings" pitchFamily="2" charset="2"/>
              </a:rPr>
              <a:t> we still don’t know if the loop is correct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586501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</a:t>
            </a:r>
            <a:r>
              <a:rPr lang="en-US" dirty="0">
                <a:sym typeface="Symbol"/>
              </a:rPr>
              <a:t> d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</a:t>
            </a:r>
            <a:r>
              <a:rPr lang="en-US" sz="2400" dirty="0">
                <a:sym typeface="Symbol"/>
              </a:rPr>
              <a:t> /\ 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          = d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= </a:t>
            </a:r>
            <a:r>
              <a:rPr lang="en-US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1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</a:t>
            </a:r>
            <a:r>
              <a:rPr lang="en-US" sz="2800" b="1" dirty="0"/>
              <a:t>assert</a:t>
            </a:r>
            <a:r>
              <a:rPr lang="en-US" sz="2800" dirty="0"/>
              <a:t> </a:t>
            </a:r>
            <a:r>
              <a:rPr lang="en-US" sz="2800" i="1" dirty="0"/>
              <a:t>d</a:t>
            </a:r>
            <a:r>
              <a:rPr lang="en-US" sz="2800" dirty="0"/>
              <a:t> ;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85121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Finite unfolding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500063" y="1257300"/>
            <a:ext cx="8358187" cy="4762500"/>
          </a:xfrm>
        </p:spPr>
        <p:txBody>
          <a:bodyPr/>
          <a:lstStyle/>
          <a:p>
            <a:r>
              <a:rPr lang="nl-NL" dirty="0"/>
              <a:t>Define</a:t>
            </a:r>
            <a:br>
              <a:rPr lang="nl-NL" dirty="0"/>
            </a:br>
            <a:br>
              <a:rPr lang="nl-NL" dirty="0"/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assert</a:t>
            </a:r>
            <a:r>
              <a:rPr lang="nl-NL" dirty="0"/>
              <a:t>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  <a:br>
              <a:rPr lang="nl-NL" dirty="0"/>
            </a:br>
            <a:br>
              <a:rPr lang="nl-NL" dirty="0"/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assume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 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</a:t>
            </a: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</a:p>
          <a:p>
            <a:r>
              <a:rPr lang="nl-NL" dirty="0"/>
              <a:t>Iterate at most </a:t>
            </a:r>
            <a:r>
              <a:rPr lang="nl-NL" i="1" dirty="0"/>
              <a:t>k</a:t>
            </a:r>
            <a:r>
              <a:rPr lang="nl-NL" dirty="0"/>
              <a:t>-times. </a:t>
            </a:r>
          </a:p>
          <a:p>
            <a:r>
              <a:rPr lang="en-US" dirty="0"/>
              <a:t>Iterate at most </a:t>
            </a:r>
            <a:r>
              <a:rPr lang="en-US" i="1" dirty="0"/>
              <a:t>k </a:t>
            </a:r>
            <a:r>
              <a:rPr lang="en-US" dirty="0"/>
              <a:t>times, then </a:t>
            </a:r>
            <a:r>
              <a:rPr lang="en-US" dirty="0">
                <a:sym typeface="Wingdings" pitchFamily="2" charset="2"/>
              </a:rPr>
              <a:t>miracle.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619E98-E9C8-4AD0-A3C9-E6B5804EBCB8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[while]</a:t>
            </a:r>
            <a:r>
              <a:rPr lang="en-US" baseline="30000" dirty="0"/>
              <a:t>k</a:t>
            </a:r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603250" y="2618871"/>
            <a:ext cx="8102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([</a:t>
            </a:r>
            <a:r>
              <a:rPr lang="en-US" sz="2800" b="1" dirty="0"/>
              <a:t>while</a:t>
            </a:r>
            <a:r>
              <a:rPr lang="en-US" sz="2800" dirty="0"/>
              <a:t>]</a:t>
            </a:r>
            <a:r>
              <a:rPr lang="en-US" sz="2800" baseline="30000" dirty="0"/>
              <a:t>2</a:t>
            </a:r>
            <a:r>
              <a:rPr lang="en-US" sz="2800" dirty="0"/>
              <a:t>  (y&gt;0 , y := y−1))    (y=0)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=  ( y=2   \/  y=1  \/  y=0 )</a:t>
            </a:r>
          </a:p>
          <a:p>
            <a:endParaRPr lang="en-US" sz="2800" dirty="0"/>
          </a:p>
          <a:p>
            <a:r>
              <a:rPr lang="en-US" sz="2800" dirty="0"/>
              <a:t>Works if </a:t>
            </a:r>
            <a:r>
              <a:rPr lang="en-US" sz="2800" i="1" dirty="0"/>
              <a:t>P</a:t>
            </a:r>
            <a:r>
              <a:rPr lang="en-US" sz="2800" dirty="0"/>
              <a:t> says y is exactly that (0,1,2).</a:t>
            </a:r>
          </a:p>
          <a:p>
            <a:r>
              <a:rPr lang="en-US" sz="2800" dirty="0"/>
              <a:t>Does not work if </a:t>
            </a:r>
            <a:r>
              <a:rPr lang="en-US" sz="2800" i="1" dirty="0"/>
              <a:t>P</a:t>
            </a:r>
            <a:r>
              <a:rPr lang="en-US" sz="2800" dirty="0"/>
              <a:t> is e.g. y=3 or y≥0</a:t>
            </a:r>
          </a:p>
          <a:p>
            <a:r>
              <a:rPr lang="en-US" sz="2800" dirty="0"/>
              <a:t>Such unfolding produces </a:t>
            </a:r>
            <a:r>
              <a:rPr lang="en-US" i="1" dirty="0"/>
              <a:t>sound </a:t>
            </a:r>
            <a:r>
              <a:rPr lang="en-US" dirty="0" err="1"/>
              <a:t>wlp</a:t>
            </a:r>
            <a:r>
              <a:rPr lang="en-US" dirty="0"/>
              <a:t>, but </a:t>
            </a:r>
            <a:r>
              <a:rPr lang="en-US" i="1" dirty="0"/>
              <a:t>incomplete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3250" y="1484236"/>
            <a:ext cx="810260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{ </a:t>
            </a:r>
            <a:r>
              <a:rPr lang="en-US" sz="3200" b="1" i="1" dirty="0">
                <a:solidFill>
                  <a:srgbClr val="0070C0"/>
                </a:solidFill>
              </a:rPr>
              <a:t>P</a:t>
            </a:r>
            <a:r>
              <a:rPr lang="en-US" sz="3200" b="1" dirty="0">
                <a:solidFill>
                  <a:srgbClr val="0070C0"/>
                </a:solidFill>
              </a:rPr>
              <a:t> }   </a:t>
            </a:r>
            <a:r>
              <a:rPr lang="en-US" sz="3200" b="1" dirty="0"/>
              <a:t>while</a:t>
            </a:r>
            <a:r>
              <a:rPr lang="en-US" sz="3200" dirty="0"/>
              <a:t>  y&gt;0 </a:t>
            </a:r>
            <a:r>
              <a:rPr lang="en-US" sz="3200" b="1" dirty="0"/>
              <a:t>do</a:t>
            </a:r>
            <a:r>
              <a:rPr lang="en-US" sz="3200" dirty="0"/>
              <a:t> { y := y−1  }    </a:t>
            </a:r>
            <a:r>
              <a:rPr lang="en-US" sz="32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</a:t>
            </a:r>
            <a:r>
              <a:rPr lang="en-US" dirty="0">
                <a:sym typeface="Symbol"/>
              </a:rPr>
              <a:t></a:t>
            </a:r>
            <a:r>
              <a:rPr lang="en-US" dirty="0" err="1"/>
              <a:t>while</a:t>
            </a:r>
            <a:r>
              <a:rPr lang="en-US" dirty="0" err="1">
                <a:sym typeface="Symbol"/>
              </a:rPr>
              <a:t></a:t>
            </a:r>
            <a:r>
              <a:rPr lang="en-US" baseline="30000" dirty="0" err="1"/>
              <a:t>k</a:t>
            </a:r>
            <a:endParaRPr lang="en-US" baseline="30000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500034" y="1447800"/>
            <a:ext cx="8205816" cy="551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</a:t>
            </a:r>
            <a:r>
              <a:rPr lang="nl-NL" sz="2800" dirty="0">
                <a:sym typeface="Symbol"/>
              </a:rPr>
              <a:t></a:t>
            </a:r>
            <a:r>
              <a:rPr lang="nl-NL" sz="2800" b="1" dirty="0" err="1"/>
              <a:t>while</a:t>
            </a:r>
            <a:r>
              <a:rPr lang="nl-NL" sz="2800" dirty="0">
                <a:sym typeface="Symbol"/>
              </a:rPr>
              <a:t></a:t>
            </a:r>
            <a:r>
              <a:rPr lang="en-US" sz="2800" baseline="30000" dirty="0">
                <a:sym typeface="Symbol"/>
              </a:rPr>
              <a:t>2</a:t>
            </a:r>
            <a:r>
              <a:rPr lang="en-US" sz="2800" dirty="0"/>
              <a:t>  (y&gt;0 , y := y−1))    (y=0 /\ b)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</a:t>
            </a:r>
            <a:br>
              <a:rPr lang="en-US" sz="2800" dirty="0"/>
            </a:br>
            <a:r>
              <a:rPr lang="en-US" sz="2800" dirty="0"/>
              <a:t>        =   y&gt;2  \/ (y=2/\b) \/  (y=1/\b)  \/  (y=0/\b)</a:t>
            </a:r>
          </a:p>
          <a:p>
            <a:endParaRPr lang="en-US" sz="2800" dirty="0"/>
          </a:p>
          <a:p>
            <a:r>
              <a:rPr lang="en-US" sz="2800" dirty="0"/>
              <a:t>P : y=0 \/ y=1  ...  works</a:t>
            </a:r>
          </a:p>
          <a:p>
            <a:r>
              <a:rPr lang="en-US" sz="2800" dirty="0"/>
              <a:t>P : y≥0            ... “works” as well</a:t>
            </a:r>
          </a:p>
          <a:p>
            <a:r>
              <a:rPr lang="en-US" sz="2800" dirty="0"/>
              <a:t>This unfolding yields </a:t>
            </a:r>
            <a:r>
              <a:rPr lang="en-US" sz="2800" dirty="0" err="1"/>
              <a:t>wlp</a:t>
            </a:r>
            <a:r>
              <a:rPr lang="en-US" sz="2800" dirty="0"/>
              <a:t> which is complete but unsound. So, if P ⇒ W, W is the above </a:t>
            </a:r>
            <a:r>
              <a:rPr lang="en-US" sz="2800" dirty="0" err="1"/>
              <a:t>wlp</a:t>
            </a:r>
            <a:r>
              <a:rPr lang="en-US" sz="2800" dirty="0"/>
              <a:t>, is valid, we don’t know if the original specification is also valid. However, if P ⇒ W is invalid, then so is the orig. spec.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412111" y="1238249"/>
            <a:ext cx="3889095" cy="9030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Verification of OO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GCL is not OO, but we can encode OO constructs in it. We’ll need few additional ingredients :</a:t>
            </a:r>
          </a:p>
          <a:p>
            <a:pPr lvl="1"/>
            <a:r>
              <a:rPr lang="en-US" sz="2800" dirty="0"/>
              <a:t>local variables</a:t>
            </a:r>
          </a:p>
          <a:p>
            <a:pPr lvl="1"/>
            <a:r>
              <a:rPr lang="en-US" sz="2800" dirty="0" err="1"/>
              <a:t>simultant</a:t>
            </a:r>
            <a:r>
              <a:rPr lang="en-US" sz="2800" dirty="0"/>
              <a:t> assignment</a:t>
            </a:r>
          </a:p>
          <a:p>
            <a:pPr lvl="1"/>
            <a:r>
              <a:rPr lang="en-US" sz="2800" dirty="0"/>
              <a:t>program call</a:t>
            </a:r>
          </a:p>
          <a:p>
            <a:pPr lvl="1"/>
            <a:r>
              <a:rPr lang="en-US" sz="2800" dirty="0"/>
              <a:t>array</a:t>
            </a:r>
          </a:p>
          <a:p>
            <a:pPr lvl="1"/>
            <a:r>
              <a:rPr lang="en-US" sz="2800" dirty="0"/>
              <a:t>object</a:t>
            </a:r>
          </a:p>
          <a:p>
            <a:pPr lvl="1"/>
            <a:r>
              <a:rPr lang="en-US" sz="2800" dirty="0"/>
              <a:t>method 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888828"/>
          </a:xfrm>
        </p:spPr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 </a:t>
            </a:r>
            <a:r>
              <a:rPr lang="en-US" b="1" dirty="0"/>
              <a:t>in</a:t>
            </a:r>
            <a:r>
              <a:rPr lang="en-US" dirty="0"/>
              <a:t>  x:=1 ; y := </a:t>
            </a:r>
            <a:r>
              <a:rPr lang="en-US" dirty="0" err="1"/>
              <a:t>y+x</a:t>
            </a:r>
            <a:r>
              <a:rPr lang="en-US" dirty="0"/>
              <a:t>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Rename </a:t>
            </a:r>
            <a:r>
              <a:rPr lang="en-US" dirty="0" err="1"/>
              <a:t>loc-vars</a:t>
            </a:r>
            <a:r>
              <a:rPr lang="en-US" dirty="0"/>
              <a:t> to fresh-</a:t>
            </a:r>
            <a:r>
              <a:rPr lang="en-US" dirty="0" err="1"/>
              <a:t>vars</a:t>
            </a:r>
            <a:r>
              <a:rPr lang="en-US" dirty="0"/>
              <a:t>, to avoid captures:</a:t>
            </a:r>
            <a:r>
              <a:rPr lang="en-US" b="1" dirty="0"/>
              <a:t> </a:t>
            </a:r>
            <a:br>
              <a:rPr lang="en-US" b="1" dirty="0"/>
            </a:br>
            <a:br>
              <a:rPr lang="en-US" b="1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x’:=1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</a:p>
          <a:p>
            <a:endParaRPr lang="en-US" dirty="0"/>
          </a:p>
          <a:p>
            <a:r>
              <a:rPr lang="en-US" dirty="0"/>
              <a:t>Let’s try another example :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Note that if x’ is fresh we can alternatively treat this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Simultant</a:t>
            </a:r>
            <a:r>
              <a:rPr lang="en-US" dirty="0"/>
              <a:t>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example:  </a:t>
            </a:r>
            <a:r>
              <a:rPr lang="en-US" dirty="0" err="1"/>
              <a:t>x,y</a:t>
            </a:r>
            <a:r>
              <a:rPr lang="en-US" dirty="0"/>
              <a:t> := y , </a:t>
            </a:r>
            <a:r>
              <a:rPr lang="en-US" dirty="0" err="1"/>
              <a:t>x+y</a:t>
            </a:r>
            <a:r>
              <a:rPr lang="en-US" dirty="0"/>
              <a:t>     </a:t>
            </a:r>
            <a:r>
              <a:rPr lang="en-US" b="1" dirty="0">
                <a:solidFill>
                  <a:srgbClr val="0070C0"/>
                </a:solidFill>
              </a:rPr>
              <a:t>{ x=y }</a:t>
            </a:r>
            <a:br>
              <a:rPr lang="en-US" b="1" dirty="0">
                <a:solidFill>
                  <a:srgbClr val="0070C0"/>
                </a:solidFill>
              </a:rPr>
            </a:br>
            <a:br>
              <a:rPr lang="en-US" dirty="0"/>
            </a:br>
            <a:r>
              <a:rPr lang="en-US" dirty="0"/>
              <a:t>     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(</a:t>
            </a:r>
            <a:r>
              <a:rPr lang="en-US" dirty="0" err="1"/>
              <a:t>x,y</a:t>
            </a:r>
            <a:r>
              <a:rPr lang="en-US" dirty="0"/>
              <a:t> := 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)  Q   =  Q[e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 / </a:t>
            </a:r>
            <a:r>
              <a:rPr lang="en-US" dirty="0" err="1"/>
              <a:t>x,y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Compare it with : (x=y) [y/x] [</a:t>
            </a:r>
            <a:r>
              <a:rPr lang="en-US" dirty="0" err="1"/>
              <a:t>x+y</a:t>
            </a:r>
            <a:r>
              <a:rPr lang="en-US" dirty="0"/>
              <a:t>/y]</a:t>
            </a:r>
          </a:p>
          <a:p>
            <a:endParaRPr lang="en-US" dirty="0"/>
          </a:p>
          <a:p>
            <a:r>
              <a:rPr lang="en-US" dirty="0"/>
              <a:t>But e.g. this is </a:t>
            </a:r>
            <a:r>
              <a:rPr lang="en-US" b="1" dirty="0"/>
              <a:t>not allowed</a:t>
            </a:r>
            <a:r>
              <a:rPr lang="en-US" dirty="0"/>
              <a:t>: </a:t>
            </a:r>
            <a:r>
              <a:rPr lang="en-US" i="1" dirty="0" err="1"/>
              <a:t>x,x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and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137" y="1383957"/>
            <a:ext cx="8373979" cy="4621427"/>
          </a:xfrm>
        </p:spPr>
        <p:txBody>
          <a:bodyPr>
            <a:normAutofit/>
          </a:bodyPr>
          <a:lstStyle/>
          <a:p>
            <a:r>
              <a:rPr lang="en-US" dirty="0"/>
              <a:t>Syntax: </a:t>
            </a:r>
            <a:r>
              <a:rPr lang="en-US" i="1" dirty="0"/>
              <a:t>Pr</a:t>
            </a:r>
            <a:r>
              <a:rPr lang="en-US" dirty="0"/>
              <a:t>(</a:t>
            </a:r>
            <a:r>
              <a:rPr lang="en-US" i="1" dirty="0"/>
              <a:t>x, y</a:t>
            </a:r>
            <a:r>
              <a:rPr lang="en-US" dirty="0"/>
              <a:t>  | </a:t>
            </a:r>
            <a:r>
              <a:rPr lang="en-US" i="1" dirty="0"/>
              <a:t>r</a:t>
            </a:r>
            <a:r>
              <a:rPr lang="en-US" i="1" baseline="-25000" dirty="0"/>
              <a:t> </a:t>
            </a:r>
            <a:r>
              <a:rPr lang="en-US" dirty="0"/>
              <a:t>)  </a:t>
            </a:r>
            <a:r>
              <a:rPr lang="en-US" i="1" dirty="0"/>
              <a:t>body</a:t>
            </a:r>
          </a:p>
          <a:p>
            <a:r>
              <a:rPr lang="en-US" i="1" dirty="0" err="1"/>
              <a:t>x,y</a:t>
            </a:r>
            <a:r>
              <a:rPr lang="en-US" i="1" dirty="0"/>
              <a:t> </a:t>
            </a:r>
            <a:r>
              <a:rPr lang="en-US" dirty="0"/>
              <a:t>are input parameters </a:t>
            </a:r>
            <a:r>
              <a:rPr lang="en-US" dirty="0">
                <a:sym typeface="Wingdings" pitchFamily="2" charset="2"/>
              </a:rPr>
              <a:t> passed by value</a:t>
            </a:r>
          </a:p>
          <a:p>
            <a:r>
              <a:rPr lang="en-US" i="1" dirty="0"/>
              <a:t>r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is an output parameter.</a:t>
            </a:r>
          </a:p>
          <a:p>
            <a:r>
              <a:rPr lang="en-US" dirty="0">
                <a:sym typeface="Wingdings" pitchFamily="2" charset="2"/>
              </a:rPr>
              <a:t>Syntax of program call:  </a:t>
            </a:r>
            <a:r>
              <a:rPr lang="en-US" i="1" dirty="0">
                <a:sym typeface="Wingdings" pitchFamily="2" charset="2"/>
              </a:rPr>
              <a:t>a</a:t>
            </a:r>
            <a:r>
              <a:rPr lang="en-US" dirty="0">
                <a:sym typeface="Wingdings" pitchFamily="2" charset="2"/>
              </a:rPr>
              <a:t> := </a:t>
            </a:r>
            <a:r>
              <a:rPr lang="en-US" i="1" dirty="0" err="1">
                <a:sym typeface="Wingdings" pitchFamily="2" charset="2"/>
              </a:rPr>
              <a:t>Pr</a:t>
            </a:r>
            <a:r>
              <a:rPr lang="en-US" dirty="0">
                <a:sym typeface="Wingdings" pitchFamily="2" charset="2"/>
              </a:rPr>
              <a:t>(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1</a:t>
            </a:r>
            <a:r>
              <a:rPr lang="en-US" dirty="0">
                <a:sym typeface="Wingdings" pitchFamily="2" charset="2"/>
              </a:rPr>
              <a:t>,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/>
              <a:t>Example : </a:t>
            </a:r>
          </a:p>
          <a:p>
            <a:pPr lvl="1"/>
            <a:r>
              <a:rPr lang="en-US" sz="2400" i="1" dirty="0" err="1"/>
              <a:t>inc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r</a:t>
            </a:r>
            <a:r>
              <a:rPr lang="en-US" sz="2400" dirty="0"/>
              <a:t>)  {  r := x+1 }</a:t>
            </a:r>
          </a:p>
          <a:p>
            <a:pPr lvl="1"/>
            <a:r>
              <a:rPr lang="en-US" sz="2400" dirty="0"/>
              <a:t>x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  <a:p>
            <a:pPr lvl="1"/>
            <a:r>
              <a:rPr lang="en-US" sz="2400" dirty="0"/>
              <a:t>y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Consider : </a:t>
            </a:r>
            <a:r>
              <a:rPr lang="en-US" sz="2400" i="1" dirty="0" err="1"/>
              <a:t>Pr</a:t>
            </a:r>
            <a:r>
              <a:rPr lang="en-US" sz="2400" dirty="0"/>
              <a:t>(</a:t>
            </a:r>
            <a:r>
              <a:rPr lang="en-US" sz="2400" i="1" dirty="0"/>
              <a:t>x, y</a:t>
            </a:r>
            <a:r>
              <a:rPr lang="en-US" sz="2400" dirty="0"/>
              <a:t>  | </a:t>
            </a:r>
            <a:r>
              <a:rPr lang="en-US" sz="2400" i="1" dirty="0"/>
              <a:t>r</a:t>
            </a:r>
            <a:r>
              <a:rPr lang="en-US" sz="2400" i="1" baseline="-25000" dirty="0"/>
              <a:t> </a:t>
            </a:r>
            <a:r>
              <a:rPr lang="en-US" sz="2400" dirty="0"/>
              <a:t>)  </a:t>
            </a:r>
            <a:r>
              <a:rPr lang="en-US" sz="2400" i="1" dirty="0"/>
              <a:t>body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We treat program call as syntactic sugar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i="1" dirty="0">
                <a:sym typeface="Wingdings" pitchFamily="2" charset="2"/>
              </a:rPr>
              <a:t>a</a:t>
            </a:r>
            <a:r>
              <a:rPr lang="en-US" sz="2400" dirty="0">
                <a:sym typeface="Wingdings" pitchFamily="2" charset="2"/>
              </a:rPr>
              <a:t> := </a:t>
            </a:r>
            <a:r>
              <a:rPr lang="en-US" sz="2400" i="1" dirty="0">
                <a:sym typeface="Wingdings" pitchFamily="2" charset="2"/>
              </a:rPr>
              <a:t>Pr</a:t>
            </a:r>
            <a:r>
              <a:rPr lang="en-US" sz="2400" dirty="0">
                <a:sym typeface="Wingdings" pitchFamily="2" charset="2"/>
              </a:rPr>
              <a:t>(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1</a:t>
            </a:r>
            <a:r>
              <a:rPr lang="en-US" sz="2400" dirty="0">
                <a:sym typeface="Wingdings" pitchFamily="2" charset="2"/>
              </a:rPr>
              <a:t>,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2</a:t>
            </a:r>
            <a:r>
              <a:rPr lang="en-US" sz="2400" dirty="0">
                <a:sym typeface="Wingdings" pitchFamily="2" charset="2"/>
              </a:rPr>
              <a:t>) </a:t>
            </a:r>
            <a:br>
              <a:rPr lang="en-US" sz="2400" dirty="0">
                <a:sym typeface="Wingdings" pitchFamily="2" charset="2"/>
              </a:rPr>
            </a:br>
            <a:r>
              <a:rPr lang="en-US" sz="2400" dirty="0">
                <a:sym typeface="Wingdings" pitchFamily="2" charset="2"/>
              </a:rPr>
              <a:t>   </a:t>
            </a:r>
            <a:r>
              <a:rPr lang="en-US" sz="2400" dirty="0">
                <a:sym typeface="Symbol"/>
              </a:rPr>
              <a:t>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b="1" dirty="0" err="1">
                <a:sym typeface="Symbol"/>
              </a:rPr>
              <a:t>var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,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in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 := e1,e2 ;  </a:t>
            </a:r>
            <a:r>
              <a:rPr lang="en-US" sz="2400" i="1" dirty="0">
                <a:sym typeface="Symbol"/>
              </a:rPr>
              <a:t>body</a:t>
            </a:r>
            <a:r>
              <a:rPr lang="en-US" sz="2400" dirty="0">
                <a:sym typeface="Symbol"/>
              </a:rPr>
              <a:t> ; </a:t>
            </a:r>
            <a:r>
              <a:rPr lang="en-US" sz="2400" i="1" dirty="0">
                <a:sym typeface="Symbol"/>
              </a:rPr>
              <a:t>a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end</a:t>
            </a:r>
            <a:br>
              <a:rPr lang="en-US" sz="2400" b="1" dirty="0">
                <a:sym typeface="Symbol"/>
              </a:rPr>
            </a:br>
            <a:br>
              <a:rPr lang="en-US" sz="2400" b="1" dirty="0">
                <a:sym typeface="Symbol"/>
              </a:rPr>
            </a:br>
            <a:r>
              <a:rPr lang="en-US" sz="2400" dirty="0">
                <a:sym typeface="Symbol"/>
              </a:rPr>
              <a:t>Rename to make the </a:t>
            </a:r>
            <a:r>
              <a:rPr lang="en-US" sz="2400" dirty="0" err="1">
                <a:sym typeface="Symbol"/>
              </a:rPr>
              <a:t>loc-vars</a:t>
            </a:r>
            <a:r>
              <a:rPr lang="en-US" sz="2400" dirty="0">
                <a:sym typeface="Symbol"/>
              </a:rPr>
              <a:t> fresh.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This allows you to using existing rules to calculate the </a:t>
            </a:r>
            <a:r>
              <a:rPr lang="en-US" sz="2400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of calls (except when we have recursion, see next slide).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example: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b="1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 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>
                <a:sym typeface="Symbol"/>
              </a:rPr>
              <a:t>inc</a:t>
            </a:r>
            <a:r>
              <a:rPr lang="en-US" sz="2400" dirty="0">
                <a:sym typeface="Symbol"/>
              </a:rPr>
              <a:t>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))   (x&gt;1)   →    x+1 &gt; 1</a:t>
            </a:r>
            <a:endParaRPr lang="en-US" sz="2400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Black-box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What if we don’t know the body? Assuming you still have the specification, e.g.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{ </a:t>
            </a:r>
            <a:r>
              <a:rPr lang="en-US" sz="2400" i="1" dirty="0"/>
              <a:t>x</a:t>
            </a:r>
            <a:r>
              <a:rPr lang="en-US" sz="2400" dirty="0"/>
              <a:t>&gt;0 }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</a:t>
            </a:r>
            <a:r>
              <a:rPr lang="en-US" sz="2400" dirty="0">
                <a:highlight>
                  <a:srgbClr val="FFFF00"/>
                </a:highlight>
              </a:rPr>
              <a:t>{ </a:t>
            </a:r>
            <a:r>
              <a:rPr lang="en-US" sz="2400" i="1" dirty="0">
                <a:highlight>
                  <a:srgbClr val="FFFF00"/>
                </a:highlight>
              </a:rPr>
              <a:t>r</a:t>
            </a:r>
            <a:r>
              <a:rPr lang="en-US" sz="2400" dirty="0">
                <a:highlight>
                  <a:srgbClr val="FFFF00"/>
                </a:highlight>
              </a:rPr>
              <a:t> 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&lt; </a:t>
            </a:r>
            <a:r>
              <a:rPr lang="en-US" sz="2400" i="1" dirty="0">
                <a:highlight>
                  <a:srgbClr val="FFFF00"/>
                </a:highlight>
                <a:sym typeface="Symbol"/>
              </a:rPr>
              <a:t>x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 }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We treat this as having this body :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</a:t>
            </a:r>
            <a:r>
              <a:rPr lang="en-US" sz="2400" dirty="0"/>
              <a:t>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{ </a:t>
            </a:r>
            <a:r>
              <a:rPr lang="en-US" sz="2400" b="1" dirty="0"/>
              <a:t>assert</a:t>
            </a:r>
            <a:r>
              <a:rPr lang="en-US" sz="2400" dirty="0"/>
              <a:t> </a:t>
            </a:r>
            <a:r>
              <a:rPr lang="en-US" sz="2400" i="1" dirty="0"/>
              <a:t>x</a:t>
            </a:r>
            <a:r>
              <a:rPr lang="en-US" sz="2400" dirty="0"/>
              <a:t>&gt;0 ; </a:t>
            </a:r>
            <a:r>
              <a:rPr lang="en-US" sz="2400" b="1" dirty="0"/>
              <a:t>assume</a:t>
            </a:r>
            <a:r>
              <a:rPr lang="en-US" sz="2400" dirty="0"/>
              <a:t> </a:t>
            </a:r>
            <a:r>
              <a:rPr lang="en-US" sz="2400" i="1" dirty="0"/>
              <a:t>r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&lt; 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}</a:t>
            </a:r>
          </a:p>
          <a:p>
            <a:r>
              <a:rPr lang="en-US" sz="2000" b="1" dirty="0">
                <a:sym typeface="Symbol"/>
              </a:rPr>
              <a:t>Note</a:t>
            </a:r>
            <a:r>
              <a:rPr lang="en-US" sz="2000" dirty="0">
                <a:sym typeface="Symbol"/>
              </a:rPr>
              <a:t>: reference to input params (e.g. “x”) in a method post-</a:t>
            </a:r>
            <a:r>
              <a:rPr lang="en-US" sz="2000" dirty="0" err="1">
                <a:sym typeface="Symbol"/>
              </a:rPr>
              <a:t>cond</a:t>
            </a:r>
            <a:r>
              <a:rPr lang="en-US" sz="2000" dirty="0">
                <a:sym typeface="Symbol"/>
              </a:rPr>
              <a:t> is intended to refer to their initial value.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dirty="0">
                <a:sym typeface="Symbol"/>
              </a:rPr>
              <a:t>example: 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          → 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&gt;0  /\  (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 ⇒  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 7)     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                              (assuming </a:t>
            </a:r>
            <a:r>
              <a:rPr lang="en-US" sz="1600" b="1" i="1" dirty="0">
                <a:sym typeface="Symbol"/>
              </a:rPr>
              <a:t>r</a:t>
            </a:r>
            <a:r>
              <a:rPr lang="en-US" sz="1600" b="1" dirty="0">
                <a:sym typeface="Symbol"/>
              </a:rPr>
              <a:t> is fresh!)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Note:</a:t>
            </a:r>
            <a:r>
              <a:rPr lang="en-US" sz="1600" dirty="0">
                <a:sym typeface="Symbol"/>
              </a:rPr>
              <a:t> this allows us to handle call to recursive programs, if they provide specifications (but proving the correctness of a recursive program is still another problem to solve)</a:t>
            </a:r>
            <a:endParaRPr lang="en-US" sz="1600" dirty="0">
              <a:sym typeface="Wingdings" pitchFamily="2" charset="2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Arrays in </a:t>
            </a:r>
            <a:r>
              <a:rPr lang="nl-NL" dirty="0" err="1"/>
              <a:t>this</a:t>
            </a:r>
            <a:r>
              <a:rPr lang="nl-NL" dirty="0"/>
              <a:t> GCL are </a:t>
            </a:r>
            <a:r>
              <a:rPr lang="nl-NL" dirty="0" err="1"/>
              <a:t>infinite</a:t>
            </a:r>
            <a:r>
              <a:rPr lang="nl-NL" dirty="0"/>
              <a:t> (but </a:t>
            </a:r>
            <a:r>
              <a:rPr lang="nl-NL" dirty="0" err="1"/>
              <a:t>not</a:t>
            </a:r>
            <a:r>
              <a:rPr lang="nl-NL" dirty="0"/>
              <a:t> in </a:t>
            </a:r>
            <a:r>
              <a:rPr lang="nl-NL" dirty="0" err="1"/>
              <a:t>your</a:t>
            </a:r>
            <a:r>
              <a:rPr lang="nl-NL" dirty="0"/>
              <a:t> project).</a:t>
            </a:r>
          </a:p>
          <a:p>
            <a:r>
              <a:rPr lang="nl-NL" dirty="0"/>
              <a:t> a := b is </a:t>
            </a:r>
            <a:r>
              <a:rPr lang="nl-NL" dirty="0" err="1"/>
              <a:t>assumed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clone</a:t>
            </a:r>
            <a:r>
              <a:rPr lang="nl-NL" dirty="0"/>
              <a:t> b </a:t>
            </a:r>
            <a:r>
              <a:rPr lang="nl-NL" dirty="0" err="1"/>
              <a:t>into</a:t>
            </a:r>
            <a:r>
              <a:rPr lang="nl-NL" dirty="0"/>
              <a:t> a.</a:t>
            </a:r>
          </a:p>
          <a:p>
            <a:r>
              <a:rPr lang="nl-NL" dirty="0"/>
              <a:t>Introduce the notation a(i </a:t>
            </a:r>
            <a:r>
              <a:rPr lang="nl-NL" b="1" dirty="0"/>
              <a:t>repby</a:t>
            </a:r>
            <a:r>
              <a:rPr lang="nl-NL" dirty="0"/>
              <a:t> e) to denote a clone of  the array a</a:t>
            </a:r>
            <a:r>
              <a:rPr lang="nl-NL" i="1" dirty="0"/>
              <a:t>, </a:t>
            </a:r>
            <a:r>
              <a:rPr lang="nl-NL" dirty="0"/>
              <a:t>but differs at i-th element, which now has the value e.  </a:t>
            </a:r>
            <a:r>
              <a:rPr lang="nl-NL" dirty="0">
                <a:solidFill>
                  <a:srgbClr val="FF0000"/>
                </a:solidFill>
              </a:rPr>
              <a:t>See LN, Rule 2.6.12</a:t>
            </a:r>
            <a:r>
              <a:rPr lang="nl-NL" dirty="0"/>
              <a:t>.</a:t>
            </a:r>
          </a:p>
          <a:p>
            <a:r>
              <a:rPr lang="nl-NL" dirty="0"/>
              <a:t>Treat  a[i] := e  as  a := a(i </a:t>
            </a:r>
            <a:r>
              <a:rPr lang="nl-NL" b="1" dirty="0"/>
              <a:t>repby</a:t>
            </a:r>
            <a:r>
              <a:rPr lang="nl-NL" dirty="0"/>
              <a:t> e) </a:t>
            </a:r>
          </a:p>
          <a:p>
            <a:r>
              <a:rPr lang="nl-NL" dirty="0"/>
              <a:t>Example :</a:t>
            </a: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wlp  </a:t>
            </a:r>
            <a:r>
              <a:rPr lang="nl-NL" dirty="0"/>
              <a:t>(a[i] := 0)  (a[i] = a[3])</a:t>
            </a:r>
          </a:p>
          <a:p>
            <a:endParaRPr lang="nl-NL" dirty="0"/>
          </a:p>
          <a:p>
            <a:r>
              <a:rPr lang="nl-NL" dirty="0"/>
              <a:t>Encode  a[i] := 0  in an RL language e.g. as 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assert</a:t>
            </a:r>
            <a:r>
              <a:rPr lang="nl-NL" dirty="0"/>
              <a:t> 0</a:t>
            </a:r>
            <a:r>
              <a:rPr lang="nl-NL" dirty="0">
                <a:sym typeface="Symbol"/>
              </a:rPr>
              <a:t> i &lt; #a  ; </a:t>
            </a:r>
            <a:r>
              <a:rPr lang="nl-NL" dirty="0"/>
              <a:t>a[i] := 0</a:t>
            </a:r>
            <a:r>
              <a:rPr lang="nl-NL" dirty="0">
                <a:sym typeface="Symbol"/>
              </a:rPr>
              <a:t>  </a:t>
            </a:r>
            <a:endParaRPr lang="nl-NL" dirty="0"/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4DB6D4-C1C6-4E67-9953-9695918C5348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328156"/>
            <a:ext cx="7772400" cy="462142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Consider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each array expression in the post-condition, each array assignment adds a nested conditional expression. Above this leads to 3 cases that the back-end prover must consider. If the post-</a:t>
            </a:r>
            <a:r>
              <a:rPr lang="en-US" dirty="0" err="1"/>
              <a:t>cond</a:t>
            </a:r>
            <a:r>
              <a:rPr lang="en-US" dirty="0"/>
              <a:t> has one more array expression, it will create its own 3 cases. In combination with the first, now there are 3x3 cases to consider!</a:t>
            </a:r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3" y="1838332"/>
            <a:ext cx="2050561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{a[k+1]=2}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784B4-76A9-3745-A80D-C65712104EE6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AAD67-378B-0F42-97CD-9CCADD859DBC}"/>
              </a:ext>
            </a:extLst>
          </p:cNvPr>
          <p:cNvSpPr txBox="1"/>
          <p:nvPr/>
        </p:nvSpPr>
        <p:spPr>
          <a:xfrm>
            <a:off x="101368" y="1992137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797937-4EBB-6644-944A-9CB0B2A9E2D6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6A1A9A-99E2-1E46-8F8E-395075E4AF62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5462131" y="2222970"/>
            <a:ext cx="292821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5568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13" y="1328156"/>
            <a:ext cx="8006787" cy="4621427"/>
          </a:xfrm>
        </p:spPr>
        <p:txBody>
          <a:bodyPr>
            <a:normAutofit/>
          </a:bodyPr>
          <a:lstStyle/>
          <a:p>
            <a:r>
              <a:rPr lang="en-US" dirty="0"/>
              <a:t>Consider again this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4" y="1838332"/>
            <a:ext cx="205056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a[k+1]=2 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6C3D0-437F-D24D-8E7B-583045E36C99}"/>
              </a:ext>
            </a:extLst>
          </p:cNvPr>
          <p:cNvSpPr txBox="1"/>
          <p:nvPr/>
        </p:nvSpPr>
        <p:spPr>
          <a:xfrm>
            <a:off x="451413" y="3958542"/>
            <a:ext cx="83453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can reduce/simplify </a:t>
            </a:r>
            <a:r>
              <a:rPr lang="en-US" b="1" dirty="0"/>
              <a:t>this</a:t>
            </a:r>
            <a:r>
              <a:rPr lang="en-US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Simplifying cost effort.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1AECD8-706A-9340-B4E1-8096C9B967DF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2481214"/>
            <a:ext cx="1365235" cy="161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67DAB5-2008-CE4B-96C4-62C6F6BA7951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B1109-1581-BA4F-892E-06908156804D}"/>
              </a:ext>
            </a:extLst>
          </p:cNvPr>
          <p:cNvSpPr txBox="1"/>
          <p:nvPr/>
        </p:nvSpPr>
        <p:spPr>
          <a:xfrm>
            <a:off x="167354" y="2033631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D3FFB8-70A6-7F44-BDBA-D1FE58DC19A2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7372F5-F3AF-1D45-AD79-9930BB464A8F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5528117" y="2264464"/>
            <a:ext cx="165431" cy="203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9882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Introduce ‘heap’ H : [</a:t>
            </a:r>
            <a:r>
              <a:rPr lang="en-US" dirty="0" err="1"/>
              <a:t>int</a:t>
            </a:r>
            <a:r>
              <a:rPr lang="en-US" dirty="0"/>
              <a:t>][fieldname] </a:t>
            </a:r>
            <a:r>
              <a:rPr lang="en-US" dirty="0">
                <a:sym typeface="Symbol"/>
              </a:rPr>
              <a:t>  value</a:t>
            </a:r>
          </a:p>
          <a:p>
            <a:r>
              <a:rPr lang="en-US" dirty="0">
                <a:sym typeface="Symbol"/>
              </a:rPr>
              <a:t>We may want to introduce one heap for each Class; but let’s ignore this here.</a:t>
            </a:r>
          </a:p>
          <a:p>
            <a:r>
              <a:rPr lang="en-US" dirty="0">
                <a:sym typeface="Symbol"/>
              </a:rPr>
              <a:t>N, representing the number of existing objects.</a:t>
            </a:r>
          </a:p>
          <a:p>
            <a:r>
              <a:rPr lang="en-US" dirty="0">
                <a:sym typeface="Symbol"/>
              </a:rPr>
              <a:t>Objects are stored in H[0] ... H[N-1]</a:t>
            </a:r>
          </a:p>
          <a:p>
            <a:r>
              <a:rPr lang="en-US" dirty="0">
                <a:sym typeface="Symbol"/>
              </a:rPr>
              <a:t>Two types of values : primitive values, or reference to another object.</a:t>
            </a:r>
          </a:p>
          <a:p>
            <a:r>
              <a:rPr lang="en-US" dirty="0">
                <a:sym typeface="Symbol"/>
              </a:rPr>
              <a:t>Encoding :</a:t>
            </a:r>
          </a:p>
          <a:p>
            <a:pPr lvl="1"/>
            <a:r>
              <a:rPr lang="en-US" dirty="0">
                <a:sym typeface="Symbol"/>
              </a:rPr>
              <a:t>x := o    ,  unchanged, but note o is thus an </a:t>
            </a:r>
            <a:r>
              <a:rPr lang="en-US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lvl="1"/>
            <a:r>
              <a:rPr lang="en-US" dirty="0" err="1">
                <a:sym typeface="Symbol"/>
              </a:rPr>
              <a:t>o.fn</a:t>
            </a:r>
            <a:r>
              <a:rPr lang="en-US" dirty="0">
                <a:sym typeface="Symbol"/>
              </a:rPr>
              <a:t> := 3  is encoded by H[o][fn] := 3</a:t>
            </a:r>
          </a:p>
          <a:p>
            <a:pPr lvl="1"/>
            <a:r>
              <a:rPr lang="en-US" dirty="0">
                <a:sym typeface="Symbol"/>
              </a:rPr>
              <a:t>Suppose C has a single </a:t>
            </a:r>
            <a:r>
              <a:rPr lang="en-US" dirty="0" err="1">
                <a:sym typeface="Symbol"/>
              </a:rPr>
              <a:t>int</a:t>
            </a:r>
            <a:r>
              <a:rPr lang="en-US" dirty="0">
                <a:sym typeface="Symbol"/>
              </a:rPr>
              <a:t>-field named a 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x = </a:t>
            </a:r>
            <a:r>
              <a:rPr lang="en-US" b="1" dirty="0">
                <a:sym typeface="Symbol"/>
              </a:rPr>
              <a:t>new</a:t>
            </a:r>
            <a:r>
              <a:rPr lang="en-US" dirty="0">
                <a:sym typeface="Symbol"/>
              </a:rPr>
              <a:t> C()  is encoded by  { H[N][a] := 0 ; x:=N ; N++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Let m(x|r) be a method of class C. It implicitly has the instance-object and the whole heap as input and output parameter.</a:t>
            </a:r>
          </a:p>
          <a:p>
            <a:r>
              <a:rPr lang="nl-NL" dirty="0"/>
              <a:t>Example:  </a:t>
            </a:r>
            <a:r>
              <a:rPr lang="nl-NL" b="1" dirty="0"/>
              <a:t>class</a:t>
            </a:r>
            <a:r>
              <a:rPr lang="nl-NL" dirty="0"/>
              <a:t> C {  a:int </a:t>
            </a:r>
            <a:br>
              <a:rPr lang="nl-NL" dirty="0"/>
            </a:br>
            <a:r>
              <a:rPr lang="nl-NL" dirty="0"/>
              <a:t>                                 inc(d) { </a:t>
            </a:r>
            <a:r>
              <a:rPr lang="nl-NL" b="1" dirty="0"/>
              <a:t>this</a:t>
            </a:r>
            <a:r>
              <a:rPr lang="nl-NL" dirty="0"/>
              <a:t>.a := </a:t>
            </a:r>
            <a:r>
              <a:rPr lang="nl-NL" b="1" dirty="0"/>
              <a:t>this</a:t>
            </a:r>
            <a:r>
              <a:rPr lang="nl-NL" dirty="0"/>
              <a:t>.a+d ; } }</a:t>
            </a:r>
            <a:br>
              <a:rPr lang="nl-NL" dirty="0"/>
            </a:br>
            <a:br>
              <a:rPr lang="nl-NL" dirty="0"/>
            </a:br>
            <a:r>
              <a:rPr lang="nl-NL" dirty="0"/>
              <a:t>The method is translated to: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inc(</a:t>
            </a:r>
            <a:r>
              <a:rPr lang="nl-NL" dirty="0" err="1"/>
              <a:t>this,H,d</a:t>
            </a:r>
            <a:r>
              <a:rPr lang="nl-NL" dirty="0"/>
              <a:t> | H’) { H[this][a] := H[this][a] + d ;</a:t>
            </a:r>
            <a:br>
              <a:rPr lang="nl-NL" dirty="0"/>
            </a:br>
            <a:r>
              <a:rPr lang="nl-NL" dirty="0"/>
              <a:t>                             H’ := H }</a:t>
            </a:r>
          </a:p>
          <a:p>
            <a:endParaRPr lang="nl-NL" dirty="0"/>
          </a:p>
          <a:p>
            <a:r>
              <a:rPr lang="nl-NL" dirty="0"/>
              <a:t>call o.inc(3)  is translated to ... ?</a:t>
            </a:r>
          </a:p>
          <a:p>
            <a:pPr>
              <a:buNone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52B93-4650-4517-908C-4B80298C5FCB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Exception introduces non-standard flow of execution, which are often error prone.</a:t>
            </a:r>
          </a:p>
          <a:p>
            <a:r>
              <a:rPr lang="en-US" sz="2400" dirty="0"/>
              <a:t>The problem is, exception can be thrown from many points in the program, basically exploding the goals to solve for verification.</a:t>
            </a:r>
          </a:p>
          <a:p>
            <a:r>
              <a:rPr lang="en-US" sz="2400" dirty="0"/>
              <a:t>But first ... how to deal with exception in Hoare logic / </a:t>
            </a:r>
            <a:r>
              <a:rPr lang="en-US" sz="2400" b="1" dirty="0" err="1"/>
              <a:t>wlp</a:t>
            </a:r>
            <a:r>
              <a:rPr lang="en-US" sz="2400" dirty="0"/>
              <a:t> ?</a:t>
            </a:r>
          </a:p>
          <a:p>
            <a:pPr lvl="1"/>
            <a:r>
              <a:rPr lang="en-US" dirty="0"/>
              <a:t>Approach-1 : introduce a variable </a:t>
            </a:r>
            <a:r>
              <a:rPr lang="en-US" i="1" dirty="0" err="1"/>
              <a:t>exc</a:t>
            </a:r>
            <a:r>
              <a:rPr lang="en-US" dirty="0"/>
              <a:t> to represent that the program has entered an exceptional state, and explicitly encode the flow in the </a:t>
            </a:r>
            <a:r>
              <a:rPr lang="en-US" b="1" dirty="0" err="1"/>
              <a:t>wlp</a:t>
            </a:r>
            <a:r>
              <a:rPr lang="en-US" dirty="0">
                <a:sym typeface="Wingdings"/>
              </a:rPr>
              <a:t>.</a:t>
            </a:r>
            <a:endParaRPr lang="en-US" dirty="0"/>
          </a:p>
          <a:p>
            <a:pPr lvl="1"/>
            <a:r>
              <a:rPr lang="en-US" sz="2000" dirty="0"/>
              <a:t>Approach-2: extend post-condition to be a pair (</a:t>
            </a:r>
            <a:r>
              <a:rPr lang="en-US" sz="2000" i="1" dirty="0" err="1"/>
              <a:t>Q</a:t>
            </a:r>
            <a:r>
              <a:rPr lang="en-US" sz="2000" baseline="-25000" dirty="0" err="1"/>
              <a:t>n</a:t>
            </a:r>
            <a:r>
              <a:rPr lang="en-US" sz="2000" dirty="0" err="1"/>
              <a:t>,</a:t>
            </a:r>
            <a:r>
              <a:rPr lang="en-US" sz="2000" i="1" dirty="0" err="1"/>
              <a:t>Q</a:t>
            </a:r>
            <a:r>
              <a:rPr lang="en-US" sz="2000" baseline="-25000" dirty="0" err="1"/>
              <a:t>e</a:t>
            </a:r>
            <a:r>
              <a:rPr lang="en-US" sz="2000" dirty="0"/>
              <a:t>) representing the desired situation when a program terminates normally, and when it terminates exceptionally.</a:t>
            </a:r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39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 a global variable </a:t>
            </a:r>
            <a:r>
              <a:rPr lang="en-US" i="1" dirty="0" err="1"/>
              <a:t>exc</a:t>
            </a:r>
            <a:r>
              <a:rPr lang="en-US" i="1" dirty="0"/>
              <a:t> : </a:t>
            </a:r>
            <a:r>
              <a:rPr lang="en-US" dirty="0" err="1"/>
              <a:t>bool</a:t>
            </a:r>
            <a:r>
              <a:rPr lang="en-US" dirty="0"/>
              <a:t>, initially false</a:t>
            </a:r>
          </a:p>
          <a:p>
            <a:r>
              <a:rPr lang="en-US" b="1" dirty="0"/>
              <a:t>raise</a:t>
            </a:r>
            <a:r>
              <a:rPr lang="en-US" dirty="0"/>
              <a:t> sets this variable to true</a:t>
            </a:r>
          </a:p>
          <a:p>
            <a:r>
              <a:rPr lang="en-US" dirty="0"/>
              <a:t>entering a handler resets it to false</a:t>
            </a:r>
          </a:p>
          <a:p>
            <a:r>
              <a:rPr lang="en-US" dirty="0"/>
              <a:t>A state where </a:t>
            </a:r>
            <a:r>
              <a:rPr lang="en-US" i="1" dirty="0" err="1"/>
              <a:t>exc</a:t>
            </a:r>
            <a:r>
              <a:rPr lang="en-US" dirty="0"/>
              <a:t> is true, is an ‘exceptional’ state, else it is a normal state.</a:t>
            </a:r>
          </a:p>
          <a:p>
            <a:r>
              <a:rPr lang="en-US" dirty="0"/>
              <a:t>Multiple exception types can be encoded, but let’s ignore this here...</a:t>
            </a:r>
          </a:p>
          <a:p>
            <a:r>
              <a:rPr lang="en-US" dirty="0"/>
              <a:t>The obvious: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 err="1"/>
              <a:t>wlp</a:t>
            </a:r>
            <a:r>
              <a:rPr lang="en-US" b="1" dirty="0"/>
              <a:t> </a:t>
            </a:r>
            <a:r>
              <a:rPr lang="en-US" dirty="0"/>
              <a:t> </a:t>
            </a:r>
            <a:r>
              <a:rPr lang="en-US" b="1" dirty="0"/>
              <a:t>raise </a:t>
            </a:r>
            <a:r>
              <a:rPr lang="en-US" i="1" dirty="0"/>
              <a:t>Q  =  Q</a:t>
            </a:r>
            <a:r>
              <a:rPr lang="en-US" dirty="0"/>
              <a:t>[true/</a:t>
            </a:r>
            <a:r>
              <a:rPr lang="en-US" i="1" dirty="0" err="1"/>
              <a:t>exc</a:t>
            </a:r>
            <a:r>
              <a:rPr lang="en-US" dirty="0"/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837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1096962"/>
          </a:xfrm>
        </p:spPr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714500"/>
            <a:ext cx="8358246" cy="4305300"/>
          </a:xfrm>
        </p:spPr>
        <p:txBody>
          <a:bodyPr>
            <a:norm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is treated as:</a:t>
            </a:r>
            <a:r>
              <a:rPr lang="en-US" dirty="0">
                <a:sym typeface="Symbol"/>
              </a:rPr>
              <a:t>  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skip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endParaRPr lang="en-US" b="1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Downside</a:t>
            </a:r>
            <a:r>
              <a:rPr lang="en-US" dirty="0"/>
              <a:t>: this blows up the resulting </a:t>
            </a:r>
            <a:r>
              <a:rPr lang="en-US" dirty="0" err="1"/>
              <a:t>wlp</a:t>
            </a:r>
            <a:r>
              <a:rPr lang="en-US" dirty="0"/>
              <a:t> since each  “;” will add one conditional clause</a:t>
            </a:r>
            <a:r>
              <a:rPr lang="en-US" dirty="0">
                <a:sym typeface="Wingdings" pitchFamily="2" charset="2"/>
              </a:rPr>
              <a:t>. </a:t>
            </a:r>
          </a:p>
          <a:p>
            <a:pPr marL="0" indent="0">
              <a:buNone/>
            </a:pPr>
            <a:r>
              <a:rPr lang="en-US" dirty="0">
                <a:sym typeface="Wingdings" pitchFamily="2" charset="2"/>
              </a:rPr>
              <a:t>Can we avoid that?</a:t>
            </a:r>
            <a:endParaRPr lang="en-US" dirty="0"/>
          </a:p>
          <a:p>
            <a:pPr lvl="1"/>
            <a:r>
              <a:rPr lang="en-US" dirty="0"/>
              <a:t>We can optimize this by statically checking if </a:t>
            </a:r>
            <a:r>
              <a:rPr lang="en-US" dirty="0" err="1"/>
              <a:t>exc</a:t>
            </a:r>
            <a:r>
              <a:rPr lang="en-US" dirty="0"/>
              <a:t> would be true after S</a:t>
            </a:r>
            <a:r>
              <a:rPr lang="en-US" baseline="-25000" dirty="0"/>
              <a:t>1</a:t>
            </a:r>
            <a:r>
              <a:rPr lang="en-US" dirty="0"/>
              <a:t>. If so, there is no need to expand S</a:t>
            </a:r>
            <a:r>
              <a:rPr lang="en-US" baseline="-25000" dirty="0"/>
              <a:t>2</a:t>
            </a:r>
            <a:r>
              <a:rPr lang="en-US" dirty="0"/>
              <a:t>.</a:t>
            </a:r>
          </a:p>
          <a:p>
            <a:pPr lvl="1"/>
            <a:r>
              <a:rPr lang="en-US" dirty="0">
                <a:sym typeface="Wingdings" pitchFamily="2" charset="2"/>
              </a:rPr>
              <a:t>Caution: what should we do with “</a:t>
            </a:r>
            <a:r>
              <a:rPr lang="en-US" b="1" dirty="0">
                <a:highlight>
                  <a:srgbClr val="FFFF00"/>
                </a:highlight>
                <a:sym typeface="Wingdings" pitchFamily="2" charset="2"/>
              </a:rPr>
              <a:t>if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 g </a:t>
            </a:r>
            <a:r>
              <a:rPr lang="en-US" b="1" dirty="0">
                <a:highlight>
                  <a:srgbClr val="FFFF00"/>
                </a:highlight>
                <a:sym typeface="Wingdings" pitchFamily="2" charset="2"/>
              </a:rPr>
              <a:t>then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 </a:t>
            </a:r>
            <a:r>
              <a:rPr lang="en-US" dirty="0">
                <a:solidFill>
                  <a:srgbClr val="C00000"/>
                </a:solidFill>
                <a:highlight>
                  <a:srgbClr val="FFFF00"/>
                </a:highlight>
                <a:sym typeface="Wingdings" pitchFamily="2" charset="2"/>
              </a:rPr>
              <a:t>raise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 </a:t>
            </a:r>
            <a:r>
              <a:rPr lang="en-US" b="1" dirty="0">
                <a:highlight>
                  <a:srgbClr val="FFFF00"/>
                </a:highlight>
                <a:sym typeface="Wingdings" pitchFamily="2" charset="2"/>
              </a:rPr>
              <a:t>else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 skip </a:t>
            </a:r>
            <a:r>
              <a:rPr lang="en-US" dirty="0">
                <a:highlight>
                  <a:srgbClr val="00FFFF"/>
                </a:highlight>
                <a:sym typeface="Wingdings" pitchFamily="2" charset="2"/>
              </a:rPr>
              <a:t>; S</a:t>
            </a:r>
            <a:r>
              <a:rPr lang="en-US" dirty="0">
                <a:sym typeface="Wingdings" pitchFamily="2" charset="2"/>
              </a:rPr>
              <a:t>” ?</a:t>
            </a:r>
            <a:endParaRPr lang="en-US" b="1" dirty="0"/>
          </a:p>
          <a:p>
            <a:r>
              <a:rPr lang="en-US" b="1" dirty="0"/>
              <a:t>while </a:t>
            </a:r>
            <a:r>
              <a:rPr lang="en-US" dirty="0"/>
              <a:t>also need to be transformed due to the implicit sequencing  between iterations</a:t>
            </a:r>
          </a:p>
          <a:p>
            <a:endParaRPr lang="en-US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793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295400"/>
            <a:ext cx="8382000" cy="4724400"/>
          </a:xfrm>
        </p:spPr>
        <p:txBody>
          <a:bodyPr>
            <a:normAutofit/>
          </a:bodyPr>
          <a:lstStyle/>
          <a:p>
            <a:r>
              <a:rPr lang="en-US" dirty="0"/>
              <a:t>In GCL evaluating an expression does not crash; so you either have to </a:t>
            </a:r>
            <a:r>
              <a:rPr lang="en-US" b="1" dirty="0"/>
              <a:t>insist</a:t>
            </a:r>
            <a:r>
              <a:rPr lang="en-US" dirty="0"/>
              <a:t> that they don’t.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transformed to: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assert</a:t>
            </a:r>
            <a:r>
              <a:rPr lang="en-US" dirty="0"/>
              <a:t> 0≤k&lt;</a:t>
            </a:r>
            <a:r>
              <a:rPr lang="en-US" dirty="0">
                <a:sym typeface="Symbol"/>
              </a:rPr>
              <a:t>#a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assert</a:t>
            </a:r>
            <a:r>
              <a:rPr lang="en-US" dirty="0">
                <a:sym typeface="Symbol"/>
              </a:rPr>
              <a:t> y≠0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2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Or we model exception throwing executions. 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   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then transformed to  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k</a:t>
            </a:r>
            <a:r>
              <a:rPr lang="en-US" dirty="0">
                <a:sym typeface="Symbol"/>
              </a:rPr>
              <a:t>&lt;0 \/ k#a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y=0              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827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 ! H  (</a:t>
            </a:r>
            <a:r>
              <a:rPr lang="en-US" b="1" dirty="0"/>
              <a:t>try</a:t>
            </a:r>
            <a:r>
              <a:rPr lang="en-US" dirty="0"/>
              <a:t> S </a:t>
            </a:r>
            <a:r>
              <a:rPr lang="en-US" b="1" dirty="0"/>
              <a:t>catch</a:t>
            </a:r>
            <a:r>
              <a:rPr lang="en-US" dirty="0"/>
              <a:t> H)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treated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{ </a:t>
            </a:r>
            <a:r>
              <a:rPr lang="en-US" dirty="0" err="1"/>
              <a:t>exc</a:t>
            </a:r>
            <a:r>
              <a:rPr lang="en-US" dirty="0"/>
              <a:t>:=false ; H } </a:t>
            </a:r>
            <a:r>
              <a:rPr lang="en-US" b="1" dirty="0"/>
              <a:t>else</a:t>
            </a:r>
            <a:r>
              <a:rPr lang="en-US" dirty="0"/>
              <a:t> skip</a:t>
            </a:r>
            <a:br>
              <a:rPr lang="en-US" dirty="0"/>
            </a:br>
            <a:br>
              <a:rPr lang="en-US" dirty="0"/>
            </a:br>
            <a:r>
              <a:rPr lang="en-US" sz="1800" dirty="0"/>
              <a:t>(“;” should not be expanded here)</a:t>
            </a:r>
          </a:p>
          <a:p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10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09440"/>
          </a:xfrm>
        </p:spPr>
        <p:txBody>
          <a:bodyPr>
            <a:normAutofit/>
          </a:bodyPr>
          <a:lstStyle/>
          <a:p>
            <a:r>
              <a:rPr lang="en-US" dirty="0"/>
              <a:t>Extend the post-condition from a single predicate to a pair of predicate: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{P}  S {Q,R}  where Q describes the expectation when S terminates normally, and R the expectation when S terminates by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i="1" dirty="0"/>
              <a:t>Q</a:t>
            </a:r>
            <a:r>
              <a:rPr lang="en-US" dirty="0"/>
              <a:t>[</a:t>
            </a:r>
            <a:r>
              <a:rPr lang="en-US" i="1" dirty="0"/>
              <a:t>e/x</a:t>
            </a:r>
            <a:r>
              <a:rPr lang="en-US" dirty="0"/>
              <a:t>]     </a:t>
            </a:r>
            <a:r>
              <a:rPr lang="en-US" sz="1400" dirty="0"/>
              <a:t>-- assuming e does not throw an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/>
              <a:t>raise</a:t>
            </a:r>
            <a:r>
              <a:rPr lang="en-US" dirty="0"/>
              <a:t> (</a:t>
            </a:r>
            <a:r>
              <a:rPr lang="en-US" i="1" dirty="0"/>
              <a:t>Q,R</a:t>
            </a:r>
            <a:r>
              <a:rPr lang="en-US" dirty="0"/>
              <a:t>)     =  </a:t>
            </a:r>
            <a:r>
              <a:rPr lang="en-US" i="1" dirty="0"/>
              <a:t>R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(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 (</a:t>
            </a:r>
            <a:r>
              <a:rPr lang="en-US" i="1" dirty="0"/>
              <a:t>Q</a:t>
            </a:r>
            <a:r>
              <a:rPr lang="en-US" dirty="0"/>
              <a:t>,</a:t>
            </a:r>
            <a:r>
              <a:rPr lang="en-US" i="1" dirty="0"/>
              <a:t>R</a:t>
            </a:r>
            <a:r>
              <a:rPr lang="en-US" dirty="0"/>
              <a:t>), </a:t>
            </a:r>
            <a:r>
              <a:rPr lang="en-US" i="1" dirty="0"/>
              <a:t>R</a:t>
            </a:r>
            <a:r>
              <a:rPr lang="en-US" dirty="0"/>
              <a:t>)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dirty="0"/>
              <a:t> ! </a:t>
            </a:r>
            <a:r>
              <a:rPr lang="en-US" i="1" dirty="0"/>
              <a:t>H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 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S  (</a:t>
            </a:r>
            <a:r>
              <a:rPr lang="en-US" i="1" dirty="0"/>
              <a:t>Q</a:t>
            </a:r>
            <a:r>
              <a:rPr lang="en-US" dirty="0"/>
              <a:t> ,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</a:t>
            </a:r>
            <a:r>
              <a:rPr lang="en-US" i="1" dirty="0"/>
              <a:t>H</a:t>
            </a:r>
            <a:r>
              <a:rPr lang="en-US" dirty="0"/>
              <a:t>  (</a:t>
            </a:r>
            <a:r>
              <a:rPr lang="en-US" i="1" dirty="0"/>
              <a:t>Q,R</a:t>
            </a:r>
            <a:r>
              <a:rPr lang="en-US" dirty="0"/>
              <a:t>))</a:t>
            </a:r>
          </a:p>
          <a:p>
            <a:r>
              <a:rPr lang="en-US" dirty="0"/>
              <a:t>This avoids blow up that we saw in Approach-1, but on the other hand </a:t>
            </a:r>
            <a:r>
              <a:rPr lang="en-US" dirty="0" err="1"/>
              <a:t>wlp</a:t>
            </a:r>
            <a:r>
              <a:rPr lang="en-US" dirty="0"/>
              <a:t> becomes more complicated.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77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9DA16-EC1E-7D41-8847-2ECBA4A77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60239-2BC9-0843-BA8D-FA47D0CA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Approach 1: </a:t>
            </a:r>
          </a:p>
          <a:p>
            <a:pPr lvl="1"/>
            <a:r>
              <a:rPr lang="en-US" dirty="0" err="1"/>
              <a:t>wlp</a:t>
            </a:r>
            <a:r>
              <a:rPr lang="en-US" dirty="0"/>
              <a:t>-rules are still the same</a:t>
            </a:r>
          </a:p>
          <a:p>
            <a:pPr lvl="1"/>
            <a:r>
              <a:rPr lang="en-US" dirty="0"/>
              <a:t>But it leads to blow up, unless we do the optimization.</a:t>
            </a:r>
          </a:p>
          <a:p>
            <a:r>
              <a:rPr lang="en-US" dirty="0"/>
              <a:t>Approach 2:</a:t>
            </a:r>
          </a:p>
          <a:p>
            <a:pPr lvl="1"/>
            <a:r>
              <a:rPr lang="en-US" dirty="0"/>
              <a:t>does not blow up, but we need to keep track of two post-conditions.</a:t>
            </a:r>
          </a:p>
          <a:p>
            <a:r>
              <a:rPr lang="en-US" b="1" dirty="0">
                <a:highlight>
                  <a:srgbClr val="FFFF00"/>
                </a:highlight>
              </a:rPr>
              <a:t>If</a:t>
            </a:r>
            <a:r>
              <a:rPr lang="en-US" dirty="0">
                <a:highlight>
                  <a:srgbClr val="FFFF00"/>
                </a:highlight>
              </a:rPr>
              <a:t> g </a:t>
            </a:r>
            <a:r>
              <a:rPr lang="en-US" b="1" dirty="0">
                <a:highlight>
                  <a:srgbClr val="FFFF00"/>
                </a:highlight>
              </a:rPr>
              <a:t>then</a:t>
            </a:r>
            <a:r>
              <a:rPr lang="en-US" dirty="0">
                <a:highlight>
                  <a:srgbClr val="FFFF00"/>
                </a:highlight>
              </a:rPr>
              <a:t> raise </a:t>
            </a:r>
            <a:r>
              <a:rPr lang="en-US" b="1" dirty="0">
                <a:highlight>
                  <a:srgbClr val="FFFF00"/>
                </a:highlight>
              </a:rPr>
              <a:t>else</a:t>
            </a:r>
            <a:r>
              <a:rPr lang="en-US" dirty="0">
                <a:highlight>
                  <a:srgbClr val="FFFF00"/>
                </a:highlight>
              </a:rPr>
              <a:t> skip </a:t>
            </a:r>
            <a:r>
              <a:rPr lang="en-US" dirty="0">
                <a:highlight>
                  <a:srgbClr val="00FFFF"/>
                </a:highlight>
              </a:rPr>
              <a:t>; S </a:t>
            </a:r>
            <a:r>
              <a:rPr lang="en-US" dirty="0"/>
              <a:t>     </a:t>
            </a:r>
            <a:r>
              <a:rPr lang="en-US" dirty="0">
                <a:sym typeface="Wingdings" pitchFamily="2" charset="2"/>
              </a:rPr>
              <a:t>  needs some pre-processing to avoid blow up.</a:t>
            </a:r>
            <a:endParaRPr lang="en-US" dirty="0"/>
          </a:p>
          <a:p>
            <a:r>
              <a:rPr lang="en-US" dirty="0"/>
              <a:t>To consider: using a control flow graph.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65CC2-5E50-1F40-B607-A34A9715C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816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26512"/>
            <a:ext cx="8358246" cy="796908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now the full </a:t>
            </a:r>
            <a:r>
              <a:rPr lang="en-US" b="1" dirty="0" err="1"/>
              <a:t>wlp</a:t>
            </a:r>
            <a:r>
              <a:rPr lang="en-US" dirty="0"/>
              <a:t>-based logic to verify GCL programs.</a:t>
            </a:r>
          </a:p>
          <a:p>
            <a:r>
              <a:rPr lang="en-US" dirty="0"/>
              <a:t>The calculation of </a:t>
            </a:r>
            <a:r>
              <a:rPr lang="en-US" b="1" dirty="0" err="1"/>
              <a:t>wlp</a:t>
            </a:r>
            <a:r>
              <a:rPr lang="en-US" dirty="0"/>
              <a:t> is syntax driven.</a:t>
            </a:r>
          </a:p>
          <a:p>
            <a:r>
              <a:rPr lang="en-US" dirty="0"/>
              <a:t>If loops are annotated, the calculation of </a:t>
            </a:r>
            <a:r>
              <a:rPr lang="en-US" b="1" dirty="0" err="1"/>
              <a:t>wlp</a:t>
            </a:r>
            <a:r>
              <a:rPr lang="en-US" dirty="0"/>
              <a:t> is fully automatic, else you may have to do some trade off.</a:t>
            </a:r>
          </a:p>
          <a:p>
            <a:r>
              <a:rPr lang="en-US" dirty="0"/>
              <a:t>RL languages can be translated to GCL; we have shown how some core OO constructs can be translated.</a:t>
            </a:r>
          </a:p>
          <a:p>
            <a:r>
              <a:rPr lang="en-US" b="1" dirty="0" err="1"/>
              <a:t>wlp</a:t>
            </a:r>
            <a:r>
              <a:rPr lang="en-US" dirty="0"/>
              <a:t>-based logic does </a:t>
            </a:r>
            <a:r>
              <a:rPr lang="en-US" i="1" dirty="0"/>
              <a:t>not</a:t>
            </a:r>
            <a:r>
              <a:rPr lang="en-US" dirty="0"/>
              <a:t> deal with concurrency.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72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PV_semantic</Template>
  <TotalTime>15722</TotalTime>
  <Words>8669</Words>
  <Application>Microsoft Macintosh PowerPoint</Application>
  <PresentationFormat>On-screen Show (4:3)</PresentationFormat>
  <Paragraphs>859</Paragraphs>
  <Slides>72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0" baseType="lpstr">
      <vt:lpstr>Arial</vt:lpstr>
      <vt:lpstr>Calibri</vt:lpstr>
      <vt:lpstr>Cambria</vt:lpstr>
      <vt:lpstr>Rockwell Extra Bold</vt:lpstr>
      <vt:lpstr>Symbol</vt:lpstr>
      <vt:lpstr>Times New Roman</vt:lpstr>
      <vt:lpstr>Wingdings</vt:lpstr>
      <vt:lpstr>Wood Type</vt:lpstr>
      <vt:lpstr>Predicate-transformer–based Verification (LN Chapter 2)</vt:lpstr>
      <vt:lpstr>Plan</vt:lpstr>
      <vt:lpstr>Specifying programs</vt:lpstr>
      <vt:lpstr>Hoare Logic</vt:lpstr>
      <vt:lpstr>The logic’s general idea:  break it down!</vt:lpstr>
      <vt:lpstr>Assignment</vt:lpstr>
      <vt:lpstr>Loop</vt:lpstr>
      <vt:lpstr>Few more examples</vt:lpstr>
      <vt:lpstr>Few more examples</vt:lpstr>
      <vt:lpstr>Proving termination (of loop)</vt:lpstr>
      <vt:lpstr>Example</vt:lpstr>
      <vt:lpstr>Home work</vt:lpstr>
      <vt:lpstr>Hoare logic cannot be directly automated</vt:lpstr>
      <vt:lpstr>Forward and backward transformer</vt:lpstr>
      <vt:lpstr>Forward and backward transformer</vt:lpstr>
      <vt:lpstr>WP and WLP transformer</vt:lpstr>
      <vt:lpstr>Guarded Command Language (GCL)</vt:lpstr>
      <vt:lpstr>wlp</vt:lpstr>
      <vt:lpstr>wlp</vt:lpstr>
      <vt:lpstr>wlp</vt:lpstr>
      <vt:lpstr>Formula growth</vt:lpstr>
      <vt:lpstr>PATH-based verification</vt:lpstr>
      <vt:lpstr>PATH-based verification</vt:lpstr>
      <vt:lpstr>Unfeasible path</vt:lpstr>
      <vt:lpstr>forward symbolic execution</vt:lpstr>
      <vt:lpstr>forward symbolic execution</vt:lpstr>
      <vt:lpstr>forward symbolic execution</vt:lpstr>
      <vt:lpstr>forward symbolic execution</vt:lpstr>
      <vt:lpstr>Backward vs forward symbolic execution</vt:lpstr>
      <vt:lpstr>Backward vs forward transformation</vt:lpstr>
      <vt:lpstr>Can we prove the soundness and completeness of the wlp transformer ?</vt:lpstr>
      <vt:lpstr>The semantic of expressions and predicates</vt:lpstr>
      <vt:lpstr>The semantic of expressions and predicates</vt:lpstr>
      <vt:lpstr>The semantic of statements</vt:lpstr>
      <vt:lpstr>The semantic of statements (deterministic)</vt:lpstr>
      <vt:lpstr>Semantic of Hoare Triple (deterministic)</vt:lpstr>
      <vt:lpstr>Back to Dealing with loop</vt:lpstr>
      <vt:lpstr>What if there is no I annotated ?</vt:lpstr>
      <vt:lpstr>wlp as fix point</vt:lpstr>
      <vt:lpstr>The domain of state predicates, Pow(∑)</vt:lpstr>
      <vt:lpstr>Some bit of fix point theory</vt:lpstr>
      <vt:lpstr>Some bit of fix point theory</vt:lpstr>
      <vt:lpstr>Some bit of fix point theory</vt:lpstr>
      <vt:lpstr>FP iteration</vt:lpstr>
      <vt:lpstr>FP iteration</vt:lpstr>
      <vt:lpstr>Example 1</vt:lpstr>
      <vt:lpstr>Example 2</vt:lpstr>
      <vt:lpstr>Example 2</vt:lpstr>
      <vt:lpstr>Example 3</vt:lpstr>
      <vt:lpstr>Finite unfolding</vt:lpstr>
      <vt:lpstr>Replacing while with [while]k</vt:lpstr>
      <vt:lpstr>Replacing while with whilek</vt:lpstr>
      <vt:lpstr>Verification of OO programs</vt:lpstr>
      <vt:lpstr>Local variable</vt:lpstr>
      <vt:lpstr>Simultant assignment</vt:lpstr>
      <vt:lpstr>Program and program call</vt:lpstr>
      <vt:lpstr>Encoding program call</vt:lpstr>
      <vt:lpstr>Black-box call</vt:lpstr>
      <vt:lpstr>Arrays</vt:lpstr>
      <vt:lpstr>Array assignments trigger cases</vt:lpstr>
      <vt:lpstr>Array assignments trigger cases</vt:lpstr>
      <vt:lpstr>Objects</vt:lpstr>
      <vt:lpstr>Methods</vt:lpstr>
      <vt:lpstr>Exception</vt:lpstr>
      <vt:lpstr>Approach 1</vt:lpstr>
      <vt:lpstr>Approach 1</vt:lpstr>
      <vt:lpstr>Assignments and guards</vt:lpstr>
      <vt:lpstr>Assignments and guards</vt:lpstr>
      <vt:lpstr>Exception handler</vt:lpstr>
      <vt:lpstr>Approach 2</vt:lpstr>
      <vt:lpstr>exception</vt:lpstr>
      <vt:lpstr>Summary</vt:lpstr>
    </vt:vector>
  </TitlesOfParts>
  <Company>Universiteit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on Program Verification</dc:title>
  <dc:creator>wish</dc:creator>
  <cp:lastModifiedBy>Prasetya, S.W.B. (Wishnu)</cp:lastModifiedBy>
  <cp:revision>641</cp:revision>
  <cp:lastPrinted>2016-02-16T15:13:41Z</cp:lastPrinted>
  <dcterms:created xsi:type="dcterms:W3CDTF">2002-05-10T11:36:29Z</dcterms:created>
  <dcterms:modified xsi:type="dcterms:W3CDTF">2025-09-11T09:46:54Z</dcterms:modified>
</cp:coreProperties>
</file>