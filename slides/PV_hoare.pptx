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comment4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4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4" r:id="rId28"/>
    <p:sldId id="383" r:id="rId29"/>
    <p:sldId id="376" r:id="rId30"/>
    <p:sldId id="372" r:id="rId31"/>
    <p:sldId id="362" r:id="rId32"/>
    <p:sldId id="281" r:id="rId33"/>
    <p:sldId id="385" r:id="rId34"/>
    <p:sldId id="363" r:id="rId35"/>
    <p:sldId id="369" r:id="rId36"/>
    <p:sldId id="368" r:id="rId37"/>
    <p:sldId id="325" r:id="rId38"/>
    <p:sldId id="336" r:id="rId39"/>
    <p:sldId id="353" r:id="rId40"/>
    <p:sldId id="356" r:id="rId41"/>
    <p:sldId id="327" r:id="rId42"/>
    <p:sldId id="337" r:id="rId43"/>
    <p:sldId id="334" r:id="rId44"/>
    <p:sldId id="335" r:id="rId45"/>
    <p:sldId id="338" r:id="rId46"/>
    <p:sldId id="340" r:id="rId47"/>
    <p:sldId id="339" r:id="rId48"/>
    <p:sldId id="386" r:id="rId49"/>
    <p:sldId id="371" r:id="rId50"/>
    <p:sldId id="326" r:id="rId51"/>
    <p:sldId id="342" r:id="rId52"/>
    <p:sldId id="344" r:id="rId53"/>
    <p:sldId id="346" r:id="rId54"/>
    <p:sldId id="347" r:id="rId55"/>
    <p:sldId id="348" r:id="rId56"/>
    <p:sldId id="349" r:id="rId57"/>
    <p:sldId id="350" r:id="rId58"/>
    <p:sldId id="351" r:id="rId59"/>
    <p:sldId id="328" r:id="rId60"/>
    <p:sldId id="378" r:id="rId61"/>
    <p:sldId id="379" r:id="rId62"/>
    <p:sldId id="345" r:id="rId63"/>
    <p:sldId id="329" r:id="rId64"/>
    <p:sldId id="357" r:id="rId65"/>
    <p:sldId id="358" r:id="rId66"/>
    <p:sldId id="359" r:id="rId67"/>
    <p:sldId id="360" r:id="rId68"/>
    <p:sldId id="365" r:id="rId69"/>
    <p:sldId id="361" r:id="rId70"/>
    <p:sldId id="370" r:id="rId71"/>
    <p:sldId id="380" r:id="rId72"/>
    <p:sldId id="352" r:id="rId7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A9E591-45A4-288A-4724-26405B23B450}" v="6" dt="2026-09-14T14:05:59.9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9" autoAdjust="0"/>
    <p:restoredTop sz="89433" autoAdjust="0"/>
  </p:normalViewPr>
  <p:slideViewPr>
    <p:cSldViewPr snapToGrid="0">
      <p:cViewPr varScale="1">
        <p:scale>
          <a:sx n="165" d="100"/>
          <a:sy n="165" d="100"/>
        </p:scale>
        <p:origin x="36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8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etya, S.W.B. (Wishnu)" userId="S::s.w.b.prasetya@uu.nl::ee0482cf-91c5-406c-9af5-c23fbce206d6" providerId="AD" clId="Web-{0C54D34E-4B66-8376-A495-8F965818422D}"/>
    <pc:docChg chg="modSld">
      <pc:chgData name="Prasetya, S.W.B. (Wishnu)" userId="S::s.w.b.prasetya@uu.nl::ee0482cf-91c5-406c-9af5-c23fbce206d6" providerId="AD" clId="Web-{0C54D34E-4B66-8376-A495-8F965818422D}" dt="2026-09-09T07:15:27.013" v="2" actId="20577"/>
      <pc:docMkLst>
        <pc:docMk/>
      </pc:docMkLst>
      <pc:sldChg chg="modSp">
        <pc:chgData name="Prasetya, S.W.B. (Wishnu)" userId="S::s.w.b.prasetya@uu.nl::ee0482cf-91c5-406c-9af5-c23fbce206d6" providerId="AD" clId="Web-{0C54D34E-4B66-8376-A495-8F965818422D}" dt="2026-09-09T07:15:27.013" v="2" actId="20577"/>
        <pc:sldMkLst>
          <pc:docMk/>
          <pc:sldMk cId="0" sldId="304"/>
        </pc:sldMkLst>
        <pc:spChg chg="mod">
          <ac:chgData name="Prasetya, S.W.B. (Wishnu)" userId="S::s.w.b.prasetya@uu.nl::ee0482cf-91c5-406c-9af5-c23fbce206d6" providerId="AD" clId="Web-{0C54D34E-4B66-8376-A495-8F965818422D}" dt="2026-09-09T07:15:27.013" v="2" actId="20577"/>
          <ac:spMkLst>
            <pc:docMk/>
            <pc:sldMk cId="0" sldId="304"/>
            <ac:spMk id="7" creationId="{00000000-0000-0000-0000-000000000000}"/>
          </ac:spMkLst>
        </pc:spChg>
      </pc:sldChg>
    </pc:docChg>
  </pc:docChgLst>
  <pc:docChgLst>
    <pc:chgData name="Prasetya, S.W.B. (Wishnu)" userId="S::s.w.b.prasetya@uu.nl::ee0482cf-91c5-406c-9af5-c23fbce206d6" providerId="AD" clId="Web-{20A9E591-45A4-288A-4724-26405B23B450}"/>
    <pc:docChg chg="modSld">
      <pc:chgData name="Prasetya, S.W.B. (Wishnu)" userId="S::s.w.b.prasetya@uu.nl::ee0482cf-91c5-406c-9af5-c23fbce206d6" providerId="AD" clId="Web-{20A9E591-45A4-288A-4724-26405B23B450}" dt="2026-09-14T14:05:56.561" v="4" actId="20577"/>
      <pc:docMkLst>
        <pc:docMk/>
      </pc:docMkLst>
      <pc:sldChg chg="modSp">
        <pc:chgData name="Prasetya, S.W.B. (Wishnu)" userId="S::s.w.b.prasetya@uu.nl::ee0482cf-91c5-406c-9af5-c23fbce206d6" providerId="AD" clId="Web-{20A9E591-45A4-288A-4724-26405B23B450}" dt="2026-09-14T14:05:56.561" v="4" actId="20577"/>
        <pc:sldMkLst>
          <pc:docMk/>
          <pc:sldMk cId="2453779464" sldId="374"/>
        </pc:sldMkLst>
        <pc:spChg chg="mod">
          <ac:chgData name="Prasetya, S.W.B. (Wishnu)" userId="S::s.w.b.prasetya@uu.nl::ee0482cf-91c5-406c-9af5-c23fbce206d6" providerId="AD" clId="Web-{20A9E591-45A4-288A-4724-26405B23B450}" dt="2026-09-14T14:05:56.561" v="4" actId="20577"/>
          <ac:spMkLst>
            <pc:docMk/>
            <pc:sldMk cId="2453779464" sldId="374"/>
            <ac:spMk id="3" creationId="{1BEBF33D-AB78-9046-B42E-8AFC3B5D70BF}"/>
          </ac:spMkLst>
        </pc:spChg>
      </pc:sldChg>
    </pc:docChg>
  </pc:docChgLst>
  <pc:docChgLst>
    <pc:chgData name="Prasetya, S.W.B. (Wishnu)" userId="S::s.w.b.prasetya@uu.nl::ee0482cf-91c5-406c-9af5-c23fbce206d6" providerId="AD" clId="Web-{B7276C23-DA95-681E-6777-86D714534B61}"/>
    <pc:docChg chg="modSld">
      <pc:chgData name="Prasetya, S.W.B. (Wishnu)" userId="S::s.w.b.prasetya@uu.nl::ee0482cf-91c5-406c-9af5-c23fbce206d6" providerId="AD" clId="Web-{B7276C23-DA95-681E-6777-86D714534B61}" dt="2026-09-09T09:37:19.068" v="510" actId="20577"/>
      <pc:docMkLst>
        <pc:docMk/>
      </pc:docMkLst>
      <pc:sldChg chg="modSp">
        <pc:chgData name="Prasetya, S.W.B. (Wishnu)" userId="S::s.w.b.prasetya@uu.nl::ee0482cf-91c5-406c-9af5-c23fbce206d6" providerId="AD" clId="Web-{B7276C23-DA95-681E-6777-86D714534B61}" dt="2026-09-09T07:29:52.101" v="6" actId="20577"/>
        <pc:sldMkLst>
          <pc:docMk/>
          <pc:sldMk cId="1876719875" sldId="366"/>
        </pc:sldMkLst>
        <pc:spChg chg="mod">
          <ac:chgData name="Prasetya, S.W.B. (Wishnu)" userId="S::s.w.b.prasetya@uu.nl::ee0482cf-91c5-406c-9af5-c23fbce206d6" providerId="AD" clId="Web-{B7276C23-DA95-681E-6777-86D714534B61}" dt="2026-09-09T07:29:52.101" v="6" actId="20577"/>
          <ac:spMkLst>
            <pc:docMk/>
            <pc:sldMk cId="1876719875" sldId="366"/>
            <ac:spMk id="6" creationId="{00000000-0000-0000-0000-000000000000}"/>
          </ac:spMkLst>
        </pc:spChg>
      </pc:sldChg>
      <pc:sldChg chg="modSp modNotes">
        <pc:chgData name="Prasetya, S.W.B. (Wishnu)" userId="S::s.w.b.prasetya@uu.nl::ee0482cf-91c5-406c-9af5-c23fbce206d6" providerId="AD" clId="Web-{B7276C23-DA95-681E-6777-86D714534B61}" dt="2026-09-09T09:37:19.068" v="510" actId="20577"/>
        <pc:sldMkLst>
          <pc:docMk/>
          <pc:sldMk cId="1033298935" sldId="368"/>
        </pc:sldMkLst>
        <pc:spChg chg="mod">
          <ac:chgData name="Prasetya, S.W.B. (Wishnu)" userId="S::s.w.b.prasetya@uu.nl::ee0482cf-91c5-406c-9af5-c23fbce206d6" providerId="AD" clId="Web-{B7276C23-DA95-681E-6777-86D714534B61}" dt="2026-09-09T09:37:19.068" v="510" actId="20577"/>
          <ac:spMkLst>
            <pc:docMk/>
            <pc:sldMk cId="1033298935" sldId="368"/>
            <ac:spMk id="3" creationId="{00000000-0000-0000-0000-000000000000}"/>
          </ac:spMkLst>
        </pc:spChg>
      </pc:sldChg>
      <pc:sldChg chg="modSp">
        <pc:chgData name="Prasetya, S.W.B. (Wishnu)" userId="S::s.w.b.prasetya@uu.nl::ee0482cf-91c5-406c-9af5-c23fbce206d6" providerId="AD" clId="Web-{B7276C23-DA95-681E-6777-86D714534B61}" dt="2026-09-09T08:57:56.974" v="206" actId="20577"/>
        <pc:sldMkLst>
          <pc:docMk/>
          <pc:sldMk cId="725590703" sldId="383"/>
        </pc:sldMkLst>
        <pc:spChg chg="mod">
          <ac:chgData name="Prasetya, S.W.B. (Wishnu)" userId="S::s.w.b.prasetya@uu.nl::ee0482cf-91c5-406c-9af5-c23fbce206d6" providerId="AD" clId="Web-{B7276C23-DA95-681E-6777-86D714534B61}" dt="2026-09-09T08:57:56.974" v="206" actId="20577"/>
          <ac:spMkLst>
            <pc:docMk/>
            <pc:sldMk cId="725590703" sldId="383"/>
            <ac:spMk id="3" creationId="{AB6FC3F5-28A9-2C45-A06D-6192E2A011CB}"/>
          </ac:spMkLst>
        </pc:spChg>
      </pc:sldChg>
      <pc:sldChg chg="modSp">
        <pc:chgData name="Prasetya, S.W.B. (Wishnu)" userId="S::s.w.b.prasetya@uu.nl::ee0482cf-91c5-406c-9af5-c23fbce206d6" providerId="AD" clId="Web-{B7276C23-DA95-681E-6777-86D714534B61}" dt="2026-09-09T08:51:46.740" v="164" actId="20577"/>
        <pc:sldMkLst>
          <pc:docMk/>
          <pc:sldMk cId="3493317025" sldId="384"/>
        </pc:sldMkLst>
        <pc:spChg chg="mod">
          <ac:chgData name="Prasetya, S.W.B. (Wishnu)" userId="S::s.w.b.prasetya@uu.nl::ee0482cf-91c5-406c-9af5-c23fbce206d6" providerId="AD" clId="Web-{B7276C23-DA95-681E-6777-86D714534B61}" dt="2026-09-09T08:51:46.740" v="164" actId="20577"/>
          <ac:spMkLst>
            <pc:docMk/>
            <pc:sldMk cId="3493317025" sldId="384"/>
            <ac:spMk id="3" creationId="{AB6FC3F5-28A9-2C45-A06D-6192E2A011CB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3T15:30:26.735" idx="5">
    <p:pos x="178" y="1666"/>
    <p:text>This disjunction is ok; see the example in the notes.
Alternatively, use conjunction, but turn the ~exp and exc conjunct in the post-cond into implication.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42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028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ℰ⟦Q⟧ (𝒮⟦</a:t>
            </a:r>
            <a:r>
              <a:rPr lang="en-US" b="1" dirty="0" err="1">
                <a:latin typeface="Times New Roman"/>
                <a:cs typeface="Times New Roman"/>
              </a:rPr>
              <a:t>skip</a:t>
            </a:r>
            <a:r>
              <a:rPr lang="en-US" dirty="0" err="1">
                <a:latin typeface="Times New Roman"/>
                <a:cs typeface="Times New Roman"/>
              </a:rPr>
              <a:t>⟧s</a:t>
            </a:r>
            <a:r>
              <a:rPr lang="en-US" dirty="0">
                <a:latin typeface="Times New Roman"/>
                <a:cs typeface="Times New Roman"/>
              </a:rPr>
              <a:t>) =  { 𝒮 of skip } ℰ⟦Q⟧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                      =  {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skip Q = Q } </a:t>
            </a:r>
            <a:r>
              <a:rPr lang="en-US" dirty="0" err="1">
                <a:latin typeface="Times New Roman"/>
                <a:cs typeface="Times New Roman"/>
              </a:rPr>
              <a:t>ℰ⟦</a:t>
            </a:r>
            <a:r>
              <a:rPr lang="en-US" b="1" dirty="0" err="1">
                <a:latin typeface="Times New Roman"/>
                <a:cs typeface="Times New Roman"/>
              </a:rPr>
              <a:t>wlp</a:t>
            </a:r>
            <a:r>
              <a:rPr lang="en-US" b="1" dirty="0">
                <a:latin typeface="Times New Roman"/>
                <a:cs typeface="Times New Roman"/>
              </a:rPr>
              <a:t> skip </a:t>
            </a:r>
            <a:r>
              <a:rPr lang="en-US" dirty="0">
                <a:latin typeface="Times New Roman"/>
                <a:cs typeface="Times New Roman"/>
              </a:rPr>
              <a:t>Q⟧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           </a:t>
            </a:r>
            <a:br>
              <a:rPr lang="en-US" dirty="0">
                <a:latin typeface="Times New Roman"/>
                <a:cs typeface="Times New Roman"/>
              </a:rPr>
            </a:b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ℰ⟦Q⟧ (𝒮⟦x := </a:t>
            </a:r>
            <a:r>
              <a:rPr lang="en-US" dirty="0" err="1">
                <a:latin typeface="Times New Roman"/>
                <a:cs typeface="Times New Roman"/>
              </a:rPr>
              <a:t>e⟧s</a:t>
            </a:r>
            <a:r>
              <a:rPr lang="en-US" dirty="0">
                <a:latin typeface="Times New Roman"/>
                <a:cs typeface="Times New Roman"/>
              </a:rPr>
              <a:t>) = { 𝒮 of assignment } ℰ⟦Q⟧ (</a:t>
            </a:r>
            <a:r>
              <a:rPr lang="en-US" b="1" dirty="0">
                <a:latin typeface="Times New Roman"/>
                <a:cs typeface="Times New Roman"/>
              </a:rPr>
              <a:t>update</a:t>
            </a:r>
            <a:r>
              <a:rPr lang="en-US" dirty="0">
                <a:latin typeface="Times New Roman"/>
                <a:cs typeface="Times New Roman"/>
              </a:rPr>
              <a:t>  x (</a:t>
            </a:r>
            <a:r>
              <a:rPr lang="en-US" dirty="0" err="1">
                <a:latin typeface="Times New Roman"/>
                <a:cs typeface="Times New Roman"/>
              </a:rPr>
              <a:t>ℰ⟦e</a:t>
            </a:r>
            <a:r>
              <a:rPr lang="en-US" dirty="0">
                <a:latin typeface="Times New Roman"/>
                <a:cs typeface="Times New Roman"/>
              </a:rPr>
              <a:t>⟧ s)  s)</a:t>
            </a:r>
            <a:br>
              <a:rPr lang="en-US" dirty="0"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= { lemma }  ℰ⟦ Q[e/x] 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= {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assignment }  ℰ ⟦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(x := e)  Q⟧ s</a:t>
            </a:r>
            <a:br>
              <a:rPr lang="en-US" dirty="0">
                <a:cs typeface="Times New Roman"/>
              </a:rPr>
            </a:br>
            <a:br>
              <a:rPr lang="en-US" dirty="0"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need to prove this lemma:  ℰ⟦ Q[e/x] ⟧ s  =  ℰ⟦Q⟧ (</a:t>
            </a:r>
            <a:r>
              <a:rPr lang="en-US" b="1" dirty="0">
                <a:latin typeface="Times New Roman"/>
                <a:cs typeface="Times New Roman"/>
              </a:rPr>
              <a:t>update</a:t>
            </a:r>
            <a:r>
              <a:rPr lang="en-US" dirty="0">
                <a:latin typeface="Times New Roman"/>
                <a:cs typeface="Times New Roman"/>
              </a:rPr>
              <a:t> x (</a:t>
            </a:r>
            <a:r>
              <a:rPr lang="en-US" dirty="0" err="1">
                <a:latin typeface="Times New Roman"/>
                <a:cs typeface="Times New Roman"/>
              </a:rPr>
              <a:t>ℰ⟦e</a:t>
            </a:r>
            <a:r>
              <a:rPr lang="en-US" dirty="0">
                <a:latin typeface="Times New Roman"/>
                <a:cs typeface="Times New Roman"/>
              </a:rPr>
              <a:t>⟧ s) s) ; can be proven by induction over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the syntax of the expression language used to describe Q and e.</a:t>
            </a:r>
          </a:p>
          <a:p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ℰ⟦Q⟧ (𝒮⟦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 ; S2</a:t>
            </a:r>
            <a:r>
              <a:rPr lang="en-US" dirty="0">
                <a:latin typeface="Times New Roman"/>
                <a:cs typeface="Times New Roman"/>
              </a:rPr>
              <a:t>⟧s)  =  ℰ⟦Q⟧ (𝒮⟦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i="0" baseline="0" dirty="0">
                <a:solidFill>
                  <a:srgbClr val="000000"/>
                </a:solidFill>
                <a:latin typeface="Times New Roman"/>
                <a:cs typeface="Times New Roman"/>
              </a:rPr>
              <a:t>(</a:t>
            </a:r>
            <a:r>
              <a:rPr lang="en-US" dirty="0">
                <a:latin typeface="Times New Roman"/>
                <a:cs typeface="Times New Roman"/>
              </a:rPr>
              <a:t>𝒮 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</a:t>
            </a:r>
            <a:r>
              <a:rPr lang="en-US" dirty="0">
                <a:latin typeface="Times New Roman"/>
                <a:cs typeface="Times New Roman"/>
              </a:rPr>
              <a:t>⟧s)) </a:t>
            </a:r>
            <a:endParaRPr lang="en-US">
              <a:cs typeface="Times New Roman"/>
            </a:endParaRPr>
          </a:p>
          <a:p>
            <a:r>
              <a:rPr lang="en-US" dirty="0">
                <a:latin typeface="Times New Roman"/>
                <a:cs typeface="Times New Roman"/>
              </a:rPr>
              <a:t>                                =</a:t>
            </a:r>
            <a:r>
              <a:rPr lang="en-US" baseline="0" dirty="0">
                <a:latin typeface="Times New Roman"/>
                <a:cs typeface="Times New Roman"/>
              </a:rPr>
              <a:t>  { induction hyp }</a:t>
            </a:r>
            <a:br>
              <a:rPr lang="en-US" baseline="0" dirty="0">
                <a:cs typeface="Times New Roman"/>
              </a:rPr>
            </a:br>
            <a:r>
              <a:rPr lang="en-US" baseline="0" dirty="0">
                <a:latin typeface="Times New Roman"/>
                <a:cs typeface="Times New Roman"/>
              </a:rPr>
              <a:t>                                     </a:t>
            </a:r>
            <a:r>
              <a:rPr lang="en-US" dirty="0">
                <a:latin typeface="Times New Roman"/>
                <a:cs typeface="Times New Roman"/>
              </a:rPr>
              <a:t>ℰ⟦wlp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i="0" baseline="0" dirty="0">
                <a:solidFill>
                  <a:srgbClr val="000000"/>
                </a:solidFill>
                <a:latin typeface="Times New Roman"/>
                <a:cs typeface="Times New Roman"/>
              </a:rPr>
              <a:t>(</a:t>
            </a:r>
            <a:r>
              <a:rPr lang="en-US" dirty="0">
                <a:latin typeface="Times New Roman"/>
                <a:cs typeface="Times New Roman"/>
              </a:rPr>
              <a:t>𝒮 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</a:t>
            </a:r>
            <a:r>
              <a:rPr lang="en-US" dirty="0">
                <a:latin typeface="Times New Roman"/>
                <a:cs typeface="Times New Roman"/>
              </a:rPr>
              <a:t>⟧s)) </a:t>
            </a:r>
          </a:p>
          <a:p>
            <a:r>
              <a:rPr lang="en-US" dirty="0">
                <a:latin typeface="Times New Roman"/>
                <a:cs typeface="Times New Roman"/>
              </a:rPr>
              <a:t>                                =</a:t>
            </a:r>
            <a:r>
              <a:rPr lang="en-US" baseline="0" dirty="0">
                <a:latin typeface="Times New Roman"/>
                <a:cs typeface="Times New Roman"/>
              </a:rPr>
              <a:t>  { induction hyp }</a:t>
            </a:r>
            <a:br>
              <a:rPr lang="en-US" baseline="0" dirty="0">
                <a:cs typeface="Times New Roman"/>
              </a:rPr>
            </a:br>
            <a:r>
              <a:rPr lang="en-US" baseline="0" dirty="0">
                <a:latin typeface="Times New Roman"/>
                <a:cs typeface="Times New Roman"/>
              </a:rPr>
              <a:t>                                     </a:t>
            </a:r>
            <a:r>
              <a:rPr lang="en-US" dirty="0">
                <a:latin typeface="Times New Roman"/>
                <a:cs typeface="Times New Roman"/>
              </a:rPr>
              <a:t>ℰ⟦wlp S1 (wlp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)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Times New Roman"/>
                <a:cs typeface="Times New Roman"/>
              </a:rPr>
              <a:t>                                    ℰ⟦wlp (S1 ;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S2 )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Proof  that f is also monotonic:</a:t>
            </a:r>
          </a:p>
          <a:p>
            <a:endParaRPr lang="en-US" dirty="0"/>
          </a:p>
          <a:p>
            <a:r>
              <a:rPr lang="en-US" dirty="0"/>
              <a:t>Suppose X &lt;= Y ; to prove that f(X) &lt;= f(Y)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(1) since X &lt;= Y, then  X = X  </a:t>
            </a:r>
            <a:r>
              <a:rPr lang="en-US" dirty="0">
                <a:sym typeface="Symbol"/>
              </a:rPr>
              <a:t>  Y.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(2) f(X)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 // (1) above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f (X  Y)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f(X) </a:t>
            </a:r>
            <a:r>
              <a:rPr lang="en-US" baseline="0" dirty="0">
                <a:sym typeface="Symbol"/>
              </a:rPr>
              <a:t> </a:t>
            </a:r>
            <a:r>
              <a:rPr lang="en-US" dirty="0">
                <a:sym typeface="Symbol"/>
              </a:rPr>
              <a:t>  f(Y)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         &lt;= // prop of intersection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f(Y)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 about the fix point: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8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26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examples:</a:t>
            </a:r>
          </a:p>
          <a:p>
            <a:endParaRPr lang="en-US" dirty="0"/>
          </a:p>
          <a:p>
            <a:r>
              <a:rPr lang="en-US" dirty="0"/>
              <a:t>(1) </a:t>
            </a:r>
          </a:p>
          <a:p>
            <a:r>
              <a:rPr lang="en-US" dirty="0" err="1"/>
              <a:t>wlp</a:t>
            </a:r>
            <a:r>
              <a:rPr lang="en-US" baseline="0" dirty="0"/>
              <a:t> skip ; skip  (x=0) </a:t>
            </a:r>
          </a:p>
          <a:p>
            <a:r>
              <a:rPr lang="en-US" baseline="0" dirty="0"/>
              <a:t>   =</a:t>
            </a:r>
          </a:p>
          <a:p>
            <a:r>
              <a:rPr lang="en-US" dirty="0"/>
              <a:t>  </a:t>
            </a:r>
            <a:r>
              <a:rPr lang="en-US" dirty="0" err="1"/>
              <a:t>wlp</a:t>
            </a:r>
            <a:r>
              <a:rPr lang="en-US" baseline="0" dirty="0"/>
              <a:t> skip (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 </a:t>
            </a:r>
            <a:r>
              <a:rPr lang="en-US" baseline="0" dirty="0" err="1"/>
              <a:t>wlp</a:t>
            </a:r>
            <a:r>
              <a:rPr lang="en-US" baseline="0" dirty="0"/>
              <a:t> skip (!</a:t>
            </a:r>
            <a:r>
              <a:rPr lang="en-US" baseline="0" dirty="0" err="1"/>
              <a:t>exc</a:t>
            </a:r>
            <a:r>
              <a:rPr lang="en-US" baseline="0" dirty="0"/>
              <a:t> /\ </a:t>
            </a:r>
            <a:r>
              <a:rPr lang="en-US" baseline="0" dirty="0" err="1"/>
              <a:t>wlp</a:t>
            </a:r>
            <a:r>
              <a:rPr lang="en-US" baseline="0" dirty="0"/>
              <a:t> skip x=0)</a:t>
            </a:r>
          </a:p>
          <a:p>
            <a:r>
              <a:rPr lang="en-US" baseline="0" dirty="0"/>
              <a:t>  =</a:t>
            </a:r>
          </a:p>
          <a:p>
            <a:r>
              <a:rPr lang="en-US" baseline="0" dirty="0"/>
              <a:t>  (</a:t>
            </a:r>
            <a:r>
              <a:rPr lang="en-US" baseline="0" dirty="0" err="1"/>
              <a:t>exc</a:t>
            </a:r>
            <a:r>
              <a:rPr lang="en-US" baseline="0" dirty="0"/>
              <a:t> /\ x=0)  \/  (!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005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 (if (x=0)</a:t>
            </a:r>
            <a:r>
              <a:rPr lang="en-US" baseline="0" dirty="0"/>
              <a:t> raise else skip) ! x=1  { x&gt;0 }</a:t>
            </a:r>
          </a:p>
          <a:p>
            <a:endParaRPr lang="en-US" baseline="0" dirty="0"/>
          </a:p>
          <a:p>
            <a:r>
              <a:rPr lang="en-US" baseline="0" dirty="0"/>
              <a:t>= </a:t>
            </a:r>
            <a:r>
              <a:rPr lang="en-US" baseline="0" dirty="0" err="1"/>
              <a:t>wlp</a:t>
            </a:r>
            <a:r>
              <a:rPr lang="en-US" baseline="0" dirty="0"/>
              <a:t>  (</a:t>
            </a:r>
            <a:r>
              <a:rPr lang="en-US" dirty="0"/>
              <a:t>if (x=0)</a:t>
            </a:r>
            <a:r>
              <a:rPr lang="en-US" baseline="0" dirty="0"/>
              <a:t> raise else skip)) (~</a:t>
            </a:r>
            <a:r>
              <a:rPr lang="en-US" baseline="0" dirty="0" err="1"/>
              <a:t>exc</a:t>
            </a:r>
            <a:r>
              <a:rPr lang="en-US" baseline="0" dirty="0"/>
              <a:t> /\ x&gt;0)  </a:t>
            </a:r>
          </a:p>
          <a:p>
            <a:r>
              <a:rPr lang="en-US" baseline="0" dirty="0"/>
              <a:t>    \/</a:t>
            </a:r>
          </a:p>
          <a:p>
            <a:r>
              <a:rPr lang="en-US" baseline="0" dirty="0"/>
              <a:t>    </a:t>
            </a:r>
            <a:r>
              <a:rPr lang="en-US" baseline="0" dirty="0" err="1"/>
              <a:t>wlp</a:t>
            </a:r>
            <a:r>
              <a:rPr lang="en-US" baseline="0" dirty="0"/>
              <a:t> (</a:t>
            </a:r>
            <a:r>
              <a:rPr lang="en-US" dirty="0"/>
              <a:t>if (x=0)</a:t>
            </a:r>
            <a:r>
              <a:rPr lang="en-US" baseline="0" dirty="0"/>
              <a:t> raise else skip))  (</a:t>
            </a:r>
            <a:r>
              <a:rPr lang="en-US" baseline="0" dirty="0" err="1"/>
              <a:t>exc</a:t>
            </a:r>
            <a:r>
              <a:rPr lang="en-US" baseline="0" dirty="0"/>
              <a:t> /\ 1&gt;0)</a:t>
            </a:r>
            <a:endParaRPr lang="en-US" baseline="0" dirty="0">
              <a:sym typeface="Wingdings" pitchFamily="2" charset="2"/>
            </a:endParaRP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 (x=0 ==&gt; </a:t>
            </a:r>
            <a:r>
              <a:rPr lang="en-US" baseline="0" dirty="0" err="1"/>
              <a:t>wlp</a:t>
            </a:r>
            <a:r>
              <a:rPr lang="en-US" baseline="0" dirty="0"/>
              <a:t> raise (~</a:t>
            </a:r>
            <a:r>
              <a:rPr lang="en-US" baseline="0" dirty="0" err="1"/>
              <a:t>exc</a:t>
            </a:r>
            <a:r>
              <a:rPr lang="en-US" baseline="0" dirty="0"/>
              <a:t>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(x=0 ==&gt; </a:t>
            </a:r>
            <a:r>
              <a:rPr lang="en-US" baseline="0" dirty="0" err="1"/>
              <a:t>wlp</a:t>
            </a:r>
            <a:r>
              <a:rPr lang="en-US" baseline="0" dirty="0"/>
              <a:t> raise </a:t>
            </a:r>
            <a:r>
              <a:rPr lang="en-US" baseline="0" dirty="0" err="1"/>
              <a:t>exc</a:t>
            </a:r>
            <a:r>
              <a:rPr lang="en-US" baseline="0" dirty="0"/>
              <a:t>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(x=0 ==&gt; ~true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(x=0 ==&gt; true)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(x=0 ==&gt; false)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\/</a:t>
            </a:r>
          </a:p>
          <a:p>
            <a:r>
              <a:rPr lang="en-US" baseline="0" dirty="0"/>
              <a:t> true /\ 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(x&lt;&gt;0 </a:t>
            </a:r>
            <a:r>
              <a:rPr lang="en-US" baseline="0" dirty="0">
                <a:sym typeface="Wingdings" pitchFamily="2" charset="2"/>
              </a:rPr>
              <a:t>/\ </a:t>
            </a:r>
            <a:r>
              <a:rPr lang="en-US" baseline="0" dirty="0"/>
              <a:t>~</a:t>
            </a:r>
            <a:r>
              <a:rPr lang="en-US" baseline="0" dirty="0" err="1"/>
              <a:t>exc</a:t>
            </a:r>
            <a:r>
              <a:rPr lang="en-US" baseline="0" dirty="0"/>
              <a:t> /\ x&gt;0)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x=0 \/ </a:t>
            </a:r>
            <a:r>
              <a:rPr lang="en-US" baseline="0" dirty="0" err="1"/>
              <a:t>exc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41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k≥1000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unfeasible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60300" y="2413337"/>
            <a:ext cx="4775666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7" y="3133818"/>
            <a:ext cx="707536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660300" y="2962537"/>
            <a:ext cx="4966424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660300" y="3493348"/>
            <a:ext cx="5416868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,</a:t>
            </a:r>
            <a:r>
              <a:rPr lang="en-US" b="1" dirty="0">
                <a:solidFill>
                  <a:srgbClr val="C00000"/>
                </a:solidFill>
              </a:rPr>
              <a:t>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More generally a symbolic state consist of a pair (s,C)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/>
              <a:t>x</a:t>
            </a:r>
            <a:r>
              <a:rPr lang="en-US" baseline="-25000" dirty="0"/>
              <a:t>k</a:t>
            </a:r>
            <a:r>
              <a:rPr lang="en-US" dirty="0"/>
              <a:t> .</a:t>
            </a:r>
          </a:p>
          <a:p>
            <a:r>
              <a:rPr lang="en-US" dirty="0"/>
              <a:t>Convert the starting pre-condition P to an stmt </a:t>
            </a:r>
            <a:r>
              <a:rPr lang="en-US" b="1" dirty="0"/>
              <a:t>assume</a:t>
            </a:r>
            <a:r>
              <a:rPr lang="en-US" dirty="0"/>
              <a:t> P.</a:t>
            </a:r>
          </a:p>
          <a:p>
            <a:r>
              <a:rPr lang="en-US" dirty="0"/>
              <a:t>Given a program path 𝜌 (sequence of instructions), and an initial symbolic state (s,C),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7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ea typeface="Calibri"/>
                <a:cs typeface="Calibri"/>
              </a:rPr>
              <a:t>symexec</a:t>
            </a:r>
            <a:r>
              <a:rPr lang="en-US" dirty="0">
                <a:ea typeface="Calibri"/>
                <a:cs typeface="Calibri"/>
              </a:rPr>
              <a:t>(</a:t>
            </a:r>
            <a:r>
              <a:rPr lang="en-US" dirty="0" err="1">
                <a:ea typeface="Calibri"/>
                <a:cs typeface="Calibri"/>
              </a:rPr>
              <a:t>stmt</a:t>
            </a:r>
            <a:r>
              <a:rPr lang="en-US" dirty="0">
                <a:ea typeface="Calibri"/>
                <a:cs typeface="Calibri"/>
              </a:rPr>
              <a:t>,(</a:t>
            </a:r>
            <a:r>
              <a:rPr lang="en-US" dirty="0" err="1">
                <a:ea typeface="Calibri"/>
                <a:cs typeface="Calibri"/>
              </a:rPr>
              <a:t>s,C</a:t>
            </a:r>
            <a:r>
              <a:rPr lang="en-US" dirty="0">
                <a:ea typeface="Calibri"/>
                <a:cs typeface="Calibri"/>
              </a:rPr>
              <a:t>)) : symbolically executing </a:t>
            </a:r>
            <a:r>
              <a:rPr lang="en-US" dirty="0" err="1">
                <a:ea typeface="Calibri"/>
                <a:cs typeface="Calibri"/>
              </a:rPr>
              <a:t>stmt</a:t>
            </a:r>
            <a:r>
              <a:rPr lang="en-US" dirty="0">
                <a:ea typeface="Calibri"/>
                <a:cs typeface="Calibri"/>
              </a:rPr>
              <a:t> on the symbolic state (</a:t>
            </a:r>
            <a:r>
              <a:rPr lang="en-US" dirty="0" err="1">
                <a:ea typeface="Calibri"/>
                <a:cs typeface="Calibri"/>
              </a:rPr>
              <a:t>s,C</a:t>
            </a:r>
            <a:r>
              <a:rPr lang="en-US" dirty="0">
                <a:ea typeface="Calibri"/>
                <a:cs typeface="Calibri"/>
              </a:rPr>
              <a:t>), resulting in a new symbolic state.</a:t>
            </a:r>
            <a:endParaRPr lang="en-US" dirty="0"/>
          </a:p>
          <a:p>
            <a:pPr>
              <a:buClr>
                <a:srgbClr val="B53513"/>
              </a:buClr>
            </a:pPr>
            <a:r>
              <a:rPr lang="en-US" b="1" dirty="0" err="1">
                <a:ea typeface="+mn-lt"/>
                <a:cs typeface="+mn-lt"/>
              </a:rPr>
              <a:t>symexec</a:t>
            </a:r>
            <a:r>
              <a:rPr lang="en-US" b="1" dirty="0">
                <a:ea typeface="+mn-lt"/>
                <a:cs typeface="+mn-lt"/>
              </a:rPr>
              <a:t>(</a:t>
            </a:r>
            <a:r>
              <a:rPr lang="en-US" b="1" dirty="0">
                <a:solidFill>
                  <a:srgbClr val="0070C0"/>
                </a:solidFill>
                <a:ea typeface="+mn-lt"/>
                <a:cs typeface="+mn-lt"/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P,</a:t>
            </a:r>
            <a:r>
              <a:rPr lang="en-US" dirty="0"/>
              <a:t> (</a:t>
            </a:r>
            <a:r>
              <a:rPr lang="en-US" dirty="0" err="1"/>
              <a:t>s,C</a:t>
            </a:r>
            <a:r>
              <a:rPr lang="en-US" dirty="0"/>
              <a:t>))  =  (s, P' ∧ C)  </a:t>
            </a:r>
            <a:br>
              <a:rPr lang="en-US" dirty="0">
                <a:ea typeface="Calibri"/>
                <a:cs typeface="Calibri"/>
              </a:rPr>
            </a:br>
            <a:r>
              <a:rPr lang="en-US" dirty="0"/>
              <a:t>where P’ is obtained by replacing every program variable z that occurs in P with s(z) (the symbolic value of z in the state s).</a:t>
            </a:r>
          </a:p>
          <a:p>
            <a:r>
              <a:rPr lang="en-US" b="1" dirty="0" err="1"/>
              <a:t>symexec</a:t>
            </a:r>
            <a:r>
              <a:rPr lang="en-US" b="1" dirty="0"/>
              <a:t>(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 ,(</a:t>
            </a:r>
            <a:r>
              <a:rPr lang="en-US" dirty="0" err="1"/>
              <a:t>s,C</a:t>
            </a:r>
            <a:r>
              <a:rPr lang="en-US" dirty="0"/>
              <a:t>)) = (</a:t>
            </a:r>
            <a:r>
              <a:rPr lang="en-US" dirty="0" err="1"/>
              <a:t>s,C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If C ∧ s ⟹ Q holds</a:t>
            </a:r>
            <a:r>
              <a:rPr lang="en-US" dirty="0"/>
              <a:t>. else the execution is aborted, reporting an error (the asserted Q is violated).</a:t>
            </a:r>
          </a:p>
          <a:p>
            <a:r>
              <a:rPr lang="en-US" b="1" err="1"/>
              <a:t>symexec</a:t>
            </a:r>
            <a:r>
              <a:rPr lang="en-US" b="1" dirty="0"/>
              <a:t>(</a:t>
            </a:r>
            <a:r>
              <a:rPr lang="en-US" b="1" dirty="0">
                <a:solidFill>
                  <a:srgbClr val="0070C0"/>
                </a:solidFill>
              </a:rPr>
              <a:t>y:=e</a:t>
            </a:r>
            <a:r>
              <a:rPr lang="en-US" dirty="0">
                <a:solidFill>
                  <a:srgbClr val="000000"/>
                </a:solidFill>
              </a:rPr>
              <a:t>,</a:t>
            </a:r>
            <a:r>
              <a:rPr lang="en-US" dirty="0"/>
              <a:t> (</a:t>
            </a:r>
            <a:r>
              <a:rPr lang="en-US" err="1"/>
              <a:t>s,C</a:t>
            </a:r>
            <a:r>
              <a:rPr lang="en-US" dirty="0"/>
              <a:t>)) =  (</a:t>
            </a:r>
            <a:r>
              <a:rPr lang="en-US" b="1" dirty="0"/>
              <a:t>update</a:t>
            </a:r>
            <a:r>
              <a:rPr lang="en-US" dirty="0"/>
              <a:t> y e’ s, C) </a:t>
            </a:r>
            <a:endParaRPr lang="en-US" dirty="0">
              <a:ea typeface="Calibri"/>
              <a:cs typeface="Calibri"/>
            </a:endParaRPr>
          </a:p>
          <a:p>
            <a:pPr lvl="1">
              <a:spcAft>
                <a:spcPts val="0"/>
              </a:spcAft>
              <a:buClr>
                <a:srgbClr val="B53513"/>
              </a:buClr>
              <a:buFont typeface="Courier New" pitchFamily="2" charset="2"/>
              <a:buChar char="o"/>
            </a:pPr>
            <a:r>
              <a:rPr lang="en-US" dirty="0">
                <a:ea typeface="Calibri"/>
                <a:cs typeface="Calibri"/>
              </a:rPr>
              <a:t>where the update changes mapping </a:t>
            </a:r>
            <a:r>
              <a:rPr lang="en-US" dirty="0" err="1">
                <a:ea typeface="Calibri"/>
                <a:cs typeface="Calibri"/>
              </a:rPr>
              <a:t>y</a:t>
            </a:r>
            <a:r>
              <a:rPr lang="en-US" b="1" dirty="0" err="1">
                <a:ea typeface="Calibri"/>
                <a:cs typeface="Calibri"/>
              </a:rPr>
              <a:t>⟼v</a:t>
            </a:r>
            <a:r>
              <a:rPr lang="en-US" b="1" dirty="0">
                <a:ea typeface="Calibri"/>
                <a:cs typeface="Calibri"/>
              </a:rPr>
              <a:t> in s to </a:t>
            </a:r>
            <a:r>
              <a:rPr lang="en-US" dirty="0" err="1">
                <a:ea typeface="Calibri"/>
                <a:cs typeface="Calibri"/>
              </a:rPr>
              <a:t>y</a:t>
            </a:r>
            <a:r>
              <a:rPr lang="en-US" b="1" dirty="0" err="1">
                <a:ea typeface="Calibri"/>
                <a:cs typeface="Calibri"/>
              </a:rPr>
              <a:t>⟼e</a:t>
            </a:r>
            <a:r>
              <a:rPr lang="en-US" b="1" dirty="0">
                <a:ea typeface="Calibri"/>
                <a:cs typeface="Calibri"/>
              </a:rPr>
              <a:t>'</a:t>
            </a:r>
            <a:r>
              <a:rPr lang="en-US" b="1" dirty="0">
                <a:solidFill>
                  <a:srgbClr val="C00000"/>
                </a:solidFill>
                <a:ea typeface="Calibri"/>
                <a:cs typeface="Calibri"/>
              </a:rPr>
              <a:t>.</a:t>
            </a:r>
            <a:endParaRPr lang="en-US" dirty="0"/>
          </a:p>
          <a:p>
            <a:pPr lvl="1">
              <a:spcAft>
                <a:spcPts val="0"/>
              </a:spcAft>
              <a:buClr>
                <a:srgbClr val="B53513"/>
              </a:buClr>
              <a:buFont typeface="Courier New" pitchFamily="2" charset="2"/>
              <a:buChar char="o"/>
            </a:pPr>
            <a:r>
              <a:rPr lang="en-US" dirty="0"/>
              <a:t>e’ is the symbolic value of the expression e on the state s, which can be obtained by replacing every program variable z that occurs in e with s(z) (the symbolic value of z in the state s.</a:t>
            </a:r>
            <a:endParaRPr lang="en-US" dirty="0">
              <a:ea typeface="Calibri"/>
              <a:cs typeface="Calibri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domains as a simple model of program states: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 state is modelled as a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function</a:t>
            </a:r>
            <a:r>
              <a:rPr lang="en-US" dirty="0">
                <a:solidFill>
                  <a:srgbClr val="000000"/>
                </a:solidFill>
              </a:rPr>
              <a:t> from variable-names to </a:t>
            </a:r>
            <a:r>
              <a:rPr lang="en-US" b="1" dirty="0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. So, if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 is a state, “</a:t>
            </a:r>
            <a:r>
              <a:rPr lang="en-US" i="1" dirty="0">
                <a:solidFill>
                  <a:srgbClr val="000000"/>
                </a:solidFill>
              </a:rPr>
              <a:t>s x</a:t>
            </a:r>
            <a:r>
              <a:rPr lang="en-US" dirty="0">
                <a:solidFill>
                  <a:srgbClr val="000000"/>
                </a:solidFill>
              </a:rPr>
              <a:t>” is the value of variable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in the state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.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r>
              <a:rPr lang="en-US" sz="1800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sz="1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	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</a:t>
            </a:r>
            <a:r>
              <a:rPr lang="en-US" i="1" dirty="0" err="1">
                <a:solidFill>
                  <a:srgbClr val="000000"/>
                </a:solidFill>
                <a:highlight>
                  <a:srgbClr val="FFFF00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&gt;</a:t>
            </a:r>
            <a:r>
              <a:rPr lang="en-US" i="1" dirty="0">
                <a:solidFill>
                  <a:srgbClr val="000000"/>
                </a:solidFill>
                <a:highlight>
                  <a:srgbClr val="FFFF00"/>
                </a:highlight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  &gt;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s y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marL="0" indent="0" eaLnBrk="1" hangingPunct="1">
              <a:buNone/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303DA-84E6-2EEA-0871-F6B0379A8DED}"/>
              </a:ext>
            </a:extLst>
          </p:cNvPr>
          <p:cNvSpPr txBox="1"/>
          <p:nvPr/>
        </p:nvSpPr>
        <p:spPr>
          <a:xfrm>
            <a:off x="2148840" y="4201339"/>
            <a:ext cx="202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syntax structure/string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AE5CB-A6BF-B2F4-48B0-CC2F8118FB68}"/>
              </a:ext>
            </a:extLst>
          </p:cNvPr>
          <p:cNvSpPr txBox="1"/>
          <p:nvPr/>
        </p:nvSpPr>
        <p:spPr>
          <a:xfrm>
            <a:off x="5014301" y="4256348"/>
            <a:ext cx="16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meaning/semantic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817753-D4D0-31C4-1AC0-32DC5015A28F}"/>
              </a:ext>
            </a:extLst>
          </p:cNvPr>
          <p:cNvCxnSpPr/>
          <p:nvPr/>
        </p:nvCxnSpPr>
        <p:spPr>
          <a:xfrm flipV="1">
            <a:off x="3159693" y="3643555"/>
            <a:ext cx="0" cy="55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3FB62-7655-0790-C9D1-8EAA8E5FDFED}"/>
              </a:ext>
            </a:extLst>
          </p:cNvPr>
          <p:cNvCxnSpPr>
            <a:cxnSpLocks/>
          </p:cNvCxnSpPr>
          <p:nvPr/>
        </p:nvCxnSpPr>
        <p:spPr>
          <a:xfrm flipH="1" flipV="1">
            <a:off x="5014301" y="3634556"/>
            <a:ext cx="334197" cy="62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9F1E3-3D45-A3C1-95F5-0DB3AC646D55}"/>
              </a:ext>
            </a:extLst>
          </p:cNvPr>
          <p:cNvSpPr txBox="1"/>
          <p:nvPr/>
        </p:nvSpPr>
        <p:spPr>
          <a:xfrm>
            <a:off x="-49356" y="3136612"/>
            <a:ext cx="2148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L" sz="1600" dirty="0"/>
              <a:t>semantic-interpretation </a:t>
            </a:r>
          </a:p>
          <a:p>
            <a:pPr algn="r"/>
            <a:r>
              <a:rPr lang="en-NL" sz="1600" dirty="0"/>
              <a:t>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0114FC-E4C2-E9A7-896D-A915CF80DE3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098989" y="3428999"/>
            <a:ext cx="5253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Note that </a:t>
            </a:r>
            <a:r>
              <a:rPr lang="en-US" i="1" dirty="0"/>
              <a:t>P </a:t>
            </a:r>
            <a:r>
              <a:rPr lang="en-US" dirty="0"/>
              <a:t>: </a:t>
            </a:r>
            <a:r>
              <a:rPr lang="en-US" b="1" dirty="0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5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We model a statement as a function of type 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State. </a:t>
            </a:r>
            <a:br>
              <a:rPr lang="en-US" b="1" dirty="0"/>
            </a:br>
            <a:br>
              <a:rPr lang="en-US" b="1" dirty="0"/>
            </a:b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where: </a:t>
            </a:r>
            <a:r>
              <a:rPr lang="en-US" b="1" dirty="0"/>
              <a:t>update</a:t>
            </a:r>
            <a:r>
              <a:rPr lang="en-US" dirty="0"/>
              <a:t> s x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= (𝜆</a:t>
            </a:r>
            <a:r>
              <a:rPr lang="en-US" i="1" dirty="0" err="1"/>
              <a:t>varname</a:t>
            </a:r>
            <a:r>
              <a:rPr lang="en-US" dirty="0"/>
              <a:t>.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 err="1"/>
              <a:t>varname</a:t>
            </a:r>
            <a:r>
              <a:rPr lang="en-US" dirty="0"/>
              <a:t>=x </a:t>
            </a:r>
            <a:r>
              <a:rPr lang="en-US" b="1" dirty="0"/>
              <a:t>then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 </a:t>
            </a:r>
            <a:r>
              <a:rPr lang="en-US" i="1" dirty="0" err="1"/>
              <a:t>varname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2</a:t>
            </a:r>
            <a:r>
              <a:rPr lang="en-US" dirty="0"/>
              <a:t> ⟧ 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  <a:p>
            <a:r>
              <a:rPr lang="en-US" dirty="0"/>
              <a:t>We can now “execute” a program over our model-states. We can also study properties about programs by studying their semantical models.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2657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( {P}  S  {Q} )     =    ∀s: 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⟦P⟧ s :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/>
              <a:t>wlp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b="1" dirty="0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post-cond Q: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 </a:t>
            </a:r>
            <a:r>
              <a:rPr lang="en-US" b="1" dirty="0"/>
              <a:t>wlp</a:t>
            </a:r>
            <a:r>
              <a:rPr lang="en-US" dirty="0"/>
              <a:t> S Q ⟧ 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be proven inductively over the structure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</a:p>
          <a:p>
            <a:pPr lvl="1"/>
            <a:endParaRPr lang="en-US" i="1" dirty="0">
              <a:sym typeface="Symbol" pitchFamily="18" charset="2"/>
            </a:endParaRPr>
          </a:p>
          <a:p>
            <a:pPr marL="0" indent="0">
              <a:buNone/>
            </a:pPr>
            <a:r>
              <a:rPr lang="en-US" sz="2000" dirty="0">
                <a:sym typeface="Symbol" pitchFamily="18" charset="2"/>
              </a:rPr>
              <a:t>Note that this gives a sound pre-</a:t>
            </a:r>
            <a:r>
              <a:rPr lang="en-US" sz="2000" dirty="0" err="1">
                <a:sym typeface="Symbol" pitchFamily="18" charset="2"/>
              </a:rPr>
              <a:t>cond</a:t>
            </a:r>
            <a:r>
              <a:rPr lang="en-US" sz="2000" dirty="0">
                <a:sym typeface="Symbol" pitchFamily="18" charset="2"/>
              </a:rPr>
              <a:t>, but does not necessarily give the weakest pre-cond. </a:t>
            </a: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Ask an LLM </a:t>
            </a:r>
            <a:r>
              <a:rPr lang="en-US" dirty="0">
                <a:sym typeface="Wingdings" pitchFamily="2" charset="2"/>
              </a:rPr>
              <a:t> not in scope.</a:t>
            </a:r>
            <a:endParaRPr lang="en-US" dirty="0"/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/>
          </a:bodyPr>
          <a:lstStyle/>
          <a:p>
            <a:r>
              <a:rPr lang="en-US" sz="2400" dirty="0"/>
              <a:t>....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</a:p>
          <a:p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But</a:t>
            </a:r>
            <a:r>
              <a:rPr lang="en-US" dirty="0">
                <a:sym typeface="Wingdings" pitchFamily="2" charset="2"/>
              </a:rPr>
              <a:t> we know that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</a:t>
            </a:r>
            <a:r>
              <a:rPr lang="en-US" dirty="0">
                <a:sym typeface="Symbol"/>
              </a:rPr>
              <a:t>⊇ the actual fix-point (the 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).</a:t>
            </a:r>
          </a:p>
          <a:p>
            <a:r>
              <a:rPr lang="en-US" dirty="0">
                <a:sym typeface="Symbol"/>
              </a:rPr>
              <a:t>We can take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as the </a:t>
            </a:r>
            <a:r>
              <a:rPr lang="en-US" dirty="0">
                <a:sym typeface="Symbol"/>
              </a:rPr>
              <a:t>”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” of the loop. If P is the given 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of the loop: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not valid </a:t>
            </a:r>
            <a:r>
              <a:rPr lang="en-US" sz="2000" dirty="0">
                <a:sym typeface="Wingdings" pitchFamily="2" charset="2"/>
              </a:rPr>
              <a:t> we find a bug!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valid </a:t>
            </a:r>
            <a:r>
              <a:rPr lang="en-US" sz="2000" dirty="0">
                <a:sym typeface="Wingdings" pitchFamily="2" charset="2"/>
              </a:rPr>
              <a:t> we still don’t know if the loop is correct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586501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[</a:t>
            </a:r>
            <a:r>
              <a:rPr lang="nl-NL" b="1" dirty="0" err="1"/>
              <a:t>while</a:t>
            </a:r>
            <a:r>
              <a:rPr lang="nl-NL" dirty="0"/>
              <a:t>]</a:t>
            </a:r>
            <a:r>
              <a:rPr lang="nl-NL" baseline="30000" dirty="0"/>
              <a:t>k  </a:t>
            </a:r>
            <a:r>
              <a:rPr lang="nl-NL" dirty="0" err="1"/>
              <a:t>iterates</a:t>
            </a:r>
            <a:r>
              <a:rPr lang="nl-NL" dirty="0"/>
              <a:t> at most </a:t>
            </a:r>
            <a:r>
              <a:rPr lang="nl-NL" i="1" dirty="0"/>
              <a:t>k</a:t>
            </a:r>
            <a:r>
              <a:rPr lang="nl-NL" dirty="0"/>
              <a:t>-</a:t>
            </a:r>
            <a:r>
              <a:rPr lang="nl-NL" dirty="0" err="1"/>
              <a:t>times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stops</a:t>
            </a:r>
            <a:r>
              <a:rPr lang="nl-NL" dirty="0"/>
              <a:t>.</a:t>
            </a:r>
          </a:p>
          <a:p>
            <a:r>
              <a:rPr lang="nl-NL" dirty="0">
                <a:sym typeface="Symbol"/>
              </a:rPr>
              <a:t></a:t>
            </a:r>
            <a:r>
              <a:rPr lang="nl-NL" b="1" dirty="0" err="1"/>
              <a:t>while</a:t>
            </a:r>
            <a:r>
              <a:rPr lang="nl-NL" dirty="0" err="1">
                <a:sym typeface="Symbol"/>
              </a:rPr>
              <a:t></a:t>
            </a:r>
            <a:r>
              <a:rPr lang="nl-NL" baseline="30000" dirty="0" err="1"/>
              <a:t>k</a:t>
            </a:r>
            <a:r>
              <a:rPr lang="nl-NL" baseline="30000" dirty="0"/>
              <a:t>  </a:t>
            </a:r>
            <a:r>
              <a:rPr lang="en-US" dirty="0"/>
              <a:t>iterates at most </a:t>
            </a:r>
            <a:r>
              <a:rPr lang="en-US" i="1" dirty="0"/>
              <a:t>k </a:t>
            </a:r>
            <a:r>
              <a:rPr lang="en-US" dirty="0"/>
              <a:t>times; higher iterations are ignored/removed.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prone.</a:t>
            </a:r>
          </a:p>
          <a:p>
            <a:r>
              <a:rPr lang="en-US" sz="2400" dirty="0"/>
              <a:t>The problem is, exception can be thrown from many points in the program, basically exploding the goals to solve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dirty="0"/>
              <a:t>Approach-1 : introduce a variable </a:t>
            </a:r>
            <a:r>
              <a:rPr lang="en-US" i="1" dirty="0" err="1"/>
              <a:t>exc</a:t>
            </a:r>
            <a:r>
              <a:rPr lang="en-US" dirty="0"/>
              <a:t> to represent that the program has entered an exceptional state, and explicitly encode the flow in the </a:t>
            </a:r>
            <a:r>
              <a:rPr lang="en-US" b="1" dirty="0" err="1"/>
              <a:t>wlp</a:t>
            </a:r>
            <a:r>
              <a:rPr lang="en-US" dirty="0">
                <a:sym typeface="Wingdings"/>
              </a:rPr>
              <a:t>.</a:t>
            </a:r>
            <a:endParaRPr lang="en-US" dirty="0"/>
          </a:p>
          <a:p>
            <a:pPr lvl="1"/>
            <a:r>
              <a:rPr lang="en-US" sz="2000" dirty="0"/>
              <a:t>Approach-2: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pPr lvl="1"/>
            <a:r>
              <a:rPr lang="en-US" dirty="0"/>
              <a:t>Approach-3: represent a program as a control flow graph</a:t>
            </a:r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a global variable </a:t>
            </a:r>
            <a:r>
              <a:rPr lang="en-US" i="1" dirty="0" err="1"/>
              <a:t>exc</a:t>
            </a:r>
            <a:r>
              <a:rPr lang="en-US" i="1" dirty="0"/>
              <a:t> : </a:t>
            </a:r>
            <a:r>
              <a:rPr lang="en-US" dirty="0" err="1"/>
              <a:t>bool</a:t>
            </a:r>
            <a:r>
              <a:rPr lang="en-US" dirty="0"/>
              <a:t>, initially false</a:t>
            </a:r>
          </a:p>
          <a:p>
            <a:r>
              <a:rPr lang="en-US" b="1" dirty="0"/>
              <a:t>raise</a:t>
            </a:r>
            <a:r>
              <a:rPr lang="en-US" dirty="0"/>
              <a:t> sets this variable to true</a:t>
            </a:r>
          </a:p>
          <a:p>
            <a:r>
              <a:rPr lang="en-US" dirty="0"/>
              <a:t>entering a handler resets it to false</a:t>
            </a:r>
          </a:p>
          <a:p>
            <a:r>
              <a:rPr lang="en-US" dirty="0"/>
              <a:t>A state where </a:t>
            </a:r>
            <a:r>
              <a:rPr lang="en-US" i="1" dirty="0" err="1"/>
              <a:t>exc</a:t>
            </a:r>
            <a:r>
              <a:rPr lang="en-US" dirty="0"/>
              <a:t> is true, is an ‘exceptional’ state, else it is a normal state.</a:t>
            </a:r>
          </a:p>
          <a:p>
            <a:r>
              <a:rPr lang="en-US" dirty="0"/>
              <a:t>Multiple exception types can be encoded, but let’s ignore this here...</a:t>
            </a:r>
          </a:p>
          <a:p>
            <a:r>
              <a:rPr lang="en-US" dirty="0"/>
              <a:t>The obvious: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 err="1"/>
              <a:t>wlp</a:t>
            </a:r>
            <a:r>
              <a:rPr lang="en-US" b="1" dirty="0"/>
              <a:t> </a:t>
            </a:r>
            <a:r>
              <a:rPr lang="en-US" dirty="0"/>
              <a:t> </a:t>
            </a:r>
            <a:r>
              <a:rPr lang="en-US" b="1" dirty="0"/>
              <a:t>raise </a:t>
            </a:r>
            <a:r>
              <a:rPr lang="en-US" i="1" dirty="0"/>
              <a:t>Q  =  Q</a:t>
            </a:r>
            <a:r>
              <a:rPr lang="en-US" dirty="0"/>
              <a:t>[true/</a:t>
            </a:r>
            <a:r>
              <a:rPr lang="en-US" i="1" dirty="0" err="1"/>
              <a:t>exc</a:t>
            </a:r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8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1096962"/>
          </a:xfrm>
        </p:spPr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500"/>
            <a:ext cx="8358246" cy="4723878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is treated as:</a:t>
            </a:r>
            <a:r>
              <a:rPr lang="en-US" dirty="0">
                <a:sym typeface="Symbol"/>
              </a:rPr>
              <a:t>  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skip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endParaRPr lang="en-US" b="1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Downside</a:t>
            </a:r>
            <a:r>
              <a:rPr lang="en-US" dirty="0"/>
              <a:t>: this blows up the resulting </a:t>
            </a:r>
            <a:r>
              <a:rPr lang="en-US" dirty="0" err="1"/>
              <a:t>wlp</a:t>
            </a:r>
            <a:r>
              <a:rPr lang="en-US" dirty="0"/>
              <a:t> since each  “;” will add one conditional clause</a:t>
            </a:r>
            <a:r>
              <a:rPr lang="en-US" dirty="0">
                <a:sym typeface="Wingdings" pitchFamily="2" charset="2"/>
              </a:rPr>
              <a:t>. </a:t>
            </a:r>
          </a:p>
          <a:p>
            <a:pPr marL="0" indent="0">
              <a:buNone/>
            </a:pPr>
            <a:r>
              <a:rPr lang="en-US" sz="2400" dirty="0"/>
              <a:t>We can optimize this by statically checking if </a:t>
            </a:r>
            <a:r>
              <a:rPr lang="en-US" sz="2400" dirty="0" err="1"/>
              <a:t>exc</a:t>
            </a:r>
            <a:r>
              <a:rPr lang="en-US" sz="2400" dirty="0"/>
              <a:t> would be true after S</a:t>
            </a:r>
            <a:r>
              <a:rPr lang="en-US" sz="2400" baseline="-25000" dirty="0"/>
              <a:t>1</a:t>
            </a:r>
            <a:r>
              <a:rPr lang="en-US" sz="2400" dirty="0"/>
              <a:t>. If so, there is no need to expand S</a:t>
            </a:r>
            <a:r>
              <a:rPr lang="en-US" sz="2400" baseline="-25000" dirty="0"/>
              <a:t>2</a:t>
            </a:r>
            <a:r>
              <a:rPr lang="en-US" sz="2400" dirty="0"/>
              <a:t>.  Examples: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does not  contain any raise stmt.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is enclosed by an exception handler, that does not contain raise.</a:t>
            </a:r>
          </a:p>
          <a:p>
            <a:r>
              <a:rPr lang="en-US" b="1" dirty="0"/>
              <a:t>while </a:t>
            </a:r>
            <a:r>
              <a:rPr lang="en-US" dirty="0"/>
              <a:t>also need to be transformed due to the implicit sequencing  between iterations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793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In GCL evaluating an expression does not crash; so you either have to </a:t>
            </a:r>
            <a:r>
              <a:rPr lang="en-US" b="1" dirty="0"/>
              <a:t>insist</a:t>
            </a:r>
            <a:r>
              <a:rPr lang="en-US" dirty="0"/>
              <a:t> that they don’t.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 ! H  (</a:t>
            </a:r>
            <a:r>
              <a:rPr lang="en-US" b="1" dirty="0"/>
              <a:t>try</a:t>
            </a:r>
            <a:r>
              <a:rPr lang="en-US" dirty="0"/>
              <a:t> S </a:t>
            </a:r>
            <a:r>
              <a:rPr lang="en-US" b="1" dirty="0"/>
              <a:t>catch</a:t>
            </a:r>
            <a:r>
              <a:rPr lang="en-US" dirty="0"/>
              <a:t> H)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treated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{ </a:t>
            </a:r>
            <a:r>
              <a:rPr lang="en-US" dirty="0" err="1"/>
              <a:t>exc</a:t>
            </a:r>
            <a:r>
              <a:rPr lang="en-US" dirty="0"/>
              <a:t>:=false ; H } </a:t>
            </a:r>
            <a:r>
              <a:rPr lang="en-US" b="1" dirty="0"/>
              <a:t>else</a:t>
            </a:r>
            <a:r>
              <a:rPr lang="en-US" dirty="0"/>
              <a:t> skip</a:t>
            </a:r>
            <a:br>
              <a:rPr lang="en-US" dirty="0"/>
            </a:br>
            <a:br>
              <a:rPr lang="en-US" dirty="0"/>
            </a:br>
            <a:r>
              <a:rPr lang="en-US" sz="1800" dirty="0"/>
              <a:t>(“;” should not be expanded here)</a:t>
            </a:r>
          </a:p>
          <a:p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0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  <a:p>
            <a:r>
              <a:rPr lang="en-US" dirty="0"/>
              <a:t>This avoids blow up that we saw in Approach-1, but on the other hand </a:t>
            </a:r>
            <a:r>
              <a:rPr lang="en-US" dirty="0" err="1"/>
              <a:t>wlp</a:t>
            </a:r>
            <a:r>
              <a:rPr lang="en-US" dirty="0"/>
              <a:t> becomes more complicated.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DA16-EC1E-7D41-8847-2ECBA4A77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60239-2BC9-0843-BA8D-FA47D0CA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 1: </a:t>
            </a:r>
          </a:p>
          <a:p>
            <a:pPr lvl="1"/>
            <a:r>
              <a:rPr lang="en-US" dirty="0" err="1"/>
              <a:t>wlp</a:t>
            </a:r>
            <a:r>
              <a:rPr lang="en-US" dirty="0"/>
              <a:t>-rules are still the same</a:t>
            </a:r>
          </a:p>
          <a:p>
            <a:pPr lvl="1"/>
            <a:r>
              <a:rPr lang="en-US" dirty="0"/>
              <a:t>But it leads to blow up, unless we do the optimization.</a:t>
            </a:r>
          </a:p>
          <a:p>
            <a:pPr lvl="1"/>
            <a:endParaRPr lang="en-US" dirty="0"/>
          </a:p>
          <a:p>
            <a:r>
              <a:rPr lang="en-US" dirty="0"/>
              <a:t>Approach 2:</a:t>
            </a:r>
          </a:p>
          <a:p>
            <a:pPr lvl="1"/>
            <a:r>
              <a:rPr lang="en-US" dirty="0"/>
              <a:t>does not blow up, but we need to keep track of two post-conditions.</a:t>
            </a:r>
          </a:p>
          <a:p>
            <a:pPr lvl="1"/>
            <a:endParaRPr lang="en-US" dirty="0"/>
          </a:p>
          <a:p>
            <a:r>
              <a:rPr lang="en-US" dirty="0"/>
              <a:t>To consider: using a control flow graph.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wlp</a:t>
            </a:r>
            <a:r>
              <a:rPr lang="en-US" dirty="0"/>
              <a:t> is then no longer syntax driven.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65CC2-5E50-1F40-B607-A34A9715C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81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21671</TotalTime>
  <Words>8811</Words>
  <Application>Microsoft Office PowerPoint</Application>
  <PresentationFormat>On-screen Show (4:3)</PresentationFormat>
  <Paragraphs>870</Paragraphs>
  <Slides>72</Slides>
  <Notes>49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3" baseType="lpstr"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Back to 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Approach 1</vt:lpstr>
      <vt:lpstr>Approach 1</vt:lpstr>
      <vt:lpstr>Assignments and guards</vt:lpstr>
      <vt:lpstr>Assignments and guards</vt:lpstr>
      <vt:lpstr>Exception handler</vt:lpstr>
      <vt:lpstr>Approach 2</vt:lpstr>
      <vt:lpstr>exception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781</cp:revision>
  <cp:lastPrinted>2016-02-16T15:13:41Z</cp:lastPrinted>
  <dcterms:created xsi:type="dcterms:W3CDTF">2002-05-10T11:36:29Z</dcterms:created>
  <dcterms:modified xsi:type="dcterms:W3CDTF">2026-09-14T14:06:02Z</dcterms:modified>
</cp:coreProperties>
</file>