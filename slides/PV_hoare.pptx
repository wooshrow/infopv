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comments/comment1.xml" ContentType="application/vnd.openxmlformats-officedocument.presentationml.comments+xml"/>
  <Override PartName="/ppt/notesSlides/notesSlide34.xml" ContentType="application/vnd.openxmlformats-officedocument.presentationml.notesSlide+xml"/>
  <Override PartName="/ppt/comments/comment2.xml" ContentType="application/vnd.openxmlformats-officedocument.presentationml.comments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comments/comment3.xml" ContentType="application/vnd.openxmlformats-officedocument.presentationml.comments+xml"/>
  <Override PartName="/ppt/notesSlides/notesSlide4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4083" r:id="rId1"/>
  </p:sldMasterIdLst>
  <p:notesMasterIdLst>
    <p:notesMasterId r:id="rId72"/>
  </p:notesMasterIdLst>
  <p:sldIdLst>
    <p:sldId id="256" r:id="rId2"/>
    <p:sldId id="318" r:id="rId3"/>
    <p:sldId id="277" r:id="rId4"/>
    <p:sldId id="279" r:id="rId5"/>
    <p:sldId id="306" r:id="rId6"/>
    <p:sldId id="305" r:id="rId7"/>
    <p:sldId id="304" r:id="rId8"/>
    <p:sldId id="366" r:id="rId9"/>
    <p:sldId id="314" r:id="rId10"/>
    <p:sldId id="300" r:id="rId11"/>
    <p:sldId id="330" r:id="rId12"/>
    <p:sldId id="367" r:id="rId13"/>
    <p:sldId id="298" r:id="rId14"/>
    <p:sldId id="355" r:id="rId15"/>
    <p:sldId id="319" r:id="rId16"/>
    <p:sldId id="320" r:id="rId17"/>
    <p:sldId id="321" r:id="rId18"/>
    <p:sldId id="310" r:id="rId19"/>
    <p:sldId id="323" r:id="rId20"/>
    <p:sldId id="322" r:id="rId21"/>
    <p:sldId id="382" r:id="rId22"/>
    <p:sldId id="375" r:id="rId23"/>
    <p:sldId id="373" r:id="rId24"/>
    <p:sldId id="374" r:id="rId25"/>
    <p:sldId id="377" r:id="rId26"/>
    <p:sldId id="381" r:id="rId27"/>
    <p:sldId id="384" r:id="rId28"/>
    <p:sldId id="383" r:id="rId29"/>
    <p:sldId id="376" r:id="rId30"/>
    <p:sldId id="372" r:id="rId31"/>
    <p:sldId id="362" r:id="rId32"/>
    <p:sldId id="281" r:id="rId33"/>
    <p:sldId id="385" r:id="rId34"/>
    <p:sldId id="363" r:id="rId35"/>
    <p:sldId id="369" r:id="rId36"/>
    <p:sldId id="368" r:id="rId37"/>
    <p:sldId id="325" r:id="rId38"/>
    <p:sldId id="336" r:id="rId39"/>
    <p:sldId id="353" r:id="rId40"/>
    <p:sldId id="356" r:id="rId41"/>
    <p:sldId id="327" r:id="rId42"/>
    <p:sldId id="337" r:id="rId43"/>
    <p:sldId id="334" r:id="rId44"/>
    <p:sldId id="335" r:id="rId45"/>
    <p:sldId id="338" r:id="rId46"/>
    <p:sldId id="340" r:id="rId47"/>
    <p:sldId id="339" r:id="rId48"/>
    <p:sldId id="386" r:id="rId49"/>
    <p:sldId id="371" r:id="rId50"/>
    <p:sldId id="326" r:id="rId51"/>
    <p:sldId id="342" r:id="rId52"/>
    <p:sldId id="344" r:id="rId53"/>
    <p:sldId id="346" r:id="rId54"/>
    <p:sldId id="347" r:id="rId55"/>
    <p:sldId id="348" r:id="rId56"/>
    <p:sldId id="349" r:id="rId57"/>
    <p:sldId id="350" r:id="rId58"/>
    <p:sldId id="351" r:id="rId59"/>
    <p:sldId id="328" r:id="rId60"/>
    <p:sldId id="378" r:id="rId61"/>
    <p:sldId id="379" r:id="rId62"/>
    <p:sldId id="345" r:id="rId63"/>
    <p:sldId id="329" r:id="rId64"/>
    <p:sldId id="387" r:id="rId65"/>
    <p:sldId id="360" r:id="rId66"/>
    <p:sldId id="365" r:id="rId67"/>
    <p:sldId id="357" r:id="rId68"/>
    <p:sldId id="370" r:id="rId69"/>
    <p:sldId id="389" r:id="rId70"/>
    <p:sldId id="352" r:id="rId71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underdark" initials="u" lastIdx="5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B0F0"/>
    <a:srgbClr val="A6EFAB"/>
    <a:srgbClr val="A9E892"/>
    <a:srgbClr val="A50021"/>
    <a:srgbClr val="286014"/>
    <a:srgbClr val="225111"/>
    <a:srgbClr val="2A641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0A9E591-45A4-288A-4724-26405B23B450}" v="6" dt="2026-09-14T14:05:59.95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jl, gemiddeld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Geen stijl, tabelraster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53" autoAdjust="0"/>
    <p:restoredTop sz="89429" autoAdjust="0"/>
  </p:normalViewPr>
  <p:slideViewPr>
    <p:cSldViewPr snapToGrid="0">
      <p:cViewPr>
        <p:scale>
          <a:sx n="130" d="100"/>
          <a:sy n="130" d="100"/>
        </p:scale>
        <p:origin x="928" y="-70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-6344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2160"/>
    </p:cViewPr>
  </p:sorterViewPr>
  <p:notesViewPr>
    <p:cSldViewPr snapToGrid="0">
      <p:cViewPr varScale="1">
        <p:scale>
          <a:sx n="61" d="100"/>
          <a:sy n="61" d="100"/>
        </p:scale>
        <p:origin x="-2381" y="-91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presProps" Target="presProps.xml"/><Relationship Id="rId79" Type="http://schemas.microsoft.com/office/2015/10/relationships/revisionInfo" Target="revisionInfo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commentAuthors" Target="commentAuthors.xml"/><Relationship Id="rId78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theme" Target="theme/theme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rasetya, S.W.B. (Wishnu)" userId="S::s.w.b.prasetya@uu.nl::ee0482cf-91c5-406c-9af5-c23fbce206d6" providerId="AD" clId="Web-{0C54D34E-4B66-8376-A495-8F965818422D}"/>
    <pc:docChg chg="modSld">
      <pc:chgData name="Prasetya, S.W.B. (Wishnu)" userId="S::s.w.b.prasetya@uu.nl::ee0482cf-91c5-406c-9af5-c23fbce206d6" providerId="AD" clId="Web-{0C54D34E-4B66-8376-A495-8F965818422D}" dt="2026-09-09T07:15:27.013" v="2" actId="20577"/>
      <pc:docMkLst>
        <pc:docMk/>
      </pc:docMkLst>
      <pc:sldChg chg="modSp">
        <pc:chgData name="Prasetya, S.W.B. (Wishnu)" userId="S::s.w.b.prasetya@uu.nl::ee0482cf-91c5-406c-9af5-c23fbce206d6" providerId="AD" clId="Web-{0C54D34E-4B66-8376-A495-8F965818422D}" dt="2026-09-09T07:15:27.013" v="2" actId="20577"/>
        <pc:sldMkLst>
          <pc:docMk/>
          <pc:sldMk cId="0" sldId="304"/>
        </pc:sldMkLst>
        <pc:spChg chg="mod">
          <ac:chgData name="Prasetya, S.W.B. (Wishnu)" userId="S::s.w.b.prasetya@uu.nl::ee0482cf-91c5-406c-9af5-c23fbce206d6" providerId="AD" clId="Web-{0C54D34E-4B66-8376-A495-8F965818422D}" dt="2026-09-09T07:15:27.013" v="2" actId="20577"/>
          <ac:spMkLst>
            <pc:docMk/>
            <pc:sldMk cId="0" sldId="304"/>
            <ac:spMk id="7" creationId="{00000000-0000-0000-0000-000000000000}"/>
          </ac:spMkLst>
        </pc:spChg>
      </pc:sldChg>
    </pc:docChg>
  </pc:docChgLst>
  <pc:docChgLst>
    <pc:chgData name="Prasetya, S.W.B. (Wishnu)" userId="S::s.w.b.prasetya@uu.nl::ee0482cf-91c5-406c-9af5-c23fbce206d6" providerId="AD" clId="Web-{20A9E591-45A4-288A-4724-26405B23B450}"/>
    <pc:docChg chg="modSld">
      <pc:chgData name="Prasetya, S.W.B. (Wishnu)" userId="S::s.w.b.prasetya@uu.nl::ee0482cf-91c5-406c-9af5-c23fbce206d6" providerId="AD" clId="Web-{20A9E591-45A4-288A-4724-26405B23B450}" dt="2026-09-14T14:05:56.561" v="4" actId="20577"/>
      <pc:docMkLst>
        <pc:docMk/>
      </pc:docMkLst>
      <pc:sldChg chg="modSp">
        <pc:chgData name="Prasetya, S.W.B. (Wishnu)" userId="S::s.w.b.prasetya@uu.nl::ee0482cf-91c5-406c-9af5-c23fbce206d6" providerId="AD" clId="Web-{20A9E591-45A4-288A-4724-26405B23B450}" dt="2026-09-14T14:05:56.561" v="4" actId="20577"/>
        <pc:sldMkLst>
          <pc:docMk/>
          <pc:sldMk cId="2453779464" sldId="374"/>
        </pc:sldMkLst>
        <pc:spChg chg="mod">
          <ac:chgData name="Prasetya, S.W.B. (Wishnu)" userId="S::s.w.b.prasetya@uu.nl::ee0482cf-91c5-406c-9af5-c23fbce206d6" providerId="AD" clId="Web-{20A9E591-45A4-288A-4724-26405B23B450}" dt="2026-09-14T14:05:56.561" v="4" actId="20577"/>
          <ac:spMkLst>
            <pc:docMk/>
            <pc:sldMk cId="2453779464" sldId="374"/>
            <ac:spMk id="3" creationId="{1BEBF33D-AB78-9046-B42E-8AFC3B5D70BF}"/>
          </ac:spMkLst>
        </pc:spChg>
      </pc:sldChg>
    </pc:docChg>
  </pc:docChgLst>
  <pc:docChgLst>
    <pc:chgData name="Prasetya, S.W.B. (Wishnu)" userId="S::s.w.b.prasetya@uu.nl::ee0482cf-91c5-406c-9af5-c23fbce206d6" providerId="AD" clId="Web-{B7276C23-DA95-681E-6777-86D714534B61}"/>
    <pc:docChg chg="modSld">
      <pc:chgData name="Prasetya, S.W.B. (Wishnu)" userId="S::s.w.b.prasetya@uu.nl::ee0482cf-91c5-406c-9af5-c23fbce206d6" providerId="AD" clId="Web-{B7276C23-DA95-681E-6777-86D714534B61}" dt="2026-09-09T09:37:19.068" v="510" actId="20577"/>
      <pc:docMkLst>
        <pc:docMk/>
      </pc:docMkLst>
      <pc:sldChg chg="modSp">
        <pc:chgData name="Prasetya, S.W.B. (Wishnu)" userId="S::s.w.b.prasetya@uu.nl::ee0482cf-91c5-406c-9af5-c23fbce206d6" providerId="AD" clId="Web-{B7276C23-DA95-681E-6777-86D714534B61}" dt="2026-09-09T07:29:52.101" v="6" actId="20577"/>
        <pc:sldMkLst>
          <pc:docMk/>
          <pc:sldMk cId="1876719875" sldId="366"/>
        </pc:sldMkLst>
        <pc:spChg chg="mod">
          <ac:chgData name="Prasetya, S.W.B. (Wishnu)" userId="S::s.w.b.prasetya@uu.nl::ee0482cf-91c5-406c-9af5-c23fbce206d6" providerId="AD" clId="Web-{B7276C23-DA95-681E-6777-86D714534B61}" dt="2026-09-09T07:29:52.101" v="6" actId="20577"/>
          <ac:spMkLst>
            <pc:docMk/>
            <pc:sldMk cId="1876719875" sldId="366"/>
            <ac:spMk id="6" creationId="{00000000-0000-0000-0000-000000000000}"/>
          </ac:spMkLst>
        </pc:spChg>
      </pc:sldChg>
      <pc:sldChg chg="modSp modNotes">
        <pc:chgData name="Prasetya, S.W.B. (Wishnu)" userId="S::s.w.b.prasetya@uu.nl::ee0482cf-91c5-406c-9af5-c23fbce206d6" providerId="AD" clId="Web-{B7276C23-DA95-681E-6777-86D714534B61}" dt="2026-09-09T09:37:19.068" v="510" actId="20577"/>
        <pc:sldMkLst>
          <pc:docMk/>
          <pc:sldMk cId="1033298935" sldId="368"/>
        </pc:sldMkLst>
        <pc:spChg chg="mod">
          <ac:chgData name="Prasetya, S.W.B. (Wishnu)" userId="S::s.w.b.prasetya@uu.nl::ee0482cf-91c5-406c-9af5-c23fbce206d6" providerId="AD" clId="Web-{B7276C23-DA95-681E-6777-86D714534B61}" dt="2026-09-09T09:37:19.068" v="510" actId="20577"/>
          <ac:spMkLst>
            <pc:docMk/>
            <pc:sldMk cId="1033298935" sldId="368"/>
            <ac:spMk id="3" creationId="{00000000-0000-0000-0000-000000000000}"/>
          </ac:spMkLst>
        </pc:spChg>
      </pc:sldChg>
      <pc:sldChg chg="modSp">
        <pc:chgData name="Prasetya, S.W.B. (Wishnu)" userId="S::s.w.b.prasetya@uu.nl::ee0482cf-91c5-406c-9af5-c23fbce206d6" providerId="AD" clId="Web-{B7276C23-DA95-681E-6777-86D714534B61}" dt="2026-09-09T08:57:56.974" v="206" actId="20577"/>
        <pc:sldMkLst>
          <pc:docMk/>
          <pc:sldMk cId="725590703" sldId="383"/>
        </pc:sldMkLst>
        <pc:spChg chg="mod">
          <ac:chgData name="Prasetya, S.W.B. (Wishnu)" userId="S::s.w.b.prasetya@uu.nl::ee0482cf-91c5-406c-9af5-c23fbce206d6" providerId="AD" clId="Web-{B7276C23-DA95-681E-6777-86D714534B61}" dt="2026-09-09T08:57:56.974" v="206" actId="20577"/>
          <ac:spMkLst>
            <pc:docMk/>
            <pc:sldMk cId="725590703" sldId="383"/>
            <ac:spMk id="3" creationId="{AB6FC3F5-28A9-2C45-A06D-6192E2A011CB}"/>
          </ac:spMkLst>
        </pc:spChg>
      </pc:sldChg>
      <pc:sldChg chg="modSp">
        <pc:chgData name="Prasetya, S.W.B. (Wishnu)" userId="S::s.w.b.prasetya@uu.nl::ee0482cf-91c5-406c-9af5-c23fbce206d6" providerId="AD" clId="Web-{B7276C23-DA95-681E-6777-86D714534B61}" dt="2026-09-09T08:51:46.740" v="164" actId="20577"/>
        <pc:sldMkLst>
          <pc:docMk/>
          <pc:sldMk cId="3493317025" sldId="384"/>
        </pc:sldMkLst>
        <pc:spChg chg="mod">
          <ac:chgData name="Prasetya, S.W.B. (Wishnu)" userId="S::s.w.b.prasetya@uu.nl::ee0482cf-91c5-406c-9af5-c23fbce206d6" providerId="AD" clId="Web-{B7276C23-DA95-681E-6777-86D714534B61}" dt="2026-09-09T08:51:46.740" v="164" actId="20577"/>
          <ac:spMkLst>
            <pc:docMk/>
            <pc:sldMk cId="3493317025" sldId="384"/>
            <ac:spMk id="3" creationId="{AB6FC3F5-28A9-2C45-A06D-6192E2A011CB}"/>
          </ac:spMkLst>
        </pc:spChg>
      </pc:sldChg>
    </pc:docChg>
  </pc:docChgLst>
</pc:chgInfo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14-02-10T12:10:11.003" idx="2">
    <p:pos x="5052" y="1680"/>
    <p:text>Make a note that a predicate transformer has this type!</p:text>
  </p:cm>
</p:cmLst>
</file>

<file path=ppt/comments/comment2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14-02-10T12:10:11.003" idx="1">
    <p:pos x="5052" y="1680"/>
    <p:text>Make a note that a predicate transformer has this type!</p:text>
  </p:cm>
</p:cmLst>
</file>

<file path=ppt/comments/comment3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14-02-10T15:12:38.349" idx="3">
    <p:pos x="838" y="3958"/>
    <p:text>Alternatively with if ... then skip else raise
In some situation maybe we prefer to assume, rather than to assert.</p:text>
  </p:cm>
</p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096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CA39CDBC-8017-4E8F-B9B6-0F2C7559188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7930732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15572C9-71EC-402F-B1E0-7BB2079D5025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419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9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0802405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Tijdelijke aanduiding voor dia-afbeelding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3011" name="Tijdelijke aanduiding voor notities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nl-NL"/>
          </a:p>
        </p:txBody>
      </p:sp>
      <p:sp>
        <p:nvSpPr>
          <p:cNvPr id="43012" name="Tijdelijke aanduiding voor dianumm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5B16D72-5497-4264-8886-3FD665F4A92C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681077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Tijdelijke aanduiding voor dia-afbeelding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4035" name="Tijdelijke aanduiding voor notities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nl-NL"/>
              <a:t>Mention the notation |-  O </a:t>
            </a:r>
            <a:r>
              <a:rPr lang="nl-NL">
                <a:sym typeface="Wingdings" pitchFamily="2" charset="2"/>
              </a:rPr>
              <a:t>==&gt; P used in the LN</a:t>
            </a:r>
            <a:endParaRPr lang="nl-NL"/>
          </a:p>
        </p:txBody>
      </p:sp>
      <p:sp>
        <p:nvSpPr>
          <p:cNvPr id="44036" name="Tijdelijke aanduiding voor dianumm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330089E-6B69-453D-8092-3159F727868A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565573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Tijdelijke aanduiding voor dia-afbeelding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5059" name="Tijdelijke aanduiding voor notities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nl-NL" dirty="0" err="1"/>
              <a:t>Explain</a:t>
            </a:r>
            <a:r>
              <a:rPr lang="nl-NL" dirty="0"/>
              <a:t> SEQ; </a:t>
            </a:r>
            <a:r>
              <a:rPr lang="nl-NL" dirty="0" err="1"/>
              <a:t>only</a:t>
            </a:r>
            <a:r>
              <a:rPr lang="nl-NL" baseline="0" dirty="0"/>
              <a:t> </a:t>
            </a:r>
            <a:r>
              <a:rPr lang="nl-NL" baseline="0" dirty="0" err="1"/>
              <a:t>briefly</a:t>
            </a:r>
            <a:r>
              <a:rPr lang="nl-NL" baseline="0" dirty="0"/>
              <a:t> IF</a:t>
            </a:r>
            <a:endParaRPr lang="nl-NL" dirty="0"/>
          </a:p>
        </p:txBody>
      </p:sp>
      <p:sp>
        <p:nvSpPr>
          <p:cNvPr id="45060" name="Tijdelijke aanduiding voor dianumm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C358A84-80B8-4A69-BAD9-ADDBF9DA3F40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799948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Tijdelijke aanduiding voor dia-afbeelding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6083" name="Tijdelijke aanduiding voor notities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 dirty="0"/>
              <a:t>That is, let x’ represent the new value of x. So Q is a constraint on x’ actually; which is why we do the substitution x’/x on Q.</a:t>
            </a:r>
          </a:p>
        </p:txBody>
      </p:sp>
      <p:sp>
        <p:nvSpPr>
          <p:cNvPr id="46084" name="Tijdelijke aanduiding voor dianumm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E49E5C9-BC3E-4DE3-A61F-DAF15F4BE63D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32716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Tijdelijke aanduiding voor dia-afbeelding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7107" name="Tijdelijke aanduiding voor notities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nl-NL" dirty="0" err="1"/>
              <a:t>Inv</a:t>
            </a:r>
            <a:r>
              <a:rPr lang="nl-NL" dirty="0"/>
              <a:t>:  k&gt;=0</a:t>
            </a:r>
          </a:p>
        </p:txBody>
      </p:sp>
      <p:sp>
        <p:nvSpPr>
          <p:cNvPr id="47108" name="Tijdelijke aanduiding voor dianumm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AC358F1-3747-4BF2-9BDA-FA02CDD9D1F3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786676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(1) </a:t>
            </a:r>
            <a:r>
              <a:rPr lang="en-US" dirty="0" err="1"/>
              <a:t>Inv</a:t>
            </a:r>
            <a:r>
              <a:rPr lang="en-US" dirty="0"/>
              <a:t>:</a:t>
            </a:r>
            <a:r>
              <a:rPr lang="en-US" baseline="0" dirty="0"/>
              <a:t>  k&lt;=10 /\ y = 2*k</a:t>
            </a:r>
          </a:p>
          <a:p>
            <a:r>
              <a:rPr lang="en-US" baseline="0" dirty="0"/>
              <a:t>On termination k = 10</a:t>
            </a:r>
          </a:p>
          <a:p>
            <a:endParaRPr lang="en-US" baseline="0" dirty="0"/>
          </a:p>
          <a:p>
            <a:r>
              <a:rPr lang="en-US" baseline="0" dirty="0"/>
              <a:t>(2) Inv: y + 2k = 20</a:t>
            </a:r>
            <a:br>
              <a:rPr lang="en-US" baseline="0" dirty="0"/>
            </a:br>
            <a:r>
              <a:rPr lang="en-US" baseline="0" dirty="0"/>
              <a:t>Or y = 2(10-k)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A39CDBC-8017-4E8F-B9B6-0F2C75591882}" type="slidenum">
              <a:rPr lang="en-US" smtClean="0"/>
              <a:pPr>
                <a:defRPr/>
              </a:pPr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861563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baseline="0" dirty="0"/>
              <a:t>Inv of 2</a:t>
            </a:r>
            <a:r>
              <a:rPr lang="en-US" baseline="30000" dirty="0"/>
              <a:t>nd</a:t>
            </a:r>
            <a:r>
              <a:rPr lang="en-US" baseline="0" dirty="0"/>
              <a:t> loop:  s = (exists m : 0&lt;=m&lt;k : b[m])  /\  0&lt;=k&lt;=#b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A39CDBC-8017-4E8F-B9B6-0F2C75591882}" type="slidenum">
              <a:rPr lang="en-US" smtClean="0"/>
              <a:pPr>
                <a:defRPr/>
              </a:pPr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70373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Tijdelijke aanduiding voor dia-afbeelding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9155" name="Tijdelijke aanduiding voor notities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nl-NL"/>
          </a:p>
        </p:txBody>
      </p:sp>
      <p:sp>
        <p:nvSpPr>
          <p:cNvPr id="49156" name="Tijdelijke aanduiding voor dianumm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16FAAB7-9E9D-4ED9-8F35-F6F17DB96330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638155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Inv</a:t>
            </a:r>
            <a:r>
              <a:rPr lang="en-US" dirty="0"/>
              <a:t>: the same as the pre-</a:t>
            </a:r>
            <a:r>
              <a:rPr lang="en-US" dirty="0" err="1"/>
              <a:t>cond</a:t>
            </a:r>
            <a:endParaRPr lang="en-US" dirty="0"/>
          </a:p>
          <a:p>
            <a:r>
              <a:rPr lang="en-US" dirty="0" err="1"/>
              <a:t>Inv</a:t>
            </a:r>
            <a:r>
              <a:rPr lang="en-US" dirty="0"/>
              <a:t> : x&gt;=0 /\ y&gt;=0</a:t>
            </a:r>
          </a:p>
          <a:p>
            <a:r>
              <a:rPr lang="en-US" dirty="0"/>
              <a:t>m : 101*x</a:t>
            </a:r>
            <a:r>
              <a:rPr lang="en-US" baseline="0" dirty="0"/>
              <a:t> + 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A39CDBC-8017-4E8F-B9B6-0F2C75591882}" type="slidenum">
              <a:rPr lang="en-US" smtClean="0"/>
              <a:pPr>
                <a:defRPr/>
              </a:pPr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182358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m:  if even(x)</a:t>
            </a:r>
            <a:r>
              <a:rPr lang="en-US" baseline="0" dirty="0"/>
              <a:t> then x else 3*x</a:t>
            </a:r>
          </a:p>
          <a:p>
            <a:endParaRPr lang="en-US" baseline="0" dirty="0"/>
          </a:p>
          <a:p>
            <a:r>
              <a:rPr lang="en-US" baseline="0" dirty="0" err="1"/>
              <a:t>inv</a:t>
            </a:r>
            <a:r>
              <a:rPr lang="en-US" baseline="0" dirty="0"/>
              <a:t>: x&gt;=0</a:t>
            </a:r>
          </a:p>
          <a:p>
            <a:endParaRPr lang="en-US" baseline="0" dirty="0"/>
          </a:p>
          <a:p>
            <a:r>
              <a:rPr lang="en-US" baseline="0" dirty="0"/>
              <a:t>example runs:</a:t>
            </a:r>
          </a:p>
          <a:p>
            <a:r>
              <a:rPr lang="en-US" baseline="0" dirty="0"/>
              <a:t>x0 = 4  m = 4</a:t>
            </a:r>
          </a:p>
          <a:p>
            <a:r>
              <a:rPr lang="en-US" baseline="0" dirty="0"/>
              <a:t>x1 = 2  m = 2</a:t>
            </a:r>
          </a:p>
          <a:p>
            <a:r>
              <a:rPr lang="en-US" baseline="0" dirty="0"/>
              <a:t>x2 = 0  m = 0</a:t>
            </a:r>
          </a:p>
          <a:p>
            <a:r>
              <a:rPr lang="en-US" baseline="0" dirty="0"/>
              <a:t>stop</a:t>
            </a:r>
          </a:p>
          <a:p>
            <a:endParaRPr lang="en-US" baseline="0" dirty="0"/>
          </a:p>
          <a:p>
            <a:r>
              <a:rPr lang="en-US" baseline="0" dirty="0"/>
              <a:t>x0=5  m=15</a:t>
            </a:r>
          </a:p>
          <a:p>
            <a:r>
              <a:rPr lang="en-US" baseline="0" dirty="0"/>
              <a:t>x1=3  m=9</a:t>
            </a:r>
          </a:p>
          <a:p>
            <a:r>
              <a:rPr lang="en-US" baseline="0" dirty="0"/>
              <a:t>x2=1  m=3</a:t>
            </a:r>
          </a:p>
          <a:p>
            <a:r>
              <a:rPr lang="en-US" baseline="0" dirty="0"/>
              <a:t>x3=2  m=2</a:t>
            </a:r>
          </a:p>
          <a:p>
            <a:r>
              <a:rPr lang="en-US" baseline="0" dirty="0"/>
              <a:t>x4=0  m=0</a:t>
            </a:r>
          </a:p>
          <a:p>
            <a:r>
              <a:rPr lang="en-US" baseline="0" dirty="0"/>
              <a:t>stop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A39CDBC-8017-4E8F-B9B6-0F2C75591882}" type="slidenum">
              <a:rPr lang="en-US" smtClean="0"/>
              <a:pPr>
                <a:defRPr/>
              </a:pPr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307018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Tijdelijke aanduiding voor dia-afbeelding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0179" name="Tijdelijke aanduiding voor notities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nl-NL"/>
          </a:p>
        </p:txBody>
      </p:sp>
      <p:sp>
        <p:nvSpPr>
          <p:cNvPr id="50180" name="Tijdelijke aanduiding voor dianumm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DAD176D-1A76-46D7-BA14-BCDC459FACB7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503639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A39CDBC-8017-4E8F-B9B6-0F2C75591882}" type="slidenum">
              <a:rPr lang="en-US" smtClean="0"/>
              <a:pPr>
                <a:defRPr/>
              </a:pPr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643218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39CDBC-8017-4E8F-B9B6-0F2C75591882}" type="slidenum">
              <a:rPr lang="en-US" smtClean="0"/>
              <a:pPr>
                <a:defRPr/>
              </a:pPr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330276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Tijdelijke aanduiding voor dia-afbeelding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1203" name="Tijdelijke aanduiding voor notities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nl-NL" dirty="0"/>
          </a:p>
        </p:txBody>
      </p:sp>
      <p:sp>
        <p:nvSpPr>
          <p:cNvPr id="51204" name="Tijdelijke aanduiding voor dianumm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07DE320-98D6-4CC2-A988-C42BE5253093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50341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Tijdelijke aanduiding voor dia-afbeelding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2227" name="Tijdelijke aanduiding voor notities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nl-NL" dirty="0"/>
          </a:p>
        </p:txBody>
      </p:sp>
      <p:sp>
        <p:nvSpPr>
          <p:cNvPr id="52228" name="Tijdelijke aanduiding voor dianumm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23BE35B-68AB-49A2-B6D2-AE81EA8AAB6B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66567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Tijdelijke aanduiding voor dia-afbeelding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3251" name="Tijdelijke aanduiding voor notities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nl-NL" dirty="0"/>
              <a:t>(g ==&gt; a) /\ (~g</a:t>
            </a:r>
            <a:r>
              <a:rPr lang="nl-NL" baseline="0" dirty="0"/>
              <a:t> ==&gt; b)</a:t>
            </a:r>
          </a:p>
          <a:p>
            <a:r>
              <a:rPr lang="nl-NL" baseline="0" dirty="0"/>
              <a:t>=</a:t>
            </a:r>
          </a:p>
          <a:p>
            <a:r>
              <a:rPr lang="nl-NL" baseline="0" dirty="0"/>
              <a:t>(~g \/ a)  /\ (g \/ b)</a:t>
            </a:r>
          </a:p>
          <a:p>
            <a:r>
              <a:rPr lang="nl-NL" baseline="0" dirty="0"/>
              <a:t>=</a:t>
            </a:r>
          </a:p>
          <a:p>
            <a:r>
              <a:rPr lang="nl-NL" baseline="0" dirty="0"/>
              <a:t>~gg  \/ ~gb \/ ga \/ ab</a:t>
            </a:r>
          </a:p>
          <a:p>
            <a:r>
              <a:rPr lang="nl-NL" baseline="0" dirty="0"/>
              <a:t>=</a:t>
            </a:r>
          </a:p>
          <a:p>
            <a:r>
              <a:rPr lang="nl-NL" baseline="0" dirty="0"/>
              <a:t>~gb \/ ga \/ ab</a:t>
            </a:r>
          </a:p>
          <a:p>
            <a:endParaRPr lang="nl-NL" baseline="0" dirty="0"/>
          </a:p>
          <a:p>
            <a:r>
              <a:rPr lang="nl-NL" baseline="0" dirty="0"/>
              <a:t>=  { obviously </a:t>
            </a:r>
            <a:r>
              <a:rPr lang="nl-NL" baseline="0" dirty="0">
                <a:sym typeface="Wingdings" pitchFamily="2" charset="2"/>
              </a:rPr>
              <a:t>&lt;== direction is ok. For ==&gt; direction, suppose ab holds; you have two cases g or ~g. Then its easy  }</a:t>
            </a:r>
            <a:endParaRPr lang="nl-NL" baseline="0" dirty="0"/>
          </a:p>
          <a:p>
            <a:endParaRPr lang="nl-NL" baseline="0" dirty="0"/>
          </a:p>
          <a:p>
            <a:r>
              <a:rPr lang="nl-NL" baseline="0" dirty="0"/>
              <a:t>~gb \/ ga</a:t>
            </a:r>
          </a:p>
          <a:p>
            <a:endParaRPr lang="nl-NL" dirty="0"/>
          </a:p>
        </p:txBody>
      </p:sp>
      <p:sp>
        <p:nvSpPr>
          <p:cNvPr id="53252" name="Tijdelijke aanduiding voor dianumm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A52087F-3645-41FB-89C4-09011509A199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4823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Tijdelijke aanduiding voor dia-afbeelding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3251" name="Tijdelijke aanduiding voor notities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nl-NL" dirty="0"/>
              <a:t>(g ==&gt; a) /\ (~g</a:t>
            </a:r>
            <a:r>
              <a:rPr lang="nl-NL" baseline="0" dirty="0"/>
              <a:t> ==&gt; b)</a:t>
            </a:r>
          </a:p>
          <a:p>
            <a:r>
              <a:rPr lang="nl-NL" baseline="0" dirty="0"/>
              <a:t>=</a:t>
            </a:r>
          </a:p>
          <a:p>
            <a:r>
              <a:rPr lang="nl-NL" baseline="0" dirty="0"/>
              <a:t>(~g \/ a)  /\ (g \/ b)</a:t>
            </a:r>
          </a:p>
          <a:p>
            <a:r>
              <a:rPr lang="nl-NL" baseline="0" dirty="0"/>
              <a:t>=</a:t>
            </a:r>
          </a:p>
          <a:p>
            <a:r>
              <a:rPr lang="nl-NL" baseline="0" dirty="0"/>
              <a:t>~gg  \/ ~gb \/ ga \/ ab</a:t>
            </a:r>
          </a:p>
          <a:p>
            <a:r>
              <a:rPr lang="nl-NL" baseline="0" dirty="0"/>
              <a:t>=</a:t>
            </a:r>
          </a:p>
          <a:p>
            <a:r>
              <a:rPr lang="nl-NL" baseline="0" dirty="0"/>
              <a:t>~gb \/ ga \/ ab</a:t>
            </a:r>
          </a:p>
          <a:p>
            <a:endParaRPr lang="nl-NL" baseline="0" dirty="0"/>
          </a:p>
          <a:p>
            <a:r>
              <a:rPr lang="nl-NL" baseline="0" dirty="0"/>
              <a:t>=  { obviously </a:t>
            </a:r>
            <a:r>
              <a:rPr lang="nl-NL" baseline="0" dirty="0">
                <a:sym typeface="Wingdings" pitchFamily="2" charset="2"/>
              </a:rPr>
              <a:t>&lt;== direction is ok. For ==&gt; direction, suppose ab holds; you have two cases g or ~g. Then its easy  }</a:t>
            </a:r>
            <a:endParaRPr lang="nl-NL" baseline="0" dirty="0"/>
          </a:p>
          <a:p>
            <a:endParaRPr lang="nl-NL" baseline="0" dirty="0"/>
          </a:p>
          <a:p>
            <a:r>
              <a:rPr lang="nl-NL" baseline="0" dirty="0"/>
              <a:t>~gb \/ ga</a:t>
            </a:r>
          </a:p>
          <a:p>
            <a:endParaRPr lang="nl-NL" dirty="0"/>
          </a:p>
        </p:txBody>
      </p:sp>
      <p:sp>
        <p:nvSpPr>
          <p:cNvPr id="53252" name="Tijdelijke aanduiding voor dianumm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A52087F-3645-41FB-89C4-09011509A199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447907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39CDBC-8017-4E8F-B9B6-0F2C75591882}" type="slidenum">
              <a:rPr lang="en-US" smtClean="0"/>
              <a:pPr>
                <a:defRPr/>
              </a:pPr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165441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39CDBC-8017-4E8F-B9B6-0F2C75591882}" type="slidenum">
              <a:rPr lang="en-US" smtClean="0"/>
              <a:pPr>
                <a:defRPr/>
              </a:pPr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772445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39CDBC-8017-4E8F-B9B6-0F2C75591882}" type="slidenum">
              <a:rPr lang="en-US" smtClean="0"/>
              <a:pPr>
                <a:defRPr/>
              </a:pPr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937197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39CDBC-8017-4E8F-B9B6-0F2C75591882}" type="slidenum">
              <a:rPr lang="en-US" smtClean="0"/>
              <a:pPr>
                <a:defRPr/>
              </a:pPr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424297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39CDBC-8017-4E8F-B9B6-0F2C75591882}" type="slidenum">
              <a:rPr lang="en-US" smtClean="0"/>
              <a:pPr>
                <a:defRPr/>
              </a:pPr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916946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A39CDBC-8017-4E8F-B9B6-0F2C75591882}" type="slidenum">
              <a:rPr lang="en-US" smtClean="0"/>
              <a:pPr>
                <a:defRPr/>
              </a:pPr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539869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Tijdelijke aanduiding voor dia-afbeelding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6323" name="Tijdelijke aanduiding voor notities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nl-NL" dirty="0"/>
          </a:p>
        </p:txBody>
      </p:sp>
      <p:sp>
        <p:nvSpPr>
          <p:cNvPr id="56324" name="Tijdelijke aanduiding voor dianumm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1631FE5-CA0A-4338-8281-26F640C7DC80}" type="slidenum">
              <a:rPr lang="en-US" smtClean="0"/>
              <a:pPr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07844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Tijdelijke aanduiding voor dia-afbeelding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6323" name="Tijdelijke aanduiding voor notities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nl-NL" dirty="0"/>
          </a:p>
        </p:txBody>
      </p:sp>
      <p:sp>
        <p:nvSpPr>
          <p:cNvPr id="56324" name="Tijdelijke aanduiding voor dianumm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1631FE5-CA0A-4338-8281-26F640C7DC80}" type="slidenum">
              <a:rPr lang="en-US" smtClean="0"/>
              <a:pPr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580283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Tijdelijke aanduiding voor dia-afbeelding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6323" name="Tijdelijke aanduiding voor notities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nl-NL" dirty="0"/>
          </a:p>
        </p:txBody>
      </p:sp>
      <p:sp>
        <p:nvSpPr>
          <p:cNvPr id="56324" name="Tijdelijke aanduiding voor dianumm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1631FE5-CA0A-4338-8281-26F640C7DC80}" type="slidenum">
              <a:rPr lang="en-US" smtClean="0"/>
              <a:pPr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2619923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39CDBC-8017-4E8F-B9B6-0F2C75591882}" type="slidenum">
              <a:rPr lang="en-US" smtClean="0"/>
              <a:pPr>
                <a:defRPr/>
              </a:pPr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1070895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Times New Roman"/>
                <a:cs typeface="Times New Roman"/>
              </a:rPr>
              <a:t>ℰ⟦Q⟧ (𝒮⟦</a:t>
            </a:r>
            <a:r>
              <a:rPr lang="en-US" b="1" dirty="0" err="1">
                <a:latin typeface="Times New Roman"/>
                <a:cs typeface="Times New Roman"/>
              </a:rPr>
              <a:t>skip</a:t>
            </a:r>
            <a:r>
              <a:rPr lang="en-US" dirty="0" err="1">
                <a:latin typeface="Times New Roman"/>
                <a:cs typeface="Times New Roman"/>
              </a:rPr>
              <a:t>⟧s</a:t>
            </a:r>
            <a:r>
              <a:rPr lang="en-US" dirty="0">
                <a:latin typeface="Times New Roman"/>
                <a:cs typeface="Times New Roman"/>
              </a:rPr>
              <a:t>) =  { 𝒮 of skip } ℰ⟦Q⟧ s</a:t>
            </a:r>
            <a:br>
              <a:rPr lang="en-US" dirty="0">
                <a:latin typeface="Times New Roman"/>
                <a:cs typeface="Times New Roman"/>
              </a:rPr>
            </a:br>
            <a:r>
              <a:rPr lang="en-US" dirty="0">
                <a:latin typeface="Times New Roman"/>
                <a:cs typeface="Times New Roman"/>
              </a:rPr>
              <a:t>                             =  { </a:t>
            </a:r>
            <a:r>
              <a:rPr lang="en-US" dirty="0" err="1">
                <a:latin typeface="Times New Roman"/>
                <a:cs typeface="Times New Roman"/>
              </a:rPr>
              <a:t>wlp</a:t>
            </a:r>
            <a:r>
              <a:rPr lang="en-US" dirty="0">
                <a:latin typeface="Times New Roman"/>
                <a:cs typeface="Times New Roman"/>
              </a:rPr>
              <a:t> skip Q = Q } </a:t>
            </a:r>
            <a:r>
              <a:rPr lang="en-US" dirty="0" err="1">
                <a:latin typeface="Times New Roman"/>
                <a:cs typeface="Times New Roman"/>
              </a:rPr>
              <a:t>ℰ⟦</a:t>
            </a:r>
            <a:r>
              <a:rPr lang="en-US" b="1" dirty="0" err="1">
                <a:latin typeface="Times New Roman"/>
                <a:cs typeface="Times New Roman"/>
              </a:rPr>
              <a:t>wlp</a:t>
            </a:r>
            <a:r>
              <a:rPr lang="en-US" b="1" dirty="0">
                <a:latin typeface="Times New Roman"/>
                <a:cs typeface="Times New Roman"/>
              </a:rPr>
              <a:t> skip </a:t>
            </a:r>
            <a:r>
              <a:rPr lang="en-US" dirty="0">
                <a:latin typeface="Times New Roman"/>
                <a:cs typeface="Times New Roman"/>
              </a:rPr>
              <a:t>Q⟧ s</a:t>
            </a:r>
            <a:br>
              <a:rPr lang="en-US" dirty="0">
                <a:latin typeface="Times New Roman"/>
                <a:cs typeface="Times New Roman"/>
              </a:rPr>
            </a:br>
            <a:r>
              <a:rPr lang="en-US" dirty="0">
                <a:latin typeface="Times New Roman"/>
                <a:cs typeface="Times New Roman"/>
              </a:rPr>
              <a:t>                  </a:t>
            </a:r>
            <a:br>
              <a:rPr lang="en-US" dirty="0">
                <a:latin typeface="Times New Roman"/>
                <a:cs typeface="Times New Roman"/>
              </a:rPr>
            </a:br>
            <a:br>
              <a:rPr lang="en-US" dirty="0">
                <a:latin typeface="Times New Roman"/>
                <a:cs typeface="Times New Roman"/>
              </a:rPr>
            </a:br>
            <a:r>
              <a:rPr lang="en-US" dirty="0">
                <a:latin typeface="Times New Roman"/>
                <a:cs typeface="Times New Roman"/>
              </a:rPr>
              <a:t>ℰ⟦Q⟧ (𝒮⟦x := </a:t>
            </a:r>
            <a:r>
              <a:rPr lang="en-US" dirty="0" err="1">
                <a:latin typeface="Times New Roman"/>
                <a:cs typeface="Times New Roman"/>
              </a:rPr>
              <a:t>e⟧s</a:t>
            </a:r>
            <a:r>
              <a:rPr lang="en-US" dirty="0">
                <a:latin typeface="Times New Roman"/>
                <a:cs typeface="Times New Roman"/>
              </a:rPr>
              <a:t>) = { 𝒮 of assignment } ℰ⟦Q⟧ (</a:t>
            </a:r>
            <a:r>
              <a:rPr lang="en-US" b="1" dirty="0">
                <a:latin typeface="Times New Roman"/>
                <a:cs typeface="Times New Roman"/>
              </a:rPr>
              <a:t>update</a:t>
            </a:r>
            <a:r>
              <a:rPr lang="en-US" dirty="0">
                <a:latin typeface="Times New Roman"/>
                <a:cs typeface="Times New Roman"/>
              </a:rPr>
              <a:t>  x (</a:t>
            </a:r>
            <a:r>
              <a:rPr lang="en-US" dirty="0" err="1">
                <a:latin typeface="Times New Roman"/>
                <a:cs typeface="Times New Roman"/>
              </a:rPr>
              <a:t>ℰ⟦e</a:t>
            </a:r>
            <a:r>
              <a:rPr lang="en-US" dirty="0">
                <a:latin typeface="Times New Roman"/>
                <a:cs typeface="Times New Roman"/>
              </a:rPr>
              <a:t>⟧ s)  s)</a:t>
            </a:r>
            <a:br>
              <a:rPr lang="en-US" dirty="0">
                <a:cs typeface="Times New Roman"/>
              </a:rPr>
            </a:br>
            <a:r>
              <a:rPr lang="en-US" dirty="0">
                <a:latin typeface="Times New Roman"/>
                <a:cs typeface="Times New Roman"/>
              </a:rPr>
              <a:t>       = { lemma }  ℰ⟦ Q[e/x] ⟧ s</a:t>
            </a:r>
            <a:br>
              <a:rPr lang="en-US" dirty="0">
                <a:latin typeface="Times New Roman"/>
                <a:cs typeface="Times New Roman"/>
              </a:rPr>
            </a:br>
            <a:r>
              <a:rPr lang="en-US" dirty="0">
                <a:latin typeface="Times New Roman"/>
                <a:cs typeface="Times New Roman"/>
              </a:rPr>
              <a:t>       = { </a:t>
            </a:r>
            <a:r>
              <a:rPr lang="en-US" dirty="0" err="1">
                <a:latin typeface="Times New Roman"/>
                <a:cs typeface="Times New Roman"/>
              </a:rPr>
              <a:t>wlp</a:t>
            </a:r>
            <a:r>
              <a:rPr lang="en-US" dirty="0">
                <a:latin typeface="Times New Roman"/>
                <a:cs typeface="Times New Roman"/>
              </a:rPr>
              <a:t> assignment }  ℰ ⟦ </a:t>
            </a:r>
            <a:r>
              <a:rPr lang="en-US" dirty="0" err="1">
                <a:latin typeface="Times New Roman"/>
                <a:cs typeface="Times New Roman"/>
              </a:rPr>
              <a:t>wlp</a:t>
            </a:r>
            <a:r>
              <a:rPr lang="en-US" dirty="0">
                <a:latin typeface="Times New Roman"/>
                <a:cs typeface="Times New Roman"/>
              </a:rPr>
              <a:t> (x := e)  Q⟧ s</a:t>
            </a:r>
            <a:br>
              <a:rPr lang="en-US" dirty="0">
                <a:cs typeface="Times New Roman"/>
              </a:rPr>
            </a:br>
            <a:br>
              <a:rPr lang="en-US" dirty="0">
                <a:cs typeface="Times New Roman"/>
              </a:rPr>
            </a:br>
            <a:r>
              <a:rPr lang="en-US" dirty="0">
                <a:latin typeface="Times New Roman"/>
                <a:cs typeface="Times New Roman"/>
              </a:rPr>
              <a:t>      need to prove this lemma:  ℰ⟦ Q[e/x] ⟧ s  =  ℰ⟦Q⟧ (</a:t>
            </a:r>
            <a:r>
              <a:rPr lang="en-US" b="1" dirty="0">
                <a:latin typeface="Times New Roman"/>
                <a:cs typeface="Times New Roman"/>
              </a:rPr>
              <a:t>update</a:t>
            </a:r>
            <a:r>
              <a:rPr lang="en-US" dirty="0">
                <a:latin typeface="Times New Roman"/>
                <a:cs typeface="Times New Roman"/>
              </a:rPr>
              <a:t> x (</a:t>
            </a:r>
            <a:r>
              <a:rPr lang="en-US" dirty="0" err="1">
                <a:latin typeface="Times New Roman"/>
                <a:cs typeface="Times New Roman"/>
              </a:rPr>
              <a:t>ℰ⟦e</a:t>
            </a:r>
            <a:r>
              <a:rPr lang="en-US" dirty="0">
                <a:latin typeface="Times New Roman"/>
                <a:cs typeface="Times New Roman"/>
              </a:rPr>
              <a:t>⟧ s) s) ; can be proven by induction over</a:t>
            </a:r>
            <a:br>
              <a:rPr lang="en-US" dirty="0">
                <a:latin typeface="Times New Roman"/>
                <a:cs typeface="Times New Roman"/>
              </a:rPr>
            </a:br>
            <a:r>
              <a:rPr lang="en-US" dirty="0">
                <a:latin typeface="Times New Roman"/>
                <a:cs typeface="Times New Roman"/>
              </a:rPr>
              <a:t>      the syntax of the expression language used to describe Q and e.</a:t>
            </a:r>
          </a:p>
          <a:p>
            <a:br>
              <a:rPr lang="en-US" dirty="0">
                <a:latin typeface="Times New Roman"/>
                <a:cs typeface="Times New Roman"/>
              </a:rPr>
            </a:br>
            <a:r>
              <a:rPr lang="en-US" dirty="0">
                <a:latin typeface="Times New Roman"/>
                <a:cs typeface="Times New Roman"/>
              </a:rPr>
              <a:t>ℰ⟦Q⟧ (𝒮⟦</a:t>
            </a:r>
            <a:r>
              <a:rPr lang="en-US" i="1" dirty="0">
                <a:solidFill>
                  <a:srgbClr val="000000"/>
                </a:solidFill>
                <a:latin typeface="Times New Roman"/>
                <a:cs typeface="Times New Roman"/>
              </a:rPr>
              <a:t>S1 ; S2</a:t>
            </a:r>
            <a:r>
              <a:rPr lang="en-US" dirty="0">
                <a:latin typeface="Times New Roman"/>
                <a:cs typeface="Times New Roman"/>
              </a:rPr>
              <a:t>⟧s)  =  ℰ⟦Q⟧ (𝒮⟦</a:t>
            </a:r>
            <a:r>
              <a:rPr lang="en-US" i="1" dirty="0">
                <a:solidFill>
                  <a:srgbClr val="000000"/>
                </a:solidFill>
                <a:latin typeface="Times New Roman"/>
                <a:cs typeface="Times New Roman"/>
              </a:rPr>
              <a:t>S2 </a:t>
            </a:r>
            <a:r>
              <a:rPr lang="en-US" dirty="0">
                <a:latin typeface="Times New Roman"/>
                <a:cs typeface="Times New Roman"/>
              </a:rPr>
              <a:t>⟧</a:t>
            </a:r>
            <a:r>
              <a:rPr lang="en-US" i="1" baseline="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i="0" baseline="0" dirty="0">
                <a:solidFill>
                  <a:srgbClr val="000000"/>
                </a:solidFill>
                <a:latin typeface="Times New Roman"/>
                <a:cs typeface="Times New Roman"/>
              </a:rPr>
              <a:t>(</a:t>
            </a:r>
            <a:r>
              <a:rPr lang="en-US" dirty="0">
                <a:latin typeface="Times New Roman"/>
                <a:cs typeface="Times New Roman"/>
              </a:rPr>
              <a:t>𝒮 ⟦</a:t>
            </a:r>
            <a:r>
              <a:rPr lang="en-US" i="1" dirty="0">
                <a:solidFill>
                  <a:srgbClr val="000000"/>
                </a:solidFill>
                <a:latin typeface="Times New Roman"/>
                <a:cs typeface="Times New Roman"/>
              </a:rPr>
              <a:t>S1</a:t>
            </a:r>
            <a:r>
              <a:rPr lang="en-US" dirty="0">
                <a:latin typeface="Times New Roman"/>
                <a:cs typeface="Times New Roman"/>
              </a:rPr>
              <a:t>⟧s)) </a:t>
            </a:r>
            <a:endParaRPr lang="en-US">
              <a:cs typeface="Times New Roman"/>
            </a:endParaRPr>
          </a:p>
          <a:p>
            <a:r>
              <a:rPr lang="en-US" dirty="0">
                <a:latin typeface="Times New Roman"/>
                <a:cs typeface="Times New Roman"/>
              </a:rPr>
              <a:t>                                =</a:t>
            </a:r>
            <a:r>
              <a:rPr lang="en-US" baseline="0" dirty="0">
                <a:latin typeface="Times New Roman"/>
                <a:cs typeface="Times New Roman"/>
              </a:rPr>
              <a:t>  { induction hyp }</a:t>
            </a:r>
            <a:br>
              <a:rPr lang="en-US" baseline="0" dirty="0">
                <a:cs typeface="Times New Roman"/>
              </a:rPr>
            </a:br>
            <a:r>
              <a:rPr lang="en-US" baseline="0" dirty="0">
                <a:latin typeface="Times New Roman"/>
                <a:cs typeface="Times New Roman"/>
              </a:rPr>
              <a:t>                                     </a:t>
            </a:r>
            <a:r>
              <a:rPr lang="en-US" dirty="0">
                <a:latin typeface="Times New Roman"/>
                <a:cs typeface="Times New Roman"/>
              </a:rPr>
              <a:t>ℰ⟦wlp</a:t>
            </a:r>
            <a:r>
              <a:rPr lang="en-US" baseline="0" dirty="0">
                <a:latin typeface="Times New Roman"/>
                <a:cs typeface="Times New Roman"/>
              </a:rPr>
              <a:t> </a:t>
            </a:r>
            <a:r>
              <a:rPr lang="en-US" i="1" dirty="0">
                <a:solidFill>
                  <a:srgbClr val="000000"/>
                </a:solidFill>
                <a:latin typeface="Times New Roman"/>
                <a:cs typeface="Times New Roman"/>
              </a:rPr>
              <a:t>S2 Q</a:t>
            </a:r>
            <a:r>
              <a:rPr lang="en-US" i="1" baseline="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dirty="0">
                <a:latin typeface="Times New Roman"/>
                <a:cs typeface="Times New Roman"/>
              </a:rPr>
              <a:t>⟧</a:t>
            </a:r>
            <a:r>
              <a:rPr lang="en-US" i="1" baseline="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i="0" baseline="0" dirty="0">
                <a:solidFill>
                  <a:srgbClr val="000000"/>
                </a:solidFill>
                <a:latin typeface="Times New Roman"/>
                <a:cs typeface="Times New Roman"/>
              </a:rPr>
              <a:t>(</a:t>
            </a:r>
            <a:r>
              <a:rPr lang="en-US" dirty="0">
                <a:latin typeface="Times New Roman"/>
                <a:cs typeface="Times New Roman"/>
              </a:rPr>
              <a:t>𝒮 ⟦</a:t>
            </a:r>
            <a:r>
              <a:rPr lang="en-US" i="1" dirty="0">
                <a:solidFill>
                  <a:srgbClr val="000000"/>
                </a:solidFill>
                <a:latin typeface="Times New Roman"/>
                <a:cs typeface="Times New Roman"/>
              </a:rPr>
              <a:t>S1</a:t>
            </a:r>
            <a:r>
              <a:rPr lang="en-US" dirty="0">
                <a:latin typeface="Times New Roman"/>
                <a:cs typeface="Times New Roman"/>
              </a:rPr>
              <a:t>⟧s)) </a:t>
            </a:r>
          </a:p>
          <a:p>
            <a:r>
              <a:rPr lang="en-US" dirty="0">
                <a:latin typeface="Times New Roman"/>
                <a:cs typeface="Times New Roman"/>
              </a:rPr>
              <a:t>                                =</a:t>
            </a:r>
            <a:r>
              <a:rPr lang="en-US" baseline="0" dirty="0">
                <a:latin typeface="Times New Roman"/>
                <a:cs typeface="Times New Roman"/>
              </a:rPr>
              <a:t>  { induction hyp }</a:t>
            </a:r>
            <a:br>
              <a:rPr lang="en-US" baseline="0" dirty="0">
                <a:cs typeface="Times New Roman"/>
              </a:rPr>
            </a:br>
            <a:r>
              <a:rPr lang="en-US" baseline="0" dirty="0">
                <a:latin typeface="Times New Roman"/>
                <a:cs typeface="Times New Roman"/>
              </a:rPr>
              <a:t>                                     </a:t>
            </a:r>
            <a:r>
              <a:rPr lang="en-US" dirty="0">
                <a:latin typeface="Times New Roman"/>
                <a:cs typeface="Times New Roman"/>
              </a:rPr>
              <a:t>ℰ⟦wlp S1 (wlp</a:t>
            </a:r>
            <a:r>
              <a:rPr lang="en-US" baseline="0" dirty="0">
                <a:latin typeface="Times New Roman"/>
                <a:cs typeface="Times New Roman"/>
              </a:rPr>
              <a:t> </a:t>
            </a:r>
            <a:r>
              <a:rPr lang="en-US" i="1" dirty="0">
                <a:solidFill>
                  <a:srgbClr val="000000"/>
                </a:solidFill>
                <a:latin typeface="Times New Roman"/>
                <a:cs typeface="Times New Roman"/>
              </a:rPr>
              <a:t>S2 Q</a:t>
            </a:r>
            <a:r>
              <a:rPr lang="en-US" i="1" baseline="0" dirty="0">
                <a:solidFill>
                  <a:srgbClr val="000000"/>
                </a:solidFill>
                <a:latin typeface="Times New Roman"/>
                <a:cs typeface="Times New Roman"/>
              </a:rPr>
              <a:t> )</a:t>
            </a:r>
            <a:r>
              <a:rPr lang="en-US" dirty="0">
                <a:latin typeface="Times New Roman"/>
                <a:cs typeface="Times New Roman"/>
              </a:rPr>
              <a:t>⟧</a:t>
            </a:r>
            <a:r>
              <a:rPr lang="en-US" i="1" baseline="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dirty="0">
                <a:latin typeface="Times New Roman"/>
                <a:cs typeface="Times New Roman"/>
              </a:rPr>
              <a:t>s</a:t>
            </a:r>
          </a:p>
          <a:p>
            <a:r>
              <a:rPr lang="en-US" baseline="0" dirty="0"/>
              <a:t>                                 =</a:t>
            </a:r>
            <a:r>
              <a:rPr lang="en-US" dirty="0"/>
              <a:t>     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latin typeface="Times New Roman"/>
                <a:cs typeface="Times New Roman"/>
              </a:rPr>
              <a:t>                                    ℰ⟦wlp (S1 ;</a:t>
            </a:r>
            <a:r>
              <a:rPr lang="en-US" baseline="0" dirty="0">
                <a:latin typeface="Times New Roman"/>
                <a:cs typeface="Times New Roman"/>
              </a:rPr>
              <a:t> </a:t>
            </a:r>
            <a:r>
              <a:rPr lang="en-US" i="1" dirty="0">
                <a:solidFill>
                  <a:srgbClr val="000000"/>
                </a:solidFill>
                <a:latin typeface="Times New Roman"/>
                <a:cs typeface="Times New Roman"/>
              </a:rPr>
              <a:t>S2 ) Q</a:t>
            </a:r>
            <a:r>
              <a:rPr lang="en-US" i="1" baseline="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dirty="0">
                <a:latin typeface="Times New Roman"/>
                <a:cs typeface="Times New Roman"/>
              </a:rPr>
              <a:t>⟧</a:t>
            </a:r>
            <a:r>
              <a:rPr lang="en-US" i="1" baseline="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dirty="0">
                <a:latin typeface="Times New Roman"/>
                <a:cs typeface="Times New Roman"/>
              </a:rPr>
              <a:t>s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A39CDBC-8017-4E8F-B9B6-0F2C75591882}" type="slidenum">
              <a:rPr lang="en-US" smtClean="0"/>
              <a:pPr>
                <a:defRPr/>
              </a:pPr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639518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weakest = largest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A39CDBC-8017-4E8F-B9B6-0F2C75591882}" type="slidenum">
              <a:rPr lang="en-US" smtClean="0"/>
              <a:pPr>
                <a:defRPr/>
              </a:pPr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256703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A39CDBC-8017-4E8F-B9B6-0F2C75591882}" type="slidenum">
              <a:rPr lang="en-US" smtClean="0"/>
              <a:pPr>
                <a:defRPr/>
              </a:pPr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2221945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Top = sup(A)</a:t>
            </a:r>
          </a:p>
          <a:p>
            <a:r>
              <a:rPr lang="en-US" dirty="0"/>
              <a:t>Bottom = </a:t>
            </a:r>
            <a:r>
              <a:rPr lang="en-US" dirty="0" err="1"/>
              <a:t>inf</a:t>
            </a:r>
            <a:r>
              <a:rPr lang="en-US" dirty="0"/>
              <a:t>(A)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A39CDBC-8017-4E8F-B9B6-0F2C75591882}" type="slidenum">
              <a:rPr lang="en-US" smtClean="0"/>
              <a:pPr>
                <a:defRPr/>
              </a:pPr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71164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Pred</a:t>
            </a:r>
            <a:r>
              <a:rPr lang="en-US" baseline="0" dirty="0"/>
              <a:t> is thus = </a:t>
            </a:r>
            <a:r>
              <a:rPr lang="en-US" i="1" dirty="0" err="1">
                <a:sym typeface="Symbol"/>
              </a:rPr>
              <a:t>pow</a:t>
            </a:r>
            <a:r>
              <a:rPr lang="en-US" dirty="0">
                <a:sym typeface="Symbol"/>
              </a:rPr>
              <a:t>(),</a:t>
            </a:r>
            <a:r>
              <a:rPr lang="en-US" baseline="0" dirty="0">
                <a:sym typeface="Symbol"/>
              </a:rPr>
              <a:t> so t</a:t>
            </a:r>
            <a:r>
              <a:rPr lang="en-US" dirty="0"/>
              <a:t>he domain (</a:t>
            </a:r>
            <a:r>
              <a:rPr lang="en-US" i="1" dirty="0" err="1"/>
              <a:t>Pred</a:t>
            </a:r>
            <a:r>
              <a:rPr lang="en-US" i="1" dirty="0"/>
              <a:t> , </a:t>
            </a:r>
            <a:r>
              <a:rPr lang="en-US" dirty="0">
                <a:sym typeface="Symbol"/>
              </a:rPr>
              <a:t>) is also a complete</a:t>
            </a:r>
            <a:r>
              <a:rPr lang="en-US" baseline="0" dirty="0">
                <a:sym typeface="Symbol"/>
              </a:rPr>
              <a:t> lattice.</a:t>
            </a:r>
          </a:p>
          <a:p>
            <a:endParaRPr lang="en-US" baseline="0" dirty="0">
              <a:sym typeface="Symbol"/>
            </a:endParaRPr>
          </a:p>
          <a:p>
            <a:r>
              <a:rPr lang="en-US" baseline="0" dirty="0">
                <a:sym typeface="Symbol"/>
              </a:rPr>
              <a:t>See the above equation a W = f(W)</a:t>
            </a:r>
            <a:endParaRPr lang="en-US" dirty="0">
              <a:sym typeface="Symbol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A39CDBC-8017-4E8F-B9B6-0F2C75591882}" type="slidenum">
              <a:rPr lang="en-US" smtClean="0"/>
              <a:pPr>
                <a:defRPr/>
              </a:pPr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2198897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Proof</a:t>
            </a:r>
            <a:r>
              <a:rPr lang="en-US" baseline="0" dirty="0"/>
              <a:t> that </a:t>
            </a:r>
            <a:r>
              <a:rPr lang="en-US" dirty="0">
                <a:sym typeface="Symbol"/>
              </a:rPr>
              <a:t> -continuous</a:t>
            </a:r>
            <a:r>
              <a:rPr lang="en-US" baseline="0" dirty="0">
                <a:sym typeface="Symbol"/>
              </a:rPr>
              <a:t> implies </a:t>
            </a:r>
            <a:r>
              <a:rPr lang="en-US" dirty="0">
                <a:sym typeface="Symbol"/>
              </a:rPr>
              <a:t>monotonic:</a:t>
            </a:r>
          </a:p>
          <a:p>
            <a:endParaRPr lang="en-US" dirty="0">
              <a:sym typeface="Symbol"/>
            </a:endParaRPr>
          </a:p>
          <a:p>
            <a:r>
              <a:rPr lang="en-US" dirty="0">
                <a:sym typeface="Symbol"/>
              </a:rPr>
              <a:t>We</a:t>
            </a:r>
            <a:r>
              <a:rPr lang="en-US" baseline="0" dirty="0">
                <a:sym typeface="Symbol"/>
              </a:rPr>
              <a:t> have to prove that x ⊆</a:t>
            </a:r>
            <a:r>
              <a:rPr lang="en-US" dirty="0">
                <a:sym typeface="Symbol"/>
              </a:rPr>
              <a:t> y</a:t>
            </a:r>
            <a:r>
              <a:rPr lang="en-US" baseline="0" dirty="0">
                <a:sym typeface="Symbol"/>
              </a:rPr>
              <a:t> implies f(x) ⊆</a:t>
            </a:r>
            <a:r>
              <a:rPr lang="en-US" dirty="0">
                <a:sym typeface="Symbol"/>
              </a:rPr>
              <a:t> f(y).</a:t>
            </a:r>
          </a:p>
          <a:p>
            <a:endParaRPr lang="en-US" dirty="0">
              <a:sym typeface="Symbol"/>
            </a:endParaRPr>
          </a:p>
          <a:p>
            <a:r>
              <a:rPr lang="en-US" baseline="0" dirty="0">
                <a:sym typeface="Symbol"/>
              </a:rPr>
              <a:t>    f(x)</a:t>
            </a:r>
          </a:p>
          <a:p>
            <a:r>
              <a:rPr lang="en-US" baseline="0" dirty="0">
                <a:sym typeface="Symbol"/>
              </a:rPr>
              <a:t>=  // because x ⊆</a:t>
            </a:r>
            <a:r>
              <a:rPr lang="en-US" dirty="0">
                <a:sym typeface="Symbol"/>
              </a:rPr>
              <a:t> y</a:t>
            </a:r>
            <a:r>
              <a:rPr lang="en-US" baseline="0" dirty="0">
                <a:sym typeface="Symbol"/>
              </a:rPr>
              <a:t> , then </a:t>
            </a:r>
            <a:r>
              <a:rPr lang="en-US" baseline="0" dirty="0" err="1">
                <a:sym typeface="Symbol"/>
              </a:rPr>
              <a:t>x</a:t>
            </a:r>
            <a:r>
              <a:rPr lang="en-US" dirty="0" err="1">
                <a:sym typeface="Symbol"/>
              </a:rPr>
              <a:t></a:t>
            </a:r>
            <a:r>
              <a:rPr lang="en-US" baseline="0" dirty="0" err="1">
                <a:sym typeface="Symbol"/>
              </a:rPr>
              <a:t>y</a:t>
            </a:r>
            <a:r>
              <a:rPr lang="en-US" baseline="0" dirty="0">
                <a:sym typeface="Symbol"/>
              </a:rPr>
              <a:t> = x</a:t>
            </a:r>
            <a:br>
              <a:rPr lang="en-US" baseline="0" dirty="0">
                <a:sym typeface="Symbol"/>
              </a:rPr>
            </a:br>
            <a:r>
              <a:rPr lang="en-US" baseline="0" dirty="0">
                <a:sym typeface="Symbol"/>
              </a:rPr>
              <a:t>   f (</a:t>
            </a:r>
            <a:r>
              <a:rPr lang="en-US" baseline="0" dirty="0" err="1">
                <a:sym typeface="Symbol"/>
              </a:rPr>
              <a:t>x</a:t>
            </a:r>
            <a:r>
              <a:rPr lang="en-US" dirty="0" err="1">
                <a:sym typeface="Symbol"/>
              </a:rPr>
              <a:t></a:t>
            </a:r>
            <a:r>
              <a:rPr lang="en-US" baseline="0" dirty="0" err="1">
                <a:sym typeface="Symbol"/>
              </a:rPr>
              <a:t>y</a:t>
            </a:r>
            <a:r>
              <a:rPr lang="en-US" baseline="0" dirty="0">
                <a:sym typeface="Symbol"/>
              </a:rPr>
              <a:t>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baseline="0" dirty="0">
                <a:sym typeface="Symbol"/>
              </a:rPr>
              <a:t>=  //  </a:t>
            </a:r>
            <a:r>
              <a:rPr lang="en-US" baseline="0" dirty="0" err="1">
                <a:sym typeface="Symbol"/>
              </a:rPr>
              <a:t>continous</a:t>
            </a:r>
            <a:endParaRPr lang="en-US" baseline="0" dirty="0">
              <a:sym typeface="Symbol"/>
            </a:endParaRPr>
          </a:p>
          <a:p>
            <a:r>
              <a:rPr lang="en-US" baseline="0" dirty="0">
                <a:sym typeface="Symbol"/>
              </a:rPr>
              <a:t>   f(x) </a:t>
            </a:r>
            <a:r>
              <a:rPr lang="en-US" dirty="0">
                <a:sym typeface="Symbol"/>
              </a:rPr>
              <a:t></a:t>
            </a:r>
            <a:r>
              <a:rPr lang="en-US" baseline="0" dirty="0">
                <a:sym typeface="Symbol"/>
              </a:rPr>
              <a:t> f(y)</a:t>
            </a:r>
          </a:p>
          <a:p>
            <a:r>
              <a:rPr lang="en-US" baseline="0" dirty="0">
                <a:sym typeface="Symbol"/>
              </a:rPr>
              <a:t>⊆</a:t>
            </a:r>
          </a:p>
          <a:p>
            <a:r>
              <a:rPr lang="en-US" baseline="0" dirty="0">
                <a:sym typeface="Symbol"/>
              </a:rPr>
              <a:t>   f(y)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A39CDBC-8017-4E8F-B9B6-0F2C75591882}" type="slidenum">
              <a:rPr lang="en-US" smtClean="0"/>
              <a:pPr>
                <a:defRPr/>
              </a:pPr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8282946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en-US" dirty="0"/>
              <a:t>Proof  that f is also monotonic:</a:t>
            </a:r>
          </a:p>
          <a:p>
            <a:endParaRPr lang="en-US" dirty="0"/>
          </a:p>
          <a:p>
            <a:r>
              <a:rPr lang="en-US" dirty="0"/>
              <a:t>Suppose X &lt;= Y ; to prove that f(X) &lt;= f(Y)</a:t>
            </a:r>
            <a:br>
              <a:rPr lang="en-US" dirty="0"/>
            </a:br>
            <a:endParaRPr lang="en-US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     (1) since X &lt;= Y, then  X = X  </a:t>
            </a:r>
            <a:r>
              <a:rPr lang="en-US" dirty="0">
                <a:sym typeface="Symbol"/>
              </a:rPr>
              <a:t>  Y.</a:t>
            </a:r>
            <a:br>
              <a:rPr lang="en-US" dirty="0">
                <a:sym typeface="Symbol"/>
              </a:rPr>
            </a:br>
            <a:r>
              <a:rPr lang="en-US" dirty="0">
                <a:sym typeface="Symbol"/>
              </a:rPr>
              <a:t>     (2) f(X)</a:t>
            </a:r>
            <a:br>
              <a:rPr lang="en-US" dirty="0">
                <a:sym typeface="Symbol"/>
              </a:rPr>
            </a:br>
            <a:r>
              <a:rPr lang="en-US" dirty="0">
                <a:sym typeface="Symbol"/>
              </a:rPr>
              <a:t>         = // (1) above</a:t>
            </a:r>
            <a:br>
              <a:rPr lang="en-US" dirty="0">
                <a:sym typeface="Symbol"/>
              </a:rPr>
            </a:br>
            <a:r>
              <a:rPr lang="en-US" dirty="0">
                <a:sym typeface="Symbol"/>
              </a:rPr>
              <a:t>         f (X  Y) </a:t>
            </a:r>
            <a:br>
              <a:rPr lang="en-US" dirty="0">
                <a:sym typeface="Symbol"/>
              </a:rPr>
            </a:br>
            <a:r>
              <a:rPr lang="en-US" dirty="0">
                <a:sym typeface="Symbol"/>
              </a:rPr>
              <a:t>         =</a:t>
            </a:r>
            <a:r>
              <a:rPr lang="en-US" baseline="0" dirty="0">
                <a:sym typeface="Symbol"/>
              </a:rPr>
              <a:t> // </a:t>
            </a:r>
            <a:r>
              <a:rPr lang="en-US" dirty="0">
                <a:sym typeface="Symbol"/>
              </a:rPr>
              <a:t>-continuous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          f(X) </a:t>
            </a:r>
            <a:r>
              <a:rPr lang="en-US" baseline="0" dirty="0">
                <a:sym typeface="Symbol"/>
              </a:rPr>
              <a:t> </a:t>
            </a:r>
            <a:r>
              <a:rPr lang="en-US" dirty="0">
                <a:sym typeface="Symbol"/>
              </a:rPr>
              <a:t>  f(Y)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ym typeface="Symbol"/>
              </a:rPr>
              <a:t>         &lt;= // prop of intersection</a:t>
            </a:r>
            <a:br>
              <a:rPr lang="en-US" dirty="0">
                <a:sym typeface="Symbol"/>
              </a:rPr>
            </a:br>
            <a:r>
              <a:rPr lang="en-US" dirty="0">
                <a:sym typeface="Symbol"/>
              </a:rPr>
              <a:t>          f(Y)</a:t>
            </a:r>
            <a:endParaRPr lang="en-US" dirty="0"/>
          </a:p>
          <a:p>
            <a:endParaRPr lang="en-US" dirty="0"/>
          </a:p>
          <a:p>
            <a:r>
              <a:rPr lang="en-US" dirty="0"/>
              <a:t>Proof</a:t>
            </a:r>
            <a:r>
              <a:rPr lang="en-US" baseline="0" dirty="0"/>
              <a:t> (using A for </a:t>
            </a:r>
            <a:r>
              <a:rPr lang="en-US" dirty="0"/>
              <a:t>∑) about the fix point:</a:t>
            </a:r>
          </a:p>
          <a:p>
            <a:endParaRPr lang="en-US" dirty="0"/>
          </a:p>
          <a:p>
            <a:r>
              <a:rPr lang="en-US" dirty="0"/>
              <a:t>(1) prove that </a:t>
            </a:r>
            <a:r>
              <a:rPr lang="en-US" dirty="0">
                <a:sym typeface="Symbol"/>
              </a:rPr>
              <a:t>{ </a:t>
            </a:r>
            <a:r>
              <a:rPr lang="en-US" i="1" dirty="0">
                <a:sym typeface="Symbol"/>
              </a:rPr>
              <a:t>f </a:t>
            </a:r>
            <a:r>
              <a:rPr lang="en-US" baseline="30000" dirty="0">
                <a:sym typeface="Symbol"/>
              </a:rPr>
              <a:t>k</a:t>
            </a:r>
            <a:r>
              <a:rPr lang="en-US" dirty="0">
                <a:sym typeface="Symbol"/>
              </a:rPr>
              <a:t> (</a:t>
            </a:r>
            <a:r>
              <a:rPr lang="en-US" i="1" dirty="0">
                <a:sym typeface="Symbol"/>
              </a:rPr>
              <a:t>A</a:t>
            </a:r>
            <a:r>
              <a:rPr lang="en-US" dirty="0">
                <a:sym typeface="Symbol"/>
              </a:rPr>
              <a:t>)  | </a:t>
            </a:r>
            <a:r>
              <a:rPr lang="en-US" i="1" dirty="0">
                <a:sym typeface="Symbol"/>
              </a:rPr>
              <a:t>k</a:t>
            </a:r>
            <a:r>
              <a:rPr lang="en-US" dirty="0">
                <a:sym typeface="Symbol"/>
              </a:rPr>
              <a:t>0 } is a fix point.</a:t>
            </a:r>
          </a:p>
          <a:p>
            <a:endParaRPr lang="en-US" dirty="0">
              <a:sym typeface="Symbol"/>
            </a:endParaRPr>
          </a:p>
          <a:p>
            <a:r>
              <a:rPr lang="en-US" dirty="0">
                <a:sym typeface="Symbol"/>
              </a:rPr>
              <a:t>f ({ </a:t>
            </a:r>
            <a:r>
              <a:rPr lang="en-US" i="1" dirty="0">
                <a:sym typeface="Symbol"/>
              </a:rPr>
              <a:t>f </a:t>
            </a:r>
            <a:r>
              <a:rPr lang="en-US" baseline="30000" dirty="0">
                <a:sym typeface="Symbol"/>
              </a:rPr>
              <a:t>k</a:t>
            </a:r>
            <a:r>
              <a:rPr lang="en-US" dirty="0">
                <a:sym typeface="Symbol"/>
              </a:rPr>
              <a:t> (</a:t>
            </a:r>
            <a:r>
              <a:rPr lang="en-US" i="1" dirty="0">
                <a:sym typeface="Symbol"/>
              </a:rPr>
              <a:t>A</a:t>
            </a:r>
            <a:r>
              <a:rPr lang="en-US" dirty="0">
                <a:sym typeface="Symbol"/>
              </a:rPr>
              <a:t>)  | </a:t>
            </a:r>
            <a:r>
              <a:rPr lang="en-US" i="1" dirty="0">
                <a:sym typeface="Symbol"/>
              </a:rPr>
              <a:t>k</a:t>
            </a:r>
            <a:r>
              <a:rPr lang="en-US" dirty="0">
                <a:sym typeface="Symbol"/>
              </a:rPr>
              <a:t>0 }) </a:t>
            </a:r>
          </a:p>
          <a:p>
            <a:r>
              <a:rPr lang="en-US" dirty="0">
                <a:sym typeface="Symbol"/>
              </a:rPr>
              <a:t>=</a:t>
            </a:r>
            <a:r>
              <a:rPr lang="en-US" baseline="0" dirty="0">
                <a:sym typeface="Symbol"/>
              </a:rPr>
              <a:t> // </a:t>
            </a:r>
            <a:r>
              <a:rPr lang="en-US" dirty="0">
                <a:sym typeface="Symbol"/>
              </a:rPr>
              <a:t>-continuous</a:t>
            </a:r>
          </a:p>
          <a:p>
            <a:r>
              <a:rPr lang="en-US" dirty="0">
                <a:sym typeface="Symbol"/>
              </a:rPr>
              <a:t>{ </a:t>
            </a:r>
            <a:r>
              <a:rPr lang="en-US" i="1" dirty="0">
                <a:sym typeface="Symbol"/>
              </a:rPr>
              <a:t>f </a:t>
            </a:r>
            <a:r>
              <a:rPr lang="en-US" baseline="30000" dirty="0">
                <a:sym typeface="Symbol"/>
              </a:rPr>
              <a:t>k+1</a:t>
            </a:r>
            <a:r>
              <a:rPr lang="en-US" dirty="0">
                <a:sym typeface="Symbol"/>
              </a:rPr>
              <a:t> (</a:t>
            </a:r>
            <a:r>
              <a:rPr lang="en-US" i="1" dirty="0">
                <a:sym typeface="Symbol"/>
              </a:rPr>
              <a:t>A</a:t>
            </a:r>
            <a:r>
              <a:rPr lang="en-US" dirty="0">
                <a:sym typeface="Symbol"/>
              </a:rPr>
              <a:t>)  | </a:t>
            </a:r>
            <a:r>
              <a:rPr lang="en-US" i="1" dirty="0">
                <a:sym typeface="Symbol"/>
              </a:rPr>
              <a:t>k</a:t>
            </a:r>
            <a:r>
              <a:rPr lang="en-US" dirty="0">
                <a:sym typeface="Symbol"/>
              </a:rPr>
              <a:t>0 }</a:t>
            </a:r>
          </a:p>
          <a:p>
            <a:r>
              <a:rPr lang="en-US" dirty="0">
                <a:sym typeface="Symbol"/>
              </a:rPr>
              <a:t>= // A is</a:t>
            </a:r>
            <a:r>
              <a:rPr lang="en-US" baseline="0" dirty="0">
                <a:sym typeface="Symbol"/>
              </a:rPr>
              <a:t> superset of all</a:t>
            </a:r>
            <a:endParaRPr lang="en-US" dirty="0">
              <a:sym typeface="Symbol"/>
            </a:endParaRP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ym typeface="Symbol"/>
              </a:rPr>
              <a:t>{ </a:t>
            </a:r>
            <a:r>
              <a:rPr lang="en-US" i="1" dirty="0">
                <a:sym typeface="Symbol"/>
              </a:rPr>
              <a:t>f </a:t>
            </a:r>
            <a:r>
              <a:rPr lang="en-US" baseline="30000" dirty="0">
                <a:sym typeface="Symbol"/>
              </a:rPr>
              <a:t>k+1</a:t>
            </a:r>
            <a:r>
              <a:rPr lang="en-US" dirty="0">
                <a:sym typeface="Symbol"/>
              </a:rPr>
              <a:t> (</a:t>
            </a:r>
            <a:r>
              <a:rPr lang="en-US" i="1" dirty="0">
                <a:sym typeface="Symbol"/>
              </a:rPr>
              <a:t>A</a:t>
            </a:r>
            <a:r>
              <a:rPr lang="en-US" dirty="0">
                <a:sym typeface="Symbol"/>
              </a:rPr>
              <a:t>)  | </a:t>
            </a:r>
            <a:r>
              <a:rPr lang="en-US" i="1" dirty="0">
                <a:sym typeface="Symbol"/>
              </a:rPr>
              <a:t>k</a:t>
            </a:r>
            <a:r>
              <a:rPr lang="en-US" dirty="0">
                <a:sym typeface="Symbol"/>
              </a:rPr>
              <a:t>0 }  { A }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ym typeface="Symbol"/>
              </a:rPr>
              <a:t>=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ym typeface="Symbol"/>
              </a:rPr>
              <a:t>{ </a:t>
            </a:r>
            <a:r>
              <a:rPr lang="en-US" i="1" dirty="0">
                <a:sym typeface="Symbol"/>
              </a:rPr>
              <a:t>f </a:t>
            </a:r>
            <a:r>
              <a:rPr lang="en-US" baseline="30000" dirty="0">
                <a:sym typeface="Symbol"/>
              </a:rPr>
              <a:t>k+1</a:t>
            </a:r>
            <a:r>
              <a:rPr lang="en-US" dirty="0">
                <a:sym typeface="Symbol"/>
              </a:rPr>
              <a:t> (</a:t>
            </a:r>
            <a:r>
              <a:rPr lang="en-US" i="1" dirty="0">
                <a:sym typeface="Symbol"/>
              </a:rPr>
              <a:t>A</a:t>
            </a:r>
            <a:r>
              <a:rPr lang="en-US" dirty="0">
                <a:sym typeface="Symbol"/>
              </a:rPr>
              <a:t>)  | </a:t>
            </a:r>
            <a:r>
              <a:rPr lang="en-US" i="1" dirty="0">
                <a:sym typeface="Symbol"/>
              </a:rPr>
              <a:t>k</a:t>
            </a:r>
            <a:r>
              <a:rPr lang="en-US" dirty="0">
                <a:sym typeface="Symbol"/>
              </a:rPr>
              <a:t>0 }  { f^0(A) }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ym typeface="Symbol"/>
              </a:rPr>
              <a:t>=</a:t>
            </a:r>
          </a:p>
          <a:p>
            <a:r>
              <a:rPr lang="en-US" dirty="0">
                <a:sym typeface="Symbol"/>
              </a:rPr>
              <a:t>{ </a:t>
            </a:r>
            <a:r>
              <a:rPr lang="en-US" i="1" dirty="0">
                <a:sym typeface="Symbol"/>
              </a:rPr>
              <a:t>f </a:t>
            </a:r>
            <a:r>
              <a:rPr lang="en-US" baseline="30000" dirty="0">
                <a:sym typeface="Symbol"/>
              </a:rPr>
              <a:t>k</a:t>
            </a:r>
            <a:r>
              <a:rPr lang="en-US" dirty="0">
                <a:sym typeface="Symbol"/>
              </a:rPr>
              <a:t> (</a:t>
            </a:r>
            <a:r>
              <a:rPr lang="en-US" i="1" dirty="0">
                <a:sym typeface="Symbol"/>
              </a:rPr>
              <a:t>A</a:t>
            </a:r>
            <a:r>
              <a:rPr lang="en-US" dirty="0">
                <a:sym typeface="Symbol"/>
              </a:rPr>
              <a:t>)  | </a:t>
            </a:r>
            <a:r>
              <a:rPr lang="en-US" i="1" dirty="0">
                <a:sym typeface="Symbol"/>
              </a:rPr>
              <a:t>k</a:t>
            </a:r>
            <a:r>
              <a:rPr lang="en-US" dirty="0">
                <a:sym typeface="Symbol"/>
              </a:rPr>
              <a:t>0 }</a:t>
            </a:r>
          </a:p>
          <a:p>
            <a:endParaRPr lang="en-US" dirty="0">
              <a:sym typeface="Symbol"/>
            </a:endParaRPr>
          </a:p>
          <a:p>
            <a:endParaRPr lang="en-US" dirty="0">
              <a:sym typeface="Symbol"/>
            </a:endParaRPr>
          </a:p>
          <a:p>
            <a:pPr marL="228600" indent="-228600">
              <a:buAutoNum type="arabicParenBoth" startAt="2"/>
            </a:pPr>
            <a:r>
              <a:rPr lang="en-US" dirty="0">
                <a:sym typeface="Symbol"/>
              </a:rPr>
              <a:t>Prove that it is</a:t>
            </a:r>
            <a:r>
              <a:rPr lang="en-US" baseline="0" dirty="0">
                <a:sym typeface="Symbol"/>
              </a:rPr>
              <a:t> the largest fix point. Suppose x is a fix point, so x = f(x). We want to prove that x ⊆</a:t>
            </a:r>
            <a:r>
              <a:rPr lang="en-US" b="0" baseline="0" dirty="0">
                <a:sym typeface="Symbol"/>
              </a:rPr>
              <a:t>𝛂, where 𝛂 = </a:t>
            </a:r>
            <a:r>
              <a:rPr lang="en-US" dirty="0">
                <a:sym typeface="Symbol"/>
              </a:rPr>
              <a:t>{ </a:t>
            </a:r>
            <a:r>
              <a:rPr lang="en-US" i="1" dirty="0">
                <a:sym typeface="Symbol"/>
              </a:rPr>
              <a:t>f </a:t>
            </a:r>
            <a:r>
              <a:rPr lang="en-US" baseline="30000" dirty="0">
                <a:sym typeface="Symbol"/>
              </a:rPr>
              <a:t>k</a:t>
            </a:r>
            <a:r>
              <a:rPr lang="en-US" dirty="0">
                <a:sym typeface="Symbol"/>
              </a:rPr>
              <a:t> (</a:t>
            </a:r>
            <a:r>
              <a:rPr lang="en-US" i="1" dirty="0">
                <a:sym typeface="Symbol"/>
              </a:rPr>
              <a:t>A</a:t>
            </a:r>
            <a:r>
              <a:rPr lang="en-US" dirty="0">
                <a:sym typeface="Symbol"/>
              </a:rPr>
              <a:t>)  | </a:t>
            </a:r>
            <a:r>
              <a:rPr lang="en-US" i="1" dirty="0">
                <a:sym typeface="Symbol"/>
              </a:rPr>
              <a:t>k</a:t>
            </a:r>
            <a:r>
              <a:rPr lang="en-US" dirty="0">
                <a:sym typeface="Symbol"/>
              </a:rPr>
              <a:t>0 }.</a:t>
            </a:r>
            <a:r>
              <a:rPr lang="en-US" baseline="0" dirty="0">
                <a:sym typeface="Symbol"/>
              </a:rPr>
              <a:t> </a:t>
            </a:r>
          </a:p>
          <a:p>
            <a:pPr marL="0" indent="0">
              <a:buNone/>
            </a:pPr>
            <a:r>
              <a:rPr lang="en-US" b="0" baseline="0" dirty="0">
                <a:sym typeface="Symbol"/>
              </a:rPr>
              <a:t>Since 𝛂 is thus the greatest lower bound of all those </a:t>
            </a:r>
            <a:r>
              <a:rPr lang="en-US" b="0" baseline="0" dirty="0" err="1">
                <a:sym typeface="Symbol"/>
              </a:rPr>
              <a:t>f^k</a:t>
            </a:r>
            <a:r>
              <a:rPr lang="en-US" b="0" baseline="0" dirty="0">
                <a:sym typeface="Symbol"/>
              </a:rPr>
              <a:t>(A), it is sufficient to prove that x </a:t>
            </a:r>
            <a:r>
              <a:rPr lang="en-US" baseline="0" dirty="0">
                <a:sym typeface="Symbol"/>
              </a:rPr>
              <a:t>⊆</a:t>
            </a:r>
            <a:r>
              <a:rPr lang="en-US" baseline="0" dirty="0" err="1">
                <a:sym typeface="Symbol"/>
              </a:rPr>
              <a:t>f^k</a:t>
            </a:r>
            <a:r>
              <a:rPr lang="en-US" baseline="0" dirty="0">
                <a:sym typeface="Symbol"/>
              </a:rPr>
              <a:t>(A), for any k.</a:t>
            </a:r>
          </a:p>
          <a:p>
            <a:pPr marL="0" indent="0">
              <a:buNone/>
            </a:pPr>
            <a:r>
              <a:rPr lang="en-US" i="0" dirty="0">
                <a:sym typeface="Symbol"/>
              </a:rPr>
              <a:t>This can easily be shown</a:t>
            </a:r>
            <a:r>
              <a:rPr lang="en-US" i="0" baseline="0" dirty="0">
                <a:sym typeface="Symbol"/>
              </a:rPr>
              <a:t> by induction. The base case: </a:t>
            </a:r>
            <a:r>
              <a:rPr lang="en-US" baseline="0" dirty="0">
                <a:sym typeface="Symbol"/>
              </a:rPr>
              <a:t>x  </a:t>
            </a:r>
            <a:r>
              <a:rPr lang="en-US" i="1" dirty="0">
                <a:sym typeface="Symbol"/>
              </a:rPr>
              <a:t>f </a:t>
            </a:r>
            <a:r>
              <a:rPr lang="en-US" i="0" baseline="30000" dirty="0">
                <a:sym typeface="Symbol"/>
              </a:rPr>
              <a:t>0</a:t>
            </a:r>
            <a:r>
              <a:rPr lang="en-US" dirty="0">
                <a:sym typeface="Symbol"/>
              </a:rPr>
              <a:t> (</a:t>
            </a:r>
            <a:r>
              <a:rPr lang="en-US" i="1" dirty="0">
                <a:sym typeface="Symbol"/>
              </a:rPr>
              <a:t>A</a:t>
            </a:r>
            <a:r>
              <a:rPr lang="en-US" i="0" dirty="0">
                <a:sym typeface="Symbol"/>
              </a:rPr>
              <a:t>) is obvious.  Now suppose:</a:t>
            </a:r>
          </a:p>
          <a:p>
            <a:pPr marL="228600" indent="-228600">
              <a:buNone/>
            </a:pPr>
            <a:endParaRPr lang="en-US" i="0" dirty="0">
              <a:sym typeface="Symbol"/>
            </a:endParaRPr>
          </a:p>
          <a:p>
            <a:pPr marL="228600" indent="-228600">
              <a:buNone/>
            </a:pPr>
            <a:r>
              <a:rPr lang="en-US" i="0" dirty="0"/>
              <a:t>    </a:t>
            </a:r>
            <a:r>
              <a:rPr lang="en-US" i="0" baseline="0" dirty="0">
                <a:sym typeface="Symbol"/>
              </a:rPr>
              <a:t> </a:t>
            </a:r>
            <a:r>
              <a:rPr lang="en-US" baseline="0" dirty="0">
                <a:sym typeface="Symbol"/>
              </a:rPr>
              <a:t>x  </a:t>
            </a:r>
            <a:r>
              <a:rPr lang="en-US" i="1" dirty="0">
                <a:sym typeface="Symbol"/>
              </a:rPr>
              <a:t>f </a:t>
            </a:r>
            <a:r>
              <a:rPr lang="en-US" i="0" baseline="30000" dirty="0">
                <a:sym typeface="Symbol"/>
              </a:rPr>
              <a:t>n</a:t>
            </a:r>
            <a:r>
              <a:rPr lang="en-US" dirty="0">
                <a:sym typeface="Symbol"/>
              </a:rPr>
              <a:t> (</a:t>
            </a:r>
            <a:r>
              <a:rPr lang="en-US" i="1" dirty="0">
                <a:sym typeface="Symbol"/>
              </a:rPr>
              <a:t>A</a:t>
            </a:r>
            <a:r>
              <a:rPr lang="en-US" i="0" dirty="0">
                <a:sym typeface="Symbol"/>
              </a:rPr>
              <a:t>) </a:t>
            </a:r>
          </a:p>
          <a:p>
            <a:pPr marL="228600" indent="-228600">
              <a:buNone/>
            </a:pPr>
            <a:endParaRPr lang="en-US" i="0" dirty="0">
              <a:sym typeface="Symbol"/>
            </a:endParaRPr>
          </a:p>
          <a:p>
            <a:pPr marL="228600" indent="-228600">
              <a:buNone/>
            </a:pPr>
            <a:r>
              <a:rPr lang="en-US" i="0" dirty="0">
                <a:sym typeface="Symbol"/>
              </a:rPr>
              <a:t>==&gt; </a:t>
            </a:r>
            <a:r>
              <a:rPr lang="en-US" i="0" baseline="0" dirty="0">
                <a:sym typeface="Symbol"/>
              </a:rPr>
              <a:t> // </a:t>
            </a:r>
            <a:r>
              <a:rPr lang="en-US" i="0" baseline="0" dirty="0" err="1">
                <a:sym typeface="Symbol"/>
              </a:rPr>
              <a:t>monotonicity</a:t>
            </a:r>
            <a:r>
              <a:rPr lang="en-US" i="0" baseline="0" dirty="0">
                <a:sym typeface="Symbol"/>
              </a:rPr>
              <a:t> of f</a:t>
            </a:r>
            <a:br>
              <a:rPr lang="en-US" i="0" baseline="0" dirty="0">
                <a:sym typeface="Symbol"/>
              </a:rPr>
            </a:br>
            <a:r>
              <a:rPr lang="en-US" i="0" baseline="0" dirty="0">
                <a:sym typeface="Symbol"/>
              </a:rPr>
              <a:t> f(</a:t>
            </a:r>
            <a:r>
              <a:rPr lang="en-US" baseline="0" dirty="0">
                <a:sym typeface="Symbol"/>
              </a:rPr>
              <a:t>x)  </a:t>
            </a:r>
            <a:r>
              <a:rPr lang="en-US" i="1" dirty="0">
                <a:sym typeface="Symbol"/>
              </a:rPr>
              <a:t>f </a:t>
            </a:r>
            <a:r>
              <a:rPr lang="en-US" i="0" baseline="30000" dirty="0">
                <a:sym typeface="Symbol"/>
              </a:rPr>
              <a:t>n+1</a:t>
            </a:r>
            <a:r>
              <a:rPr lang="en-US" dirty="0">
                <a:sym typeface="Symbol"/>
              </a:rPr>
              <a:t> (</a:t>
            </a:r>
            <a:r>
              <a:rPr lang="en-US" i="1" dirty="0">
                <a:sym typeface="Symbol"/>
              </a:rPr>
              <a:t>A</a:t>
            </a:r>
            <a:r>
              <a:rPr lang="en-US" i="0" dirty="0">
                <a:sym typeface="Symbol"/>
              </a:rPr>
              <a:t>)</a:t>
            </a:r>
          </a:p>
          <a:p>
            <a:pPr marL="228600" indent="-228600">
              <a:buNone/>
            </a:pPr>
            <a:r>
              <a:rPr lang="en-US" i="0" dirty="0">
                <a:sym typeface="Symbol"/>
              </a:rPr>
              <a:t>==&gt; // f(x)</a:t>
            </a:r>
            <a:r>
              <a:rPr lang="en-US" i="0" baseline="0" dirty="0">
                <a:sym typeface="Symbol"/>
              </a:rPr>
              <a:t> = x</a:t>
            </a:r>
          </a:p>
          <a:p>
            <a:pPr marL="228600" marR="0" indent="-22860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i="0" baseline="0" dirty="0">
                <a:sym typeface="Symbol"/>
              </a:rPr>
              <a:t>     </a:t>
            </a:r>
            <a:r>
              <a:rPr lang="en-US" baseline="0" dirty="0">
                <a:sym typeface="Symbol"/>
              </a:rPr>
              <a:t>x  </a:t>
            </a:r>
            <a:r>
              <a:rPr lang="en-US" i="1" dirty="0">
                <a:sym typeface="Symbol"/>
              </a:rPr>
              <a:t>f </a:t>
            </a:r>
            <a:r>
              <a:rPr lang="en-US" i="0" baseline="30000" dirty="0">
                <a:sym typeface="Symbol"/>
              </a:rPr>
              <a:t>n+1</a:t>
            </a:r>
            <a:r>
              <a:rPr lang="en-US" dirty="0">
                <a:sym typeface="Symbol"/>
              </a:rPr>
              <a:t> (</a:t>
            </a:r>
            <a:r>
              <a:rPr lang="en-US" i="1" dirty="0">
                <a:sym typeface="Symbol"/>
              </a:rPr>
              <a:t>A</a:t>
            </a:r>
            <a:r>
              <a:rPr lang="en-US" i="0" dirty="0">
                <a:sym typeface="Symbol"/>
              </a:rPr>
              <a:t>)</a:t>
            </a:r>
          </a:p>
          <a:p>
            <a:pPr marL="228600" indent="-228600">
              <a:buNone/>
            </a:pPr>
            <a:r>
              <a:rPr lang="en-US" i="0" dirty="0">
                <a:sym typeface="Symbol"/>
              </a:rPr>
              <a:t> </a:t>
            </a:r>
            <a:endParaRPr lang="en-US" i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A39CDBC-8017-4E8F-B9B6-0F2C75591882}" type="slidenum">
              <a:rPr lang="en-US" smtClean="0"/>
              <a:pPr>
                <a:defRPr/>
              </a:pPr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7145946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A39CDBC-8017-4E8F-B9B6-0F2C75591882}" type="slidenum">
              <a:rPr lang="en-US" smtClean="0"/>
              <a:pPr>
                <a:defRPr/>
              </a:pPr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8853669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39CDBC-8017-4E8F-B9B6-0F2C75591882}" type="slidenum">
              <a:rPr lang="en-US" smtClean="0"/>
              <a:pPr>
                <a:defRPr/>
              </a:pPr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9083580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A39CDBC-8017-4E8F-B9B6-0F2C75591882}" type="slidenum">
              <a:rPr lang="en-US" smtClean="0"/>
              <a:pPr>
                <a:defRPr/>
              </a:pPr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3032214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A39CDBC-8017-4E8F-B9B6-0F2C75591882}" type="slidenum">
              <a:rPr lang="en-US" smtClean="0"/>
              <a:pPr>
                <a:defRPr/>
              </a:pPr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3802605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A39CDBC-8017-4E8F-B9B6-0F2C75591882}" type="slidenum">
              <a:rPr lang="en-US" smtClean="0"/>
              <a:pPr>
                <a:defRPr/>
              </a:pPr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1856972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Recall, </a:t>
            </a:r>
            <a:r>
              <a:rPr lang="en-US" dirty="0" err="1"/>
              <a:t>wlp</a:t>
            </a:r>
            <a:r>
              <a:rPr lang="en-US" dirty="0"/>
              <a:t> is sound if:  P </a:t>
            </a:r>
            <a:r>
              <a:rPr lang="en-US" dirty="0">
                <a:sym typeface="Wingdings"/>
              </a:rPr>
              <a:t>==&gt;</a:t>
            </a:r>
            <a:r>
              <a:rPr lang="en-US" baseline="0" dirty="0">
                <a:sym typeface="Wingdings"/>
              </a:rPr>
              <a:t> </a:t>
            </a:r>
            <a:r>
              <a:rPr lang="en-US" baseline="0" dirty="0" err="1">
                <a:sym typeface="Wingdings"/>
              </a:rPr>
              <a:t>wlp</a:t>
            </a:r>
            <a:r>
              <a:rPr lang="en-US" baseline="0" dirty="0">
                <a:sym typeface="Wingdings"/>
              </a:rPr>
              <a:t> S Q  implies {P} S {Q} is also valid. </a:t>
            </a:r>
            <a:br>
              <a:rPr lang="en-US" baseline="0" dirty="0">
                <a:sym typeface="Wingdings"/>
              </a:rPr>
            </a:br>
            <a:br>
              <a:rPr lang="en-US" baseline="0" dirty="0">
                <a:sym typeface="Wingdings"/>
              </a:rPr>
            </a:br>
            <a:r>
              <a:rPr lang="en-US" baseline="0" dirty="0">
                <a:sym typeface="Wingdings"/>
              </a:rPr>
              <a:t>Whereas a complete </a:t>
            </a:r>
            <a:r>
              <a:rPr lang="en-US" baseline="0" dirty="0" err="1">
                <a:sym typeface="Wingdings"/>
              </a:rPr>
              <a:t>wlp</a:t>
            </a:r>
            <a:r>
              <a:rPr lang="en-US" baseline="0" dirty="0">
                <a:sym typeface="Wingdings"/>
              </a:rPr>
              <a:t> means:  if {P} S {Q} then P ==&gt; </a:t>
            </a:r>
            <a:r>
              <a:rPr lang="en-US" baseline="0" dirty="0" err="1">
                <a:sym typeface="Wingdings"/>
              </a:rPr>
              <a:t>wlp</a:t>
            </a:r>
            <a:r>
              <a:rPr lang="en-US" baseline="0" dirty="0">
                <a:sym typeface="Wingdings"/>
              </a:rPr>
              <a:t> S Q. </a:t>
            </a:r>
          </a:p>
          <a:p>
            <a:r>
              <a:rPr lang="en-US" baseline="0" dirty="0">
                <a:sym typeface="Wingdings"/>
              </a:rPr>
              <a:t>So, in this case knowing that P ==&gt; </a:t>
            </a:r>
            <a:r>
              <a:rPr lang="en-US" baseline="0" dirty="0" err="1">
                <a:sym typeface="Wingdings"/>
              </a:rPr>
              <a:t>wlp</a:t>
            </a:r>
            <a:r>
              <a:rPr lang="en-US" baseline="0" dirty="0">
                <a:sym typeface="Wingdings"/>
              </a:rPr>
              <a:t> S Q does not tell us anything about the validity</a:t>
            </a:r>
          </a:p>
          <a:p>
            <a:r>
              <a:rPr lang="en-US" baseline="0" dirty="0">
                <a:sym typeface="Wingdings"/>
              </a:rPr>
              <a:t>of {P} S {Q}. HOWEVER, by contraposition, if P ==&gt; </a:t>
            </a:r>
            <a:r>
              <a:rPr lang="en-US" baseline="0" dirty="0" err="1">
                <a:sym typeface="Wingdings"/>
              </a:rPr>
              <a:t>wlp</a:t>
            </a:r>
            <a:r>
              <a:rPr lang="en-US" baseline="0" dirty="0">
                <a:sym typeface="Wingdings"/>
              </a:rPr>
              <a:t> S Q turns out to be</a:t>
            </a:r>
          </a:p>
          <a:p>
            <a:r>
              <a:rPr lang="en-US" baseline="0" dirty="0">
                <a:sym typeface="Wingdings"/>
              </a:rPr>
              <a:t>invalid, then {P} S {Q} is not valid either. In other words, a bug found using an</a:t>
            </a:r>
          </a:p>
          <a:p>
            <a:r>
              <a:rPr lang="en-US" baseline="0" dirty="0">
                <a:sym typeface="Wingdings"/>
              </a:rPr>
              <a:t>incomplete </a:t>
            </a:r>
            <a:r>
              <a:rPr lang="en-US" baseline="0" dirty="0" err="1">
                <a:sym typeface="Wingdings"/>
              </a:rPr>
              <a:t>wlp</a:t>
            </a:r>
            <a:r>
              <a:rPr lang="en-US" baseline="0" dirty="0">
                <a:sym typeface="Wingdings"/>
              </a:rPr>
              <a:t> would be a real bug.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A39CDBC-8017-4E8F-B9B6-0F2C75591882}" type="slidenum">
              <a:rPr lang="en-US" smtClean="0"/>
              <a:pPr>
                <a:defRPr/>
              </a:pPr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9672993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y&gt;0 </a:t>
            </a:r>
            <a:br>
              <a:rPr lang="en-US" dirty="0"/>
            </a:br>
            <a:r>
              <a:rPr lang="en-US" dirty="0"/>
              <a:t>    then y := y-1 ; if y&gt;0 </a:t>
            </a:r>
            <a:br>
              <a:rPr lang="en-US" dirty="0"/>
            </a:br>
            <a:r>
              <a:rPr lang="en-US" dirty="0"/>
              <a:t>                             then y := y-1 ; assume y&lt;=0</a:t>
            </a:r>
            <a:br>
              <a:rPr lang="en-US" dirty="0"/>
            </a:br>
            <a:r>
              <a:rPr lang="en-US" dirty="0"/>
              <a:t>                             else skip</a:t>
            </a:r>
            <a:br>
              <a:rPr lang="en-US" dirty="0"/>
            </a:br>
            <a:r>
              <a:rPr lang="en-US" dirty="0"/>
              <a:t>    else skip</a:t>
            </a:r>
            <a:br>
              <a:rPr lang="en-US" dirty="0"/>
            </a:br>
            <a:r>
              <a:rPr lang="en-US" dirty="0"/>
              <a:t>{ y = 0 }</a:t>
            </a:r>
            <a:br>
              <a:rPr lang="en-US" dirty="0"/>
            </a:br>
            <a:endParaRPr lang="en-US" dirty="0"/>
          </a:p>
          <a:p>
            <a:r>
              <a:rPr lang="en-US" dirty="0"/>
              <a:t>WLP = (y=0) \/ (y=1) \/ (y&gt;=2</a:t>
            </a:r>
            <a:r>
              <a:rPr lang="en-US" dirty="0">
                <a:sym typeface="Wingdings" pitchFamily="2" charset="2"/>
              </a:rPr>
              <a:t>)</a:t>
            </a:r>
            <a:br>
              <a:rPr lang="en-US" dirty="0"/>
            </a:br>
            <a:r>
              <a:rPr lang="en-US" dirty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39CDBC-8017-4E8F-B9B6-0F2C75591882}" type="slidenum">
              <a:rPr lang="en-US" smtClean="0"/>
              <a:pPr>
                <a:defRPr/>
              </a:pPr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8339986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first example should result in (</a:t>
            </a:r>
            <a:r>
              <a:rPr lang="en-US" dirty="0" err="1"/>
              <a:t>Forall</a:t>
            </a:r>
            <a:r>
              <a:rPr lang="en-US" dirty="0"/>
              <a:t> x’ :: x = y+1) which is equivalent to</a:t>
            </a:r>
            <a:r>
              <a:rPr lang="en-US" baseline="0" dirty="0"/>
              <a:t> just x=y+1.</a:t>
            </a:r>
            <a:endParaRPr lang="en-US" dirty="0"/>
          </a:p>
          <a:p>
            <a:endParaRPr lang="en-US" dirty="0"/>
          </a:p>
          <a:p>
            <a:r>
              <a:rPr lang="en-US" dirty="0"/>
              <a:t>The second example should</a:t>
            </a:r>
            <a:r>
              <a:rPr lang="en-US" baseline="0" dirty="0"/>
              <a:t> result in (</a:t>
            </a:r>
            <a:r>
              <a:rPr lang="en-US" baseline="0" dirty="0" err="1"/>
              <a:t>Forall</a:t>
            </a:r>
            <a:r>
              <a:rPr lang="en-US" baseline="0" dirty="0"/>
              <a:t> x’ : x’&gt;0 : x = </a:t>
            </a:r>
            <a:r>
              <a:rPr lang="en-US" baseline="0" dirty="0" err="1"/>
              <a:t>y+x</a:t>
            </a:r>
            <a:r>
              <a:rPr lang="en-US" baseline="0" dirty="0"/>
              <a:t>’)  which is not a </a:t>
            </a:r>
            <a:r>
              <a:rPr lang="en-US" baseline="0" dirty="0" err="1"/>
              <a:t>satisfiable</a:t>
            </a:r>
            <a:r>
              <a:rPr lang="en-US" baseline="0" dirty="0"/>
              <a:t> formula.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A39CDBC-8017-4E8F-B9B6-0F2C75591882}" type="slidenum">
              <a:rPr lang="en-US" smtClean="0"/>
              <a:pPr>
                <a:defRPr/>
              </a:pPr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693214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(x=y)</a:t>
            </a:r>
            <a:r>
              <a:rPr lang="en-US" baseline="0" dirty="0"/>
              <a:t> [</a:t>
            </a:r>
            <a:r>
              <a:rPr lang="en-US" baseline="0" dirty="0" err="1"/>
              <a:t>y,x+y</a:t>
            </a:r>
            <a:r>
              <a:rPr lang="en-US" baseline="0" dirty="0"/>
              <a:t> / </a:t>
            </a:r>
            <a:r>
              <a:rPr lang="en-US" baseline="0" dirty="0" err="1"/>
              <a:t>x,y</a:t>
            </a:r>
            <a:r>
              <a:rPr lang="en-US" baseline="0" dirty="0"/>
              <a:t>] </a:t>
            </a:r>
            <a:r>
              <a:rPr lang="en-US" baseline="0" dirty="0">
                <a:sym typeface="Wingdings"/>
              </a:rPr>
              <a:t> y=</a:t>
            </a:r>
            <a:r>
              <a:rPr lang="en-US" baseline="0" dirty="0" err="1">
                <a:sym typeface="Wingdings"/>
              </a:rPr>
              <a:t>x+y</a:t>
            </a:r>
            <a:endParaRPr lang="en-US" baseline="0" dirty="0">
              <a:sym typeface="Wingdings"/>
            </a:endParaRPr>
          </a:p>
          <a:p>
            <a:endParaRPr lang="en-US" dirty="0"/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(x=y)</a:t>
            </a:r>
            <a:r>
              <a:rPr lang="en-US" baseline="0" dirty="0"/>
              <a:t> [y/x][</a:t>
            </a:r>
            <a:r>
              <a:rPr lang="en-US" baseline="0" dirty="0" err="1"/>
              <a:t>x+y</a:t>
            </a:r>
            <a:r>
              <a:rPr lang="en-US" baseline="0" dirty="0"/>
              <a:t>/y] </a:t>
            </a:r>
            <a:r>
              <a:rPr lang="en-US" baseline="0" dirty="0">
                <a:sym typeface="Wingdings"/>
              </a:rPr>
              <a:t> </a:t>
            </a:r>
            <a:r>
              <a:rPr lang="en-US" baseline="0" dirty="0" err="1">
                <a:sym typeface="Wingdings"/>
              </a:rPr>
              <a:t>x+y</a:t>
            </a:r>
            <a:r>
              <a:rPr lang="en-US" baseline="0" dirty="0">
                <a:sym typeface="Wingdings"/>
              </a:rPr>
              <a:t>=</a:t>
            </a:r>
            <a:r>
              <a:rPr lang="en-US" baseline="0" dirty="0" err="1">
                <a:sym typeface="Wingdings"/>
              </a:rPr>
              <a:t>x+y</a:t>
            </a:r>
            <a:endParaRPr lang="en-US" baseline="0" dirty="0">
              <a:sym typeface="Wingdings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A39CDBC-8017-4E8F-B9B6-0F2C75591882}" type="slidenum">
              <a:rPr lang="en-US" smtClean="0"/>
              <a:pPr>
                <a:defRPr/>
              </a:pPr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266755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x</a:t>
            </a:r>
            <a:r>
              <a:rPr lang="en-US" baseline="0" dirty="0"/>
              <a:t> := </a:t>
            </a:r>
            <a:r>
              <a:rPr lang="en-US" baseline="0" dirty="0" err="1"/>
              <a:t>inc</a:t>
            </a:r>
            <a:r>
              <a:rPr lang="en-US" baseline="0" dirty="0"/>
              <a:t>(x)  </a:t>
            </a:r>
          </a:p>
          <a:p>
            <a:pPr marL="171450" indent="-171450">
              <a:buFont typeface="Wingdings" charset="2"/>
              <a:buChar char="à"/>
            </a:pPr>
            <a:r>
              <a:rPr lang="en-US" baseline="0" dirty="0">
                <a:sym typeface="Wingdings"/>
              </a:rPr>
              <a:t>transformer to  </a:t>
            </a:r>
            <a:r>
              <a:rPr lang="en-US" baseline="0" dirty="0" err="1">
                <a:sym typeface="Wingdings"/>
              </a:rPr>
              <a:t>var</a:t>
            </a:r>
            <a:r>
              <a:rPr lang="en-US" baseline="0" dirty="0">
                <a:sym typeface="Wingdings"/>
              </a:rPr>
              <a:t> x’ , r in x’:=x ; r:=x’+1 ; x:=r end  </a:t>
            </a:r>
          </a:p>
          <a:p>
            <a:pPr marL="171450" indent="-171450">
              <a:buFont typeface="Wingdings" charset="2"/>
              <a:buChar char="à"/>
            </a:pPr>
            <a:r>
              <a:rPr lang="en-US" baseline="0" dirty="0" err="1">
                <a:sym typeface="Wingdings"/>
              </a:rPr>
              <a:t>wlp</a:t>
            </a:r>
            <a:r>
              <a:rPr lang="en-US" baseline="0" dirty="0">
                <a:sym typeface="Wingdings"/>
              </a:rPr>
              <a:t> (...)  x&gt;1</a:t>
            </a:r>
            <a:br>
              <a:rPr lang="en-US" baseline="0" dirty="0">
                <a:sym typeface="Wingdings"/>
              </a:rPr>
            </a:br>
            <a:r>
              <a:rPr lang="en-US" baseline="0" dirty="0">
                <a:sym typeface="Wingdings"/>
              </a:rPr>
              <a:t>=</a:t>
            </a:r>
            <a:br>
              <a:rPr lang="en-US" baseline="0" dirty="0">
                <a:sym typeface="Wingdings"/>
              </a:rPr>
            </a:br>
            <a:r>
              <a:rPr lang="en-US" baseline="0" dirty="0">
                <a:sym typeface="Wingdings"/>
              </a:rPr>
              <a:t>(</a:t>
            </a:r>
            <a:r>
              <a:rPr lang="en-US" baseline="0" dirty="0" err="1">
                <a:sym typeface="Wingdings"/>
              </a:rPr>
              <a:t>forall</a:t>
            </a:r>
            <a:r>
              <a:rPr lang="en-US" baseline="0" dirty="0">
                <a:sym typeface="Wingdings"/>
              </a:rPr>
              <a:t> x’ :: x+1&gt;1)</a:t>
            </a:r>
            <a:br>
              <a:rPr lang="en-US" baseline="0" dirty="0">
                <a:sym typeface="Wingdings"/>
              </a:rPr>
            </a:br>
            <a:r>
              <a:rPr lang="en-US" baseline="0" dirty="0">
                <a:sym typeface="Wingdings"/>
              </a:rPr>
              <a:t>=</a:t>
            </a:r>
            <a:br>
              <a:rPr lang="en-US" baseline="0" dirty="0">
                <a:sym typeface="Wingdings"/>
              </a:rPr>
            </a:br>
            <a:r>
              <a:rPr lang="en-US" baseline="0" dirty="0">
                <a:sym typeface="Wingdings"/>
              </a:rPr>
              <a:t>x+1 &gt; 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A39CDBC-8017-4E8F-B9B6-0F2C75591882}" type="slidenum">
              <a:rPr lang="en-US" smtClean="0"/>
              <a:pPr>
                <a:defRPr/>
              </a:pPr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7166449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 err="1">
                <a:sym typeface="Symbol"/>
              </a:rPr>
              <a:t>wlp</a:t>
            </a:r>
            <a:r>
              <a:rPr lang="en-US" dirty="0">
                <a:sym typeface="Symbol"/>
              </a:rPr>
              <a:t>  (</a:t>
            </a:r>
            <a:r>
              <a:rPr lang="en-US" i="1" dirty="0">
                <a:sym typeface="Symbol"/>
              </a:rPr>
              <a:t>x</a:t>
            </a:r>
            <a:r>
              <a:rPr lang="en-US" dirty="0">
                <a:sym typeface="Symbol"/>
              </a:rPr>
              <a:t> := </a:t>
            </a:r>
            <a:r>
              <a:rPr lang="en-US" i="1" dirty="0">
                <a:sym typeface="Symbol"/>
              </a:rPr>
              <a:t>drop</a:t>
            </a:r>
            <a:r>
              <a:rPr lang="en-US" dirty="0">
                <a:sym typeface="Symbol"/>
              </a:rPr>
              <a:t>(</a:t>
            </a:r>
            <a:r>
              <a:rPr lang="en-US" i="1" dirty="0">
                <a:sym typeface="Symbol"/>
              </a:rPr>
              <a:t>x</a:t>
            </a:r>
            <a:r>
              <a:rPr lang="en-US" dirty="0">
                <a:sym typeface="Symbol"/>
              </a:rPr>
              <a:t>))   (</a:t>
            </a:r>
            <a:r>
              <a:rPr lang="en-US" i="1" dirty="0">
                <a:sym typeface="Symbol"/>
              </a:rPr>
              <a:t>x</a:t>
            </a:r>
            <a:r>
              <a:rPr lang="en-US" dirty="0">
                <a:sym typeface="Symbol"/>
              </a:rPr>
              <a:t>&lt;7)  </a:t>
            </a:r>
            <a:br>
              <a:rPr lang="en-US" dirty="0">
                <a:sym typeface="Symbol"/>
              </a:rPr>
            </a:br>
            <a:endParaRPr lang="en-US" dirty="0">
              <a:sym typeface="Symbol"/>
            </a:endParaRPr>
          </a:p>
          <a:p>
            <a:r>
              <a:rPr lang="en-US" dirty="0">
                <a:sym typeface="Symbol"/>
              </a:rPr>
              <a:t>= </a:t>
            </a:r>
          </a:p>
          <a:p>
            <a:r>
              <a:rPr lang="en-US" dirty="0" err="1">
                <a:sym typeface="Symbol"/>
              </a:rPr>
              <a:t>wlp</a:t>
            </a:r>
            <a:r>
              <a:rPr lang="en-US" dirty="0">
                <a:sym typeface="Symbol"/>
              </a:rPr>
              <a:t> (</a:t>
            </a:r>
            <a:r>
              <a:rPr lang="en-US" dirty="0" err="1">
                <a:sym typeface="Symbol"/>
              </a:rPr>
              <a:t>var</a:t>
            </a:r>
            <a:r>
              <a:rPr lang="en-US" dirty="0">
                <a:sym typeface="Symbol"/>
              </a:rPr>
              <a:t> </a:t>
            </a:r>
            <a:r>
              <a:rPr lang="en-US" dirty="0" err="1">
                <a:sym typeface="Symbol"/>
              </a:rPr>
              <a:t>x’,r</a:t>
            </a:r>
            <a:r>
              <a:rPr lang="en-US" dirty="0">
                <a:sym typeface="Symbol"/>
              </a:rPr>
              <a:t> in x’ := x</a:t>
            </a:r>
            <a:r>
              <a:rPr lang="en-US" baseline="0" dirty="0">
                <a:sym typeface="Symbol"/>
              </a:rPr>
              <a:t> ; assert x’&gt;0 ; assume r&lt;x’ ; x := r)  x&lt;7</a:t>
            </a:r>
          </a:p>
          <a:p>
            <a:r>
              <a:rPr lang="en-US" baseline="0" dirty="0">
                <a:sym typeface="Symbol"/>
              </a:rPr>
              <a:t>=</a:t>
            </a:r>
          </a:p>
          <a:p>
            <a:r>
              <a:rPr lang="en-US" baseline="0" dirty="0">
                <a:sym typeface="Symbol"/>
              </a:rPr>
              <a:t>(</a:t>
            </a:r>
            <a:r>
              <a:rPr lang="en-US" baseline="0" dirty="0" err="1">
                <a:sym typeface="Symbol"/>
              </a:rPr>
              <a:t>Forall</a:t>
            </a:r>
            <a:r>
              <a:rPr lang="en-US" baseline="0" dirty="0">
                <a:sym typeface="Symbol"/>
              </a:rPr>
              <a:t> r :: x&gt;0 /\ (r&lt;x  =&gt; r&lt;7))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A39CDBC-8017-4E8F-B9B6-0F2C75591882}" type="slidenum">
              <a:rPr lang="en-US" smtClean="0"/>
              <a:pPr>
                <a:defRPr/>
              </a:pPr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8243107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A39CDBC-8017-4E8F-B9B6-0F2C75591882}" type="slidenum">
              <a:rPr lang="en-US" smtClean="0"/>
              <a:pPr>
                <a:defRPr/>
              </a:pPr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89135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685800" y="1346947"/>
            <a:ext cx="7772400" cy="80683"/>
          </a:xfrm>
          <a:prstGeom prst="rect">
            <a:avLst/>
          </a:prstGeom>
          <a:blipFill dpi="0" rotWithShape="1">
            <a:blip r:embed="rId2">
              <a:alphaModFix amt="8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685800" y="4282763"/>
            <a:ext cx="7772400" cy="80683"/>
          </a:xfrm>
          <a:prstGeom prst="rect">
            <a:avLst/>
          </a:prstGeom>
          <a:blipFill dpi="0" rotWithShape="1">
            <a:blip r:embed="rId2">
              <a:alphaModFix amt="8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685800" y="1484779"/>
            <a:ext cx="7772400" cy="2743200"/>
          </a:xfrm>
          <a:prstGeom prst="rect">
            <a:avLst/>
          </a:prstGeom>
          <a:blipFill dpi="0" rotWithShape="1">
            <a:blip r:embed="rId2">
              <a:alphaModFix amt="8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/>
          <p:cNvGrpSpPr>
            <a:grpSpLocks noChangeAspect="1"/>
          </p:cNvGrpSpPr>
          <p:nvPr/>
        </p:nvGrpSpPr>
        <p:grpSpPr>
          <a:xfrm>
            <a:off x="7234780" y="4107023"/>
            <a:ext cx="914400" cy="914400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88670" y="1432223"/>
            <a:ext cx="759333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6400" b="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02386" y="4389120"/>
            <a:ext cx="5918454" cy="1069848"/>
          </a:xfrm>
        </p:spPr>
        <p:txBody>
          <a:bodyPr>
            <a:norm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8-11-2009</a:t>
            </a:r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12805" y="6272785"/>
            <a:ext cx="4745736" cy="365125"/>
          </a:xfrm>
        </p:spPr>
        <p:txBody>
          <a:bodyPr/>
          <a:lstStyle/>
          <a:p>
            <a:pPr>
              <a:defRPr/>
            </a:pPr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244280" y="4227195"/>
            <a:ext cx="895401" cy="640080"/>
          </a:xfrm>
        </p:spPr>
        <p:txBody>
          <a:bodyPr/>
          <a:lstStyle>
            <a:lvl1pPr>
              <a:defRPr sz="2800" b="1"/>
            </a:lvl1pPr>
          </a:lstStyle>
          <a:p>
            <a:pPr>
              <a:defRPr/>
            </a:pPr>
            <a:fld id="{58A332FB-769C-4CBB-BDDE-0DC26211CC04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0798933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004955"/>
          </a:xfrm>
          <a:gradFill flip="none" rotWithShape="1">
            <a:gsLst>
              <a:gs pos="0">
                <a:schemeClr val="bg1">
                  <a:tint val="90000"/>
                  <a:lumMod val="110000"/>
                </a:schemeClr>
              </a:gs>
              <a:gs pos="100000">
                <a:srgbClr val="C00000">
                  <a:alpha val="27000"/>
                  <a:lumMod val="66000"/>
                </a:srgbClr>
              </a:gs>
            </a:gsLst>
            <a:lin ang="5400000" scaled="1"/>
            <a:tileRect/>
          </a:gradFill>
        </p:spPr>
        <p:txBody>
          <a:bodyPr>
            <a:normAutofit/>
          </a:bodyPr>
          <a:lstStyle>
            <a:lvl1pPr algn="ctr">
              <a:defRPr sz="36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383957"/>
            <a:ext cx="7772400" cy="4621427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8-11-2009</a:t>
            </a:r>
            <a:endParaRPr lang="nl-N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nl-N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8A332FB-769C-4CBB-BDDE-0DC26211CC04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1849604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9144000" cy="1940010"/>
          </a:xfrm>
          <a:prstGeom prst="rect">
            <a:avLst/>
          </a:prstGeom>
          <a:blipFill dpi="0" rotWithShape="1">
            <a:blip r:embed="rId2">
              <a:alphaModFix amt="8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5346" y="1225296"/>
            <a:ext cx="696087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6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24330" y="5020056"/>
            <a:ext cx="6789420" cy="1066800"/>
          </a:xfrm>
        </p:spPr>
        <p:txBody>
          <a:bodyPr anchor="t">
            <a:normAutofit/>
          </a:bodyPr>
          <a:lstStyle>
            <a:lvl1pPr marL="0" indent="0">
              <a:buNone/>
              <a:defRPr sz="1800" b="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45251" y="6272785"/>
            <a:ext cx="1983232" cy="365125"/>
          </a:xfrm>
        </p:spPr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/>
              <a:t>8-11-2009</a:t>
            </a:r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636099" y="6272784"/>
            <a:ext cx="4745736" cy="365125"/>
          </a:xfrm>
        </p:spPr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pPr>
              <a:defRPr/>
            </a:pPr>
            <a:endParaRPr lang="nl-NL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633862" y="2430623"/>
            <a:ext cx="914400" cy="914400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450" y="2508607"/>
            <a:ext cx="891224" cy="720332"/>
          </a:xfrm>
        </p:spPr>
        <p:txBody>
          <a:bodyPr/>
          <a:lstStyle>
            <a:lvl1pPr>
              <a:defRPr sz="2800"/>
            </a:lvl1pPr>
          </a:lstStyle>
          <a:p>
            <a:pPr>
              <a:defRPr/>
            </a:pPr>
            <a:fld id="{58A332FB-769C-4CBB-BDDE-0DC26211CC04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2211081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60"/>
            <a:ext cx="365760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92218" y="2194560"/>
            <a:ext cx="365760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8-11-2009</a:t>
            </a:r>
            <a:endParaRPr lang="nl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nl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8A332FB-769C-4CBB-BDDE-0DC26211CC04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859211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048256"/>
            <a:ext cx="365760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2743200"/>
            <a:ext cx="365760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20793" y="2048256"/>
            <a:ext cx="365760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20793" y="2743200"/>
            <a:ext cx="365760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8-11-2009</a:t>
            </a:r>
            <a:endParaRPr lang="nl-N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nl-N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8A332FB-769C-4CBB-BDDE-0DC26211CC04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084682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/>
              <a:t>8-11-2009</a:t>
            </a:r>
            <a:endParaRPr lang="nl-N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pPr>
              <a:defRPr/>
            </a:pPr>
            <a:endParaRPr lang="nl-N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8A332FB-769C-4CBB-BDDE-0DC26211CC04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865837250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8-11-2009</a:t>
            </a:r>
            <a:endParaRPr lang="nl-N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nl-N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8A332FB-769C-4CBB-BDDE-0DC26211CC04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0447256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6227806" y="1"/>
            <a:ext cx="2916194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12230" y="685800"/>
            <a:ext cx="2400300" cy="1737360"/>
          </a:xfrm>
        </p:spPr>
        <p:txBody>
          <a:bodyPr anchor="b">
            <a:normAutofit/>
          </a:bodyPr>
          <a:lstStyle>
            <a:lvl1pPr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685800"/>
            <a:ext cx="5033772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12230" y="2423160"/>
            <a:ext cx="24003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35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12" name="Group 11"/>
          <p:cNvGrpSpPr/>
          <p:nvPr/>
        </p:nvGrpSpPr>
        <p:grpSpPr>
          <a:xfrm>
            <a:off x="8522664" y="6255258"/>
            <a:ext cx="393192" cy="393192"/>
            <a:chOff x="8532189" y="5068824"/>
            <a:chExt cx="393192" cy="393192"/>
          </a:xfrm>
        </p:grpSpPr>
        <p:sp>
          <p:nvSpPr>
            <p:cNvPr id="13" name="Oval 12"/>
            <p:cNvSpPr>
              <a:spLocks noChangeAspect="1"/>
            </p:cNvSpPr>
            <p:nvPr/>
          </p:nvSpPr>
          <p:spPr>
            <a:xfrm>
              <a:off x="8532189" y="5068824"/>
              <a:ext cx="393192" cy="39319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14" name="Oval 13"/>
            <p:cNvSpPr>
              <a:spLocks noChangeAspect="1"/>
            </p:cNvSpPr>
            <p:nvPr/>
          </p:nvSpPr>
          <p:spPr>
            <a:xfrm>
              <a:off x="8568766" y="5105400"/>
              <a:ext cx="320039" cy="320040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8-11-2009</a:t>
            </a:r>
            <a:endParaRPr lang="nl-NL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nl-NL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8A332FB-769C-4CBB-BDDE-0DC26211CC04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3009962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6227806" y="1"/>
            <a:ext cx="2916194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12230" y="685800"/>
            <a:ext cx="2400300" cy="1737360"/>
          </a:xfrm>
        </p:spPr>
        <p:txBody>
          <a:bodyPr anchor="b">
            <a:normAutofit/>
          </a:bodyPr>
          <a:lstStyle>
            <a:lvl1pPr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6227805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Drag picture to placeholder or click icon to add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12230" y="2423160"/>
            <a:ext cx="24003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35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12" name="Group 11"/>
          <p:cNvGrpSpPr/>
          <p:nvPr/>
        </p:nvGrpSpPr>
        <p:grpSpPr>
          <a:xfrm>
            <a:off x="8522664" y="6255258"/>
            <a:ext cx="393192" cy="393192"/>
            <a:chOff x="8532189" y="5068824"/>
            <a:chExt cx="393192" cy="393192"/>
          </a:xfrm>
        </p:grpSpPr>
        <p:sp>
          <p:nvSpPr>
            <p:cNvPr id="13" name="Oval 12"/>
            <p:cNvSpPr>
              <a:spLocks noChangeAspect="1"/>
            </p:cNvSpPr>
            <p:nvPr/>
          </p:nvSpPr>
          <p:spPr>
            <a:xfrm>
              <a:off x="8532189" y="5068824"/>
              <a:ext cx="393192" cy="39319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14" name="Oval 13"/>
            <p:cNvSpPr>
              <a:spLocks noChangeAspect="1"/>
            </p:cNvSpPr>
            <p:nvPr/>
          </p:nvSpPr>
          <p:spPr>
            <a:xfrm>
              <a:off x="8568766" y="5105400"/>
              <a:ext cx="320039" cy="320040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8-11-2009</a:t>
            </a:r>
            <a:endParaRPr lang="nl-NL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8A332FB-769C-4CBB-BDDE-0DC26211CC04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5819518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8-11-2009</a:t>
            </a:r>
            <a:endParaRPr lang="nl-N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nl-N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8A332FB-769C-4CBB-BDDE-0DC26211CC04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7235000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533400"/>
            <a:ext cx="1914525" cy="5638800"/>
          </a:xfrm>
        </p:spPr>
        <p:txBody>
          <a:bodyPr vert="eaVert"/>
          <a:lstStyle>
            <a:lvl1pPr>
              <a:defRPr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00100" y="533400"/>
            <a:ext cx="5629275" cy="5638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8-11-2009</a:t>
            </a:r>
            <a:endParaRPr lang="nl-N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nl-N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8A332FB-769C-4CBB-BDDE-0DC26211CC04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560321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/>
          <p:cNvGrpSpPr/>
          <p:nvPr/>
        </p:nvGrpSpPr>
        <p:grpSpPr>
          <a:xfrm>
            <a:off x="8522664" y="6255258"/>
            <a:ext cx="393192" cy="393192"/>
            <a:chOff x="8532189" y="5068824"/>
            <a:chExt cx="393192" cy="393192"/>
          </a:xfrm>
        </p:grpSpPr>
        <p:sp>
          <p:nvSpPr>
            <p:cNvPr id="8" name="Oval 7"/>
            <p:cNvSpPr>
              <a:spLocks noChangeAspect="1"/>
            </p:cNvSpPr>
            <p:nvPr/>
          </p:nvSpPr>
          <p:spPr>
            <a:xfrm>
              <a:off x="8532189" y="5068824"/>
              <a:ext cx="393192" cy="393192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9" name="Oval 8"/>
            <p:cNvSpPr>
              <a:spLocks noChangeAspect="1"/>
            </p:cNvSpPr>
            <p:nvPr/>
          </p:nvSpPr>
          <p:spPr>
            <a:xfrm>
              <a:off x="8568766" y="5105400"/>
              <a:ext cx="320039" cy="320040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0" y="484632"/>
            <a:ext cx="7772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21408"/>
            <a:ext cx="7772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992368" y="6272785"/>
            <a:ext cx="24551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/>
              <a:t>8-11-2009</a:t>
            </a:r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272785"/>
            <a:ext cx="474573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pPr>
              <a:defRPr/>
            </a:pPr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483346" y="6272785"/>
            <a:ext cx="4800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 b="1" spc="-70" baseline="0">
                <a:solidFill>
                  <a:srgbClr val="FFFFFF"/>
                </a:solidFill>
                <a:latin typeface="+mn-lt"/>
              </a:defRPr>
            </a:lvl1pPr>
          </a:lstStyle>
          <a:p>
            <a:pPr>
              <a:defRPr/>
            </a:pPr>
            <a:fld id="{58A332FB-769C-4CBB-BDDE-0DC26211CC04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7779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84" r:id="rId1"/>
    <p:sldLayoutId id="2147484085" r:id="rId2"/>
    <p:sldLayoutId id="2147484086" r:id="rId3"/>
    <p:sldLayoutId id="2147484087" r:id="rId4"/>
    <p:sldLayoutId id="2147484088" r:id="rId5"/>
    <p:sldLayoutId id="2147484089" r:id="rId6"/>
    <p:sldLayoutId id="2147484090" r:id="rId7"/>
    <p:sldLayoutId id="2147484091" r:id="rId8"/>
    <p:sldLayoutId id="2147484092" r:id="rId9"/>
    <p:sldLayoutId id="2147484093" r:id="rId10"/>
    <p:sldLayoutId id="2147484094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200" b="0" kern="1200" cap="all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wishnu@cs.uu.nl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1.xml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2.xml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comments" Target="../comments/comment3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98500" y="1485900"/>
            <a:ext cx="7759701" cy="2819400"/>
          </a:xfrm>
        </p:spPr>
        <p:txBody>
          <a:bodyPr/>
          <a:lstStyle/>
          <a:p>
            <a:pPr algn="ctr" eaLnBrk="1" hangingPunct="1"/>
            <a:r>
              <a:rPr sz="4400" dirty="0"/>
              <a:t>Predicate</a:t>
            </a:r>
            <a:r>
              <a:rPr lang="en-US" sz="4400" dirty="0"/>
              <a:t>-t</a:t>
            </a:r>
            <a:r>
              <a:rPr sz="4400" dirty="0"/>
              <a:t>ransformer</a:t>
            </a:r>
            <a:r>
              <a:rPr lang="en-US" sz="4400" dirty="0"/>
              <a:t>–based Verification</a:t>
            </a:r>
            <a:br>
              <a:rPr lang="en-US" sz="8000" dirty="0"/>
            </a:br>
            <a:r>
              <a:rPr lang="en-US" sz="3200" dirty="0"/>
              <a:t>(LN Chapter 2)</a:t>
            </a:r>
            <a:endParaRPr sz="8000" dirty="0"/>
          </a:p>
        </p:txBody>
      </p:sp>
      <p:sp>
        <p:nvSpPr>
          <p:cNvPr id="7170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838199" y="5080000"/>
            <a:ext cx="7620002" cy="990600"/>
          </a:xfrm>
        </p:spPr>
        <p:txBody>
          <a:bodyPr>
            <a:normAutofit fontScale="92500" lnSpcReduction="20000"/>
          </a:bodyPr>
          <a:lstStyle/>
          <a:p>
            <a:pPr algn="r"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2400" dirty="0" err="1"/>
              <a:t>Wishnu</a:t>
            </a:r>
            <a:r>
              <a:rPr lang="en-US" sz="2400" dirty="0"/>
              <a:t> </a:t>
            </a:r>
            <a:r>
              <a:rPr lang="en-US" sz="2400" dirty="0" err="1"/>
              <a:t>Prasetya</a:t>
            </a:r>
            <a:endParaRPr lang="en-US" sz="2000" dirty="0">
              <a:hlinkClick r:id="rId3"/>
            </a:endParaRPr>
          </a:p>
          <a:p>
            <a:pPr algn="r"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2000" dirty="0">
                <a:hlinkClick r:id="rId3"/>
              </a:rPr>
              <a:t>wishnu@cs.uu.nl</a:t>
            </a:r>
            <a:endParaRPr lang="en-US" sz="2000" dirty="0"/>
          </a:p>
          <a:p>
            <a:pPr algn="r"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2000" dirty="0" err="1">
                <a:solidFill>
                  <a:schemeClr val="accent2"/>
                </a:solidFill>
              </a:rPr>
              <a:t>www.cs.uu.nl</a:t>
            </a:r>
            <a:r>
              <a:rPr lang="en-US" sz="2000" dirty="0">
                <a:solidFill>
                  <a:schemeClr val="accent2"/>
                </a:solidFill>
              </a:rPr>
              <a:t>/docs/</a:t>
            </a:r>
            <a:r>
              <a:rPr lang="en-US" sz="2000" dirty="0" err="1">
                <a:solidFill>
                  <a:schemeClr val="accent2"/>
                </a:solidFill>
              </a:rPr>
              <a:t>vakken</a:t>
            </a:r>
            <a:r>
              <a:rPr lang="en-US" sz="2000" dirty="0">
                <a:solidFill>
                  <a:schemeClr val="accent2"/>
                </a:solidFill>
              </a:rPr>
              <a:t>/</a:t>
            </a:r>
            <a:r>
              <a:rPr lang="en-US" sz="2000" dirty="0" err="1">
                <a:solidFill>
                  <a:schemeClr val="accent2"/>
                </a:solidFill>
              </a:rPr>
              <a:t>pv</a:t>
            </a:r>
            <a:endParaRPr lang="en-US" sz="2000" dirty="0">
              <a:solidFill>
                <a:schemeClr val="accent2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Plan</a:t>
            </a:r>
          </a:p>
        </p:txBody>
      </p:sp>
      <p:sp>
        <p:nvSpPr>
          <p:cNvPr id="8195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Hoare logic</a:t>
            </a:r>
          </a:p>
          <a:p>
            <a:r>
              <a:rPr lang="en-US" dirty="0"/>
              <a:t>Verification using predicate transformers</a:t>
            </a:r>
          </a:p>
          <a:p>
            <a:r>
              <a:rPr lang="en-US" dirty="0"/>
              <a:t>Verification with “Guarded Command Language” (GCL)</a:t>
            </a:r>
          </a:p>
          <a:p>
            <a:r>
              <a:rPr lang="en-US" dirty="0"/>
              <a:t>Objects and exceptions</a:t>
            </a:r>
          </a:p>
          <a:p>
            <a:r>
              <a:rPr lang="en-US" dirty="0"/>
              <a:t>Should at end give an answer to “how to mechanically verify a real program”.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433BD62-7E14-475C-9849-27C28F6B3327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ounded Rectangle 9"/>
          <p:cNvSpPr/>
          <p:nvPr/>
        </p:nvSpPr>
        <p:spPr>
          <a:xfrm>
            <a:off x="5499100" y="3448434"/>
            <a:ext cx="2578100" cy="684582"/>
          </a:xfrm>
          <a:prstGeom prst="roundRect">
            <a:avLst/>
          </a:prstGeom>
          <a:solidFill>
            <a:srgbClr val="FFFF00">
              <a:alpha val="7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18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Specifying programs</a:t>
            </a:r>
            <a:endParaRPr lang="nl-NL" dirty="0"/>
          </a:p>
        </p:txBody>
      </p:sp>
      <p:sp>
        <p:nvSpPr>
          <p:cNvPr id="9219" name="Tijdelijke aanduiding voor inhou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dirty="0"/>
              <a:t>We can use “Hoare triples” :</a:t>
            </a:r>
            <a:br>
              <a:rPr lang="en-US" dirty="0"/>
            </a:br>
            <a:br>
              <a:rPr lang="en-US" dirty="0"/>
            </a:br>
            <a:r>
              <a:rPr lang="en-US" dirty="0"/>
              <a:t>	</a:t>
            </a:r>
            <a:endParaRPr lang="en-US" dirty="0">
              <a:sym typeface="Symbol" pitchFamily="18" charset="2"/>
            </a:endParaRPr>
          </a:p>
          <a:p>
            <a:pPr eaLnBrk="1" hangingPunct="1"/>
            <a:endParaRPr lang="en-US" i="1" dirty="0">
              <a:sym typeface="Wingdings" pitchFamily="2" charset="2"/>
            </a:endParaRPr>
          </a:p>
          <a:p>
            <a:pPr eaLnBrk="1" hangingPunct="1"/>
            <a:endParaRPr lang="en-US" i="1" dirty="0">
              <a:sym typeface="Wingdings" pitchFamily="2" charset="2"/>
            </a:endParaRPr>
          </a:p>
          <a:p>
            <a:pPr eaLnBrk="1" hangingPunct="1"/>
            <a:endParaRPr lang="en-US" i="1" dirty="0">
              <a:sym typeface="Wingdings" pitchFamily="2" charset="2"/>
            </a:endParaRPr>
          </a:p>
          <a:p>
            <a:pPr eaLnBrk="1" hangingPunct="1"/>
            <a:endParaRPr lang="en-US" i="1" dirty="0">
              <a:sym typeface="Wingdings" pitchFamily="2" charset="2"/>
            </a:endParaRPr>
          </a:p>
          <a:p>
            <a:pPr eaLnBrk="1" hangingPunct="1"/>
            <a:r>
              <a:rPr lang="en-US" i="1" dirty="0">
                <a:sym typeface="Wingdings" pitchFamily="2" charset="2"/>
              </a:rPr>
              <a:t>total </a:t>
            </a:r>
            <a:r>
              <a:rPr lang="en-US" dirty="0">
                <a:sym typeface="Wingdings" pitchFamily="2" charset="2"/>
              </a:rPr>
              <a:t>and </a:t>
            </a:r>
            <a:r>
              <a:rPr lang="en-US" i="1" dirty="0">
                <a:sym typeface="Wingdings" pitchFamily="2" charset="2"/>
              </a:rPr>
              <a:t>partial correctness </a:t>
            </a:r>
            <a:r>
              <a:rPr lang="en-US" dirty="0">
                <a:sym typeface="Wingdings" pitchFamily="2" charset="2"/>
              </a:rPr>
              <a:t>interpretation.</a:t>
            </a:r>
            <a:endParaRPr lang="en-US" dirty="0">
              <a:sym typeface="Symbol" pitchFamily="18" charset="2"/>
            </a:endParaRPr>
          </a:p>
          <a:p>
            <a:pPr eaLnBrk="1" hangingPunct="1">
              <a:buFont typeface="Wingdings" pitchFamily="2" charset="2"/>
              <a:buNone/>
            </a:pPr>
            <a:endParaRPr lang="nl-NL" dirty="0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174EE3C-B5A6-4179-981E-3B826A827077}" type="slidenum">
              <a:rPr lang="en-US"/>
              <a:pPr>
                <a:defRPr/>
              </a:pPr>
              <a:t>3</a:t>
            </a:fld>
            <a:endParaRPr lang="en-US"/>
          </a:p>
        </p:txBody>
      </p:sp>
      <p:sp>
        <p:nvSpPr>
          <p:cNvPr id="5" name="Tekstvak 4"/>
          <p:cNvSpPr txBox="1"/>
          <p:nvPr/>
        </p:nvSpPr>
        <p:spPr>
          <a:xfrm>
            <a:off x="409827" y="3544243"/>
            <a:ext cx="8315073" cy="46166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>
              <a:defRPr/>
            </a:pPr>
            <a:r>
              <a:rPr lang="en-US" dirty="0">
                <a:solidFill>
                  <a:srgbClr val="7030A0"/>
                </a:solidFill>
              </a:rPr>
              <a:t>{ #S&gt;0 </a:t>
            </a:r>
            <a:r>
              <a:rPr lang="en-US">
                <a:solidFill>
                  <a:srgbClr val="7030A0"/>
                </a:solidFill>
              </a:rPr>
              <a:t>}  </a:t>
            </a:r>
            <a:r>
              <a:rPr lang="en-US"/>
              <a:t>max(S) </a:t>
            </a:r>
            <a:r>
              <a:rPr lang="en-US" i="1"/>
              <a:t>body</a:t>
            </a:r>
            <a:r>
              <a:rPr lang="en-US"/>
              <a:t>  </a:t>
            </a:r>
            <a:r>
              <a:rPr lang="en-US" dirty="0">
                <a:solidFill>
                  <a:srgbClr val="7030A0"/>
                </a:solidFill>
              </a:rPr>
              <a:t>{ return </a:t>
            </a:r>
            <a:r>
              <a:rPr lang="en-US" dirty="0">
                <a:solidFill>
                  <a:srgbClr val="7030A0"/>
                </a:solidFill>
                <a:sym typeface="Symbol"/>
              </a:rPr>
              <a:t> S  /\  (x: </a:t>
            </a:r>
            <a:r>
              <a:rPr lang="en-US" dirty="0" err="1">
                <a:solidFill>
                  <a:srgbClr val="7030A0"/>
                </a:solidFill>
                <a:sym typeface="Symbol"/>
              </a:rPr>
              <a:t>xS</a:t>
            </a:r>
            <a:r>
              <a:rPr lang="en-US" dirty="0">
                <a:solidFill>
                  <a:srgbClr val="7030A0"/>
                </a:solidFill>
                <a:sym typeface="Symbol"/>
              </a:rPr>
              <a:t> : </a:t>
            </a:r>
            <a:r>
              <a:rPr lang="en-US" dirty="0" err="1">
                <a:solidFill>
                  <a:srgbClr val="7030A0"/>
                </a:solidFill>
                <a:sym typeface="Symbol"/>
              </a:rPr>
              <a:t>return≥x</a:t>
            </a:r>
            <a:r>
              <a:rPr lang="en-US" dirty="0">
                <a:solidFill>
                  <a:srgbClr val="7030A0"/>
                </a:solidFill>
                <a:sym typeface="Symbol"/>
              </a:rPr>
              <a:t>) }</a:t>
            </a:r>
            <a:endParaRPr lang="nl-NL" dirty="0">
              <a:solidFill>
                <a:srgbClr val="7030A0"/>
              </a:solidFill>
            </a:endParaRPr>
          </a:p>
        </p:txBody>
      </p:sp>
      <p:sp>
        <p:nvSpPr>
          <p:cNvPr id="6" name="Rechthoek 5"/>
          <p:cNvSpPr/>
          <p:nvPr/>
        </p:nvSpPr>
        <p:spPr>
          <a:xfrm>
            <a:off x="409827" y="2194720"/>
            <a:ext cx="8315073" cy="874712"/>
          </a:xfrm>
          <a:prstGeom prst="rect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nl-NL"/>
          </a:p>
        </p:txBody>
      </p:sp>
      <p:sp>
        <p:nvSpPr>
          <p:cNvPr id="8" name="Tekstvak 4"/>
          <p:cNvSpPr txBox="1"/>
          <p:nvPr/>
        </p:nvSpPr>
        <p:spPr>
          <a:xfrm>
            <a:off x="1543259" y="2401243"/>
            <a:ext cx="6181558" cy="461665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defRPr/>
            </a:pPr>
            <a:r>
              <a:rPr lang="en-US" dirty="0">
                <a:solidFill>
                  <a:srgbClr val="7030A0"/>
                </a:solidFill>
              </a:rPr>
              <a:t>{ true }   </a:t>
            </a:r>
            <a:r>
              <a:rPr lang="en-US" dirty="0" err="1"/>
              <a:t>plusOne</a:t>
            </a:r>
            <a:r>
              <a:rPr lang="en-US" dirty="0"/>
              <a:t>(x) </a:t>
            </a:r>
            <a:r>
              <a:rPr lang="en-US" i="1" dirty="0"/>
              <a:t>body</a:t>
            </a:r>
            <a:r>
              <a:rPr lang="en-US" dirty="0"/>
              <a:t>   </a:t>
            </a:r>
            <a:r>
              <a:rPr lang="en-US" dirty="0">
                <a:solidFill>
                  <a:srgbClr val="7030A0"/>
                </a:solidFill>
              </a:rPr>
              <a:t>{ return = x+1 </a:t>
            </a:r>
            <a:r>
              <a:rPr lang="en-US" dirty="0">
                <a:solidFill>
                  <a:srgbClr val="7030A0"/>
                </a:solidFill>
                <a:sym typeface="Symbol"/>
              </a:rPr>
              <a:t>}</a:t>
            </a:r>
            <a:endParaRPr lang="nl-NL" dirty="0">
              <a:solidFill>
                <a:srgbClr val="7030A0"/>
              </a:solidFill>
            </a:endParaRPr>
          </a:p>
        </p:txBody>
      </p:sp>
      <p:sp>
        <p:nvSpPr>
          <p:cNvPr id="9" name="Rechthoek 5"/>
          <p:cNvSpPr/>
          <p:nvPr/>
        </p:nvSpPr>
        <p:spPr>
          <a:xfrm>
            <a:off x="409827" y="3337720"/>
            <a:ext cx="8315073" cy="874712"/>
          </a:xfrm>
          <a:prstGeom prst="rect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nl-NL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nl-NL" sz="3600" dirty="0" err="1"/>
              <a:t>Hoare</a:t>
            </a:r>
            <a:r>
              <a:rPr lang="nl-NL" sz="3600" dirty="0"/>
              <a:t> Logic</a:t>
            </a:r>
          </a:p>
        </p:txBody>
      </p:sp>
      <p:sp>
        <p:nvSpPr>
          <p:cNvPr id="10243" name="Tijdelijke aanduiding voor inhou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dirty="0"/>
              <a:t>Provides a set of “inference rules” to prove the validity of Hoare triples. Example:</a:t>
            </a:r>
          </a:p>
          <a:p>
            <a:pPr eaLnBrk="1" hangingPunct="1"/>
            <a:endParaRPr lang="en-US" dirty="0"/>
          </a:p>
          <a:p>
            <a:pPr eaLnBrk="1" hangingPunct="1"/>
            <a:endParaRPr lang="en-US" dirty="0"/>
          </a:p>
          <a:p>
            <a:pPr eaLnBrk="1" hangingPunct="1"/>
            <a:endParaRPr lang="en-US" dirty="0"/>
          </a:p>
          <a:p>
            <a:pPr eaLnBrk="1" hangingPunct="1"/>
            <a:endParaRPr lang="en-US" dirty="0"/>
          </a:p>
          <a:p>
            <a:pPr eaLnBrk="1" hangingPunct="1"/>
            <a:endParaRPr lang="en-US" dirty="0"/>
          </a:p>
          <a:p>
            <a:pPr eaLnBrk="1" hangingPunct="1"/>
            <a:r>
              <a:rPr lang="en-US" sz="2000" b="1" dirty="0"/>
              <a:t>Note</a:t>
            </a:r>
            <a:r>
              <a:rPr lang="en-US" sz="2000" dirty="0"/>
              <a:t> : LN uses the notation    ⊢  </a:t>
            </a:r>
            <a:r>
              <a:rPr lang="en-US" sz="2000" i="1" dirty="0">
                <a:sym typeface="Symbol" pitchFamily="18" charset="2"/>
              </a:rPr>
              <a:t>O</a:t>
            </a:r>
            <a:r>
              <a:rPr lang="en-US" sz="2000" dirty="0"/>
              <a:t> </a:t>
            </a:r>
            <a:r>
              <a:rPr lang="en-US" sz="2000" dirty="0">
                <a:latin typeface="Symbol" pitchFamily="18" charset="2"/>
              </a:rPr>
              <a:t></a:t>
            </a:r>
            <a:r>
              <a:rPr lang="en-US" sz="2000" dirty="0"/>
              <a:t> </a:t>
            </a:r>
            <a:r>
              <a:rPr lang="en-US" sz="2000" i="1" dirty="0"/>
              <a:t>P</a:t>
            </a:r>
            <a:endParaRPr lang="en-US" sz="2000" dirty="0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043E4B4-0FD0-40C8-9227-C426F2E6A75F}" type="slidenum">
              <a:rPr lang="en-US"/>
              <a:pPr>
                <a:defRPr/>
              </a:pPr>
              <a:t>4</a:t>
            </a:fld>
            <a:endParaRPr lang="en-US"/>
          </a:p>
        </p:txBody>
      </p:sp>
      <p:sp>
        <p:nvSpPr>
          <p:cNvPr id="5" name="Tekstvak 4"/>
          <p:cNvSpPr txBox="1"/>
          <p:nvPr/>
        </p:nvSpPr>
        <p:spPr>
          <a:xfrm>
            <a:off x="2209814" y="2794000"/>
            <a:ext cx="4724370" cy="1200329"/>
          </a:xfrm>
          <a:prstGeom prst="rect">
            <a:avLst/>
          </a:prstGeom>
          <a:ln>
            <a:solidFill>
              <a:schemeClr val="accent6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 algn="ctr">
              <a:defRPr/>
            </a:pP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i="1" dirty="0">
                <a:solidFill>
                  <a:schemeClr val="tx1"/>
                </a:solidFill>
                <a:sym typeface="Symbol"/>
              </a:rPr>
              <a:t>O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>
                <a:solidFill>
                  <a:schemeClr val="tx1"/>
                </a:solidFill>
                <a:latin typeface="Symbol" pitchFamily="18" charset="2"/>
              </a:rPr>
              <a:t>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i="1" dirty="0">
                <a:solidFill>
                  <a:schemeClr val="tx1"/>
                </a:solidFill>
              </a:rPr>
              <a:t>P  ,   </a:t>
            </a:r>
            <a:r>
              <a:rPr lang="en-US" dirty="0">
                <a:solidFill>
                  <a:schemeClr val="tx1"/>
                </a:solidFill>
              </a:rPr>
              <a:t>{ </a:t>
            </a:r>
            <a:r>
              <a:rPr lang="en-US" i="1" dirty="0">
                <a:solidFill>
                  <a:schemeClr val="tx1"/>
                </a:solidFill>
              </a:rPr>
              <a:t>P</a:t>
            </a:r>
            <a:r>
              <a:rPr lang="en-US" dirty="0">
                <a:solidFill>
                  <a:schemeClr val="tx1"/>
                </a:solidFill>
              </a:rPr>
              <a:t> }   S   { </a:t>
            </a:r>
            <a:r>
              <a:rPr lang="en-US" i="1" dirty="0">
                <a:solidFill>
                  <a:schemeClr val="tx1"/>
                </a:solidFill>
              </a:rPr>
              <a:t>Q</a:t>
            </a:r>
            <a:r>
              <a:rPr lang="en-US" dirty="0">
                <a:solidFill>
                  <a:schemeClr val="tx1"/>
                </a:solidFill>
              </a:rPr>
              <a:t> } 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------------------------------------------------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 { </a:t>
            </a:r>
            <a:r>
              <a:rPr lang="en-US" i="1" dirty="0">
                <a:solidFill>
                  <a:schemeClr val="tx1"/>
                </a:solidFill>
              </a:rPr>
              <a:t>O</a:t>
            </a:r>
            <a:r>
              <a:rPr lang="en-US" dirty="0">
                <a:solidFill>
                  <a:schemeClr val="tx1"/>
                </a:solidFill>
              </a:rPr>
              <a:t> }    S    { </a:t>
            </a:r>
            <a:r>
              <a:rPr lang="en-US" i="1" dirty="0">
                <a:solidFill>
                  <a:schemeClr val="tx1"/>
                </a:solidFill>
              </a:rPr>
              <a:t>Q</a:t>
            </a:r>
            <a:r>
              <a:rPr lang="en-US" dirty="0">
                <a:solidFill>
                  <a:schemeClr val="tx1"/>
                </a:solidFill>
              </a:rPr>
              <a:t> }</a:t>
            </a:r>
            <a:endParaRPr lang="nl-NL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el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sz="3600" dirty="0"/>
              <a:t>The logic’s general idea:  break it down!</a:t>
            </a:r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164BB03-8F66-434C-A64E-D67186BD5694}" type="slidenum">
              <a:rPr lang="en-US"/>
              <a:pPr>
                <a:defRPr/>
              </a:pPr>
              <a:t>5</a:t>
            </a:fld>
            <a:endParaRPr lang="en-US"/>
          </a:p>
        </p:txBody>
      </p:sp>
      <p:sp>
        <p:nvSpPr>
          <p:cNvPr id="5" name="Text Box 24"/>
          <p:cNvSpPr txBox="1">
            <a:spLocks noChangeArrowheads="1"/>
          </p:cNvSpPr>
          <p:nvPr/>
        </p:nvSpPr>
        <p:spPr bwMode="auto">
          <a:xfrm>
            <a:off x="1566193" y="2018215"/>
            <a:ext cx="6030912" cy="1200150"/>
          </a:xfrm>
          <a:prstGeom prst="rect">
            <a:avLst/>
          </a:prstGeom>
          <a:ln>
            <a:solidFill>
              <a:schemeClr val="accent6"/>
            </a:solidFill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 algn="ctr">
              <a:defRPr/>
            </a:pPr>
            <a:r>
              <a:rPr lang="en-US" dirty="0"/>
              <a:t>{ </a:t>
            </a:r>
            <a:r>
              <a:rPr lang="en-US" i="1" dirty="0"/>
              <a:t>P</a:t>
            </a:r>
            <a:r>
              <a:rPr lang="en-US" dirty="0"/>
              <a:t> }   S</a:t>
            </a:r>
            <a:r>
              <a:rPr lang="en-US" baseline="-25000" dirty="0"/>
              <a:t>1</a:t>
            </a:r>
            <a:r>
              <a:rPr lang="en-US" dirty="0"/>
              <a:t>   { </a:t>
            </a:r>
            <a:r>
              <a:rPr lang="en-US" i="1" dirty="0"/>
              <a:t>Q</a:t>
            </a:r>
            <a:r>
              <a:rPr lang="en-US" dirty="0"/>
              <a:t> }    ,   { </a:t>
            </a:r>
            <a:r>
              <a:rPr lang="en-US" i="1" dirty="0"/>
              <a:t>Q</a:t>
            </a:r>
            <a:r>
              <a:rPr lang="en-US" dirty="0"/>
              <a:t> }   S</a:t>
            </a:r>
            <a:r>
              <a:rPr lang="en-US" baseline="-25000" dirty="0"/>
              <a:t>2</a:t>
            </a:r>
            <a:r>
              <a:rPr lang="en-US" dirty="0"/>
              <a:t>   { </a:t>
            </a:r>
            <a:r>
              <a:rPr lang="en-US" i="1" dirty="0"/>
              <a:t>R</a:t>
            </a:r>
            <a:r>
              <a:rPr lang="en-US" dirty="0"/>
              <a:t> }</a:t>
            </a:r>
          </a:p>
          <a:p>
            <a:pPr algn="ctr">
              <a:defRPr/>
            </a:pPr>
            <a:r>
              <a:rPr lang="en-US" dirty="0"/>
              <a:t>---------------------------------------------------------</a:t>
            </a:r>
          </a:p>
          <a:p>
            <a:pPr algn="ctr">
              <a:defRPr/>
            </a:pPr>
            <a:r>
              <a:rPr lang="en-US" dirty="0"/>
              <a:t>{ </a:t>
            </a:r>
            <a:r>
              <a:rPr lang="en-US" i="1" dirty="0"/>
              <a:t>P</a:t>
            </a:r>
            <a:r>
              <a:rPr lang="en-US" dirty="0"/>
              <a:t> }   S</a:t>
            </a:r>
            <a:r>
              <a:rPr lang="en-US" baseline="-25000" dirty="0"/>
              <a:t>1</a:t>
            </a:r>
            <a:r>
              <a:rPr lang="en-US" dirty="0"/>
              <a:t> ; S</a:t>
            </a:r>
            <a:r>
              <a:rPr lang="en-US" baseline="-25000" dirty="0"/>
              <a:t>2</a:t>
            </a:r>
            <a:r>
              <a:rPr lang="en-US" dirty="0"/>
              <a:t>   { </a:t>
            </a:r>
            <a:r>
              <a:rPr lang="en-US" i="1" dirty="0"/>
              <a:t>R</a:t>
            </a:r>
            <a:r>
              <a:rPr lang="en-US" dirty="0"/>
              <a:t> } </a:t>
            </a:r>
          </a:p>
        </p:txBody>
      </p:sp>
      <p:sp>
        <p:nvSpPr>
          <p:cNvPr id="7" name="Tekstvak 4"/>
          <p:cNvSpPr txBox="1">
            <a:spLocks noChangeArrowheads="1"/>
          </p:cNvSpPr>
          <p:nvPr/>
        </p:nvSpPr>
        <p:spPr bwMode="auto">
          <a:xfrm>
            <a:off x="1516479" y="3914775"/>
            <a:ext cx="6135688" cy="1200150"/>
          </a:xfrm>
          <a:prstGeom prst="rect">
            <a:avLst/>
          </a:prstGeom>
          <a:noFill/>
          <a:ln w="9525">
            <a:solidFill>
              <a:schemeClr val="accent6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dirty="0">
                <a:latin typeface="+mn-lt"/>
              </a:rPr>
              <a:t>{ </a:t>
            </a:r>
            <a:r>
              <a:rPr lang="en-US" i="1" dirty="0">
                <a:latin typeface="+mn-lt"/>
              </a:rPr>
              <a:t>P</a:t>
            </a:r>
            <a:r>
              <a:rPr lang="en-US" dirty="0">
                <a:latin typeface="+mn-lt"/>
              </a:rPr>
              <a:t> /\ </a:t>
            </a:r>
            <a:r>
              <a:rPr lang="en-US" i="1" dirty="0">
                <a:latin typeface="+mn-lt"/>
              </a:rPr>
              <a:t>g</a:t>
            </a:r>
            <a:r>
              <a:rPr lang="en-US" dirty="0">
                <a:latin typeface="+mn-lt"/>
              </a:rPr>
              <a:t> }   S</a:t>
            </a:r>
            <a:r>
              <a:rPr lang="en-US" baseline="-25000" dirty="0">
                <a:latin typeface="+mn-lt"/>
              </a:rPr>
              <a:t>1</a:t>
            </a:r>
            <a:r>
              <a:rPr lang="en-US" dirty="0">
                <a:latin typeface="+mn-lt"/>
              </a:rPr>
              <a:t>  { </a:t>
            </a:r>
            <a:r>
              <a:rPr lang="en-US" i="1" dirty="0">
                <a:latin typeface="+mn-lt"/>
              </a:rPr>
              <a:t>Q</a:t>
            </a:r>
            <a:r>
              <a:rPr lang="en-US" dirty="0">
                <a:latin typeface="+mn-lt"/>
              </a:rPr>
              <a:t> }   ,   { </a:t>
            </a:r>
            <a:r>
              <a:rPr lang="en-US" i="1" dirty="0">
                <a:latin typeface="+mn-lt"/>
              </a:rPr>
              <a:t>P</a:t>
            </a:r>
            <a:r>
              <a:rPr lang="en-US" dirty="0">
                <a:latin typeface="+mn-lt"/>
              </a:rPr>
              <a:t> /\ </a:t>
            </a:r>
            <a:r>
              <a:rPr lang="en-US" dirty="0">
                <a:latin typeface="+mn-lt"/>
                <a:sym typeface="Symbol" pitchFamily="18" charset="2"/>
              </a:rPr>
              <a:t></a:t>
            </a:r>
            <a:r>
              <a:rPr lang="en-US" i="1" dirty="0">
                <a:latin typeface="+mn-lt"/>
                <a:sym typeface="Symbol" pitchFamily="18" charset="2"/>
              </a:rPr>
              <a:t>g</a:t>
            </a:r>
            <a:r>
              <a:rPr lang="en-US" dirty="0">
                <a:latin typeface="+mn-lt"/>
                <a:sym typeface="Symbol" pitchFamily="18" charset="2"/>
              </a:rPr>
              <a:t> }  </a:t>
            </a:r>
            <a:r>
              <a:rPr lang="en-US" dirty="0">
                <a:latin typeface="+mn-lt"/>
              </a:rPr>
              <a:t>S</a:t>
            </a:r>
            <a:r>
              <a:rPr lang="en-US" baseline="-25000" dirty="0">
                <a:latin typeface="+mn-lt"/>
              </a:rPr>
              <a:t>2</a:t>
            </a:r>
            <a:r>
              <a:rPr lang="en-US" dirty="0">
                <a:latin typeface="+mn-lt"/>
              </a:rPr>
              <a:t> </a:t>
            </a:r>
            <a:r>
              <a:rPr lang="en-US" dirty="0">
                <a:latin typeface="+mn-lt"/>
                <a:sym typeface="Symbol" pitchFamily="18" charset="2"/>
              </a:rPr>
              <a:t>  { </a:t>
            </a:r>
            <a:r>
              <a:rPr lang="en-US" i="1" dirty="0">
                <a:latin typeface="+mn-lt"/>
                <a:sym typeface="Symbol" pitchFamily="18" charset="2"/>
              </a:rPr>
              <a:t>Q</a:t>
            </a:r>
            <a:r>
              <a:rPr lang="en-US" dirty="0">
                <a:latin typeface="+mn-lt"/>
                <a:sym typeface="Symbol" pitchFamily="18" charset="2"/>
              </a:rPr>
              <a:t> }</a:t>
            </a:r>
          </a:p>
          <a:p>
            <a:pPr algn="ctr">
              <a:defRPr/>
            </a:pPr>
            <a:r>
              <a:rPr lang="en-US" dirty="0">
                <a:latin typeface="+mn-lt"/>
                <a:sym typeface="Symbol" pitchFamily="18" charset="2"/>
              </a:rPr>
              <a:t>----------------------------------------------------------</a:t>
            </a:r>
          </a:p>
          <a:p>
            <a:pPr algn="ctr">
              <a:defRPr/>
            </a:pPr>
            <a:r>
              <a:rPr lang="en-US" dirty="0">
                <a:latin typeface="+mn-lt"/>
                <a:sym typeface="Symbol" pitchFamily="18" charset="2"/>
              </a:rPr>
              <a:t>{ </a:t>
            </a:r>
            <a:r>
              <a:rPr lang="en-US" i="1" dirty="0">
                <a:latin typeface="+mn-lt"/>
                <a:sym typeface="Symbol" pitchFamily="18" charset="2"/>
              </a:rPr>
              <a:t>P</a:t>
            </a:r>
            <a:r>
              <a:rPr lang="en-US" dirty="0">
                <a:latin typeface="+mn-lt"/>
                <a:sym typeface="Symbol" pitchFamily="18" charset="2"/>
              </a:rPr>
              <a:t> }   </a:t>
            </a:r>
            <a:r>
              <a:rPr lang="en-US" b="1" dirty="0">
                <a:latin typeface="+mn-lt"/>
                <a:sym typeface="Symbol" pitchFamily="18" charset="2"/>
              </a:rPr>
              <a:t>if</a:t>
            </a:r>
            <a:r>
              <a:rPr lang="en-US" dirty="0">
                <a:latin typeface="+mn-lt"/>
                <a:sym typeface="Symbol" pitchFamily="18" charset="2"/>
              </a:rPr>
              <a:t>  </a:t>
            </a:r>
            <a:r>
              <a:rPr lang="en-US" i="1" dirty="0">
                <a:latin typeface="+mn-lt"/>
                <a:sym typeface="Symbol" pitchFamily="18" charset="2"/>
              </a:rPr>
              <a:t>g</a:t>
            </a:r>
            <a:r>
              <a:rPr lang="en-US" dirty="0">
                <a:latin typeface="+mn-lt"/>
                <a:sym typeface="Symbol" pitchFamily="18" charset="2"/>
              </a:rPr>
              <a:t>  </a:t>
            </a:r>
            <a:r>
              <a:rPr lang="en-US" b="1" dirty="0">
                <a:latin typeface="+mn-lt"/>
                <a:sym typeface="Symbol" pitchFamily="18" charset="2"/>
              </a:rPr>
              <a:t>then</a:t>
            </a:r>
            <a:r>
              <a:rPr lang="en-US" dirty="0">
                <a:latin typeface="+mn-lt"/>
                <a:sym typeface="Symbol" pitchFamily="18" charset="2"/>
              </a:rPr>
              <a:t> </a:t>
            </a:r>
            <a:r>
              <a:rPr lang="en-US" dirty="0">
                <a:latin typeface="+mn-lt"/>
              </a:rPr>
              <a:t>S</a:t>
            </a:r>
            <a:r>
              <a:rPr lang="en-US" baseline="-25000" dirty="0">
                <a:latin typeface="+mn-lt"/>
              </a:rPr>
              <a:t>1  </a:t>
            </a:r>
            <a:r>
              <a:rPr lang="en-US" b="1" dirty="0">
                <a:latin typeface="+mn-lt"/>
                <a:sym typeface="Symbol" pitchFamily="18" charset="2"/>
              </a:rPr>
              <a:t>else </a:t>
            </a:r>
            <a:r>
              <a:rPr lang="en-US" dirty="0">
                <a:latin typeface="+mn-lt"/>
                <a:sym typeface="Symbol" pitchFamily="18" charset="2"/>
              </a:rPr>
              <a:t> </a:t>
            </a:r>
            <a:r>
              <a:rPr lang="en-US" dirty="0">
                <a:latin typeface="+mn-lt"/>
              </a:rPr>
              <a:t>S</a:t>
            </a:r>
            <a:r>
              <a:rPr lang="en-US" baseline="-25000" dirty="0">
                <a:latin typeface="+mn-lt"/>
              </a:rPr>
              <a:t>2</a:t>
            </a:r>
            <a:r>
              <a:rPr lang="en-US" dirty="0">
                <a:latin typeface="+mn-lt"/>
              </a:rPr>
              <a:t>    </a:t>
            </a:r>
            <a:r>
              <a:rPr lang="en-US" dirty="0">
                <a:latin typeface="+mn-lt"/>
                <a:sym typeface="Symbol" pitchFamily="18" charset="2"/>
              </a:rPr>
              <a:t>{ </a:t>
            </a:r>
            <a:r>
              <a:rPr lang="en-US" i="1" dirty="0">
                <a:latin typeface="+mn-lt"/>
                <a:sym typeface="Symbol" pitchFamily="18" charset="2"/>
              </a:rPr>
              <a:t>Q</a:t>
            </a:r>
            <a:r>
              <a:rPr lang="en-US" dirty="0">
                <a:latin typeface="+mn-lt"/>
                <a:sym typeface="Symbol" pitchFamily="18" charset="2"/>
              </a:rPr>
              <a:t> }</a:t>
            </a:r>
            <a:endParaRPr lang="en-US" dirty="0">
              <a:latin typeface="+mn-l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Assignment</a:t>
            </a:r>
          </a:p>
        </p:txBody>
      </p:sp>
      <p:sp>
        <p:nvSpPr>
          <p:cNvPr id="12291" name="Tijdelijke aanduiding voor inhoud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eaLnBrk="1" hangingPunct="1"/>
            <a:r>
              <a:rPr lang="en-US" dirty="0"/>
              <a:t>Eventually, everything boils down to “assignments”</a:t>
            </a:r>
          </a:p>
          <a:p>
            <a:pPr eaLnBrk="1" hangingPunct="1"/>
            <a:r>
              <a:rPr lang="en-US" dirty="0"/>
              <a:t>An assignment is correct if .....</a:t>
            </a:r>
          </a:p>
          <a:p>
            <a:pPr eaLnBrk="1" hangingPunct="1"/>
            <a:endParaRPr lang="en-US" dirty="0"/>
          </a:p>
          <a:p>
            <a:pPr eaLnBrk="1" hangingPunct="1"/>
            <a:endParaRPr lang="en-US" dirty="0"/>
          </a:p>
          <a:p>
            <a:pPr eaLnBrk="1" hangingPunct="1"/>
            <a:endParaRPr lang="en-US" dirty="0"/>
          </a:p>
          <a:p>
            <a:pPr eaLnBrk="1" hangingPunct="1"/>
            <a:endParaRPr lang="en-US" dirty="0"/>
          </a:p>
          <a:p>
            <a:pPr eaLnBrk="1" hangingPunct="1"/>
            <a:endParaRPr lang="en-US" dirty="0"/>
          </a:p>
          <a:p>
            <a:pPr eaLnBrk="1" hangingPunct="1"/>
            <a:r>
              <a:rPr lang="en-US" b="1" dirty="0"/>
              <a:t>Note</a:t>
            </a:r>
            <a:r>
              <a:rPr lang="en-US" dirty="0"/>
              <a:t>: this assumes that the assignment only changes the value of x (it does not silently affect other variables)</a:t>
            </a:r>
          </a:p>
          <a:p>
            <a:pPr eaLnBrk="1" hangingPunct="1"/>
            <a:endParaRPr lang="en-US" dirty="0"/>
          </a:p>
          <a:p>
            <a:pPr eaLnBrk="1" hangingPunct="1"/>
            <a:endParaRPr lang="en-US" dirty="0"/>
          </a:p>
          <a:p>
            <a:pPr eaLnBrk="1" hangingPunct="1"/>
            <a:endParaRPr lang="en-US" dirty="0"/>
          </a:p>
          <a:p>
            <a:pPr marL="0" indent="0" eaLnBrk="1" hangingPunct="1">
              <a:buNone/>
            </a:pPr>
            <a:br>
              <a:rPr lang="en-US" dirty="0"/>
            </a:br>
            <a:endParaRPr lang="en-US" dirty="0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EB42965-0CA2-4CAA-AA68-53C7A2CE1708}" type="slidenum">
              <a:rPr lang="en-US"/>
              <a:pPr>
                <a:defRPr/>
              </a:pPr>
              <a:t>6</a:t>
            </a:fld>
            <a:endParaRPr lang="en-US"/>
          </a:p>
        </p:txBody>
      </p:sp>
      <p:sp>
        <p:nvSpPr>
          <p:cNvPr id="6" name="Tekstvak 5"/>
          <p:cNvSpPr txBox="1"/>
          <p:nvPr/>
        </p:nvSpPr>
        <p:spPr>
          <a:xfrm>
            <a:off x="1565275" y="2803943"/>
            <a:ext cx="4346575" cy="1200150"/>
          </a:xfrm>
          <a:prstGeom prst="rect">
            <a:avLst/>
          </a:prstGeom>
          <a:ln>
            <a:solidFill>
              <a:schemeClr val="accent6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 algn="ctr">
              <a:defRPr/>
            </a:pP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i="1" dirty="0">
                <a:solidFill>
                  <a:schemeClr val="tx1"/>
                </a:solidFill>
              </a:rPr>
              <a:t>P</a:t>
            </a:r>
            <a:r>
              <a:rPr lang="en-US" dirty="0">
                <a:solidFill>
                  <a:schemeClr val="tx1"/>
                </a:solidFill>
              </a:rPr>
              <a:t>  </a:t>
            </a:r>
            <a:r>
              <a:rPr lang="en-US" dirty="0">
                <a:solidFill>
                  <a:schemeClr val="tx1"/>
                </a:solidFill>
                <a:latin typeface="Symbol" pitchFamily="18" charset="2"/>
              </a:rPr>
              <a:t></a:t>
            </a:r>
            <a:r>
              <a:rPr lang="en-US" dirty="0">
                <a:solidFill>
                  <a:schemeClr val="tx1"/>
                </a:solidFill>
              </a:rPr>
              <a:t>  </a:t>
            </a:r>
            <a:r>
              <a:rPr lang="en-US" i="1" dirty="0">
                <a:solidFill>
                  <a:schemeClr val="tx1"/>
                </a:solidFill>
              </a:rPr>
              <a:t>Q</a:t>
            </a:r>
            <a:r>
              <a:rPr lang="en-US" dirty="0">
                <a:solidFill>
                  <a:schemeClr val="tx1"/>
                </a:solidFill>
              </a:rPr>
              <a:t>[e/x]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---------------------------------------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 { </a:t>
            </a:r>
            <a:r>
              <a:rPr lang="en-US" i="1" dirty="0">
                <a:solidFill>
                  <a:schemeClr val="tx1"/>
                </a:solidFill>
              </a:rPr>
              <a:t>P</a:t>
            </a:r>
            <a:r>
              <a:rPr lang="en-US" dirty="0">
                <a:solidFill>
                  <a:schemeClr val="tx1"/>
                </a:solidFill>
              </a:rPr>
              <a:t> }  x:=e  { </a:t>
            </a:r>
            <a:r>
              <a:rPr lang="en-US" i="1" dirty="0">
                <a:solidFill>
                  <a:schemeClr val="tx1"/>
                </a:solidFill>
              </a:rPr>
              <a:t>Q</a:t>
            </a:r>
            <a:r>
              <a:rPr lang="en-US" dirty="0">
                <a:solidFill>
                  <a:schemeClr val="tx1"/>
                </a:solidFill>
              </a:rPr>
              <a:t> }</a:t>
            </a:r>
            <a:endParaRPr lang="nl-NL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Loop</a:t>
            </a:r>
            <a:endParaRPr lang="nl-NL"/>
          </a:p>
        </p:txBody>
      </p:sp>
      <p:sp>
        <p:nvSpPr>
          <p:cNvPr id="13315" name="Tijdelijke aanduiding voor inhoud 2"/>
          <p:cNvSpPr>
            <a:spLocks noGrp="1"/>
          </p:cNvSpPr>
          <p:nvPr>
            <p:ph idx="1"/>
          </p:nvPr>
        </p:nvSpPr>
        <p:spPr>
          <a:xfrm>
            <a:off x="344488" y="1395413"/>
            <a:ext cx="8621712" cy="5262562"/>
          </a:xfrm>
        </p:spPr>
        <p:txBody>
          <a:bodyPr/>
          <a:lstStyle/>
          <a:p>
            <a:pPr eaLnBrk="1" hangingPunct="1"/>
            <a:r>
              <a:rPr lang="en-US" dirty="0"/>
              <a:t>A loop is correct if you can find an “invariant” :</a:t>
            </a:r>
          </a:p>
          <a:p>
            <a:pPr eaLnBrk="1" hangingPunct="1"/>
            <a:endParaRPr lang="en-US" dirty="0"/>
          </a:p>
          <a:p>
            <a:pPr eaLnBrk="1" hangingPunct="1"/>
            <a:endParaRPr lang="en-US" dirty="0"/>
          </a:p>
          <a:p>
            <a:pPr eaLnBrk="1" hangingPunct="1"/>
            <a:endParaRPr lang="en-US" dirty="0"/>
          </a:p>
          <a:p>
            <a:pPr eaLnBrk="1" hangingPunct="1"/>
            <a:endParaRPr lang="en-US" dirty="0"/>
          </a:p>
          <a:p>
            <a:pPr eaLnBrk="1" hangingPunct="1"/>
            <a:endParaRPr lang="en-US" dirty="0"/>
          </a:p>
          <a:p>
            <a:pPr eaLnBrk="1" hangingPunct="1"/>
            <a:endParaRPr lang="en-US" dirty="0"/>
          </a:p>
          <a:p>
            <a:pPr eaLnBrk="1" hangingPunct="1"/>
            <a:r>
              <a:rPr lang="en-US" dirty="0"/>
              <a:t>E.g. a trivial loop:</a:t>
            </a:r>
          </a:p>
          <a:p>
            <a:pPr eaLnBrk="1" hangingPunct="1"/>
            <a:endParaRPr lang="en-US" dirty="0"/>
          </a:p>
        </p:txBody>
      </p:sp>
      <p:sp>
        <p:nvSpPr>
          <p:cNvPr id="18436" name="Tijdelijke aanduiding voor dianummer 3"/>
          <p:cNvSpPr>
            <a:spLocks noGrp="1"/>
          </p:cNvSpPr>
          <p:nvPr>
            <p:ph type="sldNum" sz="quarter" idx="12"/>
          </p:nvPr>
        </p:nvSpPr>
        <p:spPr bwMode="auto">
          <a:ln>
            <a:miter lim="800000"/>
            <a:headEnd/>
            <a:tailEnd/>
          </a:ln>
        </p:spPr>
        <p:txBody>
          <a:bodyPr wrap="square" lIns="91440" tIns="45720" rIns="91440" bIns="45720" numCol="1" compatLnSpc="1">
            <a:prstTxWarp prst="textNoShape">
              <a:avLst/>
            </a:prstTxWarp>
          </a:bodyPr>
          <a:lstStyle/>
          <a:p>
            <a:pPr>
              <a:defRPr/>
            </a:pPr>
            <a:fld id="{72472A88-3122-4AE1-B7A4-CE9FC6DC19B2}" type="slidenum">
              <a:rPr lang="en-US"/>
              <a:pPr>
                <a:defRPr/>
              </a:pPr>
              <a:t>7</a:t>
            </a:fld>
            <a:endParaRPr lang="en-US"/>
          </a:p>
        </p:txBody>
      </p:sp>
      <p:sp>
        <p:nvSpPr>
          <p:cNvPr id="6" name="Tekstvak 5"/>
          <p:cNvSpPr txBox="1"/>
          <p:nvPr/>
        </p:nvSpPr>
        <p:spPr>
          <a:xfrm>
            <a:off x="2428081" y="2303463"/>
            <a:ext cx="4287837" cy="1939925"/>
          </a:xfrm>
          <a:prstGeom prst="rect">
            <a:avLst/>
          </a:prstGeom>
          <a:ln>
            <a:solidFill>
              <a:schemeClr val="accent6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 algn="ctr">
              <a:defRPr/>
            </a:pPr>
            <a:r>
              <a:rPr lang="en-US" i="1" dirty="0">
                <a:solidFill>
                  <a:schemeClr val="tx1"/>
                </a:solidFill>
              </a:rPr>
              <a:t>P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>
                <a:solidFill>
                  <a:schemeClr val="tx1"/>
                </a:solidFill>
                <a:sym typeface="Symbol"/>
              </a:rPr>
              <a:t> </a:t>
            </a:r>
            <a:r>
              <a:rPr lang="en-US" i="1" dirty="0">
                <a:solidFill>
                  <a:schemeClr val="tx1"/>
                </a:solidFill>
                <a:sym typeface="Symbol"/>
              </a:rPr>
              <a:t>I</a:t>
            </a:r>
          </a:p>
          <a:p>
            <a:pPr algn="ctr">
              <a:defRPr/>
            </a:pPr>
            <a:r>
              <a:rPr lang="en-US" dirty="0">
                <a:solidFill>
                  <a:schemeClr val="tx1"/>
                </a:solidFill>
                <a:sym typeface="Symbol"/>
              </a:rPr>
              <a:t>{ </a:t>
            </a:r>
            <a:r>
              <a:rPr lang="en-US" i="1" dirty="0">
                <a:solidFill>
                  <a:schemeClr val="tx1"/>
                </a:solidFill>
                <a:sym typeface="Symbol"/>
              </a:rPr>
              <a:t>g</a:t>
            </a:r>
            <a:r>
              <a:rPr lang="en-US" dirty="0">
                <a:solidFill>
                  <a:schemeClr val="tx1"/>
                </a:solidFill>
                <a:sym typeface="Symbol"/>
              </a:rPr>
              <a:t>  /\  </a:t>
            </a:r>
            <a:r>
              <a:rPr lang="en-US" i="1" dirty="0">
                <a:solidFill>
                  <a:schemeClr val="tx1"/>
                </a:solidFill>
                <a:sym typeface="Symbol"/>
              </a:rPr>
              <a:t>I</a:t>
            </a:r>
            <a:r>
              <a:rPr lang="en-US" dirty="0">
                <a:solidFill>
                  <a:schemeClr val="tx1"/>
                </a:solidFill>
                <a:sym typeface="Symbol"/>
              </a:rPr>
              <a:t> }    S    { </a:t>
            </a:r>
            <a:r>
              <a:rPr lang="en-US" i="1" dirty="0">
                <a:solidFill>
                  <a:schemeClr val="tx1"/>
                </a:solidFill>
                <a:sym typeface="Symbol"/>
              </a:rPr>
              <a:t>I</a:t>
            </a:r>
            <a:r>
              <a:rPr lang="en-US" dirty="0">
                <a:solidFill>
                  <a:schemeClr val="tx1"/>
                </a:solidFill>
                <a:sym typeface="Symbol"/>
              </a:rPr>
              <a:t> }</a:t>
            </a:r>
          </a:p>
          <a:p>
            <a:pPr algn="ctr">
              <a:defRPr/>
            </a:pPr>
            <a:r>
              <a:rPr lang="en-US" i="1" dirty="0">
                <a:solidFill>
                  <a:schemeClr val="tx1"/>
                </a:solidFill>
                <a:sym typeface="Symbol"/>
              </a:rPr>
              <a:t>I</a:t>
            </a:r>
            <a:r>
              <a:rPr lang="en-US" dirty="0">
                <a:solidFill>
                  <a:schemeClr val="tx1"/>
                </a:solidFill>
                <a:sym typeface="Symbol"/>
              </a:rPr>
              <a:t>  /\ </a:t>
            </a:r>
            <a:r>
              <a:rPr lang="en-US" i="1" dirty="0">
                <a:solidFill>
                  <a:schemeClr val="tx1"/>
                </a:solidFill>
                <a:sym typeface="Symbol"/>
              </a:rPr>
              <a:t>g</a:t>
            </a:r>
            <a:r>
              <a:rPr lang="en-US" dirty="0">
                <a:solidFill>
                  <a:schemeClr val="tx1"/>
                </a:solidFill>
                <a:sym typeface="Symbol"/>
              </a:rPr>
              <a:t>    Q</a:t>
            </a:r>
          </a:p>
          <a:p>
            <a:pPr algn="ctr">
              <a:defRPr/>
            </a:pPr>
            <a:r>
              <a:rPr lang="en-US" dirty="0">
                <a:solidFill>
                  <a:schemeClr val="tx1"/>
                </a:solidFill>
                <a:sym typeface="Symbol"/>
              </a:rPr>
              <a:t>----------------------------------------</a:t>
            </a:r>
            <a:br>
              <a:rPr lang="en-US" dirty="0">
                <a:solidFill>
                  <a:schemeClr val="tx1"/>
                </a:solidFill>
                <a:sym typeface="Symbol"/>
              </a:rPr>
            </a:br>
            <a:r>
              <a:rPr lang="en-US" dirty="0">
                <a:solidFill>
                  <a:schemeClr val="tx1"/>
                </a:solidFill>
                <a:sym typeface="Symbol"/>
              </a:rPr>
              <a:t> { </a:t>
            </a:r>
            <a:r>
              <a:rPr lang="en-US" i="1" dirty="0">
                <a:solidFill>
                  <a:schemeClr val="tx1"/>
                </a:solidFill>
                <a:sym typeface="Symbol"/>
              </a:rPr>
              <a:t>P</a:t>
            </a:r>
            <a:r>
              <a:rPr lang="en-US" dirty="0">
                <a:solidFill>
                  <a:schemeClr val="tx1"/>
                </a:solidFill>
                <a:sym typeface="Symbol"/>
              </a:rPr>
              <a:t> }   </a:t>
            </a:r>
            <a:r>
              <a:rPr lang="en-US" b="1" u="sng" dirty="0">
                <a:solidFill>
                  <a:schemeClr val="tx1"/>
                </a:solidFill>
                <a:sym typeface="Symbol"/>
              </a:rPr>
              <a:t>while</a:t>
            </a:r>
            <a:r>
              <a:rPr lang="en-US" dirty="0">
                <a:solidFill>
                  <a:schemeClr val="tx1"/>
                </a:solidFill>
                <a:sym typeface="Symbol"/>
              </a:rPr>
              <a:t>  </a:t>
            </a:r>
            <a:r>
              <a:rPr lang="en-US" i="1" dirty="0">
                <a:solidFill>
                  <a:schemeClr val="tx1"/>
                </a:solidFill>
                <a:sym typeface="Symbol"/>
              </a:rPr>
              <a:t>g</a:t>
            </a:r>
            <a:r>
              <a:rPr lang="en-US" dirty="0">
                <a:solidFill>
                  <a:schemeClr val="tx1"/>
                </a:solidFill>
                <a:sym typeface="Symbol"/>
              </a:rPr>
              <a:t>  </a:t>
            </a:r>
            <a:r>
              <a:rPr lang="en-US" b="1" u="sng" dirty="0">
                <a:solidFill>
                  <a:schemeClr val="tx1"/>
                </a:solidFill>
                <a:sym typeface="Symbol"/>
              </a:rPr>
              <a:t>do</a:t>
            </a:r>
            <a:r>
              <a:rPr lang="en-US" dirty="0">
                <a:solidFill>
                  <a:schemeClr val="tx1"/>
                </a:solidFill>
                <a:sym typeface="Symbol"/>
              </a:rPr>
              <a:t>   S    { </a:t>
            </a:r>
            <a:r>
              <a:rPr lang="en-US" i="1" dirty="0">
                <a:solidFill>
                  <a:schemeClr val="tx1"/>
                </a:solidFill>
                <a:sym typeface="Symbol"/>
              </a:rPr>
              <a:t>Q</a:t>
            </a:r>
            <a:r>
              <a:rPr lang="en-US" dirty="0">
                <a:solidFill>
                  <a:schemeClr val="tx1"/>
                </a:solidFill>
                <a:sym typeface="Symbol"/>
              </a:rPr>
              <a:t> }</a:t>
            </a:r>
            <a:endParaRPr lang="nl-NL" dirty="0">
              <a:solidFill>
                <a:schemeClr val="tx1"/>
              </a:solidFill>
            </a:endParaRPr>
          </a:p>
        </p:txBody>
      </p:sp>
      <p:sp>
        <p:nvSpPr>
          <p:cNvPr id="7" name="Tekstvak 6"/>
          <p:cNvSpPr txBox="1"/>
          <p:nvPr/>
        </p:nvSpPr>
        <p:spPr>
          <a:xfrm>
            <a:off x="1681276" y="5545138"/>
            <a:ext cx="5544916" cy="461665"/>
          </a:xfrm>
          <a:prstGeom prst="rect">
            <a:avLst/>
          </a:prstGeom>
          <a:ln>
            <a:solidFill>
              <a:schemeClr val="accent6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lIns="91440" tIns="45720" rIns="91440" bIns="45720" anchor="t">
            <a:spAutoFit/>
          </a:bodyPr>
          <a:lstStyle/>
          <a:p>
            <a:pPr algn="ctr">
              <a:defRPr/>
            </a:pPr>
            <a:r>
              <a:rPr lang="en-US" dirty="0">
                <a:solidFill>
                  <a:srgbClr val="0070C0"/>
                </a:solidFill>
              </a:rPr>
              <a:t> { k≥1000 }     </a:t>
            </a:r>
            <a:r>
              <a:rPr lang="en-US" b="1" dirty="0">
                <a:solidFill>
                  <a:schemeClr val="tx1"/>
                </a:solidFill>
              </a:rPr>
              <a:t>while</a:t>
            </a:r>
            <a:r>
              <a:rPr lang="en-US" dirty="0">
                <a:solidFill>
                  <a:schemeClr val="tx1"/>
                </a:solidFill>
              </a:rPr>
              <a:t> k&gt;0  </a:t>
            </a:r>
            <a:r>
              <a:rPr lang="en-US" b="1" dirty="0">
                <a:solidFill>
                  <a:schemeClr val="tx1"/>
                </a:solidFill>
              </a:rPr>
              <a:t>do</a:t>
            </a:r>
            <a:r>
              <a:rPr lang="en-US" dirty="0">
                <a:solidFill>
                  <a:schemeClr val="tx1"/>
                </a:solidFill>
              </a:rPr>
              <a:t>  k := k-1   </a:t>
            </a:r>
            <a:r>
              <a:rPr lang="en-US" dirty="0">
                <a:solidFill>
                  <a:srgbClr val="0070C0"/>
                </a:solidFill>
              </a:rPr>
              <a:t>{ k=0 }</a:t>
            </a:r>
            <a:endParaRPr lang="nl-NL" dirty="0">
              <a:solidFill>
                <a:srgbClr val="0070C0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Few more examples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F6914C3-FD0B-49B5-BBFA-F102936D770A}" type="slidenum">
              <a:rPr lang="en-US" smtClean="0"/>
              <a:pPr>
                <a:defRPr/>
              </a:pPr>
              <a:t>8</a:t>
            </a:fld>
            <a:endParaRPr lang="en-US"/>
          </a:p>
        </p:txBody>
      </p:sp>
      <p:sp>
        <p:nvSpPr>
          <p:cNvPr id="6" name="Tekstvak 6"/>
          <p:cNvSpPr txBox="1"/>
          <p:nvPr/>
        </p:nvSpPr>
        <p:spPr>
          <a:xfrm>
            <a:off x="361950" y="1874838"/>
            <a:ext cx="8458200" cy="1107996"/>
          </a:xfrm>
          <a:prstGeom prst="rect">
            <a:avLst/>
          </a:prstGeom>
          <a:ln>
            <a:solidFill>
              <a:schemeClr val="accent6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lIns="91440" tIns="45720" rIns="91440" bIns="45720" anchor="t">
            <a:spAutoFit/>
          </a:bodyPr>
          <a:lstStyle/>
          <a:p>
            <a:pPr algn="ctr">
              <a:defRPr/>
            </a:pPr>
            <a:r>
              <a:rPr lang="en-US" sz="2200" dirty="0">
                <a:solidFill>
                  <a:schemeClr val="bg2">
                    <a:lumMod val="50000"/>
                  </a:schemeClr>
                </a:solidFill>
              </a:rPr>
              <a:t> </a:t>
            </a:r>
            <a:br>
              <a:rPr lang="en-US" sz="2200" dirty="0">
                <a:solidFill>
                  <a:schemeClr val="bg2">
                    <a:lumMod val="50000"/>
                  </a:schemeClr>
                </a:solidFill>
              </a:rPr>
            </a:br>
            <a:r>
              <a:rPr lang="en-US" sz="2200" dirty="0">
                <a:solidFill>
                  <a:srgbClr val="0070C0"/>
                </a:solidFill>
              </a:rPr>
              <a:t>{ y=0 /\ k=0 }  </a:t>
            </a:r>
            <a:r>
              <a:rPr lang="en-US" sz="2200" b="1" dirty="0">
                <a:solidFill>
                  <a:schemeClr val="tx1"/>
                </a:solidFill>
              </a:rPr>
              <a:t>while</a:t>
            </a:r>
            <a:r>
              <a:rPr lang="en-US" sz="2200" dirty="0">
                <a:solidFill>
                  <a:schemeClr val="tx1"/>
                </a:solidFill>
              </a:rPr>
              <a:t> k&lt;10  </a:t>
            </a:r>
            <a:r>
              <a:rPr lang="en-US" sz="2200" b="1" dirty="0">
                <a:solidFill>
                  <a:schemeClr val="tx1"/>
                </a:solidFill>
              </a:rPr>
              <a:t>do</a:t>
            </a:r>
            <a:r>
              <a:rPr lang="en-US" sz="2200" dirty="0">
                <a:solidFill>
                  <a:schemeClr val="tx1"/>
                </a:solidFill>
              </a:rPr>
              <a:t>  { y := y+2 ; k++ }</a:t>
            </a:r>
            <a:r>
              <a:rPr lang="en-US" sz="2200" dirty="0">
                <a:solidFill>
                  <a:schemeClr val="bg2">
                    <a:lumMod val="50000"/>
                  </a:schemeClr>
                </a:solidFill>
              </a:rPr>
              <a:t>   </a:t>
            </a:r>
            <a:r>
              <a:rPr lang="en-US" sz="2200" dirty="0">
                <a:solidFill>
                  <a:srgbClr val="0070C0"/>
                </a:solidFill>
              </a:rPr>
              <a:t>{ y = 20 }</a:t>
            </a:r>
            <a:br>
              <a:rPr lang="en-US" sz="2200" dirty="0">
                <a:solidFill>
                  <a:srgbClr val="0070C0"/>
                </a:solidFill>
              </a:rPr>
            </a:br>
            <a:endParaRPr lang="nl-NL" sz="2200" dirty="0">
              <a:solidFill>
                <a:srgbClr val="0070C0"/>
              </a:solidFill>
            </a:endParaRPr>
          </a:p>
        </p:txBody>
      </p:sp>
      <p:sp>
        <p:nvSpPr>
          <p:cNvPr id="7" name="Tekstvak 6"/>
          <p:cNvSpPr txBox="1"/>
          <p:nvPr/>
        </p:nvSpPr>
        <p:spPr>
          <a:xfrm>
            <a:off x="361950" y="3740908"/>
            <a:ext cx="8458200" cy="1107996"/>
          </a:xfrm>
          <a:prstGeom prst="rect">
            <a:avLst/>
          </a:prstGeom>
          <a:ln>
            <a:solidFill>
              <a:schemeClr val="accent6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ctr">
              <a:defRPr/>
            </a:pPr>
            <a:r>
              <a:rPr lang="en-US" sz="2200" dirty="0">
                <a:solidFill>
                  <a:schemeClr val="bg2">
                    <a:lumMod val="50000"/>
                  </a:schemeClr>
                </a:solidFill>
              </a:rPr>
              <a:t> </a:t>
            </a:r>
            <a:br>
              <a:rPr lang="en-US" sz="2200" dirty="0">
                <a:solidFill>
                  <a:schemeClr val="bg2">
                    <a:lumMod val="50000"/>
                  </a:schemeClr>
                </a:solidFill>
              </a:rPr>
            </a:br>
            <a:r>
              <a:rPr lang="en-US" sz="2200" dirty="0">
                <a:solidFill>
                  <a:srgbClr val="0070C0"/>
                </a:solidFill>
              </a:rPr>
              <a:t>{ y=0 /\ k=10 }  </a:t>
            </a:r>
            <a:r>
              <a:rPr lang="en-US" sz="2200" b="1" dirty="0">
                <a:solidFill>
                  <a:schemeClr val="tx1"/>
                </a:solidFill>
              </a:rPr>
              <a:t>while</a:t>
            </a:r>
            <a:r>
              <a:rPr lang="en-US" sz="2200" dirty="0">
                <a:solidFill>
                  <a:schemeClr val="tx1"/>
                </a:solidFill>
              </a:rPr>
              <a:t> k ≠ 0  </a:t>
            </a:r>
            <a:r>
              <a:rPr lang="en-US" sz="2200" b="1" dirty="0">
                <a:solidFill>
                  <a:schemeClr val="tx1"/>
                </a:solidFill>
              </a:rPr>
              <a:t>do</a:t>
            </a:r>
            <a:r>
              <a:rPr lang="en-US" sz="2200" dirty="0">
                <a:solidFill>
                  <a:schemeClr val="tx1"/>
                </a:solidFill>
              </a:rPr>
              <a:t>  { y := y+2 ; k-- }</a:t>
            </a:r>
            <a:r>
              <a:rPr lang="en-US" sz="2200" dirty="0">
                <a:solidFill>
                  <a:schemeClr val="bg2">
                    <a:lumMod val="50000"/>
                  </a:schemeClr>
                </a:solidFill>
              </a:rPr>
              <a:t>   </a:t>
            </a:r>
            <a:r>
              <a:rPr lang="en-US" sz="2200" dirty="0">
                <a:solidFill>
                  <a:srgbClr val="0070C0"/>
                </a:solidFill>
              </a:rPr>
              <a:t>{ y = 20 }</a:t>
            </a:r>
            <a:br>
              <a:rPr lang="en-US" sz="2200" dirty="0">
                <a:solidFill>
                  <a:srgbClr val="0070C0"/>
                </a:solidFill>
              </a:rPr>
            </a:br>
            <a:endParaRPr lang="nl-NL" sz="22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767198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Few more examples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F6914C3-FD0B-49B5-BBFA-F102936D770A}" type="slidenum">
              <a:rPr lang="en-US" smtClean="0"/>
              <a:pPr>
                <a:defRPr/>
              </a:pPr>
              <a:t>9</a:t>
            </a:fld>
            <a:endParaRPr lang="en-US"/>
          </a:p>
        </p:txBody>
      </p:sp>
      <p:sp>
        <p:nvSpPr>
          <p:cNvPr id="5" name="Tekstvak 6"/>
          <p:cNvSpPr txBox="1"/>
          <p:nvPr/>
        </p:nvSpPr>
        <p:spPr>
          <a:xfrm>
            <a:off x="2105025" y="1957388"/>
            <a:ext cx="5137150" cy="3046988"/>
          </a:xfrm>
          <a:prstGeom prst="rect">
            <a:avLst/>
          </a:prstGeom>
          <a:ln>
            <a:solidFill>
              <a:schemeClr val="accent6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defRPr/>
            </a:pPr>
            <a:r>
              <a:rPr lang="en-US" b="1" dirty="0">
                <a:solidFill>
                  <a:schemeClr val="tx1"/>
                </a:solidFill>
              </a:rPr>
              <a:t>Home work: </a:t>
            </a:r>
          </a:p>
          <a:p>
            <a:pPr>
              <a:defRPr/>
            </a:pPr>
            <a:endParaRPr lang="en-US" b="1" dirty="0">
              <a:solidFill>
                <a:schemeClr val="tx1"/>
              </a:solidFill>
            </a:endParaRPr>
          </a:p>
          <a:p>
            <a:pPr>
              <a:defRPr/>
            </a:pPr>
            <a:r>
              <a:rPr lang="en-US" b="1" dirty="0">
                <a:solidFill>
                  <a:schemeClr val="tx1"/>
                </a:solidFill>
              </a:rPr>
              <a:t>	</a:t>
            </a:r>
            <a:r>
              <a:rPr lang="en-US" dirty="0">
                <a:solidFill>
                  <a:srgbClr val="0070C0"/>
                </a:solidFill>
              </a:rPr>
              <a:t>{ s=false  /\  k=0 }    </a:t>
            </a:r>
          </a:p>
          <a:p>
            <a:pPr>
              <a:defRPr/>
            </a:pPr>
            <a:endParaRPr lang="en-US" dirty="0">
              <a:solidFill>
                <a:schemeClr val="bg2">
                  <a:lumMod val="50000"/>
                </a:schemeClr>
              </a:solidFill>
            </a:endParaRPr>
          </a:p>
          <a:p>
            <a:pPr>
              <a:defRPr/>
            </a:pPr>
            <a:r>
              <a:rPr lang="en-US" b="1" dirty="0">
                <a:solidFill>
                  <a:schemeClr val="tx1"/>
                </a:solidFill>
              </a:rPr>
              <a:t>	while</a:t>
            </a:r>
            <a:r>
              <a:rPr lang="en-US" dirty="0">
                <a:solidFill>
                  <a:schemeClr val="tx1"/>
                </a:solidFill>
              </a:rPr>
              <a:t> k&lt;#b  </a:t>
            </a:r>
            <a:r>
              <a:rPr lang="en-US" b="1" dirty="0">
                <a:solidFill>
                  <a:schemeClr val="tx1"/>
                </a:solidFill>
              </a:rPr>
              <a:t>do</a:t>
            </a:r>
            <a:r>
              <a:rPr lang="en-US" dirty="0">
                <a:solidFill>
                  <a:schemeClr val="tx1"/>
                </a:solidFill>
              </a:rPr>
              <a:t>  { </a:t>
            </a:r>
          </a:p>
          <a:p>
            <a:pPr>
              <a:defRPr/>
            </a:pPr>
            <a:r>
              <a:rPr lang="en-US" dirty="0">
                <a:solidFill>
                  <a:schemeClr val="tx1"/>
                </a:solidFill>
              </a:rPr>
              <a:t>	      s   =  s \/ b[k]  ; </a:t>
            </a:r>
          </a:p>
          <a:p>
            <a:pPr>
              <a:defRPr/>
            </a:pPr>
            <a:r>
              <a:rPr lang="en-US" dirty="0">
                <a:solidFill>
                  <a:schemeClr val="tx1"/>
                </a:solidFill>
              </a:rPr>
              <a:t>	      k = k + 1</a:t>
            </a:r>
          </a:p>
          <a:p>
            <a:pPr>
              <a:defRPr/>
            </a:pPr>
            <a:r>
              <a:rPr lang="en-US" dirty="0">
                <a:solidFill>
                  <a:schemeClr val="tx1"/>
                </a:solidFill>
              </a:rPr>
              <a:t>	 }    </a:t>
            </a:r>
            <a:endParaRPr lang="nl-NL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2105025" y="5232400"/>
            <a:ext cx="5137150" cy="461665"/>
          </a:xfrm>
          <a:prstGeom prst="rect">
            <a:avLst/>
          </a:prstGeom>
          <a:noFill/>
          <a:ln>
            <a:solidFill>
              <a:schemeClr val="accent6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0070C0"/>
                </a:solidFill>
              </a:rPr>
              <a:t>{   s    =   (∃</a:t>
            </a:r>
            <a:r>
              <a:rPr lang="en-US" dirty="0" err="1">
                <a:solidFill>
                  <a:srgbClr val="0070C0"/>
                </a:solidFill>
              </a:rPr>
              <a:t>i</a:t>
            </a:r>
            <a:r>
              <a:rPr lang="en-US" dirty="0">
                <a:solidFill>
                  <a:srgbClr val="0070C0"/>
                </a:solidFill>
              </a:rPr>
              <a:t>: 0≤i&lt;#b : b[</a:t>
            </a:r>
            <a:r>
              <a:rPr lang="en-US" dirty="0" err="1">
                <a:solidFill>
                  <a:srgbClr val="0070C0"/>
                </a:solidFill>
              </a:rPr>
              <a:t>i</a:t>
            </a:r>
            <a:r>
              <a:rPr lang="en-US" dirty="0">
                <a:solidFill>
                  <a:srgbClr val="0070C0"/>
                </a:solidFill>
              </a:rPr>
              <a:t>])    }</a:t>
            </a:r>
            <a:endParaRPr lang="nl-NL" dirty="0">
              <a:solidFill>
                <a:srgbClr val="0070C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dirty="0"/>
              <a:t>Proving termination (of loop)</a:t>
            </a:r>
            <a:endParaRPr lang="nl-NL" sz="3600" dirty="0"/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>
          <a:xfrm>
            <a:off x="685800" y="1383957"/>
            <a:ext cx="7729538" cy="5253953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n-US" dirty="0"/>
              <a:t>Extend the previous rule to: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r>
              <a:rPr lang="en-US" dirty="0"/>
              <a:t>	</a:t>
            </a:r>
            <a:r>
              <a:rPr lang="en-US" i="1" dirty="0"/>
              <a:t>P</a:t>
            </a:r>
            <a:r>
              <a:rPr lang="en-US" dirty="0"/>
              <a:t> </a:t>
            </a:r>
            <a:r>
              <a:rPr lang="en-US" dirty="0">
                <a:sym typeface="Symbol"/>
              </a:rPr>
              <a:t> </a:t>
            </a:r>
            <a:r>
              <a:rPr lang="en-US" i="1" dirty="0">
                <a:sym typeface="Symbol"/>
              </a:rPr>
              <a:t>I</a:t>
            </a:r>
            <a:r>
              <a:rPr lang="en-US" dirty="0">
                <a:sym typeface="Symbol"/>
              </a:rPr>
              <a:t>					</a:t>
            </a:r>
            <a:br>
              <a:rPr lang="en-US" dirty="0">
                <a:solidFill>
                  <a:schemeClr val="bg1">
                    <a:lumMod val="65000"/>
                  </a:schemeClr>
                </a:solidFill>
                <a:sym typeface="Symbol"/>
              </a:rPr>
            </a:br>
            <a:r>
              <a:rPr lang="en-US" dirty="0">
                <a:sym typeface="Symbol"/>
              </a:rPr>
              <a:t>	{ </a:t>
            </a:r>
            <a:r>
              <a:rPr lang="en-US" i="1" dirty="0">
                <a:sym typeface="Symbol"/>
              </a:rPr>
              <a:t>g</a:t>
            </a:r>
            <a:r>
              <a:rPr lang="en-US" dirty="0">
                <a:sym typeface="Symbol"/>
              </a:rPr>
              <a:t>  /\  </a:t>
            </a:r>
            <a:r>
              <a:rPr lang="en-US" i="1" dirty="0">
                <a:sym typeface="Symbol"/>
              </a:rPr>
              <a:t>I</a:t>
            </a:r>
            <a:r>
              <a:rPr lang="en-US" dirty="0">
                <a:sym typeface="Symbol"/>
              </a:rPr>
              <a:t> }    S    {  </a:t>
            </a:r>
            <a:r>
              <a:rPr lang="en-US" i="1" dirty="0">
                <a:sym typeface="Symbol"/>
              </a:rPr>
              <a:t>I</a:t>
            </a:r>
            <a:r>
              <a:rPr lang="en-US" dirty="0">
                <a:sym typeface="Symbol"/>
              </a:rPr>
              <a:t>  }		</a:t>
            </a:r>
            <a:br>
              <a:rPr lang="en-US" dirty="0">
                <a:sym typeface="Symbol"/>
              </a:rPr>
            </a:br>
            <a:r>
              <a:rPr lang="en-US" dirty="0">
                <a:sym typeface="Symbol"/>
              </a:rPr>
              <a:t>	I  /\ g    Q 			</a:t>
            </a:r>
            <a:br>
              <a:rPr lang="en-US" sz="1800" dirty="0">
                <a:solidFill>
                  <a:schemeClr val="bg1">
                    <a:lumMod val="65000"/>
                  </a:schemeClr>
                </a:solidFill>
                <a:sym typeface="Symbol"/>
              </a:rPr>
            </a:br>
            <a:r>
              <a:rPr lang="en-US" sz="1800" dirty="0">
                <a:solidFill>
                  <a:schemeClr val="bg1">
                    <a:lumMod val="65000"/>
                  </a:schemeClr>
                </a:solidFill>
                <a:sym typeface="Symbol"/>
              </a:rPr>
              <a:t>	</a:t>
            </a:r>
            <a:br>
              <a:rPr lang="en-US" sz="1800" dirty="0">
                <a:solidFill>
                  <a:schemeClr val="bg1">
                    <a:lumMod val="65000"/>
                  </a:schemeClr>
                </a:solidFill>
                <a:sym typeface="Symbol"/>
              </a:rPr>
            </a:br>
            <a:r>
              <a:rPr lang="en-US" sz="1800" dirty="0">
                <a:solidFill>
                  <a:schemeClr val="bg1">
                    <a:lumMod val="65000"/>
                  </a:schemeClr>
                </a:solidFill>
                <a:sym typeface="Symbol"/>
              </a:rPr>
              <a:t>	</a:t>
            </a:r>
            <a:r>
              <a:rPr lang="en-US" dirty="0">
                <a:sym typeface="Symbol"/>
              </a:rPr>
              <a:t>{ </a:t>
            </a:r>
            <a:r>
              <a:rPr lang="en-US" i="1" dirty="0">
                <a:sym typeface="Symbol"/>
              </a:rPr>
              <a:t>I</a:t>
            </a:r>
            <a:r>
              <a:rPr lang="en-US" dirty="0">
                <a:sym typeface="Symbol"/>
              </a:rPr>
              <a:t> /\ </a:t>
            </a:r>
            <a:r>
              <a:rPr lang="en-US" i="1" dirty="0">
                <a:sym typeface="Symbol"/>
              </a:rPr>
              <a:t>g</a:t>
            </a:r>
            <a:r>
              <a:rPr lang="en-US" dirty="0">
                <a:sym typeface="Symbol"/>
              </a:rPr>
              <a:t> }    </a:t>
            </a:r>
            <a:r>
              <a:rPr lang="en-US" i="1" dirty="0">
                <a:sym typeface="Symbol"/>
              </a:rPr>
              <a:t>C</a:t>
            </a:r>
            <a:r>
              <a:rPr lang="en-US" dirty="0">
                <a:sym typeface="Symbol"/>
              </a:rPr>
              <a:t>:=</a:t>
            </a:r>
            <a:r>
              <a:rPr lang="en-US" i="1" dirty="0">
                <a:sym typeface="Symbol"/>
              </a:rPr>
              <a:t>m </a:t>
            </a:r>
            <a:r>
              <a:rPr lang="en-US" dirty="0">
                <a:sym typeface="Symbol"/>
              </a:rPr>
              <a:t>; S   { </a:t>
            </a:r>
            <a:r>
              <a:rPr lang="en-US" i="1" dirty="0">
                <a:sym typeface="Symbol"/>
              </a:rPr>
              <a:t>m</a:t>
            </a:r>
            <a:r>
              <a:rPr lang="en-US" dirty="0">
                <a:sym typeface="Symbol"/>
              </a:rPr>
              <a:t>&lt;</a:t>
            </a:r>
            <a:r>
              <a:rPr lang="en-US" i="1" dirty="0">
                <a:sym typeface="Symbol"/>
              </a:rPr>
              <a:t>C</a:t>
            </a:r>
            <a:r>
              <a:rPr lang="en-US" dirty="0">
                <a:sym typeface="Symbol"/>
              </a:rPr>
              <a:t> } 	          </a:t>
            </a:r>
            <a:r>
              <a:rPr lang="en-US" sz="1800" dirty="0">
                <a:solidFill>
                  <a:schemeClr val="bg1">
                    <a:lumMod val="65000"/>
                  </a:schemeClr>
                </a:solidFill>
                <a:sym typeface="Symbol"/>
              </a:rPr>
              <a:t>// m decreasing </a:t>
            </a:r>
            <a:br>
              <a:rPr lang="en-US" dirty="0">
                <a:solidFill>
                  <a:schemeClr val="bg1">
                    <a:lumMod val="65000"/>
                  </a:schemeClr>
                </a:solidFill>
                <a:sym typeface="Symbol"/>
              </a:rPr>
            </a:br>
            <a:r>
              <a:rPr lang="en-US" dirty="0">
                <a:solidFill>
                  <a:schemeClr val="bg1">
                    <a:lumMod val="65000"/>
                  </a:schemeClr>
                </a:solidFill>
                <a:sym typeface="Symbol"/>
              </a:rPr>
              <a:t>	</a:t>
            </a:r>
            <a:r>
              <a:rPr lang="en-US" i="1" dirty="0">
                <a:sym typeface="Symbol"/>
              </a:rPr>
              <a:t>I</a:t>
            </a:r>
            <a:r>
              <a:rPr lang="en-US" dirty="0">
                <a:sym typeface="Symbol"/>
              </a:rPr>
              <a:t> /\ </a:t>
            </a:r>
            <a:r>
              <a:rPr lang="en-US" i="1" dirty="0">
                <a:sym typeface="Symbol"/>
              </a:rPr>
              <a:t>g</a:t>
            </a:r>
            <a:r>
              <a:rPr lang="en-US" dirty="0">
                <a:sym typeface="Symbol"/>
              </a:rPr>
              <a:t>    </a:t>
            </a:r>
            <a:r>
              <a:rPr lang="en-US" i="1" dirty="0"/>
              <a:t>m</a:t>
            </a:r>
            <a:r>
              <a:rPr lang="en-US" dirty="0"/>
              <a:t> </a:t>
            </a:r>
            <a:r>
              <a:rPr lang="en-US" dirty="0">
                <a:sym typeface="Symbol"/>
              </a:rPr>
              <a:t>&gt; 0		          </a:t>
            </a:r>
            <a:r>
              <a:rPr lang="en-US" sz="1800" dirty="0">
                <a:solidFill>
                  <a:schemeClr val="bg1">
                    <a:lumMod val="65000"/>
                  </a:schemeClr>
                </a:solidFill>
                <a:sym typeface="Symbol"/>
              </a:rPr>
              <a:t>//  m bounded below</a:t>
            </a:r>
            <a:r>
              <a:rPr lang="en-US" dirty="0">
                <a:sym typeface="Symbol"/>
              </a:rPr>
              <a:t> </a:t>
            </a:r>
            <a:br>
              <a:rPr lang="en-US" dirty="0">
                <a:sym typeface="Symbol"/>
              </a:rPr>
            </a:br>
            <a:r>
              <a:rPr lang="en-US" dirty="0">
                <a:sym typeface="Symbol"/>
              </a:rPr>
              <a:t>	</a:t>
            </a:r>
            <a:br>
              <a:rPr lang="en-US" dirty="0">
                <a:sym typeface="Symbol"/>
              </a:rPr>
            </a:br>
            <a:r>
              <a:rPr lang="en-US" dirty="0">
                <a:sym typeface="Symbol"/>
              </a:rPr>
              <a:t>	----------------------------------------</a:t>
            </a:r>
            <a:br>
              <a:rPr lang="en-US" dirty="0">
                <a:sym typeface="Symbol"/>
              </a:rPr>
            </a:br>
            <a:r>
              <a:rPr lang="en-US" dirty="0">
                <a:sym typeface="Symbol"/>
              </a:rPr>
              <a:t>	</a:t>
            </a:r>
            <a:br>
              <a:rPr lang="en-US" dirty="0">
                <a:sym typeface="Symbol"/>
              </a:rPr>
            </a:br>
            <a:r>
              <a:rPr lang="en-US" dirty="0">
                <a:sym typeface="Symbol"/>
              </a:rPr>
              <a:t>	{ </a:t>
            </a:r>
            <a:r>
              <a:rPr lang="en-US" i="1" dirty="0">
                <a:sym typeface="Symbol"/>
              </a:rPr>
              <a:t>P</a:t>
            </a:r>
            <a:r>
              <a:rPr lang="en-US" dirty="0">
                <a:sym typeface="Symbol"/>
              </a:rPr>
              <a:t> }   </a:t>
            </a:r>
            <a:r>
              <a:rPr lang="en-US" b="1" u="sng" dirty="0">
                <a:sym typeface="Symbol"/>
              </a:rPr>
              <a:t>while</a:t>
            </a:r>
            <a:r>
              <a:rPr lang="en-US" dirty="0">
                <a:sym typeface="Symbol"/>
              </a:rPr>
              <a:t>  </a:t>
            </a:r>
            <a:r>
              <a:rPr lang="en-US" i="1" dirty="0">
                <a:sym typeface="Symbol"/>
              </a:rPr>
              <a:t>g</a:t>
            </a:r>
            <a:r>
              <a:rPr lang="en-US" dirty="0">
                <a:sym typeface="Symbol"/>
              </a:rPr>
              <a:t>  </a:t>
            </a:r>
            <a:r>
              <a:rPr lang="en-US" b="1" u="sng" dirty="0">
                <a:sym typeface="Symbol"/>
              </a:rPr>
              <a:t>do</a:t>
            </a:r>
            <a:r>
              <a:rPr lang="en-US" dirty="0">
                <a:sym typeface="Symbol"/>
              </a:rPr>
              <a:t>   S    { </a:t>
            </a:r>
            <a:r>
              <a:rPr lang="en-US" i="1" dirty="0">
                <a:sym typeface="Symbol"/>
              </a:rPr>
              <a:t>Q</a:t>
            </a:r>
            <a:r>
              <a:rPr lang="en-US" dirty="0">
                <a:sym typeface="Symbol"/>
              </a:rPr>
              <a:t> }</a:t>
            </a:r>
            <a:br>
              <a:rPr lang="en-US" dirty="0">
                <a:sym typeface="Symbol"/>
              </a:rPr>
            </a:br>
            <a:endParaRPr lang="nl-NL" dirty="0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176CFF6-134D-45CE-ABDE-848AF3C1C4A2}" type="slidenum">
              <a:rPr lang="en-US"/>
              <a:pPr>
                <a:defRPr/>
              </a:pPr>
              <a:t>10</a:t>
            </a:fld>
            <a:endParaRPr lang="en-US"/>
          </a:p>
        </p:txBody>
      </p:sp>
      <p:sp>
        <p:nvSpPr>
          <p:cNvPr id="5" name="Rechthoek 4"/>
          <p:cNvSpPr/>
          <p:nvPr/>
        </p:nvSpPr>
        <p:spPr>
          <a:xfrm>
            <a:off x="960438" y="2200275"/>
            <a:ext cx="4805362" cy="3756025"/>
          </a:xfrm>
          <a:prstGeom prst="rect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nl-NL"/>
          </a:p>
        </p:txBody>
      </p:sp>
      <p:sp>
        <p:nvSpPr>
          <p:cNvPr id="6" name="Rechthoek 5"/>
          <p:cNvSpPr/>
          <p:nvPr/>
        </p:nvSpPr>
        <p:spPr>
          <a:xfrm>
            <a:off x="781050" y="3494201"/>
            <a:ext cx="358775" cy="1033463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nl-NL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F6914C3-FD0B-49B5-BBFA-F102936D770A}" type="slidenum">
              <a:rPr lang="en-US" smtClean="0"/>
              <a:pPr>
                <a:defRPr/>
              </a:pPr>
              <a:t>11</a:t>
            </a:fld>
            <a:endParaRPr lang="en-US"/>
          </a:p>
        </p:txBody>
      </p:sp>
      <p:sp>
        <p:nvSpPr>
          <p:cNvPr id="9" name="Tekstvak 6"/>
          <p:cNvSpPr txBox="1"/>
          <p:nvPr/>
        </p:nvSpPr>
        <p:spPr>
          <a:xfrm>
            <a:off x="2270375" y="1998496"/>
            <a:ext cx="4803525" cy="3046988"/>
          </a:xfrm>
          <a:prstGeom prst="rect">
            <a:avLst/>
          </a:prstGeom>
          <a:ln>
            <a:solidFill>
              <a:schemeClr val="accent6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defRPr/>
            </a:pPr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{  x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  <a:sym typeface="Symbol"/>
              </a:rPr>
              <a:t>0  /\  y0 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}     </a:t>
            </a:r>
          </a:p>
          <a:p>
            <a:pPr>
              <a:defRPr/>
            </a:pPr>
            <a:endParaRPr lang="en-US" dirty="0">
              <a:solidFill>
                <a:schemeClr val="bg2">
                  <a:lumMod val="50000"/>
                </a:schemeClr>
              </a:solidFill>
            </a:endParaRPr>
          </a:p>
          <a:p>
            <a:pPr>
              <a:defRPr/>
            </a:pPr>
            <a:r>
              <a:rPr lang="en-US" b="1" dirty="0">
                <a:solidFill>
                  <a:schemeClr val="tx1"/>
                </a:solidFill>
              </a:rPr>
              <a:t>   while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x+y</a:t>
            </a:r>
            <a:r>
              <a:rPr lang="en-US" dirty="0">
                <a:solidFill>
                  <a:schemeClr val="tx1"/>
                </a:solidFill>
              </a:rPr>
              <a:t>&gt;0  </a:t>
            </a:r>
            <a:r>
              <a:rPr lang="en-US" b="1" dirty="0">
                <a:solidFill>
                  <a:schemeClr val="tx1"/>
                </a:solidFill>
              </a:rPr>
              <a:t>do</a:t>
            </a:r>
            <a:r>
              <a:rPr lang="en-US" dirty="0">
                <a:solidFill>
                  <a:schemeClr val="tx1"/>
                </a:solidFill>
              </a:rPr>
              <a:t>  {  </a:t>
            </a:r>
          </a:p>
          <a:p>
            <a:pPr>
              <a:defRPr/>
            </a:pPr>
            <a:r>
              <a:rPr lang="en-US" dirty="0">
                <a:solidFill>
                  <a:schemeClr val="tx1"/>
                </a:solidFill>
              </a:rPr>
              <a:t>       </a:t>
            </a:r>
            <a:r>
              <a:rPr lang="en-US" b="1" dirty="0">
                <a:solidFill>
                  <a:schemeClr val="tx1"/>
                </a:solidFill>
              </a:rPr>
              <a:t>if</a:t>
            </a:r>
            <a:r>
              <a:rPr lang="en-US" dirty="0">
                <a:solidFill>
                  <a:schemeClr val="tx1"/>
                </a:solidFill>
              </a:rPr>
              <a:t>  x&gt;0  </a:t>
            </a:r>
            <a:r>
              <a:rPr lang="en-US" b="1" dirty="0">
                <a:solidFill>
                  <a:schemeClr val="tx1"/>
                </a:solidFill>
              </a:rPr>
              <a:t>then</a:t>
            </a:r>
            <a:r>
              <a:rPr lang="en-US" dirty="0">
                <a:solidFill>
                  <a:schemeClr val="tx1"/>
                </a:solidFill>
              </a:rPr>
              <a:t>  { x--   ;   y := y+100 }</a:t>
            </a:r>
          </a:p>
          <a:p>
            <a:pPr>
              <a:defRPr/>
            </a:pPr>
            <a:r>
              <a:rPr lang="en-US" dirty="0">
                <a:solidFill>
                  <a:schemeClr val="tx1"/>
                </a:solidFill>
              </a:rPr>
              <a:t>       </a:t>
            </a:r>
            <a:r>
              <a:rPr lang="en-US" b="1" dirty="0">
                <a:solidFill>
                  <a:schemeClr val="tx1"/>
                </a:solidFill>
              </a:rPr>
              <a:t>else</a:t>
            </a:r>
            <a:r>
              <a:rPr lang="en-US" dirty="0">
                <a:solidFill>
                  <a:schemeClr val="tx1"/>
                </a:solidFill>
              </a:rPr>
              <a:t>  y-- 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}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  </a:t>
            </a:r>
          </a:p>
          <a:p>
            <a:pPr>
              <a:defRPr/>
            </a:pPr>
            <a:endParaRPr lang="en-US" dirty="0">
              <a:solidFill>
                <a:schemeClr val="bg2">
                  <a:lumMod val="50000"/>
                </a:schemeClr>
              </a:solidFill>
            </a:endParaRPr>
          </a:p>
          <a:p>
            <a:pPr>
              <a:defRPr/>
            </a:pPr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 { x=0 /\  y=0 }</a:t>
            </a:r>
            <a:endParaRPr lang="nl-NL" dirty="0">
              <a:solidFill>
                <a:schemeClr val="bg2">
                  <a:lumMod val="50000"/>
                </a:schemeClr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Home work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F6914C3-FD0B-49B5-BBFA-F102936D770A}" type="slidenum">
              <a:rPr lang="en-US" smtClean="0"/>
              <a:pPr>
                <a:defRPr/>
              </a:pPr>
              <a:t>12</a:t>
            </a:fld>
            <a:endParaRPr lang="en-US"/>
          </a:p>
        </p:txBody>
      </p:sp>
      <p:sp>
        <p:nvSpPr>
          <p:cNvPr id="9" name="Tekstvak 6"/>
          <p:cNvSpPr txBox="1"/>
          <p:nvPr/>
        </p:nvSpPr>
        <p:spPr>
          <a:xfrm>
            <a:off x="2716337" y="1833396"/>
            <a:ext cx="3711325" cy="3046988"/>
          </a:xfrm>
          <a:prstGeom prst="rect">
            <a:avLst/>
          </a:prstGeom>
          <a:ln>
            <a:solidFill>
              <a:schemeClr val="accent6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defRPr/>
            </a:pPr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{  x&gt;1 }     </a:t>
            </a:r>
          </a:p>
          <a:p>
            <a:pPr>
              <a:defRPr/>
            </a:pPr>
            <a:endParaRPr lang="en-US" dirty="0">
              <a:solidFill>
                <a:schemeClr val="bg2">
                  <a:lumMod val="50000"/>
                </a:schemeClr>
              </a:solidFill>
            </a:endParaRPr>
          </a:p>
          <a:p>
            <a:pPr>
              <a:defRPr/>
            </a:pPr>
            <a:r>
              <a:rPr lang="en-US" b="1" dirty="0">
                <a:solidFill>
                  <a:schemeClr val="tx1"/>
                </a:solidFill>
              </a:rPr>
              <a:t>   while</a:t>
            </a:r>
            <a:r>
              <a:rPr lang="en-US" dirty="0">
                <a:solidFill>
                  <a:schemeClr val="tx1"/>
                </a:solidFill>
              </a:rPr>
              <a:t> x&gt;0  </a:t>
            </a:r>
            <a:r>
              <a:rPr lang="en-US" b="1" dirty="0">
                <a:solidFill>
                  <a:schemeClr val="tx1"/>
                </a:solidFill>
              </a:rPr>
              <a:t>do</a:t>
            </a:r>
            <a:r>
              <a:rPr lang="en-US" dirty="0">
                <a:solidFill>
                  <a:schemeClr val="tx1"/>
                </a:solidFill>
              </a:rPr>
              <a:t>  {  </a:t>
            </a:r>
          </a:p>
          <a:p>
            <a:pPr>
              <a:defRPr/>
            </a:pPr>
            <a:r>
              <a:rPr lang="en-US" dirty="0">
                <a:solidFill>
                  <a:schemeClr val="tx1"/>
                </a:solidFill>
              </a:rPr>
              <a:t>       </a:t>
            </a:r>
            <a:r>
              <a:rPr lang="en-US" b="1" dirty="0">
                <a:solidFill>
                  <a:schemeClr val="tx1"/>
                </a:solidFill>
              </a:rPr>
              <a:t>if</a:t>
            </a:r>
            <a:r>
              <a:rPr lang="en-US" dirty="0">
                <a:solidFill>
                  <a:schemeClr val="tx1"/>
                </a:solidFill>
              </a:rPr>
              <a:t>  x&gt;1  </a:t>
            </a:r>
            <a:r>
              <a:rPr lang="en-US" b="1" dirty="0">
                <a:solidFill>
                  <a:schemeClr val="tx1"/>
                </a:solidFill>
              </a:rPr>
              <a:t>then</a:t>
            </a:r>
            <a:r>
              <a:rPr lang="en-US" dirty="0">
                <a:solidFill>
                  <a:schemeClr val="tx1"/>
                </a:solidFill>
              </a:rPr>
              <a:t>  x := x - 2</a:t>
            </a:r>
          </a:p>
          <a:p>
            <a:pPr>
              <a:defRPr/>
            </a:pPr>
            <a:r>
              <a:rPr lang="en-US" dirty="0">
                <a:solidFill>
                  <a:schemeClr val="tx1"/>
                </a:solidFill>
              </a:rPr>
              <a:t>       </a:t>
            </a:r>
            <a:r>
              <a:rPr lang="en-US" b="1" dirty="0">
                <a:solidFill>
                  <a:schemeClr val="tx1"/>
                </a:solidFill>
              </a:rPr>
              <a:t>else</a:t>
            </a:r>
            <a:r>
              <a:rPr lang="en-US" dirty="0">
                <a:solidFill>
                  <a:schemeClr val="tx1"/>
                </a:solidFill>
              </a:rPr>
              <a:t>  x :=  x + 1 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}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  </a:t>
            </a:r>
          </a:p>
          <a:p>
            <a:pPr>
              <a:defRPr/>
            </a:pPr>
            <a:endParaRPr lang="en-US" dirty="0">
              <a:solidFill>
                <a:schemeClr val="bg2">
                  <a:lumMod val="50000"/>
                </a:schemeClr>
              </a:solidFill>
            </a:endParaRPr>
          </a:p>
          <a:p>
            <a:pPr>
              <a:defRPr/>
            </a:pPr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{ true }</a:t>
            </a:r>
            <a:endParaRPr lang="nl-NL" dirty="0">
              <a:solidFill>
                <a:schemeClr val="bg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468246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el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nl-NL" sz="3200"/>
              <a:t>Hoare logic cannot be directly automated</a:t>
            </a:r>
          </a:p>
        </p:txBody>
      </p:sp>
      <p:sp>
        <p:nvSpPr>
          <p:cNvPr id="17411" name="Tijdelijke aanduiding voor inhoud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dirty="0"/>
              <a:t>Problem: </a:t>
            </a:r>
          </a:p>
          <a:p>
            <a:pPr eaLnBrk="1" hangingPunct="1"/>
            <a:endParaRPr lang="en-US" dirty="0"/>
          </a:p>
          <a:p>
            <a:pPr eaLnBrk="1" hangingPunct="1"/>
            <a:endParaRPr lang="en-US" dirty="0"/>
          </a:p>
          <a:p>
            <a:pPr eaLnBrk="1" hangingPunct="1"/>
            <a:endParaRPr lang="en-US" dirty="0"/>
          </a:p>
          <a:p>
            <a:pPr eaLnBrk="1" hangingPunct="1"/>
            <a:endParaRPr lang="en-US" dirty="0"/>
          </a:p>
          <a:p>
            <a:pPr eaLnBrk="1" hangingPunct="1"/>
            <a:r>
              <a:rPr lang="en-US" dirty="0"/>
              <a:t>Let’s now look at “predicate transformer-based verification”. A </a:t>
            </a:r>
            <a:r>
              <a:rPr lang="en-US" i="1" dirty="0"/>
              <a:t>predicate transformer </a:t>
            </a:r>
            <a:r>
              <a:rPr lang="en-US" dirty="0"/>
              <a:t>is a function of type :</a:t>
            </a:r>
            <a:br>
              <a:rPr lang="en-US" dirty="0"/>
            </a:br>
            <a:r>
              <a:rPr lang="en-US" dirty="0"/>
              <a:t>	    Statement </a:t>
            </a:r>
            <a:r>
              <a:rPr lang="en-US" dirty="0">
                <a:sym typeface="Symbol" pitchFamily="18" charset="2"/>
              </a:rPr>
              <a:t> Predicate  Predicate</a:t>
            </a:r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sp>
        <p:nvSpPr>
          <p:cNvPr id="21508" name="Tijdelijke aanduiding voor dianummer 2"/>
          <p:cNvSpPr>
            <a:spLocks noGrp="1"/>
          </p:cNvSpPr>
          <p:nvPr>
            <p:ph type="sldNum" sz="quarter" idx="12"/>
          </p:nvPr>
        </p:nvSpPr>
        <p:spPr bwMode="auto">
          <a:ln>
            <a:miter lim="800000"/>
            <a:headEnd/>
            <a:tailEnd/>
          </a:ln>
        </p:spPr>
        <p:txBody>
          <a:bodyPr wrap="square" lIns="91440" tIns="45720" rIns="91440" bIns="45720" numCol="1" compatLnSpc="1">
            <a:prstTxWarp prst="textNoShape">
              <a:avLst/>
            </a:prstTxWarp>
          </a:bodyPr>
          <a:lstStyle/>
          <a:p>
            <a:pPr>
              <a:defRPr/>
            </a:pPr>
            <a:fld id="{E5718FAB-247B-4B16-8ACB-CF5E6B35F3CC}" type="slidenum">
              <a:rPr lang="en-US"/>
              <a:pPr>
                <a:defRPr/>
              </a:pPr>
              <a:t>13</a:t>
            </a:fld>
            <a:endParaRPr lang="en-US"/>
          </a:p>
        </p:txBody>
      </p:sp>
      <p:sp>
        <p:nvSpPr>
          <p:cNvPr id="5" name="Text Box 24"/>
          <p:cNvSpPr txBox="1">
            <a:spLocks noChangeArrowheads="1"/>
          </p:cNvSpPr>
          <p:nvPr/>
        </p:nvSpPr>
        <p:spPr bwMode="auto">
          <a:xfrm>
            <a:off x="1556544" y="2128838"/>
            <a:ext cx="6030912" cy="1200150"/>
          </a:xfrm>
          <a:prstGeom prst="rect">
            <a:avLst/>
          </a:prstGeom>
          <a:ln>
            <a:solidFill>
              <a:schemeClr val="accent6"/>
            </a:solidFill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 algn="ctr">
              <a:defRPr/>
            </a:pPr>
            <a:r>
              <a:rPr lang="en-US" dirty="0"/>
              <a:t>{ </a:t>
            </a:r>
            <a:r>
              <a:rPr lang="en-US" i="1" dirty="0"/>
              <a:t>P</a:t>
            </a:r>
            <a:r>
              <a:rPr lang="en-US" dirty="0"/>
              <a:t> }   S</a:t>
            </a:r>
            <a:r>
              <a:rPr lang="en-US" baseline="-25000" dirty="0"/>
              <a:t>1</a:t>
            </a:r>
            <a:r>
              <a:rPr lang="en-US" dirty="0"/>
              <a:t>   { </a:t>
            </a:r>
            <a:r>
              <a:rPr lang="en-US" i="1" dirty="0"/>
              <a:t>Q</a:t>
            </a:r>
            <a:r>
              <a:rPr lang="en-US" dirty="0"/>
              <a:t> }    ,   { </a:t>
            </a:r>
            <a:r>
              <a:rPr lang="en-US" i="1" dirty="0"/>
              <a:t>Q</a:t>
            </a:r>
            <a:r>
              <a:rPr lang="en-US" dirty="0"/>
              <a:t> }   S</a:t>
            </a:r>
            <a:r>
              <a:rPr lang="en-US" baseline="-25000" dirty="0"/>
              <a:t>2</a:t>
            </a:r>
            <a:r>
              <a:rPr lang="en-US" dirty="0"/>
              <a:t>   { </a:t>
            </a:r>
            <a:r>
              <a:rPr lang="en-US" i="1" dirty="0"/>
              <a:t>R</a:t>
            </a:r>
            <a:r>
              <a:rPr lang="en-US" dirty="0"/>
              <a:t> }</a:t>
            </a:r>
          </a:p>
          <a:p>
            <a:pPr algn="ctr">
              <a:defRPr/>
            </a:pPr>
            <a:r>
              <a:rPr lang="en-US" dirty="0"/>
              <a:t>---------------------------------------------------------</a:t>
            </a:r>
          </a:p>
          <a:p>
            <a:pPr algn="ctr">
              <a:defRPr/>
            </a:pPr>
            <a:r>
              <a:rPr lang="en-US" dirty="0"/>
              <a:t>{ </a:t>
            </a:r>
            <a:r>
              <a:rPr lang="en-US" i="1" dirty="0"/>
              <a:t>P</a:t>
            </a:r>
            <a:r>
              <a:rPr lang="en-US" dirty="0"/>
              <a:t> }   S</a:t>
            </a:r>
            <a:r>
              <a:rPr lang="en-US" baseline="-25000" dirty="0"/>
              <a:t>1</a:t>
            </a:r>
            <a:r>
              <a:rPr lang="en-US" dirty="0"/>
              <a:t> ; S</a:t>
            </a:r>
            <a:r>
              <a:rPr lang="en-US" baseline="-25000" dirty="0"/>
              <a:t>2</a:t>
            </a:r>
            <a:r>
              <a:rPr lang="en-US" dirty="0"/>
              <a:t>   { </a:t>
            </a:r>
            <a:r>
              <a:rPr lang="en-US" i="1" dirty="0"/>
              <a:t>R</a:t>
            </a:r>
            <a:r>
              <a:rPr lang="en-US" dirty="0"/>
              <a:t> } 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Forward and backward transformer</a:t>
            </a:r>
          </a:p>
        </p:txBody>
      </p:sp>
      <p:sp>
        <p:nvSpPr>
          <p:cNvPr id="18435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 err="1">
                <a:solidFill>
                  <a:srgbClr val="FF0000"/>
                </a:solidFill>
              </a:rPr>
              <a:t>cp</a:t>
            </a:r>
            <a:r>
              <a:rPr lang="en-US" b="1" dirty="0">
                <a:solidFill>
                  <a:srgbClr val="FF0000"/>
                </a:solidFill>
                <a:sym typeface="Wingdings 3" pitchFamily="18" charset="2"/>
              </a:rPr>
              <a:t></a:t>
            </a:r>
            <a:r>
              <a:rPr lang="en-US" dirty="0"/>
              <a:t> S  </a:t>
            </a:r>
            <a:r>
              <a:rPr lang="en-US" i="1" dirty="0"/>
              <a:t>P  </a:t>
            </a:r>
            <a:r>
              <a:rPr lang="en-US" dirty="0"/>
              <a:t>(forward) : transform a given pre-condition </a:t>
            </a:r>
            <a:r>
              <a:rPr lang="en-US" i="1" dirty="0"/>
              <a:t>P</a:t>
            </a:r>
            <a:r>
              <a:rPr lang="en-US" dirty="0"/>
              <a:t> to a post-condition. </a:t>
            </a:r>
          </a:p>
          <a:p>
            <a:r>
              <a:rPr lang="en-US" b="1" dirty="0" err="1">
                <a:solidFill>
                  <a:srgbClr val="0070C0"/>
                </a:solidFill>
              </a:rPr>
              <a:t>cp</a:t>
            </a:r>
            <a:r>
              <a:rPr lang="en-US" b="1" dirty="0">
                <a:solidFill>
                  <a:srgbClr val="0070C0"/>
                </a:solidFill>
                <a:sym typeface="Wingdings 3" pitchFamily="18" charset="2"/>
              </a:rPr>
              <a:t></a:t>
            </a:r>
            <a:r>
              <a:rPr lang="en-US" dirty="0">
                <a:solidFill>
                  <a:srgbClr val="0070C0"/>
                </a:solidFill>
                <a:sym typeface="Wingdings 3" pitchFamily="18" charset="2"/>
              </a:rPr>
              <a:t> </a:t>
            </a:r>
            <a:r>
              <a:rPr lang="en-US" dirty="0">
                <a:sym typeface="Wingdings 3" pitchFamily="18" charset="2"/>
              </a:rPr>
              <a:t>S </a:t>
            </a:r>
            <a:r>
              <a:rPr lang="en-US" i="1" dirty="0">
                <a:sym typeface="Wingdings 3" pitchFamily="18" charset="2"/>
              </a:rPr>
              <a:t>Q</a:t>
            </a:r>
            <a:r>
              <a:rPr lang="en-US" dirty="0">
                <a:sym typeface="Wingdings 3" pitchFamily="18" charset="2"/>
              </a:rPr>
              <a:t>  (backward) : transform a given post-condition </a:t>
            </a:r>
            <a:r>
              <a:rPr lang="en-US" i="1" dirty="0">
                <a:sym typeface="Wingdings 3" pitchFamily="18" charset="2"/>
              </a:rPr>
              <a:t>Q</a:t>
            </a:r>
            <a:r>
              <a:rPr lang="en-US" dirty="0">
                <a:sym typeface="Wingdings 3" pitchFamily="18" charset="2"/>
              </a:rPr>
              <a:t> to a pre-condition.</a:t>
            </a:r>
          </a:p>
          <a:p>
            <a:endParaRPr lang="en-US" dirty="0"/>
          </a:p>
          <a:p>
            <a:r>
              <a:rPr lang="en-US" dirty="0"/>
              <a:t>Do they produce valid (sound) pre/post conditions? Yes if :</a:t>
            </a:r>
          </a:p>
          <a:p>
            <a:pPr>
              <a:buNone/>
            </a:pPr>
            <a:r>
              <a:rPr lang="en-US" dirty="0"/>
              <a:t>       { </a:t>
            </a:r>
            <a:r>
              <a:rPr lang="en-US" i="1" dirty="0"/>
              <a:t>P</a:t>
            </a:r>
            <a:r>
              <a:rPr lang="en-US" dirty="0"/>
              <a:t> }   S  { </a:t>
            </a:r>
            <a:r>
              <a:rPr lang="en-US" b="1" dirty="0">
                <a:solidFill>
                  <a:srgbClr val="FF0000"/>
                </a:solidFill>
              </a:rPr>
              <a:t>cp</a:t>
            </a:r>
            <a:r>
              <a:rPr lang="en-US" b="1" dirty="0">
                <a:solidFill>
                  <a:srgbClr val="FF0000"/>
                </a:solidFill>
                <a:sym typeface="Wingdings 3" pitchFamily="18" charset="2"/>
              </a:rPr>
              <a:t></a:t>
            </a:r>
            <a:r>
              <a:rPr lang="en-US" dirty="0"/>
              <a:t> S  </a:t>
            </a:r>
            <a:r>
              <a:rPr lang="en-US" i="1" dirty="0"/>
              <a:t>P  </a:t>
            </a:r>
            <a:r>
              <a:rPr lang="en-US" dirty="0"/>
              <a:t>}       </a:t>
            </a:r>
            <a:br>
              <a:rPr lang="en-US" dirty="0"/>
            </a:br>
            <a:br>
              <a:rPr lang="en-US" dirty="0"/>
            </a:br>
            <a:r>
              <a:rPr lang="en-US" dirty="0"/>
              <a:t>    { </a:t>
            </a:r>
            <a:r>
              <a:rPr lang="en-US" b="1" dirty="0">
                <a:solidFill>
                  <a:srgbClr val="0070C0"/>
                </a:solidFill>
              </a:rPr>
              <a:t>cp</a:t>
            </a:r>
            <a:r>
              <a:rPr lang="en-US" b="1" dirty="0">
                <a:solidFill>
                  <a:srgbClr val="0070C0"/>
                </a:solidFill>
                <a:sym typeface="Wingdings 3" pitchFamily="18" charset="2"/>
              </a:rPr>
              <a:t></a:t>
            </a:r>
            <a:r>
              <a:rPr lang="en-US" dirty="0"/>
              <a:t> S  </a:t>
            </a:r>
            <a:r>
              <a:rPr lang="en-US" i="1" dirty="0"/>
              <a:t>Q</a:t>
            </a:r>
            <a:r>
              <a:rPr lang="en-US" dirty="0"/>
              <a:t> }   S  { </a:t>
            </a:r>
            <a:r>
              <a:rPr lang="en-US" i="1" dirty="0"/>
              <a:t>Q </a:t>
            </a:r>
            <a:r>
              <a:rPr lang="en-US" dirty="0"/>
              <a:t>}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dirty="0"/>
              <a:t>      It follows that to prove  {P} S {Q}, we can prove  </a:t>
            </a:r>
            <a:r>
              <a:rPr lang="en-US" b="1" dirty="0">
                <a:solidFill>
                  <a:srgbClr val="FF0000"/>
                </a:solidFill>
              </a:rPr>
              <a:t>cp</a:t>
            </a:r>
            <a:r>
              <a:rPr lang="en-US" b="1" dirty="0">
                <a:solidFill>
                  <a:srgbClr val="FF0000"/>
                </a:solidFill>
                <a:sym typeface="Wingdings 3" pitchFamily="18" charset="2"/>
              </a:rPr>
              <a:t></a:t>
            </a:r>
            <a:r>
              <a:rPr lang="en-US" dirty="0"/>
              <a:t> S  </a:t>
            </a:r>
            <a:r>
              <a:rPr lang="en-US" i="1" dirty="0"/>
              <a:t>P </a:t>
            </a:r>
            <a:r>
              <a:rPr lang="en-US" dirty="0">
                <a:sym typeface="Symbol" pitchFamily="18" charset="2"/>
              </a:rPr>
              <a:t> Q instead. Or, we prove</a:t>
            </a:r>
            <a:r>
              <a:rPr lang="en-US" i="1" dirty="0"/>
              <a:t> </a:t>
            </a:r>
            <a:r>
              <a:rPr lang="en-US" dirty="0"/>
              <a:t>P </a:t>
            </a:r>
            <a:r>
              <a:rPr lang="en-US" dirty="0">
                <a:sym typeface="Symbol" pitchFamily="18" charset="2"/>
              </a:rPr>
              <a:t></a:t>
            </a:r>
            <a:r>
              <a:rPr lang="en-US" dirty="0"/>
              <a:t> </a:t>
            </a:r>
            <a:r>
              <a:rPr lang="en-US" b="1" dirty="0">
                <a:solidFill>
                  <a:srgbClr val="0070C0"/>
                </a:solidFill>
              </a:rPr>
              <a:t>cp</a:t>
            </a:r>
            <a:r>
              <a:rPr lang="en-US" b="1" dirty="0">
                <a:solidFill>
                  <a:srgbClr val="0070C0"/>
                </a:solidFill>
                <a:sym typeface="Wingdings 3" pitchFamily="18" charset="2"/>
              </a:rPr>
              <a:t></a:t>
            </a:r>
            <a:r>
              <a:rPr lang="en-US" dirty="0"/>
              <a:t> S  </a:t>
            </a:r>
            <a:r>
              <a:rPr lang="en-US" i="1" dirty="0"/>
              <a:t>Q</a:t>
            </a:r>
            <a:r>
              <a:rPr lang="en-US" dirty="0"/>
              <a:t>  instead.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AE69C55-01C1-489A-B7A2-676720228452}" type="slidenum">
              <a:rPr lang="en-US" smtClean="0"/>
              <a:pPr>
                <a:defRPr/>
              </a:pPr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4386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Forward and backward transformer</a:t>
            </a:r>
          </a:p>
        </p:txBody>
      </p:sp>
      <p:sp>
        <p:nvSpPr>
          <p:cNvPr id="18435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Complete if:</a:t>
            </a:r>
          </a:p>
          <a:p>
            <a:pPr marL="0" indent="0">
              <a:buNone/>
            </a:pPr>
            <a:r>
              <a:rPr lang="en-US" dirty="0"/>
              <a:t>     { </a:t>
            </a:r>
            <a:r>
              <a:rPr lang="en-US" i="1" dirty="0"/>
              <a:t>P</a:t>
            </a:r>
            <a:r>
              <a:rPr lang="en-US" dirty="0"/>
              <a:t> }   S  { </a:t>
            </a:r>
            <a:r>
              <a:rPr lang="en-US" i="1" dirty="0"/>
              <a:t>Q </a:t>
            </a:r>
            <a:r>
              <a:rPr lang="en-US" dirty="0"/>
              <a:t>}     implies</a:t>
            </a:r>
            <a:r>
              <a:rPr lang="en-US" dirty="0">
                <a:sym typeface="Symbol" pitchFamily="18" charset="2"/>
              </a:rPr>
              <a:t>      </a:t>
            </a:r>
            <a:r>
              <a:rPr lang="en-US" b="1" dirty="0">
                <a:solidFill>
                  <a:srgbClr val="FF0000"/>
                </a:solidFill>
              </a:rPr>
              <a:t>cp</a:t>
            </a:r>
            <a:r>
              <a:rPr lang="en-US" b="1" dirty="0">
                <a:solidFill>
                  <a:srgbClr val="FF0000"/>
                </a:solidFill>
                <a:sym typeface="Wingdings 3" pitchFamily="18" charset="2"/>
              </a:rPr>
              <a:t></a:t>
            </a:r>
            <a:r>
              <a:rPr lang="en-US" dirty="0"/>
              <a:t> S  </a:t>
            </a:r>
            <a:r>
              <a:rPr lang="en-US" i="1" dirty="0"/>
              <a:t>P </a:t>
            </a:r>
            <a:r>
              <a:rPr lang="en-US" dirty="0"/>
              <a:t> </a:t>
            </a:r>
            <a:r>
              <a:rPr lang="en-US" dirty="0">
                <a:sym typeface="Symbol" pitchFamily="18" charset="2"/>
              </a:rPr>
              <a:t>  </a:t>
            </a:r>
            <a:r>
              <a:rPr lang="en-US" i="1" dirty="0">
                <a:sym typeface="Symbol" pitchFamily="18" charset="2"/>
              </a:rPr>
              <a:t>Q    valid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/>
              <a:t>     { </a:t>
            </a:r>
            <a:r>
              <a:rPr lang="en-US" i="1" dirty="0"/>
              <a:t>P</a:t>
            </a:r>
            <a:r>
              <a:rPr lang="en-US" dirty="0"/>
              <a:t> }   S  { </a:t>
            </a:r>
            <a:r>
              <a:rPr lang="en-US" i="1" dirty="0"/>
              <a:t>Q </a:t>
            </a:r>
            <a:r>
              <a:rPr lang="en-US" dirty="0"/>
              <a:t>}     implies</a:t>
            </a:r>
            <a:r>
              <a:rPr lang="en-US" dirty="0">
                <a:sym typeface="Symbol" pitchFamily="18" charset="2"/>
              </a:rPr>
              <a:t>       </a:t>
            </a:r>
            <a:r>
              <a:rPr lang="en-US" i="1" dirty="0">
                <a:sym typeface="Symbol" pitchFamily="18" charset="2"/>
              </a:rPr>
              <a:t>P  </a:t>
            </a:r>
            <a:r>
              <a:rPr lang="en-US" dirty="0">
                <a:sym typeface="Symbol" pitchFamily="18" charset="2"/>
              </a:rPr>
              <a:t>  </a:t>
            </a:r>
            <a:r>
              <a:rPr lang="en-US" b="1" dirty="0">
                <a:solidFill>
                  <a:srgbClr val="0070C0"/>
                </a:solidFill>
              </a:rPr>
              <a:t>cp</a:t>
            </a:r>
            <a:r>
              <a:rPr lang="en-US" b="1" dirty="0">
                <a:solidFill>
                  <a:srgbClr val="0070C0"/>
                </a:solidFill>
                <a:sym typeface="Wingdings 3" pitchFamily="18" charset="2"/>
              </a:rPr>
              <a:t></a:t>
            </a:r>
            <a:r>
              <a:rPr lang="en-US" dirty="0"/>
              <a:t> S  </a:t>
            </a:r>
            <a:r>
              <a:rPr lang="en-US" i="1" dirty="0"/>
              <a:t>Q   valid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Sound and complete if :</a:t>
            </a:r>
          </a:p>
          <a:p>
            <a:pPr>
              <a:buNone/>
            </a:pPr>
            <a:r>
              <a:rPr lang="en-US" dirty="0"/>
              <a:t>       { </a:t>
            </a:r>
            <a:r>
              <a:rPr lang="en-US" i="1" dirty="0"/>
              <a:t>P</a:t>
            </a:r>
            <a:r>
              <a:rPr lang="en-US" dirty="0"/>
              <a:t> }   S  { </a:t>
            </a:r>
            <a:r>
              <a:rPr lang="en-US" i="1" dirty="0"/>
              <a:t>Q </a:t>
            </a:r>
            <a:r>
              <a:rPr lang="en-US" dirty="0"/>
              <a:t>}        </a:t>
            </a:r>
            <a:r>
              <a:rPr lang="en-US" dirty="0">
                <a:sym typeface="Symbol" pitchFamily="18" charset="2"/>
              </a:rPr>
              <a:t>      </a:t>
            </a:r>
            <a:r>
              <a:rPr lang="en-US" b="1" dirty="0">
                <a:solidFill>
                  <a:srgbClr val="FF0000"/>
                </a:solidFill>
              </a:rPr>
              <a:t>cp</a:t>
            </a:r>
            <a:r>
              <a:rPr lang="en-US" b="1" dirty="0">
                <a:solidFill>
                  <a:srgbClr val="FF0000"/>
                </a:solidFill>
                <a:sym typeface="Wingdings 3" pitchFamily="18" charset="2"/>
              </a:rPr>
              <a:t></a:t>
            </a:r>
            <a:r>
              <a:rPr lang="en-US" dirty="0"/>
              <a:t> S  </a:t>
            </a:r>
            <a:r>
              <a:rPr lang="en-US" i="1" dirty="0"/>
              <a:t>P </a:t>
            </a:r>
            <a:r>
              <a:rPr lang="en-US" dirty="0"/>
              <a:t> </a:t>
            </a:r>
            <a:r>
              <a:rPr lang="en-US" dirty="0">
                <a:sym typeface="Symbol" pitchFamily="18" charset="2"/>
              </a:rPr>
              <a:t>  </a:t>
            </a:r>
            <a:r>
              <a:rPr lang="en-US" i="1" dirty="0">
                <a:sym typeface="Symbol" pitchFamily="18" charset="2"/>
              </a:rPr>
              <a:t>Q</a:t>
            </a:r>
            <a:r>
              <a:rPr lang="en-US" dirty="0"/>
              <a:t> </a:t>
            </a:r>
            <a:br>
              <a:rPr lang="en-US" dirty="0"/>
            </a:br>
            <a:br>
              <a:rPr lang="en-US" dirty="0"/>
            </a:br>
            <a:r>
              <a:rPr lang="en-US" dirty="0"/>
              <a:t>     { </a:t>
            </a:r>
            <a:r>
              <a:rPr lang="en-US" i="1" dirty="0"/>
              <a:t>P</a:t>
            </a:r>
            <a:r>
              <a:rPr lang="en-US" dirty="0"/>
              <a:t> }   S  { </a:t>
            </a:r>
            <a:r>
              <a:rPr lang="en-US" i="1" dirty="0"/>
              <a:t>Q </a:t>
            </a:r>
            <a:r>
              <a:rPr lang="en-US" dirty="0"/>
              <a:t>}        </a:t>
            </a:r>
            <a:r>
              <a:rPr lang="en-US" dirty="0">
                <a:sym typeface="Symbol" pitchFamily="18" charset="2"/>
              </a:rPr>
              <a:t>       </a:t>
            </a:r>
            <a:r>
              <a:rPr lang="en-US" i="1" dirty="0">
                <a:sym typeface="Symbol" pitchFamily="18" charset="2"/>
              </a:rPr>
              <a:t>P  </a:t>
            </a:r>
            <a:r>
              <a:rPr lang="en-US" dirty="0">
                <a:sym typeface="Symbol" pitchFamily="18" charset="2"/>
              </a:rPr>
              <a:t>  </a:t>
            </a:r>
            <a:r>
              <a:rPr lang="en-US" b="1" dirty="0">
                <a:solidFill>
                  <a:srgbClr val="0070C0"/>
                </a:solidFill>
              </a:rPr>
              <a:t>cp</a:t>
            </a:r>
            <a:r>
              <a:rPr lang="en-US" b="1" dirty="0">
                <a:solidFill>
                  <a:srgbClr val="0070C0"/>
                </a:solidFill>
                <a:sym typeface="Wingdings 3" pitchFamily="18" charset="2"/>
              </a:rPr>
              <a:t></a:t>
            </a:r>
            <a:r>
              <a:rPr lang="en-US" dirty="0"/>
              <a:t> S  </a:t>
            </a:r>
            <a:r>
              <a:rPr lang="en-US" i="1" dirty="0"/>
              <a:t>Q</a:t>
            </a:r>
            <a:r>
              <a:rPr lang="en-US" dirty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AE69C55-01C1-489A-B7A2-676720228452}" type="slidenum">
              <a:rPr lang="en-US" smtClean="0"/>
              <a:pPr>
                <a:defRPr/>
              </a:pPr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/>
          <p:cNvSpPr/>
          <p:nvPr/>
        </p:nvSpPr>
        <p:spPr>
          <a:xfrm>
            <a:off x="2489200" y="1383957"/>
            <a:ext cx="1168400" cy="432143"/>
          </a:xfrm>
          <a:prstGeom prst="roundRect">
            <a:avLst/>
          </a:prstGeom>
          <a:solidFill>
            <a:srgbClr val="FFFF00">
              <a:alpha val="7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45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WP and WLP transformer</a:t>
            </a:r>
          </a:p>
        </p:txBody>
      </p:sp>
      <p:sp>
        <p:nvSpPr>
          <p:cNvPr id="19459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err="1"/>
              <a:t>wp</a:t>
            </a:r>
            <a:r>
              <a:rPr lang="en-US" dirty="0"/>
              <a:t> </a:t>
            </a:r>
            <a:r>
              <a:rPr lang="en-US" i="1" dirty="0"/>
              <a:t>S </a:t>
            </a:r>
            <a:r>
              <a:rPr lang="en-US" dirty="0"/>
              <a:t>Q : the weakest pre-</a:t>
            </a:r>
            <a:r>
              <a:rPr lang="en-US" dirty="0" err="1"/>
              <a:t>condtion</a:t>
            </a:r>
            <a:r>
              <a:rPr lang="en-US" dirty="0"/>
              <a:t> so that S terminates in </a:t>
            </a:r>
            <a:r>
              <a:rPr lang="en-US" i="1" dirty="0"/>
              <a:t>Q</a:t>
            </a:r>
            <a:r>
              <a:rPr lang="en-US" dirty="0"/>
              <a:t>.</a:t>
            </a:r>
          </a:p>
          <a:p>
            <a:r>
              <a:rPr lang="en-US" b="1" dirty="0" err="1"/>
              <a:t>wlp</a:t>
            </a:r>
            <a:r>
              <a:rPr lang="en-US" dirty="0"/>
              <a:t> S</a:t>
            </a:r>
            <a:r>
              <a:rPr lang="en-US" i="1" dirty="0"/>
              <a:t> Q </a:t>
            </a:r>
            <a:r>
              <a:rPr lang="en-US" dirty="0"/>
              <a:t>: the weakest pre-condition so that S, if it terminates, will terminate in </a:t>
            </a:r>
            <a:r>
              <a:rPr lang="en-US" i="1" dirty="0"/>
              <a:t>Q</a:t>
            </a:r>
            <a:r>
              <a:rPr lang="en-US" dirty="0"/>
              <a:t>.</a:t>
            </a:r>
            <a:br>
              <a:rPr lang="en-US" dirty="0"/>
            </a:br>
            <a:br>
              <a:rPr lang="en-US" dirty="0"/>
            </a:br>
            <a:r>
              <a:rPr lang="en-US" b="1" dirty="0" err="1"/>
              <a:t>wlp</a:t>
            </a:r>
            <a:r>
              <a:rPr lang="en-US" dirty="0"/>
              <a:t> = weakest liberal pre-</a:t>
            </a:r>
            <a:r>
              <a:rPr lang="en-US" dirty="0" err="1"/>
              <a:t>conidtion</a:t>
            </a:r>
            <a:r>
              <a:rPr lang="en-US" dirty="0"/>
              <a:t>.</a:t>
            </a:r>
          </a:p>
          <a:p>
            <a:endParaRPr lang="en-US" i="1" dirty="0"/>
          </a:p>
          <a:p>
            <a:r>
              <a:rPr lang="en-US" dirty="0"/>
              <a:t>Though, we will see later, that we may have to drop the completeness property of </a:t>
            </a:r>
            <a:r>
              <a:rPr lang="en-US" b="1" dirty="0" err="1"/>
              <a:t>wp</a:t>
            </a:r>
            <a:r>
              <a:rPr lang="en-US" dirty="0"/>
              <a:t>/</a:t>
            </a:r>
            <a:r>
              <a:rPr lang="en-US" b="1" dirty="0" err="1"/>
              <a:t>wlp</a:t>
            </a:r>
            <a:r>
              <a:rPr lang="en-US" dirty="0"/>
              <a:t>,</a:t>
            </a:r>
            <a:r>
              <a:rPr lang="en-US" i="1" dirty="0"/>
              <a:t> </a:t>
            </a:r>
            <a:r>
              <a:rPr lang="en-US" dirty="0"/>
              <a:t>but we will still call them </a:t>
            </a:r>
            <a:r>
              <a:rPr lang="en-US" b="1" dirty="0" err="1"/>
              <a:t>wp</a:t>
            </a:r>
            <a:r>
              <a:rPr lang="en-US" dirty="0"/>
              <a:t>/</a:t>
            </a:r>
            <a:r>
              <a:rPr lang="en-US" b="1" dirty="0" err="1"/>
              <a:t>wlp</a:t>
            </a:r>
            <a:r>
              <a:rPr lang="en-US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DA1559C-DEB8-4CAA-BD47-CF3488CF735D}" type="slidenum">
              <a:rPr lang="en-US" smtClean="0"/>
              <a:pPr>
                <a:defRPr/>
              </a:pPr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/>
              <a:t>Guarded Command Language (GCL)</a:t>
            </a:r>
          </a:p>
        </p:txBody>
      </p:sp>
      <p:sp>
        <p:nvSpPr>
          <p:cNvPr id="2048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dirty="0"/>
              <a:t>Simple language to start</a:t>
            </a:r>
          </a:p>
          <a:p>
            <a:r>
              <a:rPr lang="en-US" dirty="0"/>
              <a:t>Expressive enough to encode larger languages</a:t>
            </a:r>
          </a:p>
          <a:p>
            <a:r>
              <a:rPr lang="en-US" dirty="0"/>
              <a:t>So that you can keep your logic-core simple</a:t>
            </a:r>
          </a:p>
          <a:p>
            <a:r>
              <a:rPr lang="en-US" dirty="0"/>
              <a:t>Constructs </a:t>
            </a:r>
          </a:p>
          <a:p>
            <a:pPr lvl="1"/>
            <a:r>
              <a:rPr lang="en-US" sz="2400" dirty="0"/>
              <a:t>assignment, </a:t>
            </a:r>
            <a:r>
              <a:rPr lang="en-US" sz="2400" dirty="0" err="1"/>
              <a:t>seq</a:t>
            </a:r>
            <a:r>
              <a:rPr lang="en-US" sz="2400" dirty="0"/>
              <a:t>, </a:t>
            </a:r>
            <a:r>
              <a:rPr lang="en-US" sz="2400" b="1" dirty="0"/>
              <a:t>while, if-then-else</a:t>
            </a:r>
          </a:p>
          <a:p>
            <a:pPr lvl="1"/>
            <a:r>
              <a:rPr lang="en-US" sz="2400" b="1" dirty="0" err="1">
                <a:sym typeface="Wingdings" pitchFamily="2" charset="2"/>
              </a:rPr>
              <a:t>var</a:t>
            </a:r>
            <a:r>
              <a:rPr lang="en-US" sz="2400" b="1" dirty="0">
                <a:sym typeface="Wingdings" pitchFamily="2" charset="2"/>
              </a:rPr>
              <a:t> </a:t>
            </a:r>
            <a:r>
              <a:rPr lang="en-US" sz="2400" dirty="0">
                <a:sym typeface="Wingdings" pitchFamily="2" charset="2"/>
              </a:rPr>
              <a:t>x </a:t>
            </a:r>
            <a:r>
              <a:rPr lang="en-US" sz="2400" b="1" dirty="0">
                <a:sym typeface="Wingdings" pitchFamily="2" charset="2"/>
              </a:rPr>
              <a:t>in </a:t>
            </a:r>
            <a:r>
              <a:rPr lang="en-US" sz="2400" dirty="0">
                <a:sym typeface="Wingdings" pitchFamily="2" charset="2"/>
              </a:rPr>
              <a:t>S ,  uninitialized local-var. </a:t>
            </a:r>
          </a:p>
          <a:p>
            <a:pPr lvl="1"/>
            <a:r>
              <a:rPr lang="en-US" sz="2400" b="1" dirty="0">
                <a:sym typeface="Wingdings" pitchFamily="2" charset="2"/>
              </a:rPr>
              <a:t>assert</a:t>
            </a:r>
            <a:r>
              <a:rPr lang="en-US" sz="2400" dirty="0">
                <a:sym typeface="Wingdings" pitchFamily="2" charset="2"/>
              </a:rPr>
              <a:t> </a:t>
            </a:r>
            <a:r>
              <a:rPr lang="en-US" sz="2400" i="1" dirty="0">
                <a:sym typeface="Wingdings" pitchFamily="2" charset="2"/>
              </a:rPr>
              <a:t>e</a:t>
            </a:r>
            <a:r>
              <a:rPr lang="en-US" sz="2400" b="1" i="1" dirty="0">
                <a:sym typeface="Wingdings" pitchFamily="2" charset="2"/>
              </a:rPr>
              <a:t>  ,  </a:t>
            </a:r>
            <a:r>
              <a:rPr lang="en-US" sz="2400" b="1" dirty="0">
                <a:sym typeface="Wingdings" pitchFamily="2" charset="2"/>
              </a:rPr>
              <a:t>assume</a:t>
            </a:r>
            <a:r>
              <a:rPr lang="en-US" sz="2400" dirty="0">
                <a:sym typeface="Wingdings" pitchFamily="2" charset="2"/>
              </a:rPr>
              <a:t> </a:t>
            </a:r>
            <a:r>
              <a:rPr lang="en-US" sz="2400" i="1" dirty="0">
                <a:sym typeface="Wingdings" pitchFamily="2" charset="2"/>
              </a:rPr>
              <a:t>e</a:t>
            </a:r>
          </a:p>
          <a:p>
            <a:pPr lvl="1"/>
            <a:r>
              <a:rPr lang="en-US" sz="2400" b="1" dirty="0">
                <a:sym typeface="Wingdings" pitchFamily="2" charset="2"/>
              </a:rPr>
              <a:t>try-catch</a:t>
            </a:r>
            <a:endParaRPr lang="en-US" sz="2400" b="1" dirty="0"/>
          </a:p>
          <a:p>
            <a:pPr lvl="1"/>
            <a:r>
              <a:rPr lang="en-US" sz="2400" dirty="0">
                <a:sym typeface="Wingdings" pitchFamily="2" charset="2"/>
              </a:rPr>
              <a:t>program </a:t>
            </a:r>
            <a:r>
              <a:rPr lang="en-US" sz="2400" dirty="0" err="1">
                <a:sym typeface="Wingdings" pitchFamily="2" charset="2"/>
              </a:rPr>
              <a:t>decl</a:t>
            </a:r>
            <a:r>
              <a:rPr lang="en-US" sz="2400" dirty="0">
                <a:sym typeface="Wingdings" pitchFamily="2" charset="2"/>
              </a:rPr>
              <a:t>, program call</a:t>
            </a:r>
          </a:p>
          <a:p>
            <a:pPr lvl="1"/>
            <a:r>
              <a:rPr lang="en-US" sz="2400" dirty="0">
                <a:sym typeface="Wingdings" pitchFamily="2" charset="2"/>
              </a:rPr>
              <a:t>primitive types, arrays</a:t>
            </a:r>
          </a:p>
          <a:p>
            <a:pPr lvl="1"/>
            <a:endParaRPr lang="en-US" sz="2400" dirty="0"/>
          </a:p>
          <a:p>
            <a:pPr lvl="1"/>
            <a:endParaRPr lang="en-US" sz="2400" b="1" dirty="0"/>
          </a:p>
          <a:p>
            <a:pPr lvl="1"/>
            <a:endParaRPr lang="en-US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D3148F8-8127-43D6-87F8-DC9C54A8960E}" type="slidenum">
              <a:rPr lang="en-US" smtClean="0"/>
              <a:pPr>
                <a:defRPr/>
              </a:pPr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b="1" dirty="0" err="1"/>
              <a:t>wlp</a:t>
            </a:r>
            <a:endParaRPr lang="en-US" b="1" dirty="0"/>
          </a:p>
        </p:txBody>
      </p:sp>
      <p:sp>
        <p:nvSpPr>
          <p:cNvPr id="21507" name="Tijdelijke aanduiding voor inhou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b="1" dirty="0" err="1">
                <a:solidFill>
                  <a:srgbClr val="0070C0"/>
                </a:solidFill>
              </a:rPr>
              <a:t>wlp</a:t>
            </a:r>
            <a:r>
              <a:rPr lang="en-US" b="1" dirty="0"/>
              <a:t>  skip  </a:t>
            </a:r>
            <a:r>
              <a:rPr lang="en-US" i="1" dirty="0"/>
              <a:t>Q     =  Q</a:t>
            </a:r>
            <a:endParaRPr lang="en-US" b="1" i="1" dirty="0"/>
          </a:p>
          <a:p>
            <a:pPr eaLnBrk="1" hangingPunct="1"/>
            <a:r>
              <a:rPr lang="en-US" b="1" dirty="0" err="1">
                <a:solidFill>
                  <a:srgbClr val="0070C0"/>
                </a:solidFill>
              </a:rPr>
              <a:t>wlp</a:t>
            </a:r>
            <a:r>
              <a:rPr lang="en-US" dirty="0"/>
              <a:t>  (x:=e)   </a:t>
            </a:r>
            <a:r>
              <a:rPr lang="en-US" i="1" dirty="0"/>
              <a:t>Q</a:t>
            </a:r>
            <a:r>
              <a:rPr lang="en-US" dirty="0"/>
              <a:t>  =  </a:t>
            </a:r>
            <a:r>
              <a:rPr lang="en-US" i="1" dirty="0"/>
              <a:t>Q</a:t>
            </a:r>
            <a:r>
              <a:rPr lang="en-US" dirty="0"/>
              <a:t>[e/x]</a:t>
            </a:r>
          </a:p>
          <a:p>
            <a:pPr eaLnBrk="1" hangingPunct="1"/>
            <a:r>
              <a:rPr lang="en-US" b="1" dirty="0" err="1">
                <a:solidFill>
                  <a:srgbClr val="0070C0"/>
                </a:solidFill>
              </a:rPr>
              <a:t>wlp</a:t>
            </a:r>
            <a:r>
              <a:rPr lang="en-US" dirty="0"/>
              <a:t>  (S</a:t>
            </a:r>
            <a:r>
              <a:rPr lang="en-US" baseline="-25000" dirty="0"/>
              <a:t>1</a:t>
            </a:r>
            <a:r>
              <a:rPr lang="en-US" dirty="0"/>
              <a:t> ; S</a:t>
            </a:r>
            <a:r>
              <a:rPr lang="en-US" baseline="-25000" dirty="0"/>
              <a:t>2</a:t>
            </a:r>
            <a:r>
              <a:rPr lang="en-US" dirty="0"/>
              <a:t>)   </a:t>
            </a:r>
            <a:r>
              <a:rPr lang="en-US" i="1" dirty="0"/>
              <a:t>Q</a:t>
            </a:r>
            <a:r>
              <a:rPr lang="en-US" dirty="0"/>
              <a:t>    =    </a:t>
            </a:r>
            <a:r>
              <a:rPr lang="en-US" b="1" dirty="0" err="1">
                <a:solidFill>
                  <a:srgbClr val="0070C0"/>
                </a:solidFill>
              </a:rPr>
              <a:t>wlp</a:t>
            </a:r>
            <a:r>
              <a:rPr lang="en-US" dirty="0"/>
              <a:t>  S</a:t>
            </a:r>
            <a:r>
              <a:rPr lang="en-US" baseline="-25000" dirty="0"/>
              <a:t>1</a:t>
            </a:r>
            <a:r>
              <a:rPr lang="en-US" dirty="0"/>
              <a:t>  (</a:t>
            </a:r>
            <a:r>
              <a:rPr lang="en-US" b="1" dirty="0" err="1">
                <a:solidFill>
                  <a:srgbClr val="0070C0"/>
                </a:solidFill>
              </a:rPr>
              <a:t>wlp</a:t>
            </a:r>
            <a:r>
              <a:rPr lang="en-US" dirty="0"/>
              <a:t>  S</a:t>
            </a:r>
            <a:r>
              <a:rPr lang="en-US" baseline="-25000" dirty="0"/>
              <a:t>2</a:t>
            </a:r>
            <a:r>
              <a:rPr lang="en-US" dirty="0"/>
              <a:t>  Q)</a:t>
            </a:r>
            <a:br>
              <a:rPr lang="en-US" dirty="0"/>
            </a:br>
            <a:br>
              <a:rPr lang="en-US" dirty="0"/>
            </a:br>
            <a:r>
              <a:rPr lang="en-US" dirty="0"/>
              <a:t>We don’t need to propose our own intermediate predicate!</a:t>
            </a:r>
          </a:p>
          <a:p>
            <a:pPr eaLnBrk="1" hangingPunct="1"/>
            <a:endParaRPr lang="en-US" dirty="0"/>
          </a:p>
          <a:p>
            <a:pPr eaLnBrk="1" hangingPunct="1"/>
            <a:r>
              <a:rPr lang="en-US" dirty="0"/>
              <a:t>Example, prove:</a:t>
            </a:r>
            <a:br>
              <a:rPr lang="en-US" dirty="0"/>
            </a:br>
            <a:br>
              <a:rPr lang="en-US" dirty="0"/>
            </a:br>
            <a:r>
              <a:rPr lang="en-US" dirty="0"/>
              <a:t>	</a:t>
            </a:r>
          </a:p>
          <a:p>
            <a:pPr eaLnBrk="1" hangingPunct="1"/>
            <a:endParaRPr lang="en-US" i="1" dirty="0"/>
          </a:p>
          <a:p>
            <a:pPr eaLnBrk="1" hangingPunct="1"/>
            <a:endParaRPr lang="en-US" dirty="0"/>
          </a:p>
          <a:p>
            <a:pPr eaLnBrk="1" hangingPunct="1"/>
            <a:endParaRPr lang="en-US" dirty="0"/>
          </a:p>
        </p:txBody>
      </p:sp>
      <p:sp>
        <p:nvSpPr>
          <p:cNvPr id="5" name="Tijdelijke aanduiding voor dianumm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FAB0902-9405-4BAA-AE9B-8CFF9B05769A}" type="slidenum">
              <a:rPr lang="en-US"/>
              <a:pPr>
                <a:defRPr/>
              </a:pPr>
              <a:t>18</a:t>
            </a:fld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1422398" y="4744453"/>
            <a:ext cx="6511719" cy="52322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0000CC"/>
                </a:solidFill>
                <a:latin typeface="+mj-lt"/>
                <a:ea typeface="Courier New" charset="0"/>
                <a:cs typeface="Courier New" charset="0"/>
              </a:rPr>
              <a:t>{ </a:t>
            </a:r>
            <a:r>
              <a:rPr lang="en-US" sz="2800" dirty="0" err="1">
                <a:solidFill>
                  <a:srgbClr val="0000CC"/>
                </a:solidFill>
                <a:latin typeface="+mj-lt"/>
                <a:ea typeface="Courier New" charset="0"/>
                <a:cs typeface="Courier New" charset="0"/>
              </a:rPr>
              <a:t>x</a:t>
            </a:r>
            <a:r>
              <a:rPr lang="en-US" sz="2800" dirty="0" err="1">
                <a:solidFill>
                  <a:srgbClr val="0000CC"/>
                </a:solidFill>
                <a:latin typeface="+mj-lt"/>
                <a:ea typeface="Courier New" charset="0"/>
                <a:cs typeface="Courier New" charset="0"/>
                <a:sym typeface="Symbol" pitchFamily="18" charset="2"/>
              </a:rPr>
              <a:t>y</a:t>
            </a:r>
            <a:r>
              <a:rPr lang="en-US" sz="2800" dirty="0">
                <a:solidFill>
                  <a:srgbClr val="0000CC"/>
                </a:solidFill>
                <a:latin typeface="+mj-lt"/>
                <a:ea typeface="Courier New" charset="0"/>
                <a:cs typeface="Courier New" charset="0"/>
                <a:sym typeface="Symbol" pitchFamily="18" charset="2"/>
              </a:rPr>
              <a:t> }</a:t>
            </a:r>
            <a:r>
              <a:rPr lang="en-US" sz="2800" dirty="0">
                <a:latin typeface="+mj-lt"/>
                <a:ea typeface="Courier New" charset="0"/>
                <a:cs typeface="Courier New" charset="0"/>
                <a:sym typeface="Symbol" pitchFamily="18" charset="2"/>
              </a:rPr>
              <a:t>   </a:t>
            </a:r>
            <a:r>
              <a:rPr lang="en-US" sz="2800" dirty="0" err="1">
                <a:latin typeface="+mj-lt"/>
                <a:ea typeface="Courier New" charset="0"/>
                <a:cs typeface="Courier New" charset="0"/>
              </a:rPr>
              <a:t>tmp</a:t>
            </a:r>
            <a:r>
              <a:rPr lang="en-US" sz="2800" dirty="0">
                <a:latin typeface="+mj-lt"/>
                <a:ea typeface="Courier New" charset="0"/>
                <a:cs typeface="Courier New" charset="0"/>
              </a:rPr>
              <a:t>:= x  ; x:=y ; y:=</a:t>
            </a:r>
            <a:r>
              <a:rPr lang="en-US" sz="2800" dirty="0" err="1">
                <a:latin typeface="+mj-lt"/>
                <a:ea typeface="Courier New" charset="0"/>
                <a:cs typeface="Courier New" charset="0"/>
              </a:rPr>
              <a:t>tmp</a:t>
            </a:r>
            <a:r>
              <a:rPr lang="en-US" sz="2800" dirty="0">
                <a:latin typeface="+mj-lt"/>
                <a:ea typeface="Courier New" charset="0"/>
                <a:cs typeface="Courier New" charset="0"/>
              </a:rPr>
              <a:t>   </a:t>
            </a:r>
            <a:r>
              <a:rPr lang="en-US" sz="2800" dirty="0">
                <a:solidFill>
                  <a:srgbClr val="0000CC"/>
                </a:solidFill>
                <a:latin typeface="+mj-lt"/>
                <a:ea typeface="Courier New" charset="0"/>
                <a:cs typeface="Courier New" charset="0"/>
              </a:rPr>
              <a:t>{ </a:t>
            </a:r>
            <a:r>
              <a:rPr lang="en-US" sz="2800" dirty="0" err="1">
                <a:solidFill>
                  <a:srgbClr val="0000CC"/>
                </a:solidFill>
                <a:latin typeface="+mj-lt"/>
                <a:ea typeface="Courier New" charset="0"/>
                <a:cs typeface="Courier New" charset="0"/>
              </a:rPr>
              <a:t>x</a:t>
            </a:r>
            <a:r>
              <a:rPr lang="en-US" sz="2800" dirty="0" err="1">
                <a:solidFill>
                  <a:srgbClr val="0000CC"/>
                </a:solidFill>
                <a:latin typeface="+mj-lt"/>
                <a:ea typeface="Courier New" charset="0"/>
                <a:cs typeface="Courier New" charset="0"/>
                <a:sym typeface="Symbol" pitchFamily="18" charset="2"/>
              </a:rPr>
              <a:t>y</a:t>
            </a:r>
            <a:r>
              <a:rPr lang="en-US" sz="2800" dirty="0">
                <a:solidFill>
                  <a:srgbClr val="0000CC"/>
                </a:solidFill>
                <a:latin typeface="+mj-lt"/>
                <a:ea typeface="Courier New" charset="0"/>
                <a:cs typeface="Courier New" charset="0"/>
                <a:sym typeface="Symbol" pitchFamily="18" charset="2"/>
              </a:rPr>
              <a:t> }</a:t>
            </a:r>
            <a:r>
              <a:rPr lang="en-US" sz="2800" dirty="0">
                <a:latin typeface="+mj-lt"/>
                <a:ea typeface="Courier New" charset="0"/>
                <a:cs typeface="Courier New" charset="0"/>
              </a:rPr>
              <a:t> 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err="1"/>
              <a:t>wlp</a:t>
            </a:r>
            <a:endParaRPr lang="en-US" dirty="0"/>
          </a:p>
        </p:txBody>
      </p:sp>
      <p:sp>
        <p:nvSpPr>
          <p:cNvPr id="22531" name="Tijdelijke aanduiding voor inhou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b="1" dirty="0" err="1">
                <a:solidFill>
                  <a:srgbClr val="0070C0"/>
                </a:solidFill>
              </a:rPr>
              <a:t>wlp</a:t>
            </a:r>
            <a:r>
              <a:rPr lang="en-US" dirty="0"/>
              <a:t>  (</a:t>
            </a:r>
            <a:r>
              <a:rPr lang="en-US" b="1" dirty="0"/>
              <a:t>assert</a:t>
            </a:r>
            <a:r>
              <a:rPr lang="en-US" dirty="0"/>
              <a:t> </a:t>
            </a:r>
            <a:r>
              <a:rPr lang="en-US" i="1" dirty="0"/>
              <a:t>e</a:t>
            </a:r>
            <a:r>
              <a:rPr lang="en-US" dirty="0"/>
              <a:t>)    </a:t>
            </a:r>
            <a:r>
              <a:rPr lang="en-US" i="1" dirty="0"/>
              <a:t>Q</a:t>
            </a:r>
            <a:r>
              <a:rPr lang="en-US" dirty="0"/>
              <a:t>    =    </a:t>
            </a:r>
            <a:r>
              <a:rPr lang="en-US" i="1" dirty="0"/>
              <a:t>e</a:t>
            </a:r>
            <a:r>
              <a:rPr lang="en-US" dirty="0"/>
              <a:t> /\ </a:t>
            </a:r>
            <a:r>
              <a:rPr lang="en-US" i="1" dirty="0"/>
              <a:t>Q</a:t>
            </a:r>
          </a:p>
          <a:p>
            <a:pPr eaLnBrk="1" hangingPunct="1"/>
            <a:r>
              <a:rPr lang="en-US" b="1" dirty="0" err="1">
                <a:solidFill>
                  <a:srgbClr val="0070C0"/>
                </a:solidFill>
              </a:rPr>
              <a:t>wlp</a:t>
            </a:r>
            <a:r>
              <a:rPr lang="en-US" dirty="0"/>
              <a:t>  (</a:t>
            </a:r>
            <a:r>
              <a:rPr lang="en-US" b="1" dirty="0"/>
              <a:t>assume</a:t>
            </a:r>
            <a:r>
              <a:rPr lang="en-US" dirty="0"/>
              <a:t> </a:t>
            </a:r>
            <a:r>
              <a:rPr lang="en-US" i="1" dirty="0"/>
              <a:t>e</a:t>
            </a:r>
            <a:r>
              <a:rPr lang="en-US" dirty="0"/>
              <a:t>)  </a:t>
            </a:r>
            <a:r>
              <a:rPr lang="en-US" i="1" dirty="0"/>
              <a:t>Q</a:t>
            </a:r>
            <a:r>
              <a:rPr lang="en-US" dirty="0"/>
              <a:t>   =    </a:t>
            </a:r>
            <a:r>
              <a:rPr lang="en-US" i="1" dirty="0"/>
              <a:t>e</a:t>
            </a:r>
            <a:r>
              <a:rPr lang="en-US" dirty="0"/>
              <a:t> </a:t>
            </a:r>
            <a:r>
              <a:rPr lang="en-US" dirty="0">
                <a:sym typeface="Symbol" pitchFamily="18" charset="2"/>
              </a:rPr>
              <a:t></a:t>
            </a:r>
            <a:r>
              <a:rPr lang="en-US" dirty="0"/>
              <a:t> </a:t>
            </a:r>
            <a:r>
              <a:rPr lang="en-US" i="1" dirty="0"/>
              <a:t>Q</a:t>
            </a:r>
          </a:p>
          <a:p>
            <a:pPr eaLnBrk="1" hangingPunct="1"/>
            <a:r>
              <a:rPr lang="en-US" b="1" dirty="0" err="1">
                <a:solidFill>
                  <a:srgbClr val="0070C0"/>
                </a:solidFill>
              </a:rPr>
              <a:t>wlp</a:t>
            </a:r>
            <a:r>
              <a:rPr lang="en-US" dirty="0"/>
              <a:t>  (S </a:t>
            </a:r>
            <a:r>
              <a:rPr lang="en-US" dirty="0">
                <a:sym typeface="Wingdings" pitchFamily="2" charset="2"/>
              </a:rPr>
              <a:t>[] T)  </a:t>
            </a:r>
            <a:r>
              <a:rPr lang="en-US" i="1" dirty="0">
                <a:sym typeface="Wingdings" pitchFamily="2" charset="2"/>
              </a:rPr>
              <a:t>Q</a:t>
            </a:r>
            <a:r>
              <a:rPr lang="en-US" dirty="0">
                <a:sym typeface="Wingdings" pitchFamily="2" charset="2"/>
              </a:rPr>
              <a:t>   =   (</a:t>
            </a:r>
            <a:r>
              <a:rPr lang="en-US" b="1" dirty="0" err="1">
                <a:solidFill>
                  <a:srgbClr val="0070C0"/>
                </a:solidFill>
              </a:rPr>
              <a:t>wlp</a:t>
            </a:r>
            <a:r>
              <a:rPr lang="en-US" dirty="0"/>
              <a:t>  S</a:t>
            </a:r>
            <a:r>
              <a:rPr lang="en-US" dirty="0">
                <a:sym typeface="Wingdings" pitchFamily="2" charset="2"/>
              </a:rPr>
              <a:t>  </a:t>
            </a:r>
            <a:r>
              <a:rPr lang="en-US" i="1" dirty="0">
                <a:sym typeface="Wingdings" pitchFamily="2" charset="2"/>
              </a:rPr>
              <a:t>Q</a:t>
            </a:r>
            <a:r>
              <a:rPr lang="en-US" dirty="0">
                <a:sym typeface="Wingdings" pitchFamily="2" charset="2"/>
              </a:rPr>
              <a:t>) /\  (</a:t>
            </a:r>
            <a:r>
              <a:rPr lang="en-US" b="1" dirty="0" err="1">
                <a:solidFill>
                  <a:srgbClr val="0070C0"/>
                </a:solidFill>
              </a:rPr>
              <a:t>wlp</a:t>
            </a:r>
            <a:r>
              <a:rPr lang="en-US" dirty="0"/>
              <a:t>  </a:t>
            </a:r>
            <a:r>
              <a:rPr lang="en-US" dirty="0">
                <a:sym typeface="Wingdings" pitchFamily="2" charset="2"/>
              </a:rPr>
              <a:t>T </a:t>
            </a:r>
            <a:r>
              <a:rPr lang="en-US" i="1" dirty="0">
                <a:sym typeface="Wingdings" pitchFamily="2" charset="2"/>
              </a:rPr>
              <a:t>Q</a:t>
            </a:r>
            <a:r>
              <a:rPr lang="en-US" dirty="0">
                <a:sym typeface="Wingdings" pitchFamily="2" charset="2"/>
              </a:rPr>
              <a:t>)</a:t>
            </a:r>
          </a:p>
          <a:p>
            <a:pPr eaLnBrk="1" hangingPunct="1"/>
            <a:endParaRPr lang="en-US" b="1" dirty="0">
              <a:sym typeface="Wingdings" pitchFamily="2" charset="2"/>
            </a:endParaRPr>
          </a:p>
          <a:p>
            <a:r>
              <a:rPr lang="en-US" dirty="0">
                <a:sym typeface="Wingdings" pitchFamily="2" charset="2"/>
              </a:rPr>
              <a:t>With respect to Hoare triples these two are equivalent (any Hoare triple satisfied by one is satisfied by the other) :</a:t>
            </a:r>
          </a:p>
          <a:p>
            <a:pPr marL="274320" lvl="1" indent="0">
              <a:buNone/>
            </a:pPr>
            <a:br>
              <a:rPr lang="en-US" dirty="0">
                <a:sym typeface="Wingdings" pitchFamily="2" charset="2"/>
              </a:rPr>
            </a:br>
            <a:r>
              <a:rPr lang="en-US" sz="2800" b="1" dirty="0">
                <a:sym typeface="Wingdings" pitchFamily="2" charset="2"/>
              </a:rPr>
              <a:t>if</a:t>
            </a:r>
            <a:r>
              <a:rPr lang="en-US" sz="2800" dirty="0">
                <a:sym typeface="Wingdings" pitchFamily="2" charset="2"/>
              </a:rPr>
              <a:t> </a:t>
            </a:r>
            <a:r>
              <a:rPr lang="en-US" sz="2800" i="1" dirty="0">
                <a:sym typeface="Wingdings" pitchFamily="2" charset="2"/>
              </a:rPr>
              <a:t>g</a:t>
            </a:r>
            <a:r>
              <a:rPr lang="en-US" sz="2800" dirty="0">
                <a:sym typeface="Wingdings" pitchFamily="2" charset="2"/>
              </a:rPr>
              <a:t> </a:t>
            </a:r>
            <a:r>
              <a:rPr lang="en-US" sz="2800" b="1" dirty="0">
                <a:sym typeface="Wingdings" pitchFamily="2" charset="2"/>
              </a:rPr>
              <a:t>then</a:t>
            </a:r>
            <a:r>
              <a:rPr lang="en-US" sz="2800" dirty="0">
                <a:sym typeface="Wingdings" pitchFamily="2" charset="2"/>
              </a:rPr>
              <a:t> S</a:t>
            </a:r>
            <a:r>
              <a:rPr lang="en-US" sz="2800" baseline="-25000" dirty="0">
                <a:sym typeface="Wingdings" pitchFamily="2" charset="2"/>
              </a:rPr>
              <a:t>1</a:t>
            </a:r>
            <a:r>
              <a:rPr lang="en-US" sz="2800" dirty="0">
                <a:sym typeface="Wingdings" pitchFamily="2" charset="2"/>
              </a:rPr>
              <a:t> </a:t>
            </a:r>
            <a:r>
              <a:rPr lang="en-US" sz="2800" b="1" dirty="0">
                <a:sym typeface="Wingdings" pitchFamily="2" charset="2"/>
              </a:rPr>
              <a:t>else</a:t>
            </a:r>
            <a:r>
              <a:rPr lang="en-US" sz="2800" dirty="0">
                <a:sym typeface="Wingdings" pitchFamily="2" charset="2"/>
              </a:rPr>
              <a:t> S</a:t>
            </a:r>
            <a:r>
              <a:rPr lang="en-US" sz="2800" baseline="-25000" dirty="0">
                <a:sym typeface="Wingdings" pitchFamily="2" charset="2"/>
              </a:rPr>
              <a:t>2</a:t>
            </a:r>
            <a:r>
              <a:rPr lang="en-US" sz="2800" dirty="0">
                <a:sym typeface="Wingdings" pitchFamily="2" charset="2"/>
              </a:rPr>
              <a:t>   </a:t>
            </a:r>
            <a:br>
              <a:rPr lang="en-US" sz="2800" dirty="0">
                <a:sym typeface="Wingdings" pitchFamily="2" charset="2"/>
              </a:rPr>
            </a:br>
            <a:r>
              <a:rPr lang="en-US" sz="2800" dirty="0">
                <a:sym typeface="Symbol" pitchFamily="18" charset="2"/>
              </a:rPr>
              <a:t>  </a:t>
            </a:r>
            <a:br>
              <a:rPr lang="en-US" sz="2800" dirty="0">
                <a:sym typeface="Symbol" pitchFamily="18" charset="2"/>
              </a:rPr>
            </a:br>
            <a:r>
              <a:rPr lang="en-US" sz="2800" dirty="0">
                <a:sym typeface="Symbol" pitchFamily="18" charset="2"/>
              </a:rPr>
              <a:t>(</a:t>
            </a:r>
            <a:r>
              <a:rPr lang="en-US" sz="2800" b="1" dirty="0">
                <a:sym typeface="Symbol" pitchFamily="18" charset="2"/>
              </a:rPr>
              <a:t>assume</a:t>
            </a:r>
            <a:r>
              <a:rPr lang="en-US" sz="2800" dirty="0">
                <a:sym typeface="Symbol" pitchFamily="18" charset="2"/>
              </a:rPr>
              <a:t> </a:t>
            </a:r>
            <a:r>
              <a:rPr lang="en-US" sz="2800" i="1" dirty="0">
                <a:sym typeface="Symbol" pitchFamily="18" charset="2"/>
              </a:rPr>
              <a:t>g</a:t>
            </a:r>
            <a:r>
              <a:rPr lang="en-US" sz="2800" dirty="0">
                <a:sym typeface="Symbol" pitchFamily="18" charset="2"/>
              </a:rPr>
              <a:t> ; </a:t>
            </a:r>
            <a:r>
              <a:rPr lang="en-US" sz="2800" dirty="0">
                <a:sym typeface="Wingdings" pitchFamily="2" charset="2"/>
              </a:rPr>
              <a:t>S</a:t>
            </a:r>
            <a:r>
              <a:rPr lang="en-US" sz="2800" baseline="-25000" dirty="0">
                <a:sym typeface="Wingdings" pitchFamily="2" charset="2"/>
              </a:rPr>
              <a:t>1</a:t>
            </a:r>
            <a:r>
              <a:rPr lang="en-US" sz="2800" dirty="0">
                <a:sym typeface="Symbol" pitchFamily="18" charset="2"/>
              </a:rPr>
              <a:t> ) </a:t>
            </a:r>
            <a:r>
              <a:rPr lang="en-US" sz="2800" dirty="0">
                <a:sym typeface="Wingdings" pitchFamily="2" charset="2"/>
              </a:rPr>
              <a:t>[]   </a:t>
            </a:r>
            <a:r>
              <a:rPr lang="en-US" sz="2800" b="1" dirty="0">
                <a:sym typeface="Wingdings" pitchFamily="2" charset="2"/>
              </a:rPr>
              <a:t>(assume </a:t>
            </a:r>
            <a:r>
              <a:rPr lang="en-US" sz="2800" dirty="0">
                <a:sym typeface="Symbol" pitchFamily="18" charset="2"/>
              </a:rPr>
              <a:t></a:t>
            </a:r>
            <a:r>
              <a:rPr lang="en-US" sz="2800" i="1" dirty="0">
                <a:sym typeface="Symbol" pitchFamily="18" charset="2"/>
              </a:rPr>
              <a:t>g</a:t>
            </a:r>
            <a:r>
              <a:rPr lang="en-US" sz="2800" b="1" dirty="0">
                <a:sym typeface="Wingdings" pitchFamily="2" charset="2"/>
              </a:rPr>
              <a:t> ; </a:t>
            </a:r>
            <a:r>
              <a:rPr lang="en-US" sz="2800" dirty="0">
                <a:sym typeface="Wingdings" pitchFamily="2" charset="2"/>
              </a:rPr>
              <a:t>S</a:t>
            </a:r>
            <a:r>
              <a:rPr lang="en-US" sz="2800" baseline="-25000" dirty="0">
                <a:sym typeface="Wingdings" pitchFamily="2" charset="2"/>
              </a:rPr>
              <a:t>2</a:t>
            </a:r>
            <a:r>
              <a:rPr lang="en-US" sz="2800" b="1" dirty="0">
                <a:sym typeface="Wingdings" pitchFamily="2" charset="2"/>
              </a:rPr>
              <a:t> )</a:t>
            </a:r>
            <a:endParaRPr lang="en-US" sz="2800" b="1" dirty="0"/>
          </a:p>
          <a:p>
            <a:pPr eaLnBrk="1" hangingPunct="1"/>
            <a:endParaRPr lang="en-US" i="1" dirty="0"/>
          </a:p>
          <a:p>
            <a:pPr eaLnBrk="1" hangingPunct="1"/>
            <a:endParaRPr lang="en-US" dirty="0"/>
          </a:p>
          <a:p>
            <a:pPr eaLnBrk="1" hangingPunct="1"/>
            <a:endParaRPr lang="en-US" dirty="0"/>
          </a:p>
        </p:txBody>
      </p:sp>
      <p:sp>
        <p:nvSpPr>
          <p:cNvPr id="5" name="Tijdelijke aanduiding voor dianumm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71516C0-9F10-4120-8E08-7AE4972BA378}" type="slidenum">
              <a:rPr lang="en-US"/>
              <a:pPr>
                <a:defRPr/>
              </a:pPr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err="1"/>
              <a:t>wlp</a:t>
            </a:r>
            <a:endParaRPr lang="en-US" dirty="0"/>
          </a:p>
        </p:txBody>
      </p:sp>
      <p:sp>
        <p:nvSpPr>
          <p:cNvPr id="23555" name="Tijdelijke aanduiding voor inhou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dirty="0"/>
              <a:t>So, it follows:</a:t>
            </a:r>
            <a:br>
              <a:rPr lang="en-US" dirty="0"/>
            </a:br>
            <a:br>
              <a:rPr lang="en-US" b="1" dirty="0"/>
            </a:br>
            <a:r>
              <a:rPr lang="en-US" b="1" dirty="0" err="1">
                <a:solidFill>
                  <a:srgbClr val="0070C0"/>
                </a:solidFill>
              </a:rPr>
              <a:t>wlp</a:t>
            </a:r>
            <a:r>
              <a:rPr lang="en-US" dirty="0"/>
              <a:t>  (</a:t>
            </a:r>
            <a:r>
              <a:rPr lang="en-US" b="1" dirty="0"/>
              <a:t>if</a:t>
            </a:r>
            <a:r>
              <a:rPr lang="en-US" dirty="0"/>
              <a:t>  </a:t>
            </a:r>
            <a:r>
              <a:rPr lang="en-US" i="1" dirty="0"/>
              <a:t>g</a:t>
            </a:r>
            <a:r>
              <a:rPr lang="en-US" dirty="0"/>
              <a:t>  </a:t>
            </a:r>
            <a:r>
              <a:rPr lang="en-US" b="1" dirty="0"/>
              <a:t>then</a:t>
            </a:r>
            <a:r>
              <a:rPr lang="en-US" dirty="0"/>
              <a:t> S</a:t>
            </a:r>
            <a:r>
              <a:rPr lang="en-US" baseline="-25000" dirty="0"/>
              <a:t>1</a:t>
            </a:r>
            <a:r>
              <a:rPr lang="en-US" dirty="0"/>
              <a:t> </a:t>
            </a:r>
            <a:r>
              <a:rPr lang="en-US" b="1" dirty="0"/>
              <a:t>else</a:t>
            </a:r>
            <a:r>
              <a:rPr lang="en-US" dirty="0"/>
              <a:t> S</a:t>
            </a:r>
            <a:r>
              <a:rPr lang="en-US" baseline="-25000" dirty="0"/>
              <a:t>2</a:t>
            </a:r>
            <a:r>
              <a:rPr lang="en-US" dirty="0"/>
              <a:t>)   </a:t>
            </a:r>
            <a:r>
              <a:rPr lang="en-US" i="1" dirty="0"/>
              <a:t>Q</a:t>
            </a:r>
            <a:br>
              <a:rPr lang="en-US" dirty="0"/>
            </a:br>
            <a:r>
              <a:rPr lang="en-US" dirty="0"/>
              <a:t>	=</a:t>
            </a:r>
            <a:br>
              <a:rPr lang="en-US" dirty="0"/>
            </a:br>
            <a:r>
              <a:rPr lang="en-US" dirty="0"/>
              <a:t>	(</a:t>
            </a:r>
            <a:r>
              <a:rPr lang="en-US" i="1" dirty="0"/>
              <a:t>g</a:t>
            </a:r>
            <a:r>
              <a:rPr lang="en-US" dirty="0"/>
              <a:t>  </a:t>
            </a:r>
            <a:r>
              <a:rPr lang="en-US" dirty="0">
                <a:sym typeface="Symbol" pitchFamily="18" charset="2"/>
              </a:rPr>
              <a:t>  </a:t>
            </a:r>
            <a:r>
              <a:rPr lang="en-US" b="1" dirty="0" err="1">
                <a:solidFill>
                  <a:srgbClr val="0070C0"/>
                </a:solidFill>
                <a:sym typeface="Symbol" pitchFamily="18" charset="2"/>
              </a:rPr>
              <a:t>wlp</a:t>
            </a:r>
            <a:r>
              <a:rPr lang="en-US" dirty="0">
                <a:sym typeface="Symbol" pitchFamily="18" charset="2"/>
              </a:rPr>
              <a:t> </a:t>
            </a:r>
            <a:r>
              <a:rPr lang="en-US" dirty="0"/>
              <a:t>S</a:t>
            </a:r>
            <a:r>
              <a:rPr lang="en-US" baseline="-25000" dirty="0"/>
              <a:t>1</a:t>
            </a:r>
            <a:r>
              <a:rPr lang="en-US" dirty="0"/>
              <a:t> </a:t>
            </a:r>
            <a:r>
              <a:rPr lang="en-US" i="1" dirty="0"/>
              <a:t>Q</a:t>
            </a:r>
            <a:r>
              <a:rPr lang="en-US" dirty="0"/>
              <a:t>)   /\    (</a:t>
            </a:r>
            <a:r>
              <a:rPr lang="en-US" dirty="0">
                <a:sym typeface="Symbol" pitchFamily="18" charset="2"/>
              </a:rPr>
              <a:t></a:t>
            </a:r>
            <a:r>
              <a:rPr lang="en-US" i="1" dirty="0">
                <a:sym typeface="Symbol" pitchFamily="18" charset="2"/>
              </a:rPr>
              <a:t>g</a:t>
            </a:r>
            <a:r>
              <a:rPr lang="en-US" dirty="0">
                <a:sym typeface="Symbol" pitchFamily="18" charset="2"/>
              </a:rPr>
              <a:t>    </a:t>
            </a:r>
            <a:r>
              <a:rPr lang="en-US" b="1" dirty="0" err="1">
                <a:solidFill>
                  <a:srgbClr val="0070C0"/>
                </a:solidFill>
                <a:sym typeface="Symbol" pitchFamily="18" charset="2"/>
              </a:rPr>
              <a:t>wlp</a:t>
            </a:r>
            <a:r>
              <a:rPr lang="en-US" dirty="0">
                <a:sym typeface="Symbol" pitchFamily="18" charset="2"/>
              </a:rPr>
              <a:t> </a:t>
            </a:r>
            <a:r>
              <a:rPr lang="en-US" dirty="0"/>
              <a:t>S</a:t>
            </a:r>
            <a:r>
              <a:rPr lang="en-US" baseline="-25000" dirty="0"/>
              <a:t>2</a:t>
            </a:r>
            <a:r>
              <a:rPr lang="en-US" dirty="0"/>
              <a:t>  </a:t>
            </a:r>
            <a:r>
              <a:rPr lang="en-US" i="1" dirty="0"/>
              <a:t>Q</a:t>
            </a:r>
            <a:r>
              <a:rPr lang="en-US" dirty="0"/>
              <a:t>)</a:t>
            </a:r>
          </a:p>
          <a:p>
            <a:pPr eaLnBrk="1" hangingPunct="1"/>
            <a:endParaRPr lang="en-US" dirty="0"/>
          </a:p>
          <a:p>
            <a:pPr eaLnBrk="1" hangingPunct="1"/>
            <a:r>
              <a:rPr lang="en-US" sz="2000" b="1" dirty="0"/>
              <a:t>Note</a:t>
            </a:r>
            <a:r>
              <a:rPr lang="en-US" sz="2000" dirty="0"/>
              <a:t> : it is equivalent to (</a:t>
            </a:r>
            <a:r>
              <a:rPr lang="en-US" sz="2000" i="1" dirty="0"/>
              <a:t>g </a:t>
            </a:r>
            <a:r>
              <a:rPr lang="en-US" sz="2000" dirty="0"/>
              <a:t>/\</a:t>
            </a:r>
            <a:r>
              <a:rPr lang="en-US" sz="2000" dirty="0">
                <a:sym typeface="Symbol" pitchFamily="18" charset="2"/>
              </a:rPr>
              <a:t> </a:t>
            </a:r>
            <a:r>
              <a:rPr lang="en-US" sz="2000" b="1" dirty="0" err="1">
                <a:sym typeface="Symbol" pitchFamily="18" charset="2"/>
              </a:rPr>
              <a:t>wlp</a:t>
            </a:r>
            <a:r>
              <a:rPr lang="en-US" sz="2000" dirty="0">
                <a:sym typeface="Symbol" pitchFamily="18" charset="2"/>
              </a:rPr>
              <a:t> </a:t>
            </a:r>
            <a:r>
              <a:rPr lang="en-US" sz="2000" dirty="0"/>
              <a:t>S</a:t>
            </a:r>
            <a:r>
              <a:rPr lang="en-US" sz="2000" baseline="-25000" dirty="0"/>
              <a:t>1</a:t>
            </a:r>
            <a:r>
              <a:rPr lang="en-US" sz="2000" dirty="0"/>
              <a:t> </a:t>
            </a:r>
            <a:r>
              <a:rPr lang="en-US" sz="2000" i="1" dirty="0"/>
              <a:t>Q</a:t>
            </a:r>
            <a:r>
              <a:rPr lang="en-US" sz="2000" dirty="0"/>
              <a:t>)   \/    (</a:t>
            </a:r>
            <a:r>
              <a:rPr lang="en-US" sz="2000" dirty="0">
                <a:sym typeface="Symbol" pitchFamily="18" charset="2"/>
              </a:rPr>
              <a:t></a:t>
            </a:r>
            <a:r>
              <a:rPr lang="en-US" sz="2000" i="1" dirty="0">
                <a:sym typeface="Symbol" pitchFamily="18" charset="2"/>
              </a:rPr>
              <a:t>g</a:t>
            </a:r>
            <a:r>
              <a:rPr lang="en-US" sz="2000" dirty="0">
                <a:sym typeface="Symbol" pitchFamily="18" charset="2"/>
              </a:rPr>
              <a:t>  /\  </a:t>
            </a:r>
            <a:r>
              <a:rPr lang="en-US" sz="2000" b="1" dirty="0" err="1">
                <a:sym typeface="Symbol" pitchFamily="18" charset="2"/>
              </a:rPr>
              <a:t>wlp</a:t>
            </a:r>
            <a:r>
              <a:rPr lang="en-US" sz="2000" dirty="0">
                <a:sym typeface="Symbol" pitchFamily="18" charset="2"/>
              </a:rPr>
              <a:t> </a:t>
            </a:r>
            <a:r>
              <a:rPr lang="en-US" sz="2000" dirty="0"/>
              <a:t>S</a:t>
            </a:r>
            <a:r>
              <a:rPr lang="en-US" sz="2000" baseline="-25000" dirty="0"/>
              <a:t>2</a:t>
            </a:r>
            <a:r>
              <a:rPr lang="en-US" sz="2000" dirty="0"/>
              <a:t>  </a:t>
            </a:r>
            <a:r>
              <a:rPr lang="en-US" sz="2000" i="1" dirty="0"/>
              <a:t>Q</a:t>
            </a:r>
            <a:r>
              <a:rPr lang="en-US" sz="2000" dirty="0"/>
              <a:t>)</a:t>
            </a:r>
          </a:p>
        </p:txBody>
      </p:sp>
      <p:sp>
        <p:nvSpPr>
          <p:cNvPr id="5" name="Tijdelijke aanduiding voor dianumm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57FD1BF-B45D-4434-968D-468770E1186F}" type="slidenum">
              <a:rPr lang="en-US"/>
              <a:pPr>
                <a:defRPr/>
              </a:pPr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Formula growth</a:t>
            </a:r>
          </a:p>
        </p:txBody>
      </p:sp>
      <p:sp>
        <p:nvSpPr>
          <p:cNvPr id="23555" name="Tijdelijke aanduiding voor inhou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dirty="0"/>
              <a:t>Note that </a:t>
            </a:r>
            <a:r>
              <a:rPr lang="en-US" dirty="0" err="1"/>
              <a:t>wlp</a:t>
            </a:r>
            <a:r>
              <a:rPr lang="en-US" dirty="0"/>
              <a:t> of if-then-else “duplicates” Q (2x).</a:t>
            </a:r>
          </a:p>
          <a:p>
            <a:pPr eaLnBrk="1" hangingPunct="1"/>
            <a:r>
              <a:rPr lang="en-US" dirty="0"/>
              <a:t>So a series like:</a:t>
            </a:r>
            <a:br>
              <a:rPr lang="en-US" dirty="0"/>
            </a:br>
            <a:br>
              <a:rPr lang="en-US" dirty="0"/>
            </a:br>
            <a:r>
              <a:rPr lang="en-US" dirty="0"/>
              <a:t>	</a:t>
            </a:r>
            <a:r>
              <a:rPr lang="en-US" b="1" dirty="0" err="1"/>
              <a:t>wlp</a:t>
            </a:r>
            <a:r>
              <a:rPr lang="en-US" dirty="0"/>
              <a:t> ( </a:t>
            </a:r>
            <a:r>
              <a:rPr lang="en-US" b="1" dirty="0"/>
              <a:t>if</a:t>
            </a:r>
            <a:r>
              <a:rPr lang="en-US" dirty="0"/>
              <a:t> </a:t>
            </a:r>
            <a:r>
              <a:rPr lang="en-US" i="1" dirty="0"/>
              <a:t>g</a:t>
            </a:r>
            <a:r>
              <a:rPr lang="en-US" dirty="0"/>
              <a:t> </a:t>
            </a:r>
            <a:r>
              <a:rPr lang="en-US" b="1" dirty="0"/>
              <a:t>then</a:t>
            </a:r>
            <a:r>
              <a:rPr lang="en-US" dirty="0"/>
              <a:t> S1 </a:t>
            </a:r>
            <a:r>
              <a:rPr lang="en-US" b="1" dirty="0"/>
              <a:t>else</a:t>
            </a:r>
            <a:r>
              <a:rPr lang="en-US" dirty="0"/>
              <a:t> S2 ;</a:t>
            </a:r>
            <a:br>
              <a:rPr lang="en-US" dirty="0"/>
            </a:br>
            <a:r>
              <a:rPr lang="en-US" dirty="0"/>
              <a:t>    	          </a:t>
            </a:r>
            <a:r>
              <a:rPr lang="en-US" b="1" dirty="0"/>
              <a:t>if</a:t>
            </a:r>
            <a:r>
              <a:rPr lang="en-US" dirty="0"/>
              <a:t> </a:t>
            </a:r>
            <a:r>
              <a:rPr lang="en-US" i="1" dirty="0"/>
              <a:t>h</a:t>
            </a:r>
            <a:r>
              <a:rPr lang="en-US" dirty="0"/>
              <a:t> </a:t>
            </a:r>
            <a:r>
              <a:rPr lang="en-US" b="1" dirty="0"/>
              <a:t>then</a:t>
            </a:r>
            <a:r>
              <a:rPr lang="en-US" dirty="0"/>
              <a:t> S3 </a:t>
            </a:r>
            <a:r>
              <a:rPr lang="en-US" b="1" dirty="0"/>
              <a:t>else</a:t>
            </a:r>
            <a:r>
              <a:rPr lang="en-US" dirty="0"/>
              <a:t> S4 ;</a:t>
            </a:r>
            <a:br>
              <a:rPr lang="en-US" dirty="0"/>
            </a:br>
            <a:r>
              <a:rPr lang="en-US" dirty="0"/>
              <a:t>      	          </a:t>
            </a:r>
            <a:r>
              <a:rPr lang="en-US" b="1" dirty="0"/>
              <a:t>if</a:t>
            </a:r>
            <a:r>
              <a:rPr lang="en-US" dirty="0"/>
              <a:t>  </a:t>
            </a:r>
            <a:r>
              <a:rPr lang="en-US" i="1" dirty="0"/>
              <a:t>I </a:t>
            </a:r>
            <a:r>
              <a:rPr lang="en-US" dirty="0"/>
              <a:t> </a:t>
            </a:r>
            <a:r>
              <a:rPr lang="en-US" b="1" dirty="0"/>
              <a:t>then</a:t>
            </a:r>
            <a:r>
              <a:rPr lang="en-US" dirty="0"/>
              <a:t> S5 </a:t>
            </a:r>
            <a:r>
              <a:rPr lang="en-US" b="1" dirty="0"/>
              <a:t>else</a:t>
            </a:r>
            <a:r>
              <a:rPr lang="en-US" dirty="0"/>
              <a:t> S5 )  </a:t>
            </a:r>
            <a:r>
              <a:rPr lang="en-US" i="1" dirty="0"/>
              <a:t>Q</a:t>
            </a:r>
            <a:br>
              <a:rPr lang="en-US" dirty="0"/>
            </a:br>
            <a:br>
              <a:rPr lang="en-US" dirty="0"/>
            </a:br>
            <a:r>
              <a:rPr lang="en-US" dirty="0"/>
              <a:t>will duplicate Q 8x. (exponential growth in the size of the resulting </a:t>
            </a:r>
            <a:r>
              <a:rPr lang="en-US" dirty="0" err="1"/>
              <a:t>wlp</a:t>
            </a:r>
            <a:r>
              <a:rPr lang="en-US" dirty="0"/>
              <a:t>)</a:t>
            </a:r>
          </a:p>
          <a:p>
            <a:pPr eaLnBrk="1" hangingPunct="1"/>
            <a:endParaRPr lang="en-US" dirty="0"/>
          </a:p>
        </p:txBody>
      </p:sp>
      <p:sp>
        <p:nvSpPr>
          <p:cNvPr id="5" name="Tijdelijke aanduiding voor dianumm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57FD1BF-B45D-4434-968D-468770E1186F}" type="slidenum">
              <a:rPr lang="en-US"/>
              <a:pPr>
                <a:defRPr/>
              </a:pPr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725817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C3306B-C16C-DA4A-8EAF-06F2B02387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PATH-based verification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4F9282-FA7F-094B-BF84-0647CC24B7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620253"/>
            <a:ext cx="7772400" cy="4828673"/>
          </a:xfrm>
        </p:spPr>
        <p:txBody>
          <a:bodyPr>
            <a:normAutofit lnSpcReduction="10000"/>
          </a:bodyPr>
          <a:lstStyle/>
          <a:p>
            <a:r>
              <a:rPr lang="en-US" dirty="0"/>
              <a:t>Any program S that does not contain a loop or recursion can be equivalently decomposed  into linear “program paths”.</a:t>
            </a:r>
          </a:p>
          <a:p>
            <a:r>
              <a:rPr lang="en-US" dirty="0"/>
              <a:t>Example :</a:t>
            </a:r>
            <a:br>
              <a:rPr lang="en-US" dirty="0"/>
            </a:br>
            <a:endParaRPr lang="en-US" dirty="0"/>
          </a:p>
          <a:p>
            <a:pPr marL="0" indent="0">
              <a:buNone/>
            </a:pPr>
            <a:br>
              <a:rPr lang="en-US" dirty="0"/>
            </a:br>
            <a:br>
              <a:rPr lang="en-US" dirty="0"/>
            </a:br>
            <a:r>
              <a:rPr lang="en-US" dirty="0"/>
              <a:t>Can be decomposed to:</a:t>
            </a:r>
            <a:br>
              <a:rPr lang="en-US" dirty="0"/>
            </a:br>
            <a:endParaRPr lang="en-US" dirty="0"/>
          </a:p>
          <a:p>
            <a:pPr marL="457200" indent="-457200">
              <a:buFont typeface="+mj-lt"/>
              <a:buAutoNum type="arabicPeriod"/>
            </a:pPr>
            <a:r>
              <a:rPr lang="en-US" b="1" dirty="0">
                <a:solidFill>
                  <a:srgbClr val="C00000"/>
                </a:solidFill>
              </a:rPr>
              <a:t>assume</a:t>
            </a:r>
            <a:r>
              <a:rPr lang="en-US" dirty="0">
                <a:solidFill>
                  <a:srgbClr val="C00000"/>
                </a:solidFill>
              </a:rPr>
              <a:t> g </a:t>
            </a:r>
            <a:r>
              <a:rPr lang="en-US" dirty="0"/>
              <a:t>;    x:=e</a:t>
            </a:r>
            <a:r>
              <a:rPr lang="en-US" baseline="-25000" dirty="0"/>
              <a:t>1</a:t>
            </a:r>
            <a:r>
              <a:rPr lang="en-US" dirty="0"/>
              <a:t> ;   </a:t>
            </a:r>
            <a:r>
              <a:rPr lang="en-US" b="1" dirty="0">
                <a:solidFill>
                  <a:srgbClr val="0070C0"/>
                </a:solidFill>
              </a:rPr>
              <a:t>assume</a:t>
            </a:r>
            <a:r>
              <a:rPr lang="en-US" dirty="0">
                <a:solidFill>
                  <a:srgbClr val="0070C0"/>
                </a:solidFill>
              </a:rPr>
              <a:t> h</a:t>
            </a:r>
            <a:r>
              <a:rPr lang="en-US" dirty="0"/>
              <a:t>    ;      y := e</a:t>
            </a:r>
            <a:r>
              <a:rPr lang="en-US" baseline="-25000" dirty="0"/>
              <a:t>3</a:t>
            </a:r>
            <a:r>
              <a:rPr lang="en-US" dirty="0"/>
              <a:t>  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 </a:t>
            </a:r>
            <a:r>
              <a:rPr lang="en-US" b="1" dirty="0">
                <a:solidFill>
                  <a:srgbClr val="C00000"/>
                </a:solidFill>
              </a:rPr>
              <a:t>assume</a:t>
            </a:r>
            <a:r>
              <a:rPr lang="en-US" dirty="0">
                <a:solidFill>
                  <a:srgbClr val="C00000"/>
                </a:solidFill>
              </a:rPr>
              <a:t> g</a:t>
            </a:r>
            <a:r>
              <a:rPr lang="en-US" dirty="0"/>
              <a:t> ;   x:=e</a:t>
            </a:r>
            <a:r>
              <a:rPr lang="en-US" baseline="-25000" dirty="0"/>
              <a:t>1</a:t>
            </a:r>
            <a:r>
              <a:rPr lang="en-US" dirty="0"/>
              <a:t> ;    </a:t>
            </a:r>
            <a:r>
              <a:rPr lang="en-US" b="1" dirty="0">
                <a:solidFill>
                  <a:srgbClr val="0070C0"/>
                </a:solidFill>
              </a:rPr>
              <a:t>assume</a:t>
            </a:r>
            <a:r>
              <a:rPr lang="en-US" dirty="0">
                <a:solidFill>
                  <a:srgbClr val="0070C0"/>
                </a:solidFill>
              </a:rPr>
              <a:t> ¬h</a:t>
            </a:r>
            <a:r>
              <a:rPr lang="en-US" dirty="0"/>
              <a:t> ;   y := e</a:t>
            </a:r>
            <a:r>
              <a:rPr lang="en-US" baseline="-25000" dirty="0"/>
              <a:t>4</a:t>
            </a:r>
            <a:r>
              <a:rPr lang="en-US" dirty="0"/>
              <a:t>  </a:t>
            </a:r>
          </a:p>
          <a:p>
            <a:pPr marL="457200" indent="-457200">
              <a:buFont typeface="+mj-lt"/>
              <a:buAutoNum type="arabicPeriod"/>
            </a:pPr>
            <a:r>
              <a:rPr lang="en-US" b="1" dirty="0">
                <a:solidFill>
                  <a:srgbClr val="C00000"/>
                </a:solidFill>
              </a:rPr>
              <a:t>assume</a:t>
            </a:r>
            <a:r>
              <a:rPr lang="en-US" dirty="0">
                <a:solidFill>
                  <a:srgbClr val="C00000"/>
                </a:solidFill>
              </a:rPr>
              <a:t> ¬g </a:t>
            </a:r>
            <a:r>
              <a:rPr lang="en-US" dirty="0"/>
              <a:t>;  x:=e</a:t>
            </a:r>
            <a:r>
              <a:rPr lang="en-US" baseline="-25000" dirty="0"/>
              <a:t>2</a:t>
            </a:r>
            <a:r>
              <a:rPr lang="en-US" dirty="0"/>
              <a:t> ;    </a:t>
            </a:r>
            <a:r>
              <a:rPr lang="en-US" b="1" dirty="0">
                <a:solidFill>
                  <a:srgbClr val="0070C0"/>
                </a:solidFill>
              </a:rPr>
              <a:t>assume</a:t>
            </a:r>
            <a:r>
              <a:rPr lang="en-US" dirty="0">
                <a:solidFill>
                  <a:srgbClr val="0070C0"/>
                </a:solidFill>
              </a:rPr>
              <a:t> h</a:t>
            </a:r>
            <a:r>
              <a:rPr lang="en-US" dirty="0"/>
              <a:t>   ;     y := e</a:t>
            </a:r>
            <a:r>
              <a:rPr lang="en-US" baseline="-25000" dirty="0"/>
              <a:t>3</a:t>
            </a:r>
            <a:r>
              <a:rPr lang="en-US" dirty="0"/>
              <a:t>  </a:t>
            </a:r>
          </a:p>
          <a:p>
            <a:pPr marL="457200" indent="-457200">
              <a:buFont typeface="+mj-lt"/>
              <a:buAutoNum type="arabicPeriod"/>
            </a:pPr>
            <a:r>
              <a:rPr lang="en-US" b="1" dirty="0">
                <a:solidFill>
                  <a:srgbClr val="C00000"/>
                </a:solidFill>
              </a:rPr>
              <a:t>assume</a:t>
            </a:r>
            <a:r>
              <a:rPr lang="en-US" dirty="0">
                <a:solidFill>
                  <a:srgbClr val="C00000"/>
                </a:solidFill>
              </a:rPr>
              <a:t> ¬g </a:t>
            </a:r>
            <a:r>
              <a:rPr lang="en-US" dirty="0"/>
              <a:t>;  x:=e</a:t>
            </a:r>
            <a:r>
              <a:rPr lang="en-US" baseline="-25000" dirty="0"/>
              <a:t>2</a:t>
            </a:r>
            <a:r>
              <a:rPr lang="en-US" dirty="0"/>
              <a:t> ;    </a:t>
            </a:r>
            <a:r>
              <a:rPr lang="en-US" b="1" dirty="0">
                <a:solidFill>
                  <a:srgbClr val="0070C0"/>
                </a:solidFill>
              </a:rPr>
              <a:t>assume</a:t>
            </a:r>
            <a:r>
              <a:rPr lang="en-US" dirty="0">
                <a:solidFill>
                  <a:srgbClr val="0070C0"/>
                </a:solidFill>
              </a:rPr>
              <a:t> ¬h</a:t>
            </a:r>
            <a:r>
              <a:rPr lang="en-US" dirty="0"/>
              <a:t> ;   y := e</a:t>
            </a:r>
            <a:r>
              <a:rPr lang="en-US" baseline="-25000" dirty="0"/>
              <a:t>4</a:t>
            </a:r>
            <a:r>
              <a:rPr lang="en-US" dirty="0"/>
              <a:t>  </a:t>
            </a:r>
          </a:p>
          <a:p>
            <a:pPr marL="457200" indent="-457200">
              <a:buFont typeface="+mj-lt"/>
              <a:buAutoNum type="arabicPeriod"/>
            </a:pP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270C26-ABBC-0643-A548-294980EE7D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8A332FB-769C-4CBB-BDDE-0DC26211CC04}" type="slidenum">
              <a:rPr lang="en-US" smtClean="0"/>
              <a:pPr>
                <a:defRPr/>
              </a:pPr>
              <a:t>22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F31F8F8-3F6E-0547-B294-BF2EECCFC570}"/>
              </a:ext>
            </a:extLst>
          </p:cNvPr>
          <p:cNvSpPr txBox="1"/>
          <p:nvPr/>
        </p:nvSpPr>
        <p:spPr>
          <a:xfrm>
            <a:off x="2422358" y="2583283"/>
            <a:ext cx="4299284" cy="83099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if</a:t>
            </a:r>
            <a:r>
              <a:rPr lang="en-US" dirty="0"/>
              <a:t> </a:t>
            </a:r>
            <a:r>
              <a:rPr lang="en-US" b="1" dirty="0">
                <a:solidFill>
                  <a:srgbClr val="FF0000"/>
                </a:solidFill>
              </a:rPr>
              <a:t>g</a:t>
            </a:r>
            <a:r>
              <a:rPr lang="en-US" dirty="0"/>
              <a:t> </a:t>
            </a:r>
            <a:r>
              <a:rPr lang="en-US" b="1" dirty="0"/>
              <a:t>then</a:t>
            </a:r>
            <a:r>
              <a:rPr lang="en-US" dirty="0"/>
              <a:t> x:=e</a:t>
            </a:r>
            <a:r>
              <a:rPr lang="en-US" baseline="-25000" dirty="0"/>
              <a:t>1</a:t>
            </a:r>
            <a:r>
              <a:rPr lang="en-US" dirty="0"/>
              <a:t> </a:t>
            </a:r>
            <a:r>
              <a:rPr lang="en-US" b="1" dirty="0"/>
              <a:t>else</a:t>
            </a:r>
            <a:r>
              <a:rPr lang="en-US" dirty="0"/>
              <a:t> x := e</a:t>
            </a:r>
            <a:r>
              <a:rPr lang="en-US" baseline="-25000" dirty="0"/>
              <a:t>2</a:t>
            </a:r>
            <a:r>
              <a:rPr lang="en-US" dirty="0"/>
              <a:t> ;</a:t>
            </a:r>
            <a:br>
              <a:rPr lang="en-US" dirty="0"/>
            </a:br>
            <a:r>
              <a:rPr lang="en-US" b="1" dirty="0"/>
              <a:t>if</a:t>
            </a:r>
            <a:r>
              <a:rPr lang="en-US" dirty="0"/>
              <a:t> </a:t>
            </a:r>
            <a:r>
              <a:rPr lang="en-US" b="1" dirty="0">
                <a:solidFill>
                  <a:srgbClr val="0070C0"/>
                </a:solidFill>
              </a:rPr>
              <a:t>h</a:t>
            </a:r>
            <a:r>
              <a:rPr lang="en-US" dirty="0"/>
              <a:t> </a:t>
            </a:r>
            <a:r>
              <a:rPr lang="en-US" b="1" dirty="0"/>
              <a:t>then</a:t>
            </a:r>
            <a:r>
              <a:rPr lang="en-US" dirty="0"/>
              <a:t> y:=e</a:t>
            </a:r>
            <a:r>
              <a:rPr lang="en-US" baseline="-25000" dirty="0"/>
              <a:t>3</a:t>
            </a:r>
            <a:r>
              <a:rPr lang="en-US" dirty="0"/>
              <a:t> </a:t>
            </a:r>
            <a:r>
              <a:rPr lang="en-US" b="1" dirty="0"/>
              <a:t>else</a:t>
            </a:r>
            <a:r>
              <a:rPr lang="en-US" dirty="0"/>
              <a:t> y := e</a:t>
            </a:r>
            <a:r>
              <a:rPr lang="en-US" baseline="-25000" dirty="0"/>
              <a:t>4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465596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ight Arrow 8">
            <a:extLst>
              <a:ext uri="{FF2B5EF4-FFF2-40B4-BE49-F238E27FC236}">
                <a16:creationId xmlns:a16="http://schemas.microsoft.com/office/drawing/2014/main" id="{B9B42CAA-CC4E-5C46-8AF8-5F5813107E50}"/>
              </a:ext>
            </a:extLst>
          </p:cNvPr>
          <p:cNvSpPr/>
          <p:nvPr/>
        </p:nvSpPr>
        <p:spPr>
          <a:xfrm>
            <a:off x="3320717" y="2978704"/>
            <a:ext cx="914400" cy="41709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3355B06-AA78-E44C-AD4F-2F8418420E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PATH-based verification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EBF33D-AB78-9046-B42E-8AFC3B5D70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3137" y="1383956"/>
            <a:ext cx="8530269" cy="5081011"/>
          </a:xfrm>
        </p:spPr>
        <p:txBody>
          <a:bodyPr>
            <a:noAutofit/>
          </a:bodyPr>
          <a:lstStyle/>
          <a:p>
            <a:r>
              <a:rPr lang="en-US" dirty="0"/>
              <a:t>{P} S {Q} is valid   ≡  </a:t>
            </a:r>
            <a:r>
              <a:rPr lang="en-US" dirty="0" err="1"/>
              <a:t>forall</a:t>
            </a:r>
            <a:r>
              <a:rPr lang="en-US" dirty="0"/>
              <a:t> program path 𝜎 of S: {P} 𝜎 {Q} is valid.</a:t>
            </a:r>
          </a:p>
          <a:p>
            <a:r>
              <a:rPr lang="en-US" dirty="0"/>
              <a:t>E.g. to verify :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This approach of verification is also called “</a:t>
            </a:r>
            <a:r>
              <a:rPr lang="en-US" b="1" dirty="0"/>
              <a:t>symbolic execution</a:t>
            </a:r>
            <a:r>
              <a:rPr lang="en-US" dirty="0"/>
              <a:t>”, because it as if we symbolically execute each control path in the target program.</a:t>
            </a:r>
          </a:p>
          <a:p>
            <a:r>
              <a:rPr lang="en-US" dirty="0"/>
              <a:t>The number of paths can still be a lot, but we can verify them incrementally, and even choose which ones to verify.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2FC630-EDD2-3347-9F5A-6DE3BF86D4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8A332FB-769C-4CBB-BDDE-0DC26211CC04}" type="slidenum">
              <a:rPr lang="en-US" smtClean="0"/>
              <a:pPr>
                <a:defRPr/>
              </a:pPr>
              <a:t>23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BFE5CB1-795B-334B-93A3-F4DA7217C35B}"/>
              </a:ext>
            </a:extLst>
          </p:cNvPr>
          <p:cNvSpPr txBox="1"/>
          <p:nvPr/>
        </p:nvSpPr>
        <p:spPr>
          <a:xfrm>
            <a:off x="208547" y="2435739"/>
            <a:ext cx="3673642" cy="1569660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{  P  }</a:t>
            </a:r>
          </a:p>
          <a:p>
            <a:pPr algn="ctr"/>
            <a:r>
              <a:rPr lang="en-US" b="1" dirty="0"/>
              <a:t>if</a:t>
            </a:r>
            <a:r>
              <a:rPr lang="en-US" dirty="0"/>
              <a:t> </a:t>
            </a:r>
            <a:r>
              <a:rPr lang="en-US" b="1" dirty="0">
                <a:solidFill>
                  <a:srgbClr val="FF0000"/>
                </a:solidFill>
              </a:rPr>
              <a:t>g</a:t>
            </a:r>
            <a:r>
              <a:rPr lang="en-US" dirty="0"/>
              <a:t> </a:t>
            </a:r>
            <a:r>
              <a:rPr lang="en-US" b="1" dirty="0"/>
              <a:t>then</a:t>
            </a:r>
            <a:r>
              <a:rPr lang="en-US" dirty="0"/>
              <a:t> x:=e</a:t>
            </a:r>
            <a:r>
              <a:rPr lang="en-US" baseline="-25000" dirty="0"/>
              <a:t>1</a:t>
            </a:r>
            <a:r>
              <a:rPr lang="en-US" dirty="0"/>
              <a:t> </a:t>
            </a:r>
            <a:r>
              <a:rPr lang="en-US" b="1" dirty="0"/>
              <a:t>else</a:t>
            </a:r>
            <a:r>
              <a:rPr lang="en-US" dirty="0"/>
              <a:t> x := e</a:t>
            </a:r>
            <a:r>
              <a:rPr lang="en-US" baseline="-25000" dirty="0"/>
              <a:t>2</a:t>
            </a:r>
            <a:r>
              <a:rPr lang="en-US" dirty="0"/>
              <a:t> ;</a:t>
            </a:r>
            <a:br>
              <a:rPr lang="en-US" dirty="0"/>
            </a:br>
            <a:r>
              <a:rPr lang="en-US" b="1" dirty="0"/>
              <a:t>if</a:t>
            </a:r>
            <a:r>
              <a:rPr lang="en-US" dirty="0"/>
              <a:t> </a:t>
            </a:r>
            <a:r>
              <a:rPr lang="en-US" b="1" dirty="0">
                <a:solidFill>
                  <a:srgbClr val="0070C0"/>
                </a:solidFill>
              </a:rPr>
              <a:t>h</a:t>
            </a:r>
            <a:r>
              <a:rPr lang="en-US" dirty="0"/>
              <a:t> </a:t>
            </a:r>
            <a:r>
              <a:rPr lang="en-US" b="1" dirty="0"/>
              <a:t>then</a:t>
            </a:r>
            <a:r>
              <a:rPr lang="en-US" dirty="0"/>
              <a:t> y:=e</a:t>
            </a:r>
            <a:r>
              <a:rPr lang="en-US" baseline="-25000" dirty="0"/>
              <a:t>3</a:t>
            </a:r>
            <a:r>
              <a:rPr lang="en-US" dirty="0"/>
              <a:t> </a:t>
            </a:r>
            <a:r>
              <a:rPr lang="en-US" b="1" dirty="0"/>
              <a:t>else</a:t>
            </a:r>
            <a:r>
              <a:rPr lang="en-US" dirty="0"/>
              <a:t> y := e</a:t>
            </a:r>
            <a:r>
              <a:rPr lang="en-US" baseline="-25000" dirty="0"/>
              <a:t>4</a:t>
            </a:r>
          </a:p>
          <a:p>
            <a:pPr algn="ctr"/>
            <a:r>
              <a:rPr lang="en-US" dirty="0"/>
              <a:t>{ Q }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623C121-0003-234C-A3F1-5E4B2324C236}"/>
              </a:ext>
            </a:extLst>
          </p:cNvPr>
          <p:cNvSpPr txBox="1"/>
          <p:nvPr/>
        </p:nvSpPr>
        <p:spPr>
          <a:xfrm>
            <a:off x="4235117" y="2681960"/>
            <a:ext cx="4728289" cy="107721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dirty="0"/>
              <a:t>1. { P } </a:t>
            </a:r>
            <a:r>
              <a:rPr lang="en-US" sz="1600" b="1" dirty="0"/>
              <a:t>assume</a:t>
            </a:r>
            <a:r>
              <a:rPr lang="en-US" sz="1600" dirty="0"/>
              <a:t> g ; x:=e</a:t>
            </a:r>
            <a:r>
              <a:rPr lang="en-US" sz="1600" baseline="-25000" dirty="0"/>
              <a:t>1</a:t>
            </a:r>
            <a:r>
              <a:rPr lang="en-US" sz="1600" dirty="0"/>
              <a:t> ; </a:t>
            </a:r>
            <a:r>
              <a:rPr lang="en-US" sz="1600" b="1" dirty="0"/>
              <a:t>assume</a:t>
            </a:r>
            <a:r>
              <a:rPr lang="en-US" sz="1600" dirty="0"/>
              <a:t> h ; y := e</a:t>
            </a:r>
            <a:r>
              <a:rPr lang="en-US" sz="1600" baseline="-25000" dirty="0"/>
              <a:t>3</a:t>
            </a:r>
            <a:r>
              <a:rPr lang="en-US" sz="1600" dirty="0"/>
              <a:t>  { Q }</a:t>
            </a:r>
          </a:p>
          <a:p>
            <a:r>
              <a:rPr lang="en-US" sz="1600" dirty="0"/>
              <a:t>2. { P } </a:t>
            </a:r>
            <a:r>
              <a:rPr lang="en-US" sz="1600" b="1" dirty="0"/>
              <a:t>assume</a:t>
            </a:r>
            <a:r>
              <a:rPr lang="en-US" sz="1600" dirty="0"/>
              <a:t> g ; x:=e</a:t>
            </a:r>
            <a:r>
              <a:rPr lang="en-US" sz="1600" baseline="-25000" dirty="0"/>
              <a:t>1</a:t>
            </a:r>
            <a:r>
              <a:rPr lang="en-US" sz="1600" dirty="0"/>
              <a:t> ; </a:t>
            </a:r>
            <a:r>
              <a:rPr lang="en-US" sz="1600" b="1" dirty="0"/>
              <a:t>assume</a:t>
            </a:r>
            <a:r>
              <a:rPr lang="en-US" sz="1600" dirty="0"/>
              <a:t> ¬h ; y := e</a:t>
            </a:r>
            <a:r>
              <a:rPr lang="en-US" sz="1600" baseline="-25000" dirty="0"/>
              <a:t>4</a:t>
            </a:r>
            <a:r>
              <a:rPr lang="en-US" sz="1600" dirty="0"/>
              <a:t>  { Q }</a:t>
            </a:r>
          </a:p>
          <a:p>
            <a:r>
              <a:rPr lang="en-US" sz="1600" dirty="0"/>
              <a:t>3. { P } </a:t>
            </a:r>
            <a:r>
              <a:rPr lang="en-US" sz="1600" b="1" dirty="0"/>
              <a:t>assume</a:t>
            </a:r>
            <a:r>
              <a:rPr lang="en-US" sz="1600" dirty="0"/>
              <a:t> ¬g ; x:=e</a:t>
            </a:r>
            <a:r>
              <a:rPr lang="en-US" sz="1600" baseline="-25000" dirty="0"/>
              <a:t>2</a:t>
            </a:r>
            <a:r>
              <a:rPr lang="en-US" sz="1600" dirty="0"/>
              <a:t> ; </a:t>
            </a:r>
            <a:r>
              <a:rPr lang="en-US" sz="1600" b="1" dirty="0"/>
              <a:t>assume</a:t>
            </a:r>
            <a:r>
              <a:rPr lang="en-US" sz="1600" dirty="0"/>
              <a:t> h ; y := e</a:t>
            </a:r>
            <a:r>
              <a:rPr lang="en-US" sz="1600" baseline="-25000" dirty="0"/>
              <a:t>3</a:t>
            </a:r>
            <a:r>
              <a:rPr lang="en-US" sz="1600" dirty="0"/>
              <a:t>  { Q }</a:t>
            </a:r>
          </a:p>
          <a:p>
            <a:r>
              <a:rPr lang="en-US" sz="1600" dirty="0"/>
              <a:t>4. { P } </a:t>
            </a:r>
            <a:r>
              <a:rPr lang="en-US" sz="1600" b="1" dirty="0"/>
              <a:t>assume</a:t>
            </a:r>
            <a:r>
              <a:rPr lang="en-US" sz="1600" dirty="0"/>
              <a:t> ¬g ; x:=e</a:t>
            </a:r>
            <a:r>
              <a:rPr lang="en-US" sz="1600" baseline="-25000" dirty="0"/>
              <a:t>2</a:t>
            </a:r>
            <a:r>
              <a:rPr lang="en-US" sz="1600" dirty="0"/>
              <a:t> ; </a:t>
            </a:r>
            <a:r>
              <a:rPr lang="en-US" sz="1600" b="1" dirty="0"/>
              <a:t>assume</a:t>
            </a:r>
            <a:r>
              <a:rPr lang="en-US" sz="1600" dirty="0"/>
              <a:t> ¬h ; y := e</a:t>
            </a:r>
            <a:r>
              <a:rPr lang="en-US" sz="1600" baseline="-25000" dirty="0"/>
              <a:t>4</a:t>
            </a:r>
            <a:r>
              <a:rPr lang="en-US" sz="1600" dirty="0"/>
              <a:t>  { Q }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392C204-F905-6041-8D83-E7B5ED9AF846}"/>
              </a:ext>
            </a:extLst>
          </p:cNvPr>
          <p:cNvSpPr txBox="1"/>
          <p:nvPr/>
        </p:nvSpPr>
        <p:spPr>
          <a:xfrm>
            <a:off x="4235117" y="3938764"/>
            <a:ext cx="472828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i="1" dirty="0"/>
              <a:t>Each is reducible to pred. logic formula. We can automate this!</a:t>
            </a:r>
          </a:p>
        </p:txBody>
      </p:sp>
    </p:spTree>
    <p:extLst>
      <p:ext uri="{BB962C8B-B14F-4D97-AF65-F5344CB8AC3E}">
        <p14:creationId xmlns:p14="http://schemas.microsoft.com/office/powerpoint/2010/main" val="169360032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355B06-AA78-E44C-AD4F-2F8418420E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Unfeasible path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EBF33D-AB78-9046-B42E-8AFC3B5D70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8758" y="1267326"/>
            <a:ext cx="8674648" cy="5370583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dirty="0"/>
              <a:t>Consider as an example of program path (recall that the “assumes” came originally from branch-guards) 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A program path can turn out to be </a:t>
            </a:r>
            <a:r>
              <a:rPr lang="en-US" b="1" dirty="0"/>
              <a:t>unfeasible</a:t>
            </a:r>
            <a:r>
              <a:rPr lang="en-US" dirty="0"/>
              <a:t> if no actual execution can trigger it. This happens if one of its branch-guard is unfeasible towards the path pre-condition (P above) :</a:t>
            </a:r>
          </a:p>
          <a:p>
            <a:pPr lvl="1"/>
            <a:r>
              <a:rPr lang="en-US" sz="2400" dirty="0"/>
              <a:t>Condition g above is unfeasible if C</a:t>
            </a:r>
            <a:r>
              <a:rPr lang="en-US" sz="2400" baseline="-25000" dirty="0"/>
              <a:t>1</a:t>
            </a:r>
            <a:r>
              <a:rPr lang="en-US" sz="2400" dirty="0"/>
              <a:t> is </a:t>
            </a:r>
            <a:r>
              <a:rPr lang="en-US" sz="2400" i="1" dirty="0"/>
              <a:t>unsatisfiable</a:t>
            </a:r>
          </a:p>
          <a:p>
            <a:pPr lvl="1"/>
            <a:r>
              <a:rPr lang="en-US" sz="2400" dirty="0"/>
              <a:t>Condition h is unfeasible if C</a:t>
            </a:r>
            <a:r>
              <a:rPr lang="en-US" sz="2400" baseline="-25000" dirty="0"/>
              <a:t>2</a:t>
            </a:r>
            <a:r>
              <a:rPr lang="en-US" sz="2400" dirty="0"/>
              <a:t> in </a:t>
            </a:r>
            <a:r>
              <a:rPr lang="en-US" sz="2400" i="1" dirty="0"/>
              <a:t>unsatisfiable</a:t>
            </a:r>
          </a:p>
          <a:p>
            <a:r>
              <a:rPr lang="en-US" dirty="0"/>
              <a:t>Verifying an unfeasible path is waste of effort, but checking if a path in unfeasible also takes effort (above, you need to check C</a:t>
            </a:r>
            <a:r>
              <a:rPr lang="en-US" baseline="-25000" dirty="0"/>
              <a:t>1</a:t>
            </a:r>
            <a:r>
              <a:rPr lang="en-US" dirty="0"/>
              <a:t> and C</a:t>
            </a:r>
            <a:r>
              <a:rPr lang="en-US" baseline="-25000" dirty="0"/>
              <a:t>2</a:t>
            </a:r>
            <a:r>
              <a:rPr lang="en-US" dirty="0"/>
              <a:t>).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2FC630-EDD2-3347-9F5A-6DE3BF86D4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8A332FB-769C-4CBB-BDDE-0DC26211CC04}" type="slidenum">
              <a:rPr lang="en-US" smtClean="0"/>
              <a:pPr>
                <a:defRPr/>
              </a:pPr>
              <a:t>24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54C4D23-BC25-0D45-B3C4-BD3798157F15}"/>
              </a:ext>
            </a:extLst>
          </p:cNvPr>
          <p:cNvSpPr txBox="1"/>
          <p:nvPr/>
        </p:nvSpPr>
        <p:spPr>
          <a:xfrm>
            <a:off x="1217628" y="2181726"/>
            <a:ext cx="6644576" cy="46166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{ P } </a:t>
            </a:r>
            <a:r>
              <a:rPr lang="en-US" b="1" dirty="0"/>
              <a:t>assume</a:t>
            </a:r>
            <a:r>
              <a:rPr lang="en-US" dirty="0"/>
              <a:t> g ; x:=x+1 ; </a:t>
            </a:r>
            <a:r>
              <a:rPr lang="en-US" b="1" dirty="0"/>
              <a:t>assume</a:t>
            </a:r>
            <a:r>
              <a:rPr lang="en-US" dirty="0"/>
              <a:t> h ; y := x  { y&gt;z }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E18AB4E-50C2-8043-8A44-9B7011C98EC2}"/>
              </a:ext>
            </a:extLst>
          </p:cNvPr>
          <p:cNvSpPr txBox="1"/>
          <p:nvPr/>
        </p:nvSpPr>
        <p:spPr>
          <a:xfrm>
            <a:off x="2277981" y="2969992"/>
            <a:ext cx="1508555" cy="46166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C</a:t>
            </a:r>
            <a:r>
              <a:rPr lang="en-US" baseline="-25000" dirty="0"/>
              <a:t>1</a:t>
            </a:r>
            <a:r>
              <a:rPr lang="en-US" dirty="0"/>
              <a:t> = P /\ g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5D7C613-376E-744D-8768-F1B1285E4AF7}"/>
              </a:ext>
            </a:extLst>
          </p:cNvPr>
          <p:cNvSpPr txBox="1"/>
          <p:nvPr/>
        </p:nvSpPr>
        <p:spPr>
          <a:xfrm>
            <a:off x="4235125" y="2974966"/>
            <a:ext cx="2988126" cy="46166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C</a:t>
            </a:r>
            <a:r>
              <a:rPr lang="en-US" baseline="-25000" dirty="0"/>
              <a:t>2</a:t>
            </a:r>
            <a:r>
              <a:rPr lang="en-US" dirty="0"/>
              <a:t> = P /\ g  /\ h[x+1/x]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9065713C-53C1-5F46-B608-323E7FA082EE}"/>
              </a:ext>
            </a:extLst>
          </p:cNvPr>
          <p:cNvCxnSpPr>
            <a:cxnSpLocks/>
            <a:stCxn id="7" idx="0"/>
          </p:cNvCxnSpPr>
          <p:nvPr/>
        </p:nvCxnSpPr>
        <p:spPr>
          <a:xfrm flipV="1">
            <a:off x="3032259" y="2650343"/>
            <a:ext cx="0" cy="31964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CD5B2806-EA1C-9F46-86D5-7696FBE0AC05}"/>
              </a:ext>
            </a:extLst>
          </p:cNvPr>
          <p:cNvCxnSpPr>
            <a:cxnSpLocks/>
            <a:stCxn id="8" idx="0"/>
          </p:cNvCxnSpPr>
          <p:nvPr/>
        </p:nvCxnSpPr>
        <p:spPr>
          <a:xfrm flipH="1" flipV="1">
            <a:off x="5614737" y="2643391"/>
            <a:ext cx="114451" cy="3315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5377946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4202F8-6B0D-0A4B-AE36-06E816ED12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forward symbolic execution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6FC3F5-28A9-2C45-A06D-6192E2A011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4325" y="1383957"/>
            <a:ext cx="8829675" cy="5253953"/>
          </a:xfrm>
        </p:spPr>
        <p:txBody>
          <a:bodyPr>
            <a:normAutofit/>
          </a:bodyPr>
          <a:lstStyle/>
          <a:p>
            <a:r>
              <a:rPr lang="en-US" b="1" dirty="0"/>
              <a:t>Forward</a:t>
            </a:r>
            <a:r>
              <a:rPr lang="en-US" dirty="0"/>
              <a:t> symbolic execution: executing a program path, using “variables” to symbolically represent all possible inputs.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“</a:t>
            </a:r>
            <a:r>
              <a:rPr lang="en-US" b="1" dirty="0">
                <a:solidFill>
                  <a:srgbClr val="C00000"/>
                </a:solidFill>
              </a:rPr>
              <a:t>x ⟼x</a:t>
            </a:r>
            <a:r>
              <a:rPr lang="en-US" b="1" baseline="-25000" dirty="0">
                <a:solidFill>
                  <a:srgbClr val="C00000"/>
                </a:solidFill>
              </a:rPr>
              <a:t>0</a:t>
            </a:r>
            <a:r>
              <a:rPr lang="en-US" dirty="0"/>
              <a:t>”  means the variable x has the value x</a:t>
            </a:r>
            <a:r>
              <a:rPr lang="en-US" baseline="-25000" dirty="0"/>
              <a:t>0</a:t>
            </a:r>
            <a:r>
              <a:rPr lang="en-US" dirty="0"/>
              <a:t>.</a:t>
            </a:r>
          </a:p>
          <a:p>
            <a:r>
              <a:rPr lang="en-US" dirty="0"/>
              <a:t>x0, y0, z0 : fresh variables representing initial values of </a:t>
            </a:r>
            <a:r>
              <a:rPr lang="en-US" dirty="0" err="1"/>
              <a:t>x,y,z</a:t>
            </a:r>
            <a:r>
              <a:rPr lang="en-US" dirty="0"/>
              <a:t>.</a:t>
            </a:r>
          </a:p>
          <a:p>
            <a:r>
              <a:rPr lang="en-US" dirty="0"/>
              <a:t>“Constraint” is a condition that the symbolic values must satisfy, e.g. because it is imposed by the program’s pre-condition.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FF3C6F-F170-CD41-B0E8-2E89FBCE85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8A332FB-769C-4CBB-BDDE-0DC26211CC04}" type="slidenum">
              <a:rPr lang="en-US" smtClean="0"/>
              <a:pPr>
                <a:defRPr/>
              </a:pPr>
              <a:t>25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BFCC5E8-5B2C-344B-9530-7D8F50B43BF7}"/>
              </a:ext>
            </a:extLst>
          </p:cNvPr>
          <p:cNvSpPr txBox="1"/>
          <p:nvPr/>
        </p:nvSpPr>
        <p:spPr>
          <a:xfrm>
            <a:off x="992278" y="2644170"/>
            <a:ext cx="1372492" cy="1569660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 </a:t>
            </a:r>
            <a:r>
              <a:rPr lang="en-US" b="1" dirty="0">
                <a:solidFill>
                  <a:srgbClr val="286014"/>
                </a:solidFill>
              </a:rPr>
              <a:t>{ x=y }   </a:t>
            </a:r>
          </a:p>
          <a:p>
            <a:pPr algn="ctr"/>
            <a:r>
              <a:rPr lang="en-US" dirty="0"/>
              <a:t>x:=x+2 ; </a:t>
            </a:r>
          </a:p>
          <a:p>
            <a:pPr algn="ctr"/>
            <a:r>
              <a:rPr lang="en-US" dirty="0"/>
              <a:t>z:= x-1 </a:t>
            </a:r>
          </a:p>
          <a:p>
            <a:pPr algn="ctr"/>
            <a:r>
              <a:rPr lang="en-US" b="1" dirty="0">
                <a:solidFill>
                  <a:srgbClr val="7030A0"/>
                </a:solidFill>
              </a:rPr>
              <a:t>{ x&gt;y }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9946B6F-5B0D-2D44-B3B9-7E1654F515CD}"/>
              </a:ext>
            </a:extLst>
          </p:cNvPr>
          <p:cNvSpPr txBox="1"/>
          <p:nvPr/>
        </p:nvSpPr>
        <p:spPr>
          <a:xfrm>
            <a:off x="3670288" y="2459504"/>
            <a:ext cx="5159387" cy="1938992"/>
          </a:xfrm>
          <a:prstGeom prst="rect">
            <a:avLst/>
          </a:prstGeom>
          <a:noFill/>
          <a:ln>
            <a:solidFill>
              <a:srgbClr val="A5002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We maintain a “symbolic” state. Initially</a:t>
            </a:r>
          </a:p>
          <a:p>
            <a:r>
              <a:rPr lang="en-US" dirty="0"/>
              <a:t> </a:t>
            </a:r>
            <a:r>
              <a:rPr lang="en-US" b="1" dirty="0">
                <a:solidFill>
                  <a:srgbClr val="C00000"/>
                </a:solidFill>
              </a:rPr>
              <a:t>x ⟼x</a:t>
            </a:r>
            <a:r>
              <a:rPr lang="en-US" b="1" baseline="-25000" dirty="0">
                <a:solidFill>
                  <a:srgbClr val="C00000"/>
                </a:solidFill>
              </a:rPr>
              <a:t>0</a:t>
            </a:r>
            <a:r>
              <a:rPr lang="en-US" b="1" dirty="0">
                <a:solidFill>
                  <a:srgbClr val="C00000"/>
                </a:solidFill>
              </a:rPr>
              <a:t> </a:t>
            </a:r>
          </a:p>
          <a:p>
            <a:r>
              <a:rPr lang="en-US" b="1" dirty="0">
                <a:solidFill>
                  <a:srgbClr val="C00000"/>
                </a:solidFill>
              </a:rPr>
              <a:t> y ⟼ y</a:t>
            </a:r>
            <a:r>
              <a:rPr lang="en-US" b="1" baseline="-25000" dirty="0">
                <a:solidFill>
                  <a:srgbClr val="C00000"/>
                </a:solidFill>
              </a:rPr>
              <a:t>0</a:t>
            </a:r>
            <a:r>
              <a:rPr lang="en-US" b="1" dirty="0">
                <a:solidFill>
                  <a:srgbClr val="C00000"/>
                </a:solidFill>
              </a:rPr>
              <a:t>  </a:t>
            </a:r>
          </a:p>
          <a:p>
            <a:r>
              <a:rPr lang="en-US" b="1" dirty="0">
                <a:solidFill>
                  <a:srgbClr val="C00000"/>
                </a:solidFill>
              </a:rPr>
              <a:t> z ⟼ z</a:t>
            </a:r>
            <a:r>
              <a:rPr lang="en-US" b="1" baseline="-25000" dirty="0">
                <a:solidFill>
                  <a:srgbClr val="C00000"/>
                </a:solidFill>
              </a:rPr>
              <a:t>0</a:t>
            </a:r>
            <a:r>
              <a:rPr lang="en-US" b="1" dirty="0">
                <a:solidFill>
                  <a:srgbClr val="C00000"/>
                </a:solidFill>
              </a:rPr>
              <a:t> </a:t>
            </a:r>
            <a:br>
              <a:rPr lang="en-US" b="1" dirty="0">
                <a:solidFill>
                  <a:srgbClr val="C00000"/>
                </a:solidFill>
              </a:rPr>
            </a:br>
            <a:r>
              <a:rPr lang="en-US" b="1" dirty="0">
                <a:solidFill>
                  <a:srgbClr val="C00000"/>
                </a:solidFill>
              </a:rPr>
              <a:t>Constraint:   x</a:t>
            </a:r>
            <a:r>
              <a:rPr lang="en-US" b="1" baseline="-25000" dirty="0">
                <a:solidFill>
                  <a:srgbClr val="C00000"/>
                </a:solidFill>
              </a:rPr>
              <a:t>0</a:t>
            </a:r>
            <a:r>
              <a:rPr lang="en-US" b="1" dirty="0">
                <a:solidFill>
                  <a:srgbClr val="C00000"/>
                </a:solidFill>
              </a:rPr>
              <a:t>=y</a:t>
            </a:r>
            <a:r>
              <a:rPr lang="en-US" b="1" baseline="-25000" dirty="0">
                <a:solidFill>
                  <a:srgbClr val="C00000"/>
                </a:solidFill>
              </a:rPr>
              <a:t>0 </a:t>
            </a:r>
            <a:r>
              <a:rPr lang="en-US" b="1" dirty="0">
                <a:solidFill>
                  <a:srgbClr val="C00000"/>
                </a:solidFill>
              </a:rPr>
              <a:t>  </a:t>
            </a:r>
          </a:p>
        </p:txBody>
      </p:sp>
      <p:sp>
        <p:nvSpPr>
          <p:cNvPr id="7" name="Right Arrow 6">
            <a:extLst>
              <a:ext uri="{FF2B5EF4-FFF2-40B4-BE49-F238E27FC236}">
                <a16:creationId xmlns:a16="http://schemas.microsoft.com/office/drawing/2014/main" id="{DCC58158-C08C-BE4E-9D8D-FB51245396CF}"/>
              </a:ext>
            </a:extLst>
          </p:cNvPr>
          <p:cNvSpPr/>
          <p:nvPr/>
        </p:nvSpPr>
        <p:spPr>
          <a:xfrm>
            <a:off x="2484891" y="2644170"/>
            <a:ext cx="1125855" cy="590363"/>
          </a:xfrm>
          <a:prstGeom prst="rightArrow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80F9D27-B37C-CA41-A5DA-458AEF6C1044}"/>
              </a:ext>
            </a:extLst>
          </p:cNvPr>
          <p:cNvSpPr txBox="1"/>
          <p:nvPr/>
        </p:nvSpPr>
        <p:spPr>
          <a:xfrm>
            <a:off x="456659" y="2644170"/>
            <a:ext cx="415498" cy="156966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 0</a:t>
            </a:r>
          </a:p>
          <a:p>
            <a:pPr algn="ctr"/>
            <a:r>
              <a:rPr lang="en-US" b="1" dirty="0">
                <a:solidFill>
                  <a:srgbClr val="7030A0"/>
                </a:solidFill>
              </a:rPr>
              <a:t>1</a:t>
            </a:r>
          </a:p>
          <a:p>
            <a:pPr algn="ctr"/>
            <a:r>
              <a:rPr lang="en-US" b="1" dirty="0">
                <a:solidFill>
                  <a:srgbClr val="7030A0"/>
                </a:solidFill>
              </a:rPr>
              <a:t>2</a:t>
            </a:r>
          </a:p>
          <a:p>
            <a:pPr algn="ctr"/>
            <a:r>
              <a:rPr lang="en-US" b="1" dirty="0">
                <a:solidFill>
                  <a:srgbClr val="7030A0"/>
                </a:solidFill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6450075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allAtOnce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4202F8-6B0D-0A4B-AE36-06E816ED12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forward symbolic execution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6FC3F5-28A9-2C45-A06D-6192E2A011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9828" y="1383957"/>
            <a:ext cx="8544344" cy="5253953"/>
          </a:xfrm>
        </p:spPr>
        <p:txBody>
          <a:bodyPr>
            <a:normAutofit/>
          </a:bodyPr>
          <a:lstStyle/>
          <a:p>
            <a:r>
              <a:rPr lang="en-US" b="1" dirty="0"/>
              <a:t>Forward</a:t>
            </a:r>
            <a:r>
              <a:rPr lang="en-US" dirty="0"/>
              <a:t> symbolic execution: we execute a program, taking a formula as its input 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The Hoare triple on the left is valid if and only if the final symbolic state implies the post-condition. That is, if this is valid:</a:t>
            </a:r>
            <a:br>
              <a:rPr lang="en-US" dirty="0"/>
            </a:br>
            <a:br>
              <a:rPr lang="en-US" dirty="0"/>
            </a:br>
            <a:r>
              <a:rPr lang="en-US" dirty="0"/>
              <a:t>	</a:t>
            </a:r>
            <a:r>
              <a:rPr lang="en-US" b="1" dirty="0">
                <a:solidFill>
                  <a:srgbClr val="C00000"/>
                </a:solidFill>
              </a:rPr>
              <a:t>x=x</a:t>
            </a:r>
            <a:r>
              <a:rPr lang="en-US" b="1" baseline="-25000" dirty="0">
                <a:solidFill>
                  <a:srgbClr val="C00000"/>
                </a:solidFill>
              </a:rPr>
              <a:t>0</a:t>
            </a:r>
            <a:r>
              <a:rPr lang="en-US" b="1" dirty="0">
                <a:solidFill>
                  <a:srgbClr val="C00000"/>
                </a:solidFill>
              </a:rPr>
              <a:t>+2  ∧  y=y</a:t>
            </a:r>
            <a:r>
              <a:rPr lang="en-US" b="1" baseline="-25000" dirty="0">
                <a:solidFill>
                  <a:srgbClr val="C00000"/>
                </a:solidFill>
              </a:rPr>
              <a:t>0</a:t>
            </a:r>
            <a:r>
              <a:rPr lang="en-US" b="1" dirty="0">
                <a:solidFill>
                  <a:srgbClr val="C00000"/>
                </a:solidFill>
              </a:rPr>
              <a:t> ∧ z=x</a:t>
            </a:r>
            <a:r>
              <a:rPr lang="en-US" b="1" baseline="-25000" dirty="0">
                <a:solidFill>
                  <a:srgbClr val="C00000"/>
                </a:solidFill>
              </a:rPr>
              <a:t>0</a:t>
            </a:r>
            <a:r>
              <a:rPr lang="en-US" b="1" dirty="0">
                <a:solidFill>
                  <a:srgbClr val="C00000"/>
                </a:solidFill>
              </a:rPr>
              <a:t>+2-1 ∧  x</a:t>
            </a:r>
            <a:r>
              <a:rPr lang="en-US" b="1" baseline="-25000" dirty="0">
                <a:solidFill>
                  <a:srgbClr val="C00000"/>
                </a:solidFill>
              </a:rPr>
              <a:t>0</a:t>
            </a:r>
            <a:r>
              <a:rPr lang="en-US" b="1" dirty="0">
                <a:solidFill>
                  <a:srgbClr val="C00000"/>
                </a:solidFill>
              </a:rPr>
              <a:t>=y</a:t>
            </a:r>
            <a:r>
              <a:rPr lang="en-US" b="1" baseline="-25000" dirty="0">
                <a:solidFill>
                  <a:srgbClr val="C00000"/>
                </a:solidFill>
              </a:rPr>
              <a:t>0     </a:t>
            </a:r>
            <a:r>
              <a:rPr lang="en-US" b="1" dirty="0">
                <a:solidFill>
                  <a:srgbClr val="C00000"/>
                </a:solidFill>
              </a:rPr>
              <a:t>⟹    x&gt;y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FF3C6F-F170-CD41-B0E8-2E89FBCE85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8A332FB-769C-4CBB-BDDE-0DC26211CC04}" type="slidenum">
              <a:rPr lang="en-US" smtClean="0"/>
              <a:pPr>
                <a:defRPr/>
              </a:pPr>
              <a:t>26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BFCC5E8-5B2C-344B-9530-7D8F50B43BF7}"/>
              </a:ext>
            </a:extLst>
          </p:cNvPr>
          <p:cNvSpPr txBox="1"/>
          <p:nvPr/>
        </p:nvSpPr>
        <p:spPr>
          <a:xfrm>
            <a:off x="1335184" y="2644170"/>
            <a:ext cx="1372492" cy="1569660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 </a:t>
            </a:r>
            <a:r>
              <a:rPr lang="en-US" b="1" dirty="0">
                <a:solidFill>
                  <a:srgbClr val="286014"/>
                </a:solidFill>
              </a:rPr>
              <a:t>{ x=y }   </a:t>
            </a:r>
          </a:p>
          <a:p>
            <a:pPr algn="ctr"/>
            <a:r>
              <a:rPr lang="en-US" dirty="0"/>
              <a:t>x:=x+2 ; </a:t>
            </a:r>
          </a:p>
          <a:p>
            <a:pPr algn="ctr"/>
            <a:r>
              <a:rPr lang="en-US" dirty="0"/>
              <a:t>z:= x-1 </a:t>
            </a:r>
          </a:p>
          <a:p>
            <a:pPr algn="ctr"/>
            <a:r>
              <a:rPr lang="en-US" b="1" dirty="0">
                <a:solidFill>
                  <a:srgbClr val="7030A0"/>
                </a:solidFill>
              </a:rPr>
              <a:t>{ x&gt;y }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9946B6F-5B0D-2D44-B3B9-7E1654F515CD}"/>
              </a:ext>
            </a:extLst>
          </p:cNvPr>
          <p:cNvSpPr txBox="1"/>
          <p:nvPr/>
        </p:nvSpPr>
        <p:spPr>
          <a:xfrm>
            <a:off x="3660300" y="2413337"/>
            <a:ext cx="4775666" cy="461665"/>
          </a:xfrm>
          <a:prstGeom prst="rect">
            <a:avLst/>
          </a:prstGeom>
          <a:noFill/>
          <a:ln>
            <a:solidFill>
              <a:srgbClr val="A5002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(0) (</a:t>
            </a:r>
            <a:r>
              <a:rPr lang="en-US" b="1" dirty="0">
                <a:solidFill>
                  <a:srgbClr val="C00000"/>
                </a:solidFill>
              </a:rPr>
              <a:t>x⟼x</a:t>
            </a:r>
            <a:r>
              <a:rPr lang="en-US" b="1" baseline="-25000" dirty="0">
                <a:solidFill>
                  <a:srgbClr val="C00000"/>
                </a:solidFill>
              </a:rPr>
              <a:t>0</a:t>
            </a:r>
            <a:r>
              <a:rPr lang="en-US" b="1" dirty="0">
                <a:solidFill>
                  <a:srgbClr val="C00000"/>
                </a:solidFill>
              </a:rPr>
              <a:t> , y⟼y</a:t>
            </a:r>
            <a:r>
              <a:rPr lang="en-US" b="1" baseline="-25000" dirty="0">
                <a:solidFill>
                  <a:srgbClr val="C00000"/>
                </a:solidFill>
              </a:rPr>
              <a:t>0</a:t>
            </a:r>
            <a:r>
              <a:rPr lang="en-US" b="1" dirty="0">
                <a:solidFill>
                  <a:srgbClr val="C00000"/>
                </a:solidFill>
              </a:rPr>
              <a:t> , z⟼z</a:t>
            </a:r>
            <a:r>
              <a:rPr lang="en-US" b="1" baseline="-25000" dirty="0">
                <a:solidFill>
                  <a:srgbClr val="C00000"/>
                </a:solidFill>
              </a:rPr>
              <a:t>0</a:t>
            </a:r>
            <a:r>
              <a:rPr lang="en-US" b="1" dirty="0">
                <a:solidFill>
                  <a:srgbClr val="C00000"/>
                </a:solidFill>
              </a:rPr>
              <a:t> ,  x</a:t>
            </a:r>
            <a:r>
              <a:rPr lang="en-US" b="1" baseline="-25000" dirty="0">
                <a:solidFill>
                  <a:srgbClr val="C00000"/>
                </a:solidFill>
              </a:rPr>
              <a:t>0</a:t>
            </a:r>
            <a:r>
              <a:rPr lang="en-US" b="1" dirty="0">
                <a:solidFill>
                  <a:srgbClr val="C00000"/>
                </a:solidFill>
              </a:rPr>
              <a:t>=y</a:t>
            </a:r>
            <a:r>
              <a:rPr lang="en-US" b="1" baseline="-25000" dirty="0">
                <a:solidFill>
                  <a:srgbClr val="C00000"/>
                </a:solidFill>
              </a:rPr>
              <a:t>0 </a:t>
            </a:r>
            <a:r>
              <a:rPr lang="en-US" b="1" dirty="0">
                <a:solidFill>
                  <a:srgbClr val="C00000"/>
                </a:solidFill>
              </a:rPr>
              <a:t>) </a:t>
            </a:r>
          </a:p>
        </p:txBody>
      </p:sp>
      <p:sp>
        <p:nvSpPr>
          <p:cNvPr id="7" name="Right Arrow 6">
            <a:extLst>
              <a:ext uri="{FF2B5EF4-FFF2-40B4-BE49-F238E27FC236}">
                <a16:creationId xmlns:a16="http://schemas.microsoft.com/office/drawing/2014/main" id="{DCC58158-C08C-BE4E-9D8D-FB51245396CF}"/>
              </a:ext>
            </a:extLst>
          </p:cNvPr>
          <p:cNvSpPr/>
          <p:nvPr/>
        </p:nvSpPr>
        <p:spPr>
          <a:xfrm>
            <a:off x="2735317" y="3133818"/>
            <a:ext cx="707536" cy="590363"/>
          </a:xfrm>
          <a:prstGeom prst="rightArrow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80F9D27-B37C-CA41-A5DA-458AEF6C1044}"/>
              </a:ext>
            </a:extLst>
          </p:cNvPr>
          <p:cNvSpPr txBox="1"/>
          <p:nvPr/>
        </p:nvSpPr>
        <p:spPr>
          <a:xfrm>
            <a:off x="456659" y="2644170"/>
            <a:ext cx="415498" cy="156966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 0</a:t>
            </a:r>
          </a:p>
          <a:p>
            <a:pPr algn="ctr"/>
            <a:r>
              <a:rPr lang="en-US" b="1" dirty="0">
                <a:solidFill>
                  <a:srgbClr val="7030A0"/>
                </a:solidFill>
              </a:rPr>
              <a:t>1</a:t>
            </a:r>
          </a:p>
          <a:p>
            <a:pPr algn="ctr"/>
            <a:r>
              <a:rPr lang="en-US" b="1" dirty="0">
                <a:solidFill>
                  <a:srgbClr val="7030A0"/>
                </a:solidFill>
              </a:rPr>
              <a:t>2</a:t>
            </a:r>
          </a:p>
          <a:p>
            <a:pPr algn="ctr"/>
            <a:r>
              <a:rPr lang="en-US" b="1" dirty="0">
                <a:solidFill>
                  <a:srgbClr val="7030A0"/>
                </a:solidFill>
              </a:rPr>
              <a:t>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364834C-D243-024D-A75E-DDBF4D25D939}"/>
              </a:ext>
            </a:extLst>
          </p:cNvPr>
          <p:cNvSpPr txBox="1"/>
          <p:nvPr/>
        </p:nvSpPr>
        <p:spPr>
          <a:xfrm>
            <a:off x="3660300" y="2962537"/>
            <a:ext cx="4966424" cy="461665"/>
          </a:xfrm>
          <a:prstGeom prst="rect">
            <a:avLst/>
          </a:prstGeom>
          <a:noFill/>
          <a:ln>
            <a:solidFill>
              <a:srgbClr val="A5002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(1) </a:t>
            </a:r>
            <a:r>
              <a:rPr lang="en-US" dirty="0">
                <a:solidFill>
                  <a:srgbClr val="C00000"/>
                </a:solidFill>
              </a:rPr>
              <a:t>(</a:t>
            </a:r>
            <a:r>
              <a:rPr lang="en-US" b="1" dirty="0">
                <a:solidFill>
                  <a:srgbClr val="C00000"/>
                </a:solidFill>
                <a:highlight>
                  <a:srgbClr val="FFFF00"/>
                </a:highlight>
              </a:rPr>
              <a:t>x⟼x</a:t>
            </a:r>
            <a:r>
              <a:rPr lang="en-US" b="1" baseline="-25000" dirty="0">
                <a:solidFill>
                  <a:srgbClr val="C00000"/>
                </a:solidFill>
                <a:highlight>
                  <a:srgbClr val="FFFF00"/>
                </a:highlight>
              </a:rPr>
              <a:t>0</a:t>
            </a:r>
            <a:r>
              <a:rPr lang="en-US" b="1" dirty="0">
                <a:solidFill>
                  <a:srgbClr val="C00000"/>
                </a:solidFill>
                <a:highlight>
                  <a:srgbClr val="FFFF00"/>
                </a:highlight>
              </a:rPr>
              <a:t>+2 ,</a:t>
            </a:r>
            <a:r>
              <a:rPr lang="en-US" b="1" dirty="0">
                <a:solidFill>
                  <a:srgbClr val="C00000"/>
                </a:solidFill>
              </a:rPr>
              <a:t> y⟼y</a:t>
            </a:r>
            <a:r>
              <a:rPr lang="en-US" b="1" baseline="-25000" dirty="0">
                <a:solidFill>
                  <a:srgbClr val="C00000"/>
                </a:solidFill>
              </a:rPr>
              <a:t>0</a:t>
            </a:r>
            <a:r>
              <a:rPr lang="en-US" b="1" dirty="0">
                <a:solidFill>
                  <a:srgbClr val="C00000"/>
                </a:solidFill>
              </a:rPr>
              <a:t> , z⟼z</a:t>
            </a:r>
            <a:r>
              <a:rPr lang="en-US" b="1" baseline="-25000" dirty="0">
                <a:solidFill>
                  <a:srgbClr val="C00000"/>
                </a:solidFill>
              </a:rPr>
              <a:t>0</a:t>
            </a:r>
            <a:r>
              <a:rPr lang="en-US" b="1" dirty="0">
                <a:solidFill>
                  <a:srgbClr val="C00000"/>
                </a:solidFill>
              </a:rPr>
              <a:t> ,  x</a:t>
            </a:r>
            <a:r>
              <a:rPr lang="en-US" b="1" baseline="-25000" dirty="0">
                <a:solidFill>
                  <a:srgbClr val="C00000"/>
                </a:solidFill>
              </a:rPr>
              <a:t>0</a:t>
            </a:r>
            <a:r>
              <a:rPr lang="en-US" b="1" dirty="0">
                <a:solidFill>
                  <a:srgbClr val="C00000"/>
                </a:solidFill>
              </a:rPr>
              <a:t>=y</a:t>
            </a:r>
            <a:r>
              <a:rPr lang="en-US" b="1" baseline="-25000" dirty="0">
                <a:solidFill>
                  <a:srgbClr val="C00000"/>
                </a:solidFill>
              </a:rPr>
              <a:t>0 </a:t>
            </a:r>
            <a:r>
              <a:rPr lang="en-US" b="1" dirty="0">
                <a:solidFill>
                  <a:srgbClr val="C00000"/>
                </a:solidFill>
              </a:rPr>
              <a:t>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F409D2C-DAC9-DE4F-9475-6A2737C289D6}"/>
              </a:ext>
            </a:extLst>
          </p:cNvPr>
          <p:cNvSpPr txBox="1"/>
          <p:nvPr/>
        </p:nvSpPr>
        <p:spPr>
          <a:xfrm>
            <a:off x="3660300" y="3493348"/>
            <a:ext cx="5416868" cy="461665"/>
          </a:xfrm>
          <a:prstGeom prst="rect">
            <a:avLst/>
          </a:prstGeom>
          <a:noFill/>
          <a:ln>
            <a:solidFill>
              <a:srgbClr val="A5002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(2) (</a:t>
            </a:r>
            <a:r>
              <a:rPr lang="en-US" b="1" dirty="0">
                <a:solidFill>
                  <a:srgbClr val="C00000"/>
                </a:solidFill>
              </a:rPr>
              <a:t>x⟼x</a:t>
            </a:r>
            <a:r>
              <a:rPr lang="en-US" b="1" baseline="-25000" dirty="0">
                <a:solidFill>
                  <a:srgbClr val="C00000"/>
                </a:solidFill>
              </a:rPr>
              <a:t>0</a:t>
            </a:r>
            <a:r>
              <a:rPr lang="en-US" b="1" dirty="0">
                <a:solidFill>
                  <a:srgbClr val="C00000"/>
                </a:solidFill>
              </a:rPr>
              <a:t>+2, y⟼y</a:t>
            </a:r>
            <a:r>
              <a:rPr lang="en-US" b="1" baseline="-25000" dirty="0">
                <a:solidFill>
                  <a:srgbClr val="C00000"/>
                </a:solidFill>
              </a:rPr>
              <a:t>0</a:t>
            </a:r>
            <a:r>
              <a:rPr lang="en-US" b="1" dirty="0">
                <a:solidFill>
                  <a:srgbClr val="C00000"/>
                </a:solidFill>
              </a:rPr>
              <a:t>, </a:t>
            </a:r>
            <a:r>
              <a:rPr lang="en-US" b="1" dirty="0">
                <a:solidFill>
                  <a:srgbClr val="C00000"/>
                </a:solidFill>
                <a:highlight>
                  <a:srgbClr val="FFFF00"/>
                </a:highlight>
              </a:rPr>
              <a:t>z⟼x</a:t>
            </a:r>
            <a:r>
              <a:rPr lang="en-US" b="1" baseline="-25000" dirty="0">
                <a:solidFill>
                  <a:srgbClr val="C00000"/>
                </a:solidFill>
                <a:highlight>
                  <a:srgbClr val="FFFF00"/>
                </a:highlight>
              </a:rPr>
              <a:t>0</a:t>
            </a:r>
            <a:r>
              <a:rPr lang="en-US" b="1" dirty="0">
                <a:solidFill>
                  <a:srgbClr val="C00000"/>
                </a:solidFill>
                <a:highlight>
                  <a:srgbClr val="FFFF00"/>
                </a:highlight>
              </a:rPr>
              <a:t>+2-1  ,</a:t>
            </a:r>
            <a:r>
              <a:rPr lang="en-US" b="1" dirty="0">
                <a:solidFill>
                  <a:srgbClr val="C00000"/>
                </a:solidFill>
              </a:rPr>
              <a:t> x</a:t>
            </a:r>
            <a:r>
              <a:rPr lang="en-US" b="1" baseline="-25000" dirty="0">
                <a:solidFill>
                  <a:srgbClr val="C00000"/>
                </a:solidFill>
              </a:rPr>
              <a:t>0</a:t>
            </a:r>
            <a:r>
              <a:rPr lang="en-US" b="1" dirty="0">
                <a:solidFill>
                  <a:srgbClr val="C00000"/>
                </a:solidFill>
              </a:rPr>
              <a:t>=y</a:t>
            </a:r>
            <a:r>
              <a:rPr lang="en-US" b="1" baseline="-25000" dirty="0">
                <a:solidFill>
                  <a:srgbClr val="C00000"/>
                </a:solidFill>
              </a:rPr>
              <a:t>0  </a:t>
            </a:r>
            <a:r>
              <a:rPr lang="en-US" b="1" dirty="0">
                <a:solidFill>
                  <a:srgbClr val="C00000"/>
                </a:solidFill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2663411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allAtOnce" animBg="1"/>
      <p:bldP spid="13" grpId="0" build="allAtOnce" animBg="1"/>
      <p:bldP spid="14" grpId="0" build="allAtOnce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4202F8-6B0D-0A4B-AE36-06E816ED12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forward symbolic execution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6FC3F5-28A9-2C45-A06D-6192E2A011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9828" y="1383957"/>
            <a:ext cx="8544344" cy="5253953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More generally a symbolic state consist of a pair (s,C) where C is a constrain and s is a mapping   </a:t>
            </a:r>
            <a:r>
              <a:rPr lang="en-US" b="1" dirty="0">
                <a:solidFill>
                  <a:srgbClr val="C00000"/>
                </a:solidFill>
              </a:rPr>
              <a:t>x ⟼ e </a:t>
            </a:r>
            <a:r>
              <a:rPr lang="en-US" dirty="0"/>
              <a:t>that maps every program variable to its symbolic value (which can be an expression e.g. 𝛼+1). To keep it simple, we won’t keep track of a stack (needed if you have recursive calls).</a:t>
            </a:r>
          </a:p>
          <a:p>
            <a:r>
              <a:rPr lang="en-US" dirty="0"/>
              <a:t>Initially the symbolic state is </a:t>
            </a:r>
            <a:r>
              <a:rPr lang="en-US" dirty="0">
                <a:solidFill>
                  <a:schemeClr val="accent1"/>
                </a:solidFill>
              </a:rPr>
              <a:t>(</a:t>
            </a:r>
            <a:r>
              <a:rPr lang="en-US" b="1" dirty="0">
                <a:solidFill>
                  <a:schemeClr val="accent1"/>
                </a:solidFill>
              </a:rPr>
              <a:t>[x</a:t>
            </a:r>
            <a:r>
              <a:rPr lang="en-US" b="1" baseline="-25000" dirty="0">
                <a:solidFill>
                  <a:schemeClr val="accent1"/>
                </a:solidFill>
              </a:rPr>
              <a:t>1</a:t>
            </a:r>
            <a:r>
              <a:rPr lang="en-US" b="1" dirty="0">
                <a:solidFill>
                  <a:schemeClr val="accent1"/>
                </a:solidFill>
              </a:rPr>
              <a:t> ⟼ 𝛼</a:t>
            </a:r>
            <a:r>
              <a:rPr lang="en-US" b="1" baseline="-25000" dirty="0">
                <a:solidFill>
                  <a:schemeClr val="accent1"/>
                </a:solidFill>
              </a:rPr>
              <a:t>1</a:t>
            </a:r>
            <a:r>
              <a:rPr lang="en-US" b="1" dirty="0">
                <a:solidFill>
                  <a:schemeClr val="accent1"/>
                </a:solidFill>
              </a:rPr>
              <a:t> , x</a:t>
            </a:r>
            <a:r>
              <a:rPr lang="en-US" b="1" baseline="-25000" dirty="0">
                <a:solidFill>
                  <a:schemeClr val="accent1"/>
                </a:solidFill>
              </a:rPr>
              <a:t>2</a:t>
            </a:r>
            <a:r>
              <a:rPr lang="en-US" b="1" dirty="0">
                <a:solidFill>
                  <a:schemeClr val="accent1"/>
                </a:solidFill>
              </a:rPr>
              <a:t> ⟼ 𝛼</a:t>
            </a:r>
            <a:r>
              <a:rPr lang="en-US" b="1" baseline="-25000" dirty="0">
                <a:solidFill>
                  <a:schemeClr val="accent1"/>
                </a:solidFill>
              </a:rPr>
              <a:t>2</a:t>
            </a:r>
            <a:r>
              <a:rPr lang="en-US" b="1" dirty="0">
                <a:solidFill>
                  <a:schemeClr val="accent1"/>
                </a:solidFill>
              </a:rPr>
              <a:t> , ... ] , </a:t>
            </a:r>
            <a:r>
              <a:rPr lang="en-US" i="1" dirty="0">
                <a:solidFill>
                  <a:schemeClr val="accent1"/>
                </a:solidFill>
              </a:rPr>
              <a:t>true</a:t>
            </a:r>
            <a:r>
              <a:rPr lang="en-US" b="1" dirty="0">
                <a:solidFill>
                  <a:schemeClr val="accent1"/>
                </a:solidFill>
              </a:rPr>
              <a:t>) </a:t>
            </a:r>
            <a:r>
              <a:rPr lang="en-US" dirty="0"/>
              <a:t>where 𝛼</a:t>
            </a:r>
            <a:r>
              <a:rPr lang="en-US" baseline="-25000" dirty="0"/>
              <a:t>k</a:t>
            </a:r>
            <a:r>
              <a:rPr lang="en-US" dirty="0"/>
              <a:t> is a fresh variable representing an arbitrary initial value of</a:t>
            </a:r>
            <a:r>
              <a:rPr lang="en-US" baseline="-25000" dirty="0"/>
              <a:t>   </a:t>
            </a:r>
            <a:r>
              <a:rPr lang="en-US" dirty="0"/>
              <a:t>x</a:t>
            </a:r>
            <a:r>
              <a:rPr lang="en-US" baseline="-25000" dirty="0"/>
              <a:t>k</a:t>
            </a:r>
            <a:r>
              <a:rPr lang="en-US" dirty="0"/>
              <a:t> .</a:t>
            </a:r>
          </a:p>
          <a:p>
            <a:r>
              <a:rPr lang="en-US" dirty="0"/>
              <a:t>Convert the starting pre-condition P to an stmt </a:t>
            </a:r>
            <a:r>
              <a:rPr lang="en-US" b="1" dirty="0"/>
              <a:t>assume</a:t>
            </a:r>
            <a:r>
              <a:rPr lang="en-US" dirty="0"/>
              <a:t> P.</a:t>
            </a:r>
          </a:p>
          <a:p>
            <a:r>
              <a:rPr lang="en-US" dirty="0"/>
              <a:t>Given a program path 𝜌 (sequence of instructions), and an initial symbolic state (s,C), to symbolically execute 𝜌 we simply execute the instructions in 𝜌 in the order as they appear, passing on the new symbolic state after an instruction 𝜌</a:t>
            </a:r>
            <a:r>
              <a:rPr lang="en-US" baseline="-25000" dirty="0"/>
              <a:t>k</a:t>
            </a:r>
            <a:r>
              <a:rPr lang="en-US" dirty="0"/>
              <a:t> to the execution of the instruction 𝜌</a:t>
            </a:r>
            <a:r>
              <a:rPr lang="en-US" baseline="-25000" dirty="0"/>
              <a:t>k+1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FF3C6F-F170-CD41-B0E8-2E89FBCE85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8A332FB-769C-4CBB-BDDE-0DC26211CC04}" type="slidenum">
              <a:rPr lang="en-US" smtClean="0"/>
              <a:pPr>
                <a:defRPr/>
              </a:pPr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331702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4202F8-6B0D-0A4B-AE36-06E816ED12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forward symbolic execution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6FC3F5-28A9-2C45-A06D-6192E2A011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9828" y="1383957"/>
            <a:ext cx="8544344" cy="5253953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b="1" dirty="0" err="1">
                <a:ea typeface="Calibri"/>
                <a:cs typeface="Calibri"/>
              </a:rPr>
              <a:t>symexec</a:t>
            </a:r>
            <a:r>
              <a:rPr lang="en-US" dirty="0">
                <a:ea typeface="Calibri"/>
                <a:cs typeface="Calibri"/>
              </a:rPr>
              <a:t>(</a:t>
            </a:r>
            <a:r>
              <a:rPr lang="en-US" dirty="0" err="1">
                <a:ea typeface="Calibri"/>
                <a:cs typeface="Calibri"/>
              </a:rPr>
              <a:t>stmt</a:t>
            </a:r>
            <a:r>
              <a:rPr lang="en-US" dirty="0">
                <a:ea typeface="Calibri"/>
                <a:cs typeface="Calibri"/>
              </a:rPr>
              <a:t>,(</a:t>
            </a:r>
            <a:r>
              <a:rPr lang="en-US" dirty="0" err="1">
                <a:ea typeface="Calibri"/>
                <a:cs typeface="Calibri"/>
              </a:rPr>
              <a:t>s,C</a:t>
            </a:r>
            <a:r>
              <a:rPr lang="en-US" dirty="0">
                <a:ea typeface="Calibri"/>
                <a:cs typeface="Calibri"/>
              </a:rPr>
              <a:t>)) : symbolically executing </a:t>
            </a:r>
            <a:r>
              <a:rPr lang="en-US" dirty="0" err="1">
                <a:ea typeface="Calibri"/>
                <a:cs typeface="Calibri"/>
              </a:rPr>
              <a:t>stmt</a:t>
            </a:r>
            <a:r>
              <a:rPr lang="en-US" dirty="0">
                <a:ea typeface="Calibri"/>
                <a:cs typeface="Calibri"/>
              </a:rPr>
              <a:t> on the symbolic state (</a:t>
            </a:r>
            <a:r>
              <a:rPr lang="en-US" dirty="0" err="1">
                <a:ea typeface="Calibri"/>
                <a:cs typeface="Calibri"/>
              </a:rPr>
              <a:t>s,C</a:t>
            </a:r>
            <a:r>
              <a:rPr lang="en-US" dirty="0">
                <a:ea typeface="Calibri"/>
                <a:cs typeface="Calibri"/>
              </a:rPr>
              <a:t>), resulting in a new symbolic state.</a:t>
            </a:r>
            <a:endParaRPr lang="en-US" dirty="0"/>
          </a:p>
          <a:p>
            <a:pPr>
              <a:buClr>
                <a:srgbClr val="B53513"/>
              </a:buClr>
            </a:pPr>
            <a:r>
              <a:rPr lang="en-US" b="1" dirty="0" err="1">
                <a:ea typeface="+mn-lt"/>
                <a:cs typeface="+mn-lt"/>
              </a:rPr>
              <a:t>symexec</a:t>
            </a:r>
            <a:r>
              <a:rPr lang="en-US" b="1" dirty="0">
                <a:ea typeface="+mn-lt"/>
                <a:cs typeface="+mn-lt"/>
              </a:rPr>
              <a:t>(</a:t>
            </a:r>
            <a:r>
              <a:rPr lang="en-US" b="1" dirty="0">
                <a:solidFill>
                  <a:srgbClr val="0070C0"/>
                </a:solidFill>
                <a:ea typeface="+mn-lt"/>
                <a:cs typeface="+mn-lt"/>
              </a:rPr>
              <a:t>assume</a:t>
            </a:r>
            <a:r>
              <a:rPr lang="en-US" dirty="0">
                <a:solidFill>
                  <a:srgbClr val="0070C0"/>
                </a:solidFill>
              </a:rPr>
              <a:t> P,</a:t>
            </a:r>
            <a:r>
              <a:rPr lang="en-US" dirty="0"/>
              <a:t> (</a:t>
            </a:r>
            <a:r>
              <a:rPr lang="en-US" dirty="0" err="1"/>
              <a:t>s,C</a:t>
            </a:r>
            <a:r>
              <a:rPr lang="en-US" dirty="0"/>
              <a:t>))  =  (s, P' ∧ C)  </a:t>
            </a:r>
            <a:br>
              <a:rPr lang="en-US" dirty="0">
                <a:ea typeface="Calibri"/>
                <a:cs typeface="Calibri"/>
              </a:rPr>
            </a:br>
            <a:r>
              <a:rPr lang="en-US" dirty="0"/>
              <a:t>where P’ is obtained by replacing every program variable z that occurs in P with s(z) (the symbolic value of z in the state s).</a:t>
            </a:r>
          </a:p>
          <a:p>
            <a:r>
              <a:rPr lang="en-US" b="1" dirty="0" err="1"/>
              <a:t>symexec</a:t>
            </a:r>
            <a:r>
              <a:rPr lang="en-US" b="1" dirty="0"/>
              <a:t>(</a:t>
            </a:r>
            <a:r>
              <a:rPr lang="en-US" b="1" dirty="0">
                <a:solidFill>
                  <a:srgbClr val="0070C0"/>
                </a:solidFill>
              </a:rPr>
              <a:t>assert</a:t>
            </a:r>
            <a:r>
              <a:rPr lang="en-US" dirty="0">
                <a:solidFill>
                  <a:srgbClr val="0070C0"/>
                </a:solidFill>
              </a:rPr>
              <a:t> Q</a:t>
            </a:r>
            <a:r>
              <a:rPr lang="en-US" dirty="0"/>
              <a:t> ,(</a:t>
            </a:r>
            <a:r>
              <a:rPr lang="en-US" dirty="0" err="1"/>
              <a:t>s,C</a:t>
            </a:r>
            <a:r>
              <a:rPr lang="en-US" dirty="0"/>
              <a:t>)) = (</a:t>
            </a:r>
            <a:r>
              <a:rPr lang="en-US" dirty="0" err="1"/>
              <a:t>s,C</a:t>
            </a:r>
            <a:r>
              <a:rPr lang="en-US" dirty="0"/>
              <a:t>)</a:t>
            </a:r>
            <a:br>
              <a:rPr lang="en-US" dirty="0"/>
            </a:br>
            <a:r>
              <a:rPr lang="en-US" dirty="0">
                <a:solidFill>
                  <a:srgbClr val="FF0000"/>
                </a:solidFill>
              </a:rPr>
              <a:t>If C ∧ s ⟹ Q holds</a:t>
            </a:r>
            <a:r>
              <a:rPr lang="en-US" dirty="0"/>
              <a:t>. else the execution is aborted, reporting an error (the asserted Q is violated).</a:t>
            </a:r>
          </a:p>
          <a:p>
            <a:r>
              <a:rPr lang="en-US" b="1" err="1"/>
              <a:t>symexec</a:t>
            </a:r>
            <a:r>
              <a:rPr lang="en-US" b="1" dirty="0"/>
              <a:t>(</a:t>
            </a:r>
            <a:r>
              <a:rPr lang="en-US" b="1" dirty="0">
                <a:solidFill>
                  <a:srgbClr val="0070C0"/>
                </a:solidFill>
              </a:rPr>
              <a:t>y:=e</a:t>
            </a:r>
            <a:r>
              <a:rPr lang="en-US" dirty="0">
                <a:solidFill>
                  <a:srgbClr val="000000"/>
                </a:solidFill>
              </a:rPr>
              <a:t>,</a:t>
            </a:r>
            <a:r>
              <a:rPr lang="en-US" dirty="0"/>
              <a:t> (</a:t>
            </a:r>
            <a:r>
              <a:rPr lang="en-US" err="1"/>
              <a:t>s,C</a:t>
            </a:r>
            <a:r>
              <a:rPr lang="en-US" dirty="0"/>
              <a:t>)) =  (</a:t>
            </a:r>
            <a:r>
              <a:rPr lang="en-US" b="1" dirty="0"/>
              <a:t>update</a:t>
            </a:r>
            <a:r>
              <a:rPr lang="en-US" dirty="0"/>
              <a:t> y e’ s, C) </a:t>
            </a:r>
            <a:endParaRPr lang="en-US" dirty="0">
              <a:ea typeface="Calibri"/>
              <a:cs typeface="Calibri"/>
            </a:endParaRPr>
          </a:p>
          <a:p>
            <a:pPr lvl="1">
              <a:spcAft>
                <a:spcPts val="0"/>
              </a:spcAft>
              <a:buClr>
                <a:srgbClr val="B53513"/>
              </a:buClr>
              <a:buFont typeface="Courier New" pitchFamily="2" charset="2"/>
              <a:buChar char="o"/>
            </a:pPr>
            <a:r>
              <a:rPr lang="en-US" dirty="0">
                <a:ea typeface="Calibri"/>
                <a:cs typeface="Calibri"/>
              </a:rPr>
              <a:t>where the update changes mapping </a:t>
            </a:r>
            <a:r>
              <a:rPr lang="en-US" dirty="0" err="1">
                <a:ea typeface="Calibri"/>
                <a:cs typeface="Calibri"/>
              </a:rPr>
              <a:t>y</a:t>
            </a:r>
            <a:r>
              <a:rPr lang="en-US" b="1" dirty="0" err="1">
                <a:ea typeface="Calibri"/>
                <a:cs typeface="Calibri"/>
              </a:rPr>
              <a:t>⟼v</a:t>
            </a:r>
            <a:r>
              <a:rPr lang="en-US" b="1" dirty="0">
                <a:ea typeface="Calibri"/>
                <a:cs typeface="Calibri"/>
              </a:rPr>
              <a:t> in s to </a:t>
            </a:r>
            <a:r>
              <a:rPr lang="en-US" dirty="0" err="1">
                <a:ea typeface="Calibri"/>
                <a:cs typeface="Calibri"/>
              </a:rPr>
              <a:t>y</a:t>
            </a:r>
            <a:r>
              <a:rPr lang="en-US" b="1" dirty="0" err="1">
                <a:ea typeface="Calibri"/>
                <a:cs typeface="Calibri"/>
              </a:rPr>
              <a:t>⟼e</a:t>
            </a:r>
            <a:r>
              <a:rPr lang="en-US" b="1" dirty="0">
                <a:ea typeface="Calibri"/>
                <a:cs typeface="Calibri"/>
              </a:rPr>
              <a:t>'</a:t>
            </a:r>
            <a:r>
              <a:rPr lang="en-US" b="1" dirty="0">
                <a:solidFill>
                  <a:srgbClr val="C00000"/>
                </a:solidFill>
                <a:ea typeface="Calibri"/>
                <a:cs typeface="Calibri"/>
              </a:rPr>
              <a:t>.</a:t>
            </a:r>
            <a:endParaRPr lang="en-US" dirty="0"/>
          </a:p>
          <a:p>
            <a:pPr lvl="1">
              <a:spcAft>
                <a:spcPts val="0"/>
              </a:spcAft>
              <a:buClr>
                <a:srgbClr val="B53513"/>
              </a:buClr>
              <a:buFont typeface="Courier New" pitchFamily="2" charset="2"/>
              <a:buChar char="o"/>
            </a:pPr>
            <a:r>
              <a:rPr lang="en-US" dirty="0"/>
              <a:t>e’ is the symbolic value of the expression e on the state s, which can be obtained by replacing every program variable z that occurs in e with s(z) (the symbolic value of z in the state s.</a:t>
            </a:r>
            <a:endParaRPr lang="en-US" dirty="0">
              <a:ea typeface="Calibri"/>
              <a:cs typeface="Calibri"/>
            </a:endParaRP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FF3C6F-F170-CD41-B0E8-2E89FBCE85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8A332FB-769C-4CBB-BDDE-0DC26211CC04}" type="slidenum">
              <a:rPr lang="en-US" smtClean="0"/>
              <a:pPr>
                <a:defRPr/>
              </a:pPr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559070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4202F8-6B0D-0A4B-AE36-06E816ED12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Backward vs forward symbolic execution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6FC3F5-28A9-2C45-A06D-6192E2A011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0050" y="1383957"/>
            <a:ext cx="8563356" cy="5253953"/>
          </a:xfrm>
        </p:spPr>
        <p:txBody>
          <a:bodyPr>
            <a:normAutofit/>
          </a:bodyPr>
          <a:lstStyle/>
          <a:p>
            <a:r>
              <a:rPr lang="en-US" dirty="0"/>
              <a:t>Consider again the verification of:</a:t>
            </a:r>
            <a:br>
              <a:rPr lang="en-US" dirty="0"/>
            </a:br>
            <a:br>
              <a:rPr lang="en-US" dirty="0"/>
            </a:br>
            <a:r>
              <a:rPr lang="en-US" dirty="0"/>
              <a:t>	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r>
              <a:rPr lang="en-US" dirty="0" err="1"/>
              <a:t>Wlp</a:t>
            </a:r>
            <a:r>
              <a:rPr lang="en-US" dirty="0"/>
              <a:t>-based. The program is valid </a:t>
            </a:r>
            <a:r>
              <a:rPr lang="en-US" dirty="0" err="1"/>
              <a:t>iff</a:t>
            </a:r>
            <a:r>
              <a:rPr lang="en-US" dirty="0"/>
              <a:t> x=y  ⇒ </a:t>
            </a:r>
            <a:r>
              <a:rPr lang="en-US" b="1" dirty="0">
                <a:solidFill>
                  <a:srgbClr val="0070C0"/>
                </a:solidFill>
              </a:rPr>
              <a:t>x+2&gt;y</a:t>
            </a:r>
            <a:br>
              <a:rPr lang="en-US" b="1" dirty="0">
                <a:solidFill>
                  <a:srgbClr val="0070C0"/>
                </a:solidFill>
              </a:rPr>
            </a:br>
            <a:endParaRPr lang="en-US" b="1" dirty="0">
              <a:solidFill>
                <a:srgbClr val="0070C0"/>
              </a:solidFill>
            </a:endParaRPr>
          </a:p>
          <a:p>
            <a:r>
              <a:rPr lang="en-US" dirty="0"/>
              <a:t>Forward symbolic execution: the program is valid </a:t>
            </a:r>
            <a:r>
              <a:rPr lang="en-US" dirty="0" err="1"/>
              <a:t>iff</a:t>
            </a:r>
            <a:br>
              <a:rPr lang="en-US" dirty="0"/>
            </a:br>
            <a:br>
              <a:rPr lang="en-US" dirty="0"/>
            </a:br>
            <a:r>
              <a:rPr lang="en-US" b="1" dirty="0">
                <a:solidFill>
                  <a:srgbClr val="C00000"/>
                </a:solidFill>
              </a:rPr>
              <a:t>x=x</a:t>
            </a:r>
            <a:r>
              <a:rPr lang="en-US" b="1" baseline="-25000" dirty="0">
                <a:solidFill>
                  <a:srgbClr val="C00000"/>
                </a:solidFill>
              </a:rPr>
              <a:t>0</a:t>
            </a:r>
            <a:r>
              <a:rPr lang="en-US" b="1" dirty="0">
                <a:solidFill>
                  <a:srgbClr val="C00000"/>
                </a:solidFill>
              </a:rPr>
              <a:t>+2  ∧  y=y</a:t>
            </a:r>
            <a:r>
              <a:rPr lang="en-US" b="1" baseline="-25000" dirty="0">
                <a:solidFill>
                  <a:srgbClr val="C00000"/>
                </a:solidFill>
              </a:rPr>
              <a:t>0</a:t>
            </a:r>
            <a:r>
              <a:rPr lang="en-US" b="1" dirty="0">
                <a:solidFill>
                  <a:srgbClr val="C00000"/>
                </a:solidFill>
              </a:rPr>
              <a:t> ∧ z=x</a:t>
            </a:r>
            <a:r>
              <a:rPr lang="en-US" b="1" baseline="-25000" dirty="0">
                <a:solidFill>
                  <a:srgbClr val="C00000"/>
                </a:solidFill>
              </a:rPr>
              <a:t>0</a:t>
            </a:r>
            <a:r>
              <a:rPr lang="en-US" b="1" dirty="0">
                <a:solidFill>
                  <a:srgbClr val="C00000"/>
                </a:solidFill>
              </a:rPr>
              <a:t>+2-1 ∧  x</a:t>
            </a:r>
            <a:r>
              <a:rPr lang="en-US" b="1" baseline="-25000" dirty="0">
                <a:solidFill>
                  <a:srgbClr val="C00000"/>
                </a:solidFill>
              </a:rPr>
              <a:t>0</a:t>
            </a:r>
            <a:r>
              <a:rPr lang="en-US" b="1" dirty="0">
                <a:solidFill>
                  <a:srgbClr val="C00000"/>
                </a:solidFill>
              </a:rPr>
              <a:t>=y</a:t>
            </a:r>
            <a:r>
              <a:rPr lang="en-US" b="1" baseline="-25000" dirty="0">
                <a:solidFill>
                  <a:srgbClr val="C00000"/>
                </a:solidFill>
              </a:rPr>
              <a:t>0     </a:t>
            </a:r>
            <a:r>
              <a:rPr lang="en-US" b="1" dirty="0">
                <a:solidFill>
                  <a:srgbClr val="C00000"/>
                </a:solidFill>
              </a:rPr>
              <a:t>⟹    x&gt;y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FF3C6F-F170-CD41-B0E8-2E89FBCE85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8A332FB-769C-4CBB-BDDE-0DC26211CC04}" type="slidenum">
              <a:rPr lang="en-US" smtClean="0"/>
              <a:pPr>
                <a:defRPr/>
              </a:pPr>
              <a:t>29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BFCC5E8-5B2C-344B-9530-7D8F50B43BF7}"/>
              </a:ext>
            </a:extLst>
          </p:cNvPr>
          <p:cNvSpPr txBox="1"/>
          <p:nvPr/>
        </p:nvSpPr>
        <p:spPr>
          <a:xfrm>
            <a:off x="1489237" y="2239950"/>
            <a:ext cx="2198038" cy="1200329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 </a:t>
            </a:r>
            <a:r>
              <a:rPr lang="en-US" b="1" dirty="0">
                <a:solidFill>
                  <a:srgbClr val="286014"/>
                </a:solidFill>
              </a:rPr>
              <a:t>{ x=y }   </a:t>
            </a:r>
          </a:p>
          <a:p>
            <a:pPr algn="ctr"/>
            <a:r>
              <a:rPr lang="en-US" dirty="0"/>
              <a:t>x:=x+2 ; z:=x-1 </a:t>
            </a:r>
          </a:p>
          <a:p>
            <a:pPr algn="ctr"/>
            <a:r>
              <a:rPr lang="en-US" b="1" dirty="0">
                <a:solidFill>
                  <a:srgbClr val="7030A0"/>
                </a:solidFill>
              </a:rPr>
              <a:t>{ x&gt;y }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9946B6F-5B0D-2D44-B3B9-7E1654F515CD}"/>
              </a:ext>
            </a:extLst>
          </p:cNvPr>
          <p:cNvSpPr txBox="1"/>
          <p:nvPr/>
        </p:nvSpPr>
        <p:spPr>
          <a:xfrm>
            <a:off x="5592137" y="2609279"/>
            <a:ext cx="1973617" cy="461665"/>
          </a:xfrm>
          <a:prstGeom prst="rect">
            <a:avLst/>
          </a:prstGeom>
          <a:noFill/>
          <a:ln>
            <a:solidFill>
              <a:srgbClr val="A5002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x=y  ⇒ </a:t>
            </a:r>
            <a:r>
              <a:rPr lang="en-US" b="1" dirty="0">
                <a:solidFill>
                  <a:srgbClr val="0070C0"/>
                </a:solidFill>
              </a:rPr>
              <a:t>x+2&gt;y</a:t>
            </a:r>
            <a:endParaRPr lang="en-US" dirty="0"/>
          </a:p>
        </p:txBody>
      </p:sp>
      <p:sp>
        <p:nvSpPr>
          <p:cNvPr id="7" name="Right Arrow 6">
            <a:extLst>
              <a:ext uri="{FF2B5EF4-FFF2-40B4-BE49-F238E27FC236}">
                <a16:creationId xmlns:a16="http://schemas.microsoft.com/office/drawing/2014/main" id="{DCC58158-C08C-BE4E-9D8D-FB51245396CF}"/>
              </a:ext>
            </a:extLst>
          </p:cNvPr>
          <p:cNvSpPr/>
          <p:nvPr/>
        </p:nvSpPr>
        <p:spPr>
          <a:xfrm>
            <a:off x="3829597" y="2544931"/>
            <a:ext cx="1572127" cy="590363"/>
          </a:xfrm>
          <a:prstGeom prst="rightArrow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A002DA8-FF54-C745-83B7-1F96BD1A9918}"/>
              </a:ext>
            </a:extLst>
          </p:cNvPr>
          <p:cNvSpPr txBox="1"/>
          <p:nvPr/>
        </p:nvSpPr>
        <p:spPr>
          <a:xfrm>
            <a:off x="4020013" y="3191130"/>
            <a:ext cx="157212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b="1" dirty="0" err="1"/>
              <a:t>wlp</a:t>
            </a:r>
            <a:r>
              <a:rPr lang="en-US" sz="1800" dirty="0"/>
              <a:t>-based verification</a:t>
            </a:r>
          </a:p>
        </p:txBody>
      </p:sp>
    </p:spTree>
    <p:extLst>
      <p:ext uri="{BB962C8B-B14F-4D97-AF65-F5344CB8AC3E}">
        <p14:creationId xmlns:p14="http://schemas.microsoft.com/office/powerpoint/2010/main" val="247547034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D77C5794-7A20-7C4E-915A-2404470DDF25}"/>
              </a:ext>
            </a:extLst>
          </p:cNvPr>
          <p:cNvSpPr/>
          <p:nvPr/>
        </p:nvSpPr>
        <p:spPr>
          <a:xfrm>
            <a:off x="1347537" y="2438400"/>
            <a:ext cx="4766824" cy="609600"/>
          </a:xfrm>
          <a:prstGeom prst="roundRect">
            <a:avLst>
              <a:gd name="adj" fmla="val 33334"/>
            </a:avLst>
          </a:prstGeom>
          <a:solidFill>
            <a:srgbClr val="00B0F0">
              <a:alpha val="3882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84202F8-6B0D-0A4B-AE36-06E816ED12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Backward vs forward transformation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6FC3F5-28A9-2C45-A06D-6192E2A011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263" y="1383957"/>
            <a:ext cx="8229599" cy="5253953"/>
          </a:xfrm>
        </p:spPr>
        <p:txBody>
          <a:bodyPr>
            <a:normAutofit/>
          </a:bodyPr>
          <a:lstStyle/>
          <a:p>
            <a:r>
              <a:rPr lang="en-US" dirty="0"/>
              <a:t>Backward execution yields:  x=y ⇒ </a:t>
            </a:r>
            <a:r>
              <a:rPr lang="en-US" b="1" dirty="0">
                <a:solidFill>
                  <a:srgbClr val="0070C0"/>
                </a:solidFill>
              </a:rPr>
              <a:t>x+2&gt;y</a:t>
            </a:r>
            <a:r>
              <a:rPr lang="en-US" dirty="0"/>
              <a:t>.</a:t>
            </a:r>
          </a:p>
          <a:p>
            <a:r>
              <a:rPr lang="en-US" dirty="0"/>
              <a:t>Forward execution yields:</a:t>
            </a:r>
            <a:br>
              <a:rPr lang="en-US" dirty="0"/>
            </a:br>
            <a:br>
              <a:rPr lang="en-US" dirty="0"/>
            </a:br>
            <a:r>
              <a:rPr lang="en-US" dirty="0"/>
              <a:t>	</a:t>
            </a:r>
            <a:r>
              <a:rPr lang="en-US" b="1" dirty="0">
                <a:solidFill>
                  <a:srgbClr val="C00000"/>
                </a:solidFill>
              </a:rPr>
              <a:t> y=y</a:t>
            </a:r>
            <a:r>
              <a:rPr lang="en-US" b="1" baseline="-25000" dirty="0">
                <a:solidFill>
                  <a:srgbClr val="C00000"/>
                </a:solidFill>
              </a:rPr>
              <a:t>0</a:t>
            </a:r>
            <a:r>
              <a:rPr lang="en-US" b="1" dirty="0">
                <a:solidFill>
                  <a:srgbClr val="C00000"/>
                </a:solidFill>
              </a:rPr>
              <a:t> /\  x</a:t>
            </a:r>
            <a:r>
              <a:rPr lang="en-US" b="1" baseline="-25000" dirty="0">
                <a:solidFill>
                  <a:srgbClr val="C00000"/>
                </a:solidFill>
              </a:rPr>
              <a:t>0</a:t>
            </a:r>
            <a:r>
              <a:rPr lang="en-US" b="1" dirty="0">
                <a:solidFill>
                  <a:srgbClr val="C00000"/>
                </a:solidFill>
              </a:rPr>
              <a:t>=y</a:t>
            </a:r>
            <a:r>
              <a:rPr lang="en-US" b="1" baseline="-25000" dirty="0">
                <a:solidFill>
                  <a:srgbClr val="C00000"/>
                </a:solidFill>
              </a:rPr>
              <a:t>0</a:t>
            </a:r>
            <a:r>
              <a:rPr lang="en-US" b="1" dirty="0">
                <a:solidFill>
                  <a:srgbClr val="C00000"/>
                </a:solidFill>
              </a:rPr>
              <a:t> /\ x = x</a:t>
            </a:r>
            <a:r>
              <a:rPr lang="en-US" b="1" baseline="-25000" dirty="0">
                <a:solidFill>
                  <a:srgbClr val="C00000"/>
                </a:solidFill>
              </a:rPr>
              <a:t>0</a:t>
            </a:r>
            <a:r>
              <a:rPr lang="en-US" b="1" dirty="0">
                <a:solidFill>
                  <a:srgbClr val="C00000"/>
                </a:solidFill>
              </a:rPr>
              <a:t>+2 /\ z=x</a:t>
            </a:r>
            <a:r>
              <a:rPr lang="en-US" b="1" baseline="-25000" dirty="0">
                <a:solidFill>
                  <a:srgbClr val="C00000"/>
                </a:solidFill>
              </a:rPr>
              <a:t>0</a:t>
            </a:r>
            <a:r>
              <a:rPr lang="en-US" b="1" dirty="0">
                <a:solidFill>
                  <a:srgbClr val="C00000"/>
                </a:solidFill>
              </a:rPr>
              <a:t>+2-1  </a:t>
            </a:r>
            <a:r>
              <a:rPr lang="en-US" dirty="0">
                <a:solidFill>
                  <a:srgbClr val="C00000"/>
                </a:solidFill>
              </a:rPr>
              <a:t>⇒ </a:t>
            </a:r>
            <a:r>
              <a:rPr lang="en-US" b="1" dirty="0">
                <a:solidFill>
                  <a:srgbClr val="C00000"/>
                </a:solidFill>
              </a:rPr>
              <a:t>x&gt;y</a:t>
            </a:r>
            <a:br>
              <a:rPr lang="en-US" dirty="0"/>
            </a:br>
            <a:endParaRPr lang="en-US" dirty="0"/>
          </a:p>
          <a:p>
            <a:r>
              <a:rPr lang="en-US" dirty="0"/>
              <a:t>Backward transformation:  yields cleaner formulas, containing only conditions relevant towards the post-cond.</a:t>
            </a:r>
          </a:p>
          <a:p>
            <a:r>
              <a:rPr lang="en-US" dirty="0"/>
              <a:t>Forward transformation</a:t>
            </a:r>
          </a:p>
          <a:p>
            <a:pPr lvl="1"/>
            <a:r>
              <a:rPr lang="en-US" dirty="0"/>
              <a:t>The direction is more intuitive</a:t>
            </a:r>
          </a:p>
          <a:p>
            <a:pPr lvl="1"/>
            <a:r>
              <a:rPr lang="en-US" dirty="0"/>
              <a:t>The intermediate formulas also produce conditions that correspond to the feasibility of each branch-guard (1x, the blue box above), so you can immediately check the guard feasibility. Note we can also check this via </a:t>
            </a:r>
            <a:r>
              <a:rPr lang="en-US" dirty="0" err="1"/>
              <a:t>wlp</a:t>
            </a:r>
            <a:r>
              <a:rPr lang="en-US" dirty="0"/>
              <a:t>; it is just that we need more staging in the corresponding symbolic execution.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FF3C6F-F170-CD41-B0E8-2E89FBCE85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8A332FB-769C-4CBB-BDDE-0DC26211CC04}" type="slidenum">
              <a:rPr lang="en-US" smtClean="0"/>
              <a:pPr>
                <a:defRPr/>
              </a:pPr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260084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Can we prove the soundness and completeness of the </a:t>
            </a:r>
            <a:r>
              <a:rPr lang="en-US" sz="2800" b="1" dirty="0" err="1"/>
              <a:t>wlp</a:t>
            </a:r>
            <a:r>
              <a:rPr lang="en-US" sz="2800" b="1" dirty="0"/>
              <a:t> </a:t>
            </a:r>
            <a:r>
              <a:rPr lang="en-US" sz="2800" dirty="0"/>
              <a:t>transformer 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Yes, e.g. </a:t>
            </a:r>
            <a:r>
              <a:rPr lang="en-US" dirty="0" err="1"/>
              <a:t>wrt</a:t>
            </a:r>
            <a:r>
              <a:rPr lang="en-US" dirty="0"/>
              <a:t> a </a:t>
            </a:r>
            <a:r>
              <a:rPr lang="en-US" dirty="0" err="1"/>
              <a:t>denotational</a:t>
            </a:r>
            <a:r>
              <a:rPr lang="en-US" dirty="0"/>
              <a:t> semantic. I will just give a sketch of how to do this.</a:t>
            </a:r>
          </a:p>
          <a:p>
            <a:endParaRPr lang="en-US" dirty="0"/>
          </a:p>
          <a:p>
            <a:r>
              <a:rPr lang="en-US" dirty="0"/>
              <a:t>Consider the following domains as a simple model of program states:</a:t>
            </a:r>
          </a:p>
          <a:p>
            <a:pPr lvl="1"/>
            <a:r>
              <a:rPr lang="en-US" b="1" dirty="0" err="1">
                <a:solidFill>
                  <a:srgbClr val="000000"/>
                </a:solidFill>
              </a:rPr>
              <a:t>val</a:t>
            </a:r>
            <a:r>
              <a:rPr lang="en-US" dirty="0">
                <a:solidFill>
                  <a:srgbClr val="000000"/>
                </a:solidFill>
              </a:rPr>
              <a:t> : the space of all possible values of program variables</a:t>
            </a:r>
          </a:p>
          <a:p>
            <a:pPr lvl="1"/>
            <a:r>
              <a:rPr lang="en-US" dirty="0">
                <a:solidFill>
                  <a:srgbClr val="000000"/>
                </a:solidFill>
              </a:rPr>
              <a:t>A state is modelled as a </a:t>
            </a:r>
            <a:r>
              <a:rPr lang="en-US" dirty="0">
                <a:solidFill>
                  <a:srgbClr val="000000"/>
                </a:solidFill>
                <a:highlight>
                  <a:srgbClr val="FFFF00"/>
                </a:highlight>
              </a:rPr>
              <a:t>function</a:t>
            </a:r>
            <a:r>
              <a:rPr lang="en-US" dirty="0">
                <a:solidFill>
                  <a:srgbClr val="000000"/>
                </a:solidFill>
              </a:rPr>
              <a:t> from variable-names to </a:t>
            </a:r>
            <a:r>
              <a:rPr lang="en-US" b="1" dirty="0">
                <a:solidFill>
                  <a:srgbClr val="000000"/>
                </a:solidFill>
              </a:rPr>
              <a:t>val</a:t>
            </a:r>
            <a:r>
              <a:rPr lang="en-US" dirty="0">
                <a:solidFill>
                  <a:srgbClr val="000000"/>
                </a:solidFill>
              </a:rPr>
              <a:t>. So, if </a:t>
            </a:r>
            <a:r>
              <a:rPr lang="en-US" i="1" dirty="0">
                <a:solidFill>
                  <a:srgbClr val="000000"/>
                </a:solidFill>
              </a:rPr>
              <a:t>s</a:t>
            </a:r>
            <a:r>
              <a:rPr lang="en-US" dirty="0">
                <a:solidFill>
                  <a:srgbClr val="000000"/>
                </a:solidFill>
              </a:rPr>
              <a:t> is a state, “</a:t>
            </a:r>
            <a:r>
              <a:rPr lang="en-US" i="1" dirty="0">
                <a:solidFill>
                  <a:srgbClr val="000000"/>
                </a:solidFill>
              </a:rPr>
              <a:t>s x</a:t>
            </a:r>
            <a:r>
              <a:rPr lang="en-US" dirty="0">
                <a:solidFill>
                  <a:srgbClr val="000000"/>
                </a:solidFill>
              </a:rPr>
              <a:t>” is the value of variable </a:t>
            </a:r>
            <a:r>
              <a:rPr lang="en-US" i="1" dirty="0">
                <a:solidFill>
                  <a:srgbClr val="000000"/>
                </a:solidFill>
              </a:rPr>
              <a:t>x</a:t>
            </a:r>
            <a:r>
              <a:rPr lang="en-US" dirty="0">
                <a:solidFill>
                  <a:srgbClr val="000000"/>
                </a:solidFill>
              </a:rPr>
              <a:t> in the state </a:t>
            </a:r>
            <a:r>
              <a:rPr lang="en-US" i="1" dirty="0">
                <a:solidFill>
                  <a:srgbClr val="000000"/>
                </a:solidFill>
              </a:rPr>
              <a:t>s</a:t>
            </a:r>
            <a:r>
              <a:rPr lang="en-US" dirty="0">
                <a:solidFill>
                  <a:srgbClr val="000000"/>
                </a:solidFill>
              </a:rPr>
              <a:t>.</a:t>
            </a:r>
          </a:p>
          <a:p>
            <a:pPr lvl="1"/>
            <a:r>
              <a:rPr lang="en-US" b="1" dirty="0"/>
              <a:t>State : </a:t>
            </a:r>
            <a:r>
              <a:rPr lang="en-US" dirty="0">
                <a:solidFill>
                  <a:srgbClr val="000000"/>
                </a:solidFill>
              </a:rPr>
              <a:t>the space of all possible program states.</a:t>
            </a:r>
          </a:p>
          <a:p>
            <a:pPr lvl="1"/>
            <a:endParaRPr lang="en-US" dirty="0">
              <a:solidFill>
                <a:srgbClr val="000000"/>
              </a:solidFill>
            </a:endParaRPr>
          </a:p>
          <a:p>
            <a:r>
              <a:rPr lang="en-US" sz="1800" dirty="0">
                <a:solidFill>
                  <a:srgbClr val="000000"/>
                </a:solidFill>
              </a:rPr>
              <a:t>Note: Chapter 1 and 2 propose two different representations of states. They are both usable, as they both support state query and update.</a:t>
            </a:r>
            <a:endParaRPr lang="nl-NL" sz="1800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48220AE-4ABF-4647-9677-DBC7878747C7}" type="slidenum">
              <a:rPr lang="en-US" smtClean="0"/>
              <a:pPr>
                <a:defRPr/>
              </a:pPr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565754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200" dirty="0"/>
              <a:t>The semantic of expressions and predicates</a:t>
            </a:r>
            <a:endParaRPr lang="nl-NL" sz="3200" dirty="0"/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1313" indent="-341313">
              <a:spcBef>
                <a:spcPts val="600"/>
              </a:spcBef>
              <a:buClr>
                <a:srgbClr val="CC9900"/>
              </a:buClr>
              <a:buSzPct val="65000"/>
              <a:buFont typeface="Wingdings" pitchFamily="2" charset="2"/>
              <a:buChar char="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/>
            </a:pPr>
            <a:r>
              <a:rPr lang="en-US" dirty="0" err="1">
                <a:solidFill>
                  <a:srgbClr val="C00000"/>
                </a:solidFill>
              </a:rPr>
              <a:t>ℰ</a:t>
            </a:r>
            <a:r>
              <a:rPr lang="en-US" dirty="0"/>
              <a:t> : expr ⟶ (</a:t>
            </a:r>
            <a:r>
              <a:rPr lang="en-US" b="1" dirty="0"/>
              <a:t>State</a:t>
            </a:r>
            <a:r>
              <a:rPr lang="en-US" dirty="0"/>
              <a:t> ⟶ </a:t>
            </a:r>
            <a:r>
              <a:rPr lang="en-US" b="1" dirty="0" err="1"/>
              <a:t>val</a:t>
            </a:r>
            <a:r>
              <a:rPr lang="en-US" dirty="0"/>
              <a:t>)</a:t>
            </a:r>
          </a:p>
          <a:p>
            <a:pPr marL="341313" indent="-341313">
              <a:spcBef>
                <a:spcPts val="600"/>
              </a:spcBef>
              <a:buClr>
                <a:srgbClr val="CC9900"/>
              </a:buClr>
              <a:buSzPct val="65000"/>
              <a:buFont typeface="Wingdings" pitchFamily="2" charset="2"/>
              <a:buChar char="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/>
            </a:pPr>
            <a:r>
              <a:rPr lang="en-US" dirty="0" err="1">
                <a:solidFill>
                  <a:srgbClr val="C00000"/>
                </a:solidFill>
              </a:rPr>
              <a:t>ℰ</a:t>
            </a:r>
            <a:r>
              <a:rPr lang="en-US" dirty="0"/>
              <a:t> : </a:t>
            </a:r>
            <a:r>
              <a:rPr lang="en-US" b="1" dirty="0" err="1"/>
              <a:t>Pred</a:t>
            </a:r>
            <a:r>
              <a:rPr lang="en-US" dirty="0"/>
              <a:t> ⟶ (</a:t>
            </a:r>
            <a:r>
              <a:rPr lang="en-US" b="1" dirty="0"/>
              <a:t>State</a:t>
            </a:r>
            <a:r>
              <a:rPr lang="en-US" dirty="0"/>
              <a:t> ⟶ </a:t>
            </a:r>
            <a:r>
              <a:rPr lang="en-US" b="1" dirty="0" err="1"/>
              <a:t>bool</a:t>
            </a:r>
            <a:r>
              <a:rPr lang="en-US" dirty="0"/>
              <a:t>)       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// overloading </a:t>
            </a:r>
            <a:r>
              <a:rPr lang="en-US" dirty="0" err="1">
                <a:solidFill>
                  <a:schemeClr val="bg1">
                    <a:lumMod val="65000"/>
                  </a:schemeClr>
                </a:solidFill>
              </a:rPr>
              <a:t>ℰ</a:t>
            </a:r>
            <a:endParaRPr lang="en-US" dirty="0">
              <a:solidFill>
                <a:schemeClr val="bg1">
                  <a:lumMod val="65000"/>
                </a:schemeClr>
              </a:solidFill>
            </a:endParaRPr>
          </a:p>
          <a:p>
            <a:pPr marL="341313" indent="-341313" eaLnBrk="1" hangingPunct="1">
              <a:spcBef>
                <a:spcPts val="600"/>
              </a:spcBef>
              <a:buClr>
                <a:srgbClr val="CC9900"/>
              </a:buClr>
              <a:buSzPct val="65000"/>
              <a:buFont typeface="Wingdings" pitchFamily="2" charset="2"/>
              <a:buChar char="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/>
            </a:pPr>
            <a:r>
              <a:rPr lang="en-US" dirty="0">
                <a:solidFill>
                  <a:srgbClr val="000000"/>
                </a:solidFill>
              </a:rPr>
              <a:t>e.g. </a:t>
            </a:r>
            <a:br>
              <a:rPr lang="en-US" dirty="0">
                <a:solidFill>
                  <a:srgbClr val="000000"/>
                </a:solidFill>
              </a:rPr>
            </a:br>
            <a:br>
              <a:rPr lang="en-US" dirty="0">
                <a:solidFill>
                  <a:srgbClr val="000000"/>
                </a:solidFill>
              </a:rPr>
            </a:br>
            <a:br>
              <a:rPr lang="en-US" dirty="0">
                <a:solidFill>
                  <a:srgbClr val="000000"/>
                </a:solidFill>
              </a:rPr>
            </a:br>
            <a:r>
              <a:rPr lang="en-US" dirty="0">
                <a:solidFill>
                  <a:srgbClr val="000000"/>
                </a:solidFill>
              </a:rPr>
              <a:t>		</a:t>
            </a:r>
            <a:r>
              <a:rPr lang="en-US" dirty="0"/>
              <a:t> </a:t>
            </a:r>
            <a:r>
              <a:rPr lang="en-US" dirty="0" err="1">
                <a:solidFill>
                  <a:srgbClr val="C00000"/>
                </a:solidFill>
              </a:rPr>
              <a:t>ℰ</a:t>
            </a:r>
            <a:r>
              <a:rPr lang="en-US" dirty="0" err="1"/>
              <a:t>⟦</a:t>
            </a:r>
            <a:r>
              <a:rPr lang="en-US" i="1" dirty="0" err="1">
                <a:solidFill>
                  <a:srgbClr val="000000"/>
                </a:solidFill>
                <a:highlight>
                  <a:srgbClr val="FFFF00"/>
                </a:highlight>
              </a:rPr>
              <a:t>x</a:t>
            </a:r>
            <a:r>
              <a:rPr lang="en-US" dirty="0">
                <a:solidFill>
                  <a:srgbClr val="000000"/>
                </a:solidFill>
                <a:highlight>
                  <a:srgbClr val="FFFF00"/>
                </a:highlight>
              </a:rPr>
              <a:t>&gt;</a:t>
            </a:r>
            <a:r>
              <a:rPr lang="en-US" i="1" dirty="0">
                <a:solidFill>
                  <a:srgbClr val="000000"/>
                </a:solidFill>
                <a:highlight>
                  <a:srgbClr val="FFFF00"/>
                </a:highlight>
              </a:rPr>
              <a:t>y</a:t>
            </a:r>
            <a:r>
              <a:rPr lang="en-US" dirty="0"/>
              <a:t>⟧ </a:t>
            </a:r>
            <a:r>
              <a:rPr lang="en-US" dirty="0">
                <a:solidFill>
                  <a:srgbClr val="000000"/>
                </a:solidFill>
              </a:rPr>
              <a:t> =  </a:t>
            </a:r>
            <a:r>
              <a:rPr lang="en-US" dirty="0">
                <a:solidFill>
                  <a:srgbClr val="000000"/>
                </a:solidFill>
                <a:highlight>
                  <a:srgbClr val="00FFFF"/>
                </a:highlight>
              </a:rPr>
              <a:t>(</a:t>
            </a:r>
            <a:r>
              <a:rPr lang="en-US" dirty="0">
                <a:solidFill>
                  <a:srgbClr val="000000"/>
                </a:solidFill>
                <a:highlight>
                  <a:srgbClr val="00FFFF"/>
                </a:highlight>
                <a:sym typeface="Symbol"/>
              </a:rPr>
              <a:t></a:t>
            </a:r>
            <a:r>
              <a:rPr lang="en-US" i="1" dirty="0">
                <a:solidFill>
                  <a:srgbClr val="000000"/>
                </a:solidFill>
                <a:highlight>
                  <a:srgbClr val="00FFFF"/>
                </a:highlight>
                <a:sym typeface="Symbol"/>
              </a:rPr>
              <a:t>s</a:t>
            </a:r>
            <a:r>
              <a:rPr lang="en-US" dirty="0">
                <a:solidFill>
                  <a:srgbClr val="000000"/>
                </a:solidFill>
                <a:highlight>
                  <a:srgbClr val="00FFFF"/>
                </a:highlight>
                <a:sym typeface="Symbol"/>
              </a:rPr>
              <a:t>.  </a:t>
            </a:r>
            <a:r>
              <a:rPr lang="en-US" i="1" dirty="0">
                <a:solidFill>
                  <a:srgbClr val="000000"/>
                </a:solidFill>
                <a:highlight>
                  <a:srgbClr val="00FFFF"/>
                </a:highlight>
                <a:sym typeface="Symbol"/>
              </a:rPr>
              <a:t>s </a:t>
            </a:r>
            <a:r>
              <a:rPr lang="en-US" i="1" dirty="0">
                <a:solidFill>
                  <a:srgbClr val="000000"/>
                </a:solidFill>
                <a:highlight>
                  <a:srgbClr val="00FFFF"/>
                </a:highlight>
              </a:rPr>
              <a:t>x</a:t>
            </a:r>
            <a:r>
              <a:rPr lang="en-US" dirty="0">
                <a:solidFill>
                  <a:srgbClr val="000000"/>
                </a:solidFill>
                <a:highlight>
                  <a:srgbClr val="00FFFF"/>
                </a:highlight>
              </a:rPr>
              <a:t>  &gt; </a:t>
            </a:r>
            <a:r>
              <a:rPr lang="en-US" i="1" dirty="0">
                <a:solidFill>
                  <a:srgbClr val="000000"/>
                </a:solidFill>
                <a:highlight>
                  <a:srgbClr val="00FFFF"/>
                </a:highlight>
              </a:rPr>
              <a:t>s y</a:t>
            </a:r>
            <a:r>
              <a:rPr lang="en-US" dirty="0">
                <a:solidFill>
                  <a:srgbClr val="000000"/>
                </a:solidFill>
                <a:highlight>
                  <a:srgbClr val="00FFFF"/>
                </a:highlight>
              </a:rPr>
              <a:t>) </a:t>
            </a:r>
            <a:br>
              <a:rPr lang="en-US" dirty="0">
                <a:solidFill>
                  <a:srgbClr val="000000"/>
                </a:solidFill>
              </a:rPr>
            </a:br>
            <a:r>
              <a:rPr lang="en-US" dirty="0">
                <a:solidFill>
                  <a:srgbClr val="000000"/>
                </a:solidFill>
              </a:rPr>
              <a:t>	</a:t>
            </a:r>
          </a:p>
          <a:p>
            <a:pPr marL="0" indent="0" eaLnBrk="1" hangingPunct="1">
              <a:buNone/>
              <a:defRPr/>
            </a:pPr>
            <a:endParaRPr lang="nl-NL" dirty="0"/>
          </a:p>
        </p:txBody>
      </p:sp>
      <p:sp>
        <p:nvSpPr>
          <p:cNvPr id="8" name="Tijdelijke aanduiding voor dianumm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BE66A73-7B6F-4BDB-9B5D-0C3841BFD28D}" type="slidenum">
              <a:rPr lang="en-US"/>
              <a:pPr>
                <a:defRPr/>
              </a:pPr>
              <a:t>32</a:t>
            </a:fld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A0303DA-84E6-2EEA-0871-F6B0379A8DED}"/>
              </a:ext>
            </a:extLst>
          </p:cNvPr>
          <p:cNvSpPr txBox="1"/>
          <p:nvPr/>
        </p:nvSpPr>
        <p:spPr>
          <a:xfrm>
            <a:off x="2148840" y="4201339"/>
            <a:ext cx="202170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L" sz="1600" dirty="0"/>
              <a:t>syntax structure/string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82AE5CB-A6BF-B2F4-48B0-CC2F8118FB68}"/>
              </a:ext>
            </a:extLst>
          </p:cNvPr>
          <p:cNvSpPr txBox="1"/>
          <p:nvPr/>
        </p:nvSpPr>
        <p:spPr>
          <a:xfrm>
            <a:off x="5014301" y="4256348"/>
            <a:ext cx="168347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L" sz="1600" dirty="0"/>
              <a:t>meaning/semantic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E3817753-D4D0-31C4-1AC0-32DC5015A28F}"/>
              </a:ext>
            </a:extLst>
          </p:cNvPr>
          <p:cNvCxnSpPr/>
          <p:nvPr/>
        </p:nvCxnSpPr>
        <p:spPr>
          <a:xfrm flipV="1">
            <a:off x="3159693" y="3643555"/>
            <a:ext cx="0" cy="55778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DB33FB62-7655-0790-C9D1-8EAA8E5FDFED}"/>
              </a:ext>
            </a:extLst>
          </p:cNvPr>
          <p:cNvCxnSpPr>
            <a:cxnSpLocks/>
          </p:cNvCxnSpPr>
          <p:nvPr/>
        </p:nvCxnSpPr>
        <p:spPr>
          <a:xfrm flipH="1" flipV="1">
            <a:off x="5014301" y="3634556"/>
            <a:ext cx="334197" cy="62179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CBD9F1E3-3D45-A3C1-95F5-0DB3AC646D55}"/>
              </a:ext>
            </a:extLst>
          </p:cNvPr>
          <p:cNvSpPr txBox="1"/>
          <p:nvPr/>
        </p:nvSpPr>
        <p:spPr>
          <a:xfrm>
            <a:off x="-49356" y="3136612"/>
            <a:ext cx="214834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NL" sz="1600" dirty="0"/>
              <a:t>semantic-interpretation </a:t>
            </a:r>
          </a:p>
          <a:p>
            <a:pPr algn="r"/>
            <a:r>
              <a:rPr lang="en-NL" sz="1600" dirty="0"/>
              <a:t>function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540114FC-E4C2-E9A7-896D-A915CF80DE30}"/>
              </a:ext>
            </a:extLst>
          </p:cNvPr>
          <p:cNvCxnSpPr>
            <a:cxnSpLocks/>
            <a:stCxn id="12" idx="3"/>
          </p:cNvCxnSpPr>
          <p:nvPr/>
        </p:nvCxnSpPr>
        <p:spPr>
          <a:xfrm flipV="1">
            <a:off x="2098989" y="3428999"/>
            <a:ext cx="525339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200" dirty="0"/>
              <a:t>The semantic of expressions and predicates</a:t>
            </a:r>
            <a:endParaRPr lang="nl-NL" sz="3200" dirty="0"/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600"/>
              </a:spcBef>
              <a:buClr>
                <a:srgbClr val="CC9900"/>
              </a:buClr>
              <a:buSzPct val="65000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/>
            </a:pPr>
            <a:r>
              <a:rPr lang="en-US" dirty="0"/>
              <a:t>Note that </a:t>
            </a:r>
            <a:r>
              <a:rPr lang="en-US" i="1" dirty="0"/>
              <a:t>P </a:t>
            </a:r>
            <a:r>
              <a:rPr lang="en-US" dirty="0"/>
              <a:t>: </a:t>
            </a:r>
            <a:r>
              <a:rPr lang="en-US" b="1" dirty="0"/>
              <a:t>State</a:t>
            </a:r>
            <a:r>
              <a:rPr lang="en-US" dirty="0"/>
              <a:t> → </a:t>
            </a:r>
            <a:r>
              <a:rPr lang="en-US" b="1" dirty="0"/>
              <a:t>bool</a:t>
            </a:r>
            <a:r>
              <a:rPr lang="en-US" dirty="0"/>
              <a:t> can equivalently be seen as a set of all the states on which P is true:</a:t>
            </a:r>
            <a:br>
              <a:rPr lang="en-US" dirty="0"/>
            </a:br>
            <a:br>
              <a:rPr lang="en-US" dirty="0"/>
            </a:br>
            <a:r>
              <a:rPr lang="en-US" dirty="0"/>
              <a:t>        “</a:t>
            </a:r>
            <a:r>
              <a:rPr lang="en-US" i="1" dirty="0"/>
              <a:t>P  </a:t>
            </a:r>
            <a:r>
              <a:rPr lang="en-US" dirty="0"/>
              <a:t>as a set”</a:t>
            </a:r>
            <a:r>
              <a:rPr lang="en-US" i="1" dirty="0"/>
              <a:t>  </a:t>
            </a:r>
            <a:r>
              <a:rPr lang="en-US" dirty="0"/>
              <a:t>=  {  </a:t>
            </a:r>
            <a:r>
              <a:rPr lang="en-US" i="1" dirty="0"/>
              <a:t>s</a:t>
            </a:r>
            <a:r>
              <a:rPr lang="en-US" dirty="0"/>
              <a:t>  |  </a:t>
            </a:r>
            <a:r>
              <a:rPr lang="en-US" i="1" dirty="0"/>
              <a:t>s </a:t>
            </a:r>
            <a:r>
              <a:rPr lang="en-US" dirty="0">
                <a:sym typeface="Symbol"/>
              </a:rPr>
              <a:t> </a:t>
            </a:r>
            <a:r>
              <a:rPr lang="en-US" b="1" dirty="0">
                <a:sym typeface="Symbol"/>
              </a:rPr>
              <a:t>State</a:t>
            </a:r>
            <a:r>
              <a:rPr lang="en-US" dirty="0">
                <a:sym typeface="Symbol"/>
              </a:rPr>
              <a:t>  /\  </a:t>
            </a:r>
            <a:r>
              <a:rPr lang="en-US" i="1" dirty="0">
                <a:sym typeface="Symbol"/>
              </a:rPr>
              <a:t>P</a:t>
            </a:r>
            <a:r>
              <a:rPr lang="en-US" dirty="0">
                <a:sym typeface="Symbol"/>
              </a:rPr>
              <a:t> </a:t>
            </a:r>
            <a:r>
              <a:rPr lang="en-US" i="1" dirty="0">
                <a:sym typeface="Symbol"/>
              </a:rPr>
              <a:t>s</a:t>
            </a:r>
            <a:r>
              <a:rPr lang="en-US" dirty="0">
                <a:sym typeface="Symbol"/>
              </a:rPr>
              <a:t> }</a:t>
            </a:r>
          </a:p>
          <a:p>
            <a:pPr>
              <a:spcBef>
                <a:spcPts val="600"/>
              </a:spcBef>
              <a:buClr>
                <a:srgbClr val="CC9900"/>
              </a:buClr>
              <a:buSzPct val="65000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/>
            </a:pPr>
            <a:endParaRPr lang="en-US" dirty="0">
              <a:sym typeface="Symbol"/>
            </a:endParaRPr>
          </a:p>
          <a:p>
            <a:pPr>
              <a:spcBef>
                <a:spcPts val="600"/>
              </a:spcBef>
              <a:buClr>
                <a:srgbClr val="CC9900"/>
              </a:buClr>
              <a:buSzPct val="65000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/>
            </a:pPr>
            <a:r>
              <a:rPr lang="en-US" dirty="0">
                <a:sym typeface="Symbol"/>
              </a:rPr>
              <a:t>Predicate operators translate to set operators, e.g. /\, \/ to   , negation to complement </a:t>
            </a:r>
            <a:r>
              <a:rPr lang="en-US" dirty="0" err="1">
                <a:sym typeface="Symbol"/>
              </a:rPr>
              <a:t>wrt</a:t>
            </a:r>
            <a:r>
              <a:rPr lang="en-US" dirty="0">
                <a:sym typeface="Symbol"/>
              </a:rPr>
              <a:t> </a:t>
            </a:r>
            <a:r>
              <a:rPr lang="en-US" b="1" dirty="0">
                <a:sym typeface="Symbol"/>
              </a:rPr>
              <a:t>State</a:t>
            </a:r>
            <a:r>
              <a:rPr lang="en-US" dirty="0">
                <a:sym typeface="Symbol"/>
              </a:rPr>
              <a:t>.</a:t>
            </a:r>
          </a:p>
          <a:p>
            <a:pPr>
              <a:spcBef>
                <a:spcPts val="600"/>
              </a:spcBef>
              <a:buClr>
                <a:srgbClr val="CC9900"/>
              </a:buClr>
              <a:buSzPct val="65000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/>
            </a:pPr>
            <a:endParaRPr lang="en-US" dirty="0">
              <a:sym typeface="Symbol"/>
            </a:endParaRPr>
          </a:p>
          <a:p>
            <a:pPr>
              <a:spcBef>
                <a:spcPts val="600"/>
              </a:spcBef>
              <a:buClr>
                <a:srgbClr val="CC9900"/>
              </a:buClr>
              <a:buSzPct val="65000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/>
            </a:pPr>
            <a:r>
              <a:rPr lang="en-US" dirty="0">
                <a:sym typeface="Symbol"/>
              </a:rPr>
              <a:t>This ordering: “</a:t>
            </a:r>
            <a:r>
              <a:rPr lang="en-US" i="1" dirty="0">
                <a:sym typeface="Symbol"/>
              </a:rPr>
              <a:t>P</a:t>
            </a:r>
            <a:r>
              <a:rPr lang="en-US" dirty="0">
                <a:sym typeface="Symbol"/>
              </a:rPr>
              <a:t></a:t>
            </a:r>
            <a:r>
              <a:rPr lang="en-US" i="1" dirty="0">
                <a:sym typeface="Symbol"/>
              </a:rPr>
              <a:t>Q</a:t>
            </a:r>
            <a:r>
              <a:rPr lang="en-US" dirty="0">
                <a:sym typeface="Symbol"/>
              </a:rPr>
              <a:t>  is valid”  translates to  </a:t>
            </a:r>
            <a:r>
              <a:rPr lang="en-US" i="1" dirty="0">
                <a:sym typeface="Symbol"/>
              </a:rPr>
              <a:t>P</a:t>
            </a:r>
            <a:r>
              <a:rPr lang="en-US" dirty="0">
                <a:sym typeface="Symbol"/>
              </a:rPr>
              <a:t>  </a:t>
            </a:r>
            <a:r>
              <a:rPr lang="en-US" i="1" dirty="0">
                <a:sym typeface="Symbol"/>
              </a:rPr>
              <a:t>Q</a:t>
            </a:r>
            <a:endParaRPr lang="en-US" i="1" dirty="0"/>
          </a:p>
          <a:p>
            <a:pPr eaLnBrk="1" hangingPunct="1">
              <a:defRPr/>
            </a:pPr>
            <a:endParaRPr lang="nl-NL" dirty="0"/>
          </a:p>
        </p:txBody>
      </p:sp>
      <p:sp>
        <p:nvSpPr>
          <p:cNvPr id="8" name="Tijdelijke aanduiding voor dianumm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BE66A73-7B6F-4BDB-9B5D-0C3841BFD28D}" type="slidenum">
              <a:rPr lang="en-US"/>
              <a:pPr>
                <a:defRPr/>
              </a:pPr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289588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200" dirty="0"/>
              <a:t>The semantic of statements</a:t>
            </a:r>
            <a:endParaRPr lang="nl-NL" sz="3200" dirty="0"/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1313" indent="-341313">
              <a:spcBef>
                <a:spcPts val="600"/>
              </a:spcBef>
              <a:buClr>
                <a:srgbClr val="CC9900"/>
              </a:buClr>
              <a:buSzPct val="65000"/>
              <a:buFont typeface="Wingdings" pitchFamily="2" charset="2"/>
              <a:buChar char="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/>
            </a:pPr>
            <a:r>
              <a:rPr lang="en-US" dirty="0"/>
              <a:t>We model a statement as a function of type </a:t>
            </a:r>
            <a:r>
              <a:rPr lang="en-US" b="1" dirty="0"/>
              <a:t>State</a:t>
            </a:r>
            <a:r>
              <a:rPr lang="en-US" dirty="0"/>
              <a:t> ⟶ </a:t>
            </a:r>
            <a:r>
              <a:rPr lang="en-US" b="1" dirty="0"/>
              <a:t>State. </a:t>
            </a:r>
            <a:br>
              <a:rPr lang="en-US" b="1" dirty="0"/>
            </a:br>
            <a:br>
              <a:rPr lang="en-US" b="1" dirty="0"/>
            </a:br>
            <a:r>
              <a:rPr lang="en-US" dirty="0">
                <a:solidFill>
                  <a:srgbClr val="C00000"/>
                </a:solidFill>
              </a:rPr>
              <a:t>𝒮</a:t>
            </a:r>
            <a:r>
              <a:rPr lang="en-US" dirty="0"/>
              <a:t> : </a:t>
            </a:r>
            <a:r>
              <a:rPr lang="en-US" dirty="0" err="1"/>
              <a:t>stmt</a:t>
            </a:r>
            <a:r>
              <a:rPr lang="en-US" dirty="0"/>
              <a:t> ⟶ (</a:t>
            </a:r>
            <a:r>
              <a:rPr lang="en-US" b="1" dirty="0"/>
              <a:t>State</a:t>
            </a:r>
            <a:r>
              <a:rPr lang="en-US" dirty="0"/>
              <a:t> ⟶ </a:t>
            </a:r>
            <a:r>
              <a:rPr lang="en-US" b="1" dirty="0"/>
              <a:t>State</a:t>
            </a:r>
            <a:r>
              <a:rPr lang="en-US" dirty="0"/>
              <a:t>)</a:t>
            </a:r>
          </a:p>
          <a:p>
            <a:pPr marL="341313" indent="-341313" eaLnBrk="1" hangingPunct="1">
              <a:spcBef>
                <a:spcPts val="600"/>
              </a:spcBef>
              <a:buClr>
                <a:srgbClr val="CC9900"/>
              </a:buClr>
              <a:buSzPct val="65000"/>
              <a:buFont typeface="Wingdings" pitchFamily="2" charset="2"/>
              <a:buChar char="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/>
            </a:pPr>
            <a:endParaRPr lang="en-US" dirty="0"/>
          </a:p>
          <a:p>
            <a:pPr marL="341313" indent="-341313">
              <a:spcBef>
                <a:spcPts val="600"/>
              </a:spcBef>
              <a:buClr>
                <a:srgbClr val="CC9900"/>
              </a:buClr>
              <a:buSzPct val="65000"/>
              <a:buFont typeface="Wingdings" pitchFamily="2" charset="2"/>
              <a:buChar char="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/>
            </a:pPr>
            <a:r>
              <a:rPr lang="en-US" dirty="0"/>
              <a:t>Alternatively: </a:t>
            </a:r>
            <a:r>
              <a:rPr lang="en-US" dirty="0">
                <a:solidFill>
                  <a:srgbClr val="C00000"/>
                </a:solidFill>
              </a:rPr>
              <a:t>𝒮</a:t>
            </a:r>
            <a:r>
              <a:rPr lang="en-US" dirty="0"/>
              <a:t> : </a:t>
            </a:r>
            <a:r>
              <a:rPr lang="en-US" dirty="0" err="1"/>
              <a:t>stmt</a:t>
            </a:r>
            <a:r>
              <a:rPr lang="en-US" dirty="0"/>
              <a:t> ⟶ (</a:t>
            </a:r>
            <a:r>
              <a:rPr lang="en-US" b="1" dirty="0"/>
              <a:t>State</a:t>
            </a:r>
            <a:r>
              <a:rPr lang="en-US" dirty="0"/>
              <a:t> ⟶ </a:t>
            </a:r>
            <a:r>
              <a:rPr lang="en-US" b="1" dirty="0"/>
              <a:t>Pow</a:t>
            </a:r>
            <a:r>
              <a:rPr lang="en-US" dirty="0"/>
              <a:t>(</a:t>
            </a:r>
            <a:r>
              <a:rPr lang="en-US" b="1" dirty="0"/>
              <a:t>State</a:t>
            </a:r>
            <a:r>
              <a:rPr lang="en-US" dirty="0"/>
              <a:t>)) to allow non-determinism.</a:t>
            </a:r>
            <a:br>
              <a:rPr lang="en-US" dirty="0"/>
            </a:br>
            <a:br>
              <a:rPr lang="en-US" dirty="0"/>
            </a:br>
            <a:r>
              <a:rPr lang="en-US" dirty="0"/>
              <a:t>where </a:t>
            </a:r>
            <a:r>
              <a:rPr lang="en-US" b="1" dirty="0"/>
              <a:t>Pow</a:t>
            </a:r>
            <a:r>
              <a:rPr lang="en-US" dirty="0"/>
              <a:t>(</a:t>
            </a:r>
            <a:r>
              <a:rPr lang="en-US" b="1" dirty="0"/>
              <a:t>State</a:t>
            </a:r>
            <a:r>
              <a:rPr lang="en-US" dirty="0"/>
              <a:t>) is the domain of all subsets of </a:t>
            </a:r>
            <a:r>
              <a:rPr lang="en-US" b="1" dirty="0"/>
              <a:t>State</a:t>
            </a:r>
            <a:r>
              <a:rPr lang="en-US" dirty="0"/>
              <a:t>. On this domain, we have: ∩ ∪ ⊆ ⊇</a:t>
            </a:r>
          </a:p>
          <a:p>
            <a:pPr marL="341313" indent="-341313" eaLnBrk="1" hangingPunct="1">
              <a:spcBef>
                <a:spcPts val="600"/>
              </a:spcBef>
              <a:buClr>
                <a:srgbClr val="CC9900"/>
              </a:buClr>
              <a:buSzPct val="65000"/>
              <a:buFont typeface="Wingdings" pitchFamily="2" charset="2"/>
              <a:buChar char="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/>
            </a:pPr>
            <a:endParaRPr lang="en-US" dirty="0"/>
          </a:p>
        </p:txBody>
      </p:sp>
      <p:sp>
        <p:nvSpPr>
          <p:cNvPr id="8" name="Tijdelijke aanduiding voor dianumm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BE66A73-7B6F-4BDB-9B5D-0C3841BFD28D}" type="slidenum">
              <a:rPr lang="en-US"/>
              <a:pPr>
                <a:defRPr/>
              </a:pPr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257497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The semantic of statements</a:t>
            </a:r>
            <a:br>
              <a:rPr lang="en-US" dirty="0"/>
            </a:br>
            <a:r>
              <a:rPr lang="en-US" dirty="0"/>
              <a:t>(deterministic)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>
                <a:solidFill>
                  <a:srgbClr val="C00000"/>
                </a:solidFill>
              </a:rPr>
              <a:t>𝒮</a:t>
            </a:r>
            <a:r>
              <a:rPr lang="en-US" dirty="0"/>
              <a:t> ⟦</a:t>
            </a:r>
            <a:r>
              <a:rPr lang="en-US" b="1" dirty="0">
                <a:solidFill>
                  <a:srgbClr val="000000"/>
                </a:solidFill>
              </a:rPr>
              <a:t>skip</a:t>
            </a:r>
            <a:r>
              <a:rPr lang="en-US" dirty="0"/>
              <a:t>⟧      =  (𝜆</a:t>
            </a:r>
            <a:r>
              <a:rPr lang="en-US" i="1" dirty="0"/>
              <a:t>s</a:t>
            </a:r>
            <a:r>
              <a:rPr lang="en-US" dirty="0"/>
              <a:t>. </a:t>
            </a:r>
            <a:r>
              <a:rPr lang="en-US" i="1" dirty="0">
                <a:solidFill>
                  <a:srgbClr val="000000"/>
                </a:solidFill>
                <a:sym typeface="Symbol"/>
              </a:rPr>
              <a:t>s</a:t>
            </a:r>
            <a:r>
              <a:rPr lang="en-US" dirty="0">
                <a:solidFill>
                  <a:srgbClr val="000000"/>
                </a:solidFill>
                <a:sym typeface="Symbol"/>
              </a:rPr>
              <a:t>)</a:t>
            </a:r>
            <a:r>
              <a:rPr lang="en-US" dirty="0"/>
              <a:t> </a:t>
            </a:r>
            <a:br>
              <a:rPr lang="en-US" dirty="0"/>
            </a:br>
            <a:endParaRPr lang="en-US" dirty="0"/>
          </a:p>
          <a:p>
            <a:r>
              <a:rPr lang="en-US" dirty="0">
                <a:solidFill>
                  <a:srgbClr val="C00000"/>
                </a:solidFill>
              </a:rPr>
              <a:t>𝒮</a:t>
            </a:r>
            <a:r>
              <a:rPr lang="en-US" dirty="0"/>
              <a:t> ⟦ </a:t>
            </a:r>
            <a:r>
              <a:rPr lang="en-US" dirty="0">
                <a:solidFill>
                  <a:srgbClr val="000000"/>
                </a:solidFill>
              </a:rPr>
              <a:t>x := e </a:t>
            </a:r>
            <a:r>
              <a:rPr lang="en-US" dirty="0"/>
              <a:t>⟧  =  (𝜆s. </a:t>
            </a:r>
            <a:r>
              <a:rPr lang="en-US" b="1" dirty="0">
                <a:solidFill>
                  <a:srgbClr val="000000"/>
                </a:solidFill>
                <a:sym typeface="Symbol"/>
              </a:rPr>
              <a:t>update</a:t>
            </a:r>
            <a:r>
              <a:rPr lang="en-US" dirty="0">
                <a:solidFill>
                  <a:srgbClr val="000000"/>
                </a:solidFill>
                <a:sym typeface="Symbol"/>
              </a:rPr>
              <a:t> s x  (</a:t>
            </a:r>
            <a:r>
              <a:rPr lang="en-US" dirty="0">
                <a:solidFill>
                  <a:srgbClr val="C00000"/>
                </a:solidFill>
              </a:rPr>
              <a:t>ℰ</a:t>
            </a:r>
            <a:r>
              <a:rPr lang="en-US" dirty="0"/>
              <a:t> ⟦ </a:t>
            </a:r>
            <a:r>
              <a:rPr lang="en-US" dirty="0">
                <a:solidFill>
                  <a:srgbClr val="000000"/>
                </a:solidFill>
              </a:rPr>
              <a:t>e </a:t>
            </a:r>
            <a:r>
              <a:rPr lang="en-US" dirty="0"/>
              <a:t>⟧ s) )</a:t>
            </a:r>
            <a:br>
              <a:rPr lang="en-US" dirty="0"/>
            </a:br>
            <a:br>
              <a:rPr lang="en-US" dirty="0"/>
            </a:br>
            <a:r>
              <a:rPr lang="en-US" dirty="0"/>
              <a:t>where: </a:t>
            </a:r>
            <a:r>
              <a:rPr lang="en-US" b="1" dirty="0"/>
              <a:t>update</a:t>
            </a:r>
            <a:r>
              <a:rPr lang="en-US" dirty="0"/>
              <a:t> s x </a:t>
            </a:r>
            <a:r>
              <a:rPr lang="en-US" dirty="0">
                <a:solidFill>
                  <a:srgbClr val="0070C0"/>
                </a:solidFill>
              </a:rPr>
              <a:t>value</a:t>
            </a:r>
            <a:r>
              <a:rPr lang="en-US" dirty="0"/>
              <a:t> = (𝜆</a:t>
            </a:r>
            <a:r>
              <a:rPr lang="en-US" i="1" dirty="0" err="1"/>
              <a:t>varname</a:t>
            </a:r>
            <a:r>
              <a:rPr lang="en-US" dirty="0"/>
              <a:t>. </a:t>
            </a:r>
            <a:r>
              <a:rPr lang="en-US" b="1" dirty="0"/>
              <a:t>if</a:t>
            </a:r>
            <a:r>
              <a:rPr lang="en-US" dirty="0"/>
              <a:t> </a:t>
            </a:r>
            <a:r>
              <a:rPr lang="en-US" i="1" dirty="0" err="1"/>
              <a:t>varname</a:t>
            </a:r>
            <a:r>
              <a:rPr lang="en-US" dirty="0"/>
              <a:t>=x </a:t>
            </a:r>
            <a:r>
              <a:rPr lang="en-US" b="1" dirty="0"/>
              <a:t>then</a:t>
            </a:r>
            <a:r>
              <a:rPr lang="en-US" dirty="0"/>
              <a:t> </a:t>
            </a:r>
            <a:r>
              <a:rPr lang="en-US" dirty="0">
                <a:solidFill>
                  <a:srgbClr val="0070C0"/>
                </a:solidFill>
              </a:rPr>
              <a:t>value</a:t>
            </a:r>
            <a:r>
              <a:rPr lang="en-US" dirty="0"/>
              <a:t> </a:t>
            </a:r>
            <a:r>
              <a:rPr lang="en-US" b="1" dirty="0"/>
              <a:t>else</a:t>
            </a:r>
            <a:r>
              <a:rPr lang="en-US" dirty="0"/>
              <a:t> s </a:t>
            </a:r>
            <a:r>
              <a:rPr lang="en-US" i="1" dirty="0" err="1"/>
              <a:t>varname</a:t>
            </a:r>
            <a:r>
              <a:rPr lang="en-US" dirty="0"/>
              <a:t>)</a:t>
            </a:r>
          </a:p>
          <a:p>
            <a:endParaRPr lang="en-US" dirty="0"/>
          </a:p>
          <a:p>
            <a:r>
              <a:rPr lang="en-US" dirty="0"/>
              <a:t> </a:t>
            </a:r>
            <a:r>
              <a:rPr lang="en-US" dirty="0">
                <a:solidFill>
                  <a:srgbClr val="C00000"/>
                </a:solidFill>
              </a:rPr>
              <a:t>𝒮</a:t>
            </a:r>
            <a:r>
              <a:rPr lang="en-US" dirty="0"/>
              <a:t> ⟦ S</a:t>
            </a:r>
            <a:r>
              <a:rPr lang="en-US" baseline="-25000" dirty="0"/>
              <a:t>1</a:t>
            </a:r>
            <a:r>
              <a:rPr lang="en-US" dirty="0"/>
              <a:t> ; S</a:t>
            </a:r>
            <a:r>
              <a:rPr lang="en-US" baseline="-25000" dirty="0"/>
              <a:t>2</a:t>
            </a:r>
            <a:r>
              <a:rPr lang="en-US" dirty="0"/>
              <a:t> ⟧  =  (𝜆s.   </a:t>
            </a:r>
            <a:r>
              <a:rPr lang="en-US" dirty="0">
                <a:solidFill>
                  <a:srgbClr val="C00000"/>
                </a:solidFill>
              </a:rPr>
              <a:t>𝒮</a:t>
            </a:r>
            <a:r>
              <a:rPr lang="en-US" dirty="0"/>
              <a:t> ⟦ S</a:t>
            </a:r>
            <a:r>
              <a:rPr lang="en-US" baseline="-25000" dirty="0"/>
              <a:t>2</a:t>
            </a:r>
            <a:r>
              <a:rPr lang="en-US" dirty="0"/>
              <a:t> ⟧  (</a:t>
            </a:r>
            <a:r>
              <a:rPr lang="en-US" dirty="0">
                <a:solidFill>
                  <a:srgbClr val="C00000"/>
                </a:solidFill>
              </a:rPr>
              <a:t>𝒮</a:t>
            </a:r>
            <a:r>
              <a:rPr lang="en-US" dirty="0"/>
              <a:t> ⟦ S</a:t>
            </a:r>
            <a:r>
              <a:rPr lang="en-US" baseline="-25000" dirty="0"/>
              <a:t>1</a:t>
            </a:r>
            <a:r>
              <a:rPr lang="en-US" dirty="0"/>
              <a:t> ⟧ s) )</a:t>
            </a:r>
          </a:p>
          <a:p>
            <a:endParaRPr lang="en-US" dirty="0"/>
          </a:p>
          <a:p>
            <a:r>
              <a:rPr lang="en-US" dirty="0"/>
              <a:t>We can now “execute” a program over our model-states. We can also study properties about programs by studying their semantical models.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8A332FB-769C-4CBB-BDDE-0DC26211CC04}" type="slidenum">
              <a:rPr lang="en-US" smtClean="0"/>
              <a:pPr>
                <a:defRPr/>
              </a:pPr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267126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Semantic of Hoare Triple</a:t>
            </a:r>
            <a:br>
              <a:rPr lang="en-US" dirty="0"/>
            </a:br>
            <a:r>
              <a:rPr lang="en-US" dirty="0"/>
              <a:t>(deterministic)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383957"/>
            <a:ext cx="7772400" cy="5126571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en-US" dirty="0">
                <a:solidFill>
                  <a:srgbClr val="0070C0"/>
                </a:solidFill>
              </a:rPr>
              <a:t>ℋ</a:t>
            </a:r>
            <a:r>
              <a:rPr lang="en-US" dirty="0"/>
              <a:t> : Hoare-triple ⟶ bool</a:t>
            </a:r>
            <a:br>
              <a:rPr lang="en-US" dirty="0"/>
            </a:br>
            <a:br>
              <a:rPr lang="en-US" dirty="0"/>
            </a:br>
            <a:r>
              <a:rPr lang="en-US" dirty="0">
                <a:solidFill>
                  <a:srgbClr val="0070C0"/>
                </a:solidFill>
              </a:rPr>
              <a:t>ℋ</a:t>
            </a:r>
            <a:r>
              <a:rPr lang="en-US" dirty="0"/>
              <a:t>( {P}  S  {Q} )     =    ∀s:  </a:t>
            </a:r>
            <a:r>
              <a:rPr lang="en-US" dirty="0">
                <a:solidFill>
                  <a:srgbClr val="C00000"/>
                </a:solidFill>
              </a:rPr>
              <a:t>ℰ</a:t>
            </a:r>
            <a:r>
              <a:rPr lang="en-US" dirty="0"/>
              <a:t>⟦P⟧ s : </a:t>
            </a:r>
            <a:r>
              <a:rPr lang="en-US" dirty="0">
                <a:solidFill>
                  <a:srgbClr val="C00000"/>
                </a:solidFill>
              </a:rPr>
              <a:t>ℰ</a:t>
            </a:r>
            <a:r>
              <a:rPr lang="en-US" dirty="0"/>
              <a:t>⟦Q⟧ (</a:t>
            </a:r>
            <a:r>
              <a:rPr lang="en-US" dirty="0">
                <a:solidFill>
                  <a:srgbClr val="C00000"/>
                </a:solidFill>
              </a:rPr>
              <a:t>𝒮</a:t>
            </a:r>
            <a:r>
              <a:rPr lang="en-US" dirty="0"/>
              <a:t>⟦</a:t>
            </a:r>
            <a:r>
              <a:rPr lang="en-US" i="1" dirty="0">
                <a:solidFill>
                  <a:srgbClr val="000000"/>
                </a:solidFill>
              </a:rPr>
              <a:t>S</a:t>
            </a:r>
            <a:r>
              <a:rPr lang="en-US" dirty="0"/>
              <a:t>⟧ s)</a:t>
            </a:r>
          </a:p>
          <a:p>
            <a:endParaRPr lang="en-US" dirty="0"/>
          </a:p>
          <a:p>
            <a:r>
              <a:rPr lang="en-US" dirty="0"/>
              <a:t>wlp is sound and complete if:</a:t>
            </a:r>
            <a:br>
              <a:rPr lang="en-US" dirty="0"/>
            </a:br>
            <a:br>
              <a:rPr lang="en-US" dirty="0"/>
            </a:br>
            <a:r>
              <a:rPr lang="en-US" dirty="0"/>
              <a:t>  {P}  S  {Q}   if and only if  P ⇒ </a:t>
            </a:r>
            <a:r>
              <a:rPr lang="en-US" b="1" dirty="0"/>
              <a:t>wlp</a:t>
            </a:r>
            <a:r>
              <a:rPr lang="en-US" dirty="0"/>
              <a:t> S Q is valid</a:t>
            </a:r>
          </a:p>
          <a:p>
            <a:endParaRPr lang="en-US" dirty="0"/>
          </a:p>
          <a:p>
            <a:r>
              <a:rPr lang="en-US" dirty="0"/>
              <a:t>In comes down to proving that: for all state s, and post-cond Q:   </a:t>
            </a:r>
            <a:br>
              <a:rPr lang="en-US" dirty="0"/>
            </a:br>
            <a:br>
              <a:rPr lang="en-US" dirty="0"/>
            </a:br>
            <a:r>
              <a:rPr lang="en-US" dirty="0"/>
              <a:t>	</a:t>
            </a:r>
            <a:r>
              <a:rPr lang="en-US" dirty="0">
                <a:solidFill>
                  <a:srgbClr val="C00000"/>
                </a:solidFill>
              </a:rPr>
              <a:t>ℰ</a:t>
            </a:r>
            <a:r>
              <a:rPr lang="en-US" dirty="0"/>
              <a:t>⟦Q⟧ (</a:t>
            </a:r>
            <a:r>
              <a:rPr lang="en-US" dirty="0">
                <a:solidFill>
                  <a:srgbClr val="C00000"/>
                </a:solidFill>
              </a:rPr>
              <a:t>𝒮</a:t>
            </a:r>
            <a:r>
              <a:rPr lang="en-US" dirty="0"/>
              <a:t>⟦</a:t>
            </a:r>
            <a:r>
              <a:rPr lang="en-US" i="1" dirty="0">
                <a:solidFill>
                  <a:srgbClr val="000000"/>
                </a:solidFill>
              </a:rPr>
              <a:t>S</a:t>
            </a:r>
            <a:r>
              <a:rPr lang="en-US" dirty="0"/>
              <a:t>⟧s)  if and only if </a:t>
            </a:r>
            <a:r>
              <a:rPr lang="en-US" dirty="0">
                <a:solidFill>
                  <a:srgbClr val="C00000"/>
                </a:solidFill>
              </a:rPr>
              <a:t>ℰ</a:t>
            </a:r>
            <a:r>
              <a:rPr lang="en-US" dirty="0"/>
              <a:t>⟦ </a:t>
            </a:r>
            <a:r>
              <a:rPr lang="en-US" b="1" dirty="0"/>
              <a:t>wlp</a:t>
            </a:r>
            <a:r>
              <a:rPr lang="en-US" dirty="0"/>
              <a:t> S Q ⟧ s</a:t>
            </a:r>
            <a:br>
              <a:rPr lang="en-US" dirty="0"/>
            </a:br>
            <a:br>
              <a:rPr lang="en-US" dirty="0"/>
            </a:br>
            <a:r>
              <a:rPr lang="en-US" dirty="0"/>
              <a:t>Can be proven inductively over the structure of 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8A332FB-769C-4CBB-BDDE-0DC26211CC04}" type="slidenum">
              <a:rPr lang="en-US" smtClean="0"/>
              <a:pPr>
                <a:defRPr/>
              </a:pPr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329893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 to Dealing with loop</a:t>
            </a:r>
          </a:p>
        </p:txBody>
      </p:sp>
      <p:sp>
        <p:nvSpPr>
          <p:cNvPr id="24579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Unfortunately, no general way to calculate </a:t>
            </a:r>
            <a:r>
              <a:rPr lang="en-US" b="1" dirty="0" err="1"/>
              <a:t>wlp</a:t>
            </a:r>
            <a:r>
              <a:rPr lang="en-US" dirty="0"/>
              <a:t> of loops.</a:t>
            </a:r>
          </a:p>
          <a:p>
            <a:r>
              <a:rPr lang="en-US" dirty="0"/>
              <a:t>For annotated loop, let’s “define” :</a:t>
            </a:r>
            <a:br>
              <a:rPr lang="en-US" dirty="0"/>
            </a:br>
            <a:br>
              <a:rPr lang="en-US" dirty="0"/>
            </a:br>
            <a:r>
              <a:rPr lang="en-US" b="1" dirty="0" err="1">
                <a:solidFill>
                  <a:srgbClr val="FF0000"/>
                </a:solidFill>
              </a:rPr>
              <a:t>wlp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/>
              <a:t>(</a:t>
            </a:r>
            <a:r>
              <a:rPr lang="en-US" b="1" dirty="0"/>
              <a:t>inv </a:t>
            </a:r>
            <a:r>
              <a:rPr lang="en-US" i="1" dirty="0"/>
              <a:t>I</a:t>
            </a:r>
            <a:r>
              <a:rPr lang="en-US" b="1" dirty="0"/>
              <a:t> while </a:t>
            </a:r>
            <a:r>
              <a:rPr lang="en-US" i="1" dirty="0"/>
              <a:t>g </a:t>
            </a:r>
            <a:r>
              <a:rPr lang="en-US" b="1" dirty="0"/>
              <a:t>do </a:t>
            </a:r>
            <a:r>
              <a:rPr lang="en-US" dirty="0"/>
              <a:t>S)  </a:t>
            </a:r>
            <a:r>
              <a:rPr lang="en-US" i="1" dirty="0"/>
              <a:t>Q</a:t>
            </a:r>
            <a:r>
              <a:rPr lang="en-US" dirty="0"/>
              <a:t>   =   </a:t>
            </a:r>
            <a:r>
              <a:rPr lang="en-US" i="1" dirty="0"/>
              <a:t>I</a:t>
            </a:r>
            <a:r>
              <a:rPr lang="en-US" dirty="0"/>
              <a:t>   ,  provided</a:t>
            </a:r>
          </a:p>
          <a:p>
            <a:pPr lvl="1"/>
            <a:r>
              <a:rPr lang="en-US" i="1" dirty="0"/>
              <a:t>I</a:t>
            </a:r>
            <a:r>
              <a:rPr lang="en-US" dirty="0"/>
              <a:t>  /\  </a:t>
            </a:r>
            <a:r>
              <a:rPr lang="en-US" dirty="0">
                <a:sym typeface="Symbol" pitchFamily="18" charset="2"/>
              </a:rPr>
              <a:t></a:t>
            </a:r>
            <a:r>
              <a:rPr lang="en-US" i="1" dirty="0">
                <a:sym typeface="Symbol" pitchFamily="18" charset="2"/>
              </a:rPr>
              <a:t>g</a:t>
            </a:r>
            <a:r>
              <a:rPr lang="en-US" dirty="0">
                <a:sym typeface="Symbol" pitchFamily="18" charset="2"/>
              </a:rPr>
              <a:t>   </a:t>
            </a:r>
            <a:r>
              <a:rPr lang="en-US" i="1" dirty="0">
                <a:sym typeface="Symbol" pitchFamily="18" charset="2"/>
              </a:rPr>
              <a:t>Q</a:t>
            </a:r>
          </a:p>
          <a:p>
            <a:pPr lvl="1"/>
            <a:r>
              <a:rPr lang="en-US" i="1" dirty="0"/>
              <a:t>I</a:t>
            </a:r>
            <a:r>
              <a:rPr lang="en-US" dirty="0"/>
              <a:t>  /\  </a:t>
            </a:r>
            <a:r>
              <a:rPr lang="en-US" i="1" dirty="0">
                <a:sym typeface="Symbol" pitchFamily="18" charset="2"/>
              </a:rPr>
              <a:t>g</a:t>
            </a:r>
            <a:r>
              <a:rPr lang="en-US" dirty="0">
                <a:sym typeface="Symbol" pitchFamily="18" charset="2"/>
              </a:rPr>
              <a:t>      </a:t>
            </a:r>
            <a:r>
              <a:rPr lang="en-US" b="1" dirty="0" err="1">
                <a:solidFill>
                  <a:srgbClr val="FF0000"/>
                </a:solidFill>
                <a:sym typeface="Symbol" pitchFamily="18" charset="2"/>
              </a:rPr>
              <a:t>wlp</a:t>
            </a:r>
            <a:r>
              <a:rPr lang="en-US" b="1" dirty="0">
                <a:solidFill>
                  <a:srgbClr val="FF0000"/>
                </a:solidFill>
                <a:sym typeface="Symbol" pitchFamily="18" charset="2"/>
              </a:rPr>
              <a:t> </a:t>
            </a:r>
            <a:r>
              <a:rPr lang="en-US" dirty="0">
                <a:sym typeface="Symbol" pitchFamily="18" charset="2"/>
              </a:rPr>
              <a:t>S </a:t>
            </a:r>
            <a:r>
              <a:rPr lang="en-US" i="1" dirty="0">
                <a:sym typeface="Symbol" pitchFamily="18" charset="2"/>
              </a:rPr>
              <a:t>I</a:t>
            </a:r>
          </a:p>
          <a:p>
            <a:pPr lvl="1"/>
            <a:endParaRPr lang="en-US" i="1" dirty="0">
              <a:sym typeface="Symbol" pitchFamily="18" charset="2"/>
            </a:endParaRPr>
          </a:p>
          <a:p>
            <a:pPr marL="0" indent="0">
              <a:buNone/>
            </a:pPr>
            <a:r>
              <a:rPr lang="en-US" sz="2000" dirty="0">
                <a:sym typeface="Symbol" pitchFamily="18" charset="2"/>
              </a:rPr>
              <a:t>Note that this gives a sound pre-</a:t>
            </a:r>
            <a:r>
              <a:rPr lang="en-US" sz="2000" dirty="0" err="1">
                <a:sym typeface="Symbol" pitchFamily="18" charset="2"/>
              </a:rPr>
              <a:t>cond</a:t>
            </a:r>
            <a:r>
              <a:rPr lang="en-US" sz="2000" dirty="0">
                <a:sym typeface="Symbol" pitchFamily="18" charset="2"/>
              </a:rPr>
              <a:t>, but does not necessarily give the weakest pre-cond. </a:t>
            </a:r>
          </a:p>
          <a:p>
            <a:pPr lvl="1"/>
            <a:endParaRPr lang="en-US" dirty="0">
              <a:sym typeface="Symbol" pitchFamily="18" charset="2"/>
            </a:endParaRPr>
          </a:p>
          <a:p>
            <a:pPr lvl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5357A4D-050C-401B-9FA6-443CD1C3F6FA}" type="slidenum">
              <a:rPr lang="en-US" smtClean="0"/>
              <a:pPr>
                <a:defRPr/>
              </a:pPr>
              <a:t>37</a:t>
            </a:fld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if there is no I annotated 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Heuristics to construct invariants e.g. based on the form of the post-condition → not in scope.</a:t>
            </a:r>
          </a:p>
          <a:p>
            <a:r>
              <a:rPr lang="en-US" dirty="0"/>
              <a:t>Dynamically infer invariants → not in scope.</a:t>
            </a:r>
          </a:p>
          <a:p>
            <a:r>
              <a:rPr lang="en-US" dirty="0"/>
              <a:t>Ask an LLM </a:t>
            </a:r>
            <a:r>
              <a:rPr lang="en-US" dirty="0">
                <a:sym typeface="Wingdings" pitchFamily="2" charset="2"/>
              </a:rPr>
              <a:t> not in scope.</a:t>
            </a:r>
            <a:endParaRPr lang="en-US" dirty="0"/>
          </a:p>
          <a:p>
            <a:r>
              <a:rPr lang="en-US" dirty="0"/>
              <a:t>Non-heuristic approaches, simple; can be used as starting points.</a:t>
            </a:r>
          </a:p>
          <a:p>
            <a:pPr lvl="1"/>
            <a:r>
              <a:rPr lang="en-US" dirty="0"/>
              <a:t>Fix point based </a:t>
            </a:r>
          </a:p>
          <a:p>
            <a:pPr lvl="1"/>
            <a:r>
              <a:rPr lang="en-US" dirty="0"/>
              <a:t>Unfolding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48220AE-4ABF-4647-9677-DBC7878747C7}" type="slidenum">
              <a:rPr lang="en-US" smtClean="0"/>
              <a:pPr>
                <a:defRPr/>
              </a:pPr>
              <a:t>38</a:t>
            </a:fld>
            <a:endParaRPr 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wlp</a:t>
            </a:r>
            <a:r>
              <a:rPr lang="en-US" dirty="0"/>
              <a:t> as fix point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383957"/>
            <a:ext cx="7772400" cy="4971123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Note this first:</a:t>
            </a:r>
            <a:endParaRPr lang="en-US" b="1" dirty="0"/>
          </a:p>
          <a:p>
            <a:pPr>
              <a:buNone/>
            </a:pPr>
            <a:r>
              <a:rPr lang="en-US" b="1" dirty="0"/>
              <a:t>       while</a:t>
            </a:r>
            <a:r>
              <a:rPr lang="en-US" dirty="0"/>
              <a:t> </a:t>
            </a:r>
            <a:r>
              <a:rPr lang="en-US" i="1" dirty="0"/>
              <a:t>g</a:t>
            </a:r>
            <a:r>
              <a:rPr lang="en-US" dirty="0"/>
              <a:t> </a:t>
            </a:r>
            <a:r>
              <a:rPr lang="en-US" b="1" dirty="0"/>
              <a:t>do</a:t>
            </a:r>
            <a:r>
              <a:rPr lang="en-US" dirty="0"/>
              <a:t> S  </a:t>
            </a:r>
            <a:br>
              <a:rPr lang="en-US" dirty="0"/>
            </a:br>
            <a:r>
              <a:rPr lang="en-US" dirty="0"/>
              <a:t>    </a:t>
            </a:r>
            <a:r>
              <a:rPr lang="en-US" dirty="0">
                <a:sym typeface="Symbol"/>
              </a:rPr>
              <a:t>  </a:t>
            </a:r>
            <a:br>
              <a:rPr lang="en-US" dirty="0">
                <a:sym typeface="Symbol"/>
              </a:rPr>
            </a:br>
            <a:r>
              <a:rPr lang="en-US" dirty="0">
                <a:sym typeface="Symbol"/>
              </a:rPr>
              <a:t>    </a:t>
            </a:r>
            <a:r>
              <a:rPr lang="en-US" b="1" dirty="0">
                <a:sym typeface="Symbol"/>
              </a:rPr>
              <a:t>if</a:t>
            </a:r>
            <a:r>
              <a:rPr lang="en-US" dirty="0">
                <a:sym typeface="Symbol"/>
              </a:rPr>
              <a:t> g </a:t>
            </a:r>
            <a:r>
              <a:rPr lang="en-US" b="1" dirty="0">
                <a:sym typeface="Symbol"/>
              </a:rPr>
              <a:t>then</a:t>
            </a:r>
            <a:r>
              <a:rPr lang="en-US" dirty="0">
                <a:sym typeface="Symbol"/>
              </a:rPr>
              <a:t> { S ; </a:t>
            </a:r>
            <a:r>
              <a:rPr lang="en-US" b="1" dirty="0">
                <a:sym typeface="Symbol"/>
              </a:rPr>
              <a:t>while</a:t>
            </a:r>
            <a:r>
              <a:rPr lang="en-US" dirty="0">
                <a:sym typeface="Symbol"/>
              </a:rPr>
              <a:t> </a:t>
            </a:r>
            <a:r>
              <a:rPr lang="en-US" i="1" dirty="0">
                <a:sym typeface="Symbol"/>
              </a:rPr>
              <a:t>g</a:t>
            </a:r>
            <a:r>
              <a:rPr lang="en-US" dirty="0">
                <a:sym typeface="Symbol"/>
              </a:rPr>
              <a:t> </a:t>
            </a:r>
            <a:r>
              <a:rPr lang="en-US" b="1" dirty="0">
                <a:sym typeface="Symbol"/>
              </a:rPr>
              <a:t>do</a:t>
            </a:r>
            <a:r>
              <a:rPr lang="en-US" dirty="0">
                <a:sym typeface="Symbol"/>
              </a:rPr>
              <a:t> S } </a:t>
            </a:r>
            <a:r>
              <a:rPr lang="en-US" b="1" dirty="0">
                <a:sym typeface="Symbol"/>
              </a:rPr>
              <a:t>else</a:t>
            </a:r>
            <a:r>
              <a:rPr lang="en-US" dirty="0"/>
              <a:t>  skip</a:t>
            </a:r>
          </a:p>
          <a:p>
            <a:endParaRPr lang="en-US" dirty="0"/>
          </a:p>
          <a:p>
            <a:r>
              <a:rPr lang="en-US" dirty="0"/>
              <a:t>let </a:t>
            </a:r>
            <a:r>
              <a:rPr lang="en-US" i="1" dirty="0"/>
              <a:t>W  </a:t>
            </a:r>
            <a:r>
              <a:rPr lang="en-US" dirty="0"/>
              <a:t>=  </a:t>
            </a:r>
            <a:r>
              <a:rPr lang="en-US" b="1" dirty="0" err="1"/>
              <a:t>wlp</a:t>
            </a:r>
            <a:r>
              <a:rPr lang="en-US" dirty="0"/>
              <a:t> </a:t>
            </a:r>
            <a:r>
              <a:rPr lang="en-US" i="1" dirty="0"/>
              <a:t>loop</a:t>
            </a:r>
            <a:r>
              <a:rPr lang="en-US" dirty="0"/>
              <a:t> </a:t>
            </a:r>
            <a:r>
              <a:rPr lang="en-US" i="1" dirty="0"/>
              <a:t>Q</a:t>
            </a:r>
            <a:r>
              <a:rPr lang="en-US" dirty="0"/>
              <a:t>. </a:t>
            </a:r>
          </a:p>
          <a:p>
            <a:pPr marL="0" indent="0">
              <a:buNone/>
            </a:pPr>
            <a:r>
              <a:rPr lang="en-US" dirty="0"/>
              <a:t>              =  (</a:t>
            </a:r>
            <a:r>
              <a:rPr lang="en-US" i="1" dirty="0"/>
              <a:t>g</a:t>
            </a:r>
            <a:r>
              <a:rPr lang="en-US" dirty="0"/>
              <a:t>  ⇒  </a:t>
            </a:r>
            <a:r>
              <a:rPr lang="en-US" b="1" dirty="0" err="1"/>
              <a:t>wlp</a:t>
            </a:r>
            <a:r>
              <a:rPr lang="en-US" dirty="0"/>
              <a:t> S (</a:t>
            </a:r>
            <a:r>
              <a:rPr lang="en-US" b="1" dirty="0" err="1"/>
              <a:t>wlp</a:t>
            </a:r>
            <a:r>
              <a:rPr lang="en-US" dirty="0"/>
              <a:t> </a:t>
            </a:r>
            <a:r>
              <a:rPr lang="en-US" i="1" dirty="0"/>
              <a:t>loop</a:t>
            </a:r>
            <a:r>
              <a:rPr lang="en-US" dirty="0"/>
              <a:t> Q)) /\ (</a:t>
            </a:r>
            <a:r>
              <a:rPr lang="en-US" dirty="0">
                <a:sym typeface="Symbol"/>
              </a:rPr>
              <a:t></a:t>
            </a:r>
            <a:r>
              <a:rPr lang="en-US" i="1" dirty="0">
                <a:sym typeface="Symbol"/>
              </a:rPr>
              <a:t>g</a:t>
            </a:r>
            <a:r>
              <a:rPr lang="en-US" dirty="0">
                <a:sym typeface="Symbol"/>
              </a:rPr>
              <a:t> </a:t>
            </a:r>
            <a:r>
              <a:rPr lang="en-US" dirty="0"/>
              <a:t>⇒</a:t>
            </a:r>
            <a:r>
              <a:rPr lang="en-US" dirty="0">
                <a:sym typeface="Symbol"/>
              </a:rPr>
              <a:t> </a:t>
            </a:r>
            <a:r>
              <a:rPr lang="en-US" i="1" dirty="0">
                <a:sym typeface="Symbol"/>
              </a:rPr>
              <a:t>Q</a:t>
            </a:r>
            <a:r>
              <a:rPr lang="en-US" dirty="0">
                <a:sym typeface="Symbol"/>
              </a:rPr>
              <a:t>)</a:t>
            </a:r>
            <a:r>
              <a:rPr lang="en-US" dirty="0"/>
              <a:t> </a:t>
            </a:r>
          </a:p>
          <a:p>
            <a:pPr marL="0" indent="0">
              <a:buNone/>
            </a:pPr>
            <a:br>
              <a:rPr lang="en-US" dirty="0"/>
            </a:br>
            <a:r>
              <a:rPr lang="en-US" dirty="0"/>
              <a:t>    </a:t>
            </a:r>
            <a:r>
              <a:rPr lang="en-US" i="1" dirty="0"/>
              <a:t>   </a:t>
            </a:r>
            <a:r>
              <a:rPr lang="en-US" dirty="0"/>
              <a:t>      =  (</a:t>
            </a:r>
            <a:r>
              <a:rPr lang="en-US" i="1" dirty="0"/>
              <a:t>g</a:t>
            </a:r>
            <a:r>
              <a:rPr lang="en-US" dirty="0"/>
              <a:t>  /\  </a:t>
            </a:r>
            <a:r>
              <a:rPr lang="en-US" b="1" dirty="0" err="1"/>
              <a:t>wlp</a:t>
            </a:r>
            <a:r>
              <a:rPr lang="en-US" dirty="0"/>
              <a:t> S (</a:t>
            </a:r>
            <a:r>
              <a:rPr lang="en-US" b="1" dirty="0" err="1"/>
              <a:t>wlp</a:t>
            </a:r>
            <a:r>
              <a:rPr lang="en-US" dirty="0"/>
              <a:t> </a:t>
            </a:r>
            <a:r>
              <a:rPr lang="en-US" i="1" dirty="0"/>
              <a:t>loop</a:t>
            </a:r>
            <a:r>
              <a:rPr lang="en-US" dirty="0"/>
              <a:t> Q)) \/ (</a:t>
            </a:r>
            <a:r>
              <a:rPr lang="en-US" dirty="0">
                <a:sym typeface="Symbol"/>
              </a:rPr>
              <a:t></a:t>
            </a:r>
            <a:r>
              <a:rPr lang="en-US" i="1" dirty="0">
                <a:sym typeface="Symbol"/>
              </a:rPr>
              <a:t>g</a:t>
            </a:r>
            <a:r>
              <a:rPr lang="en-US" dirty="0">
                <a:sym typeface="Symbol"/>
              </a:rPr>
              <a:t> /\ </a:t>
            </a:r>
            <a:r>
              <a:rPr lang="en-US" i="1" dirty="0">
                <a:sym typeface="Symbol"/>
              </a:rPr>
              <a:t>Q</a:t>
            </a:r>
            <a:r>
              <a:rPr lang="en-US" dirty="0">
                <a:sym typeface="Symbol"/>
              </a:rPr>
              <a:t>)</a:t>
            </a:r>
            <a:r>
              <a:rPr lang="en-US" dirty="0"/>
              <a:t> 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We are looking for the “weakest” solution of </a:t>
            </a:r>
            <a:r>
              <a:rPr lang="en-US" i="1" dirty="0"/>
              <a:t>W</a:t>
            </a:r>
            <a:r>
              <a:rPr lang="en-US" dirty="0"/>
              <a:t> = </a:t>
            </a:r>
            <a:r>
              <a:rPr lang="en-US" b="1" dirty="0"/>
              <a:t>F</a:t>
            </a:r>
            <a:r>
              <a:rPr lang="en-US" dirty="0"/>
              <a:t>(</a:t>
            </a:r>
            <a:r>
              <a:rPr lang="en-US" i="1" dirty="0"/>
              <a:t>W</a:t>
            </a:r>
            <a:r>
              <a:rPr lang="en-US" dirty="0"/>
              <a:t>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48220AE-4ABF-4647-9677-DBC7878747C7}" type="slidenum">
              <a:rPr lang="en-US" smtClean="0"/>
              <a:pPr>
                <a:defRPr/>
              </a:pPr>
              <a:t>39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4154906" y="1216967"/>
            <a:ext cx="73129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loop</a:t>
            </a:r>
          </a:p>
        </p:txBody>
      </p:sp>
      <p:sp>
        <p:nvSpPr>
          <p:cNvPr id="6" name="Rectangle 5"/>
          <p:cNvSpPr/>
          <p:nvPr/>
        </p:nvSpPr>
        <p:spPr>
          <a:xfrm>
            <a:off x="1041123" y="1650649"/>
            <a:ext cx="1840460" cy="465221"/>
          </a:xfrm>
          <a:prstGeom prst="rect">
            <a:avLst/>
          </a:prstGeom>
          <a:noFill/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616368" y="2196433"/>
            <a:ext cx="1664704" cy="465221"/>
          </a:xfrm>
          <a:prstGeom prst="rect">
            <a:avLst/>
          </a:prstGeom>
          <a:noFill/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Connector 8"/>
          <p:cNvCxnSpPr>
            <a:stCxn id="6" idx="3"/>
            <a:endCxn id="5" idx="1"/>
          </p:cNvCxnSpPr>
          <p:nvPr/>
        </p:nvCxnSpPr>
        <p:spPr>
          <a:xfrm flipV="1">
            <a:off x="2881583" y="1447800"/>
            <a:ext cx="1273323" cy="435460"/>
          </a:xfrm>
          <a:prstGeom prst="line">
            <a:avLst/>
          </a:prstGeom>
          <a:ln>
            <a:solidFill>
              <a:schemeClr val="accent4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>
            <a:stCxn id="7" idx="0"/>
            <a:endCxn id="5" idx="1"/>
          </p:cNvCxnSpPr>
          <p:nvPr/>
        </p:nvCxnSpPr>
        <p:spPr>
          <a:xfrm flipV="1">
            <a:off x="3448720" y="1447800"/>
            <a:ext cx="706186" cy="748633"/>
          </a:xfrm>
          <a:prstGeom prst="line">
            <a:avLst/>
          </a:prstGeom>
          <a:ln>
            <a:solidFill>
              <a:schemeClr val="accent4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3726695" y="4788056"/>
            <a:ext cx="4748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latin typeface="+mn-lt"/>
              </a:rPr>
              <a:t>W</a:t>
            </a:r>
          </a:p>
        </p:txBody>
      </p:sp>
      <p:sp>
        <p:nvSpPr>
          <p:cNvPr id="15" name="Right Brace 14"/>
          <p:cNvSpPr/>
          <p:nvPr/>
        </p:nvSpPr>
        <p:spPr>
          <a:xfrm rot="5400000">
            <a:off x="3777102" y="4032855"/>
            <a:ext cx="373997" cy="1390687"/>
          </a:xfrm>
          <a:prstGeom prst="rightBrace">
            <a:avLst>
              <a:gd name="adj1" fmla="val 23322"/>
              <a:gd name="adj2" fmla="val 50000"/>
            </a:avLst>
          </a:prstGeom>
          <a:ln>
            <a:solidFill>
              <a:schemeClr val="accent4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ight Brace 15"/>
          <p:cNvSpPr/>
          <p:nvPr/>
        </p:nvSpPr>
        <p:spPr>
          <a:xfrm rot="5400000">
            <a:off x="3799230" y="2914306"/>
            <a:ext cx="510183" cy="4625108"/>
          </a:xfrm>
          <a:prstGeom prst="rightBrace">
            <a:avLst>
              <a:gd name="adj1" fmla="val 30154"/>
              <a:gd name="adj2" fmla="val 75234"/>
            </a:avLst>
          </a:prstGeom>
          <a:ln>
            <a:solidFill>
              <a:schemeClr val="accent4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2521360" y="5418109"/>
            <a:ext cx="86754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+mn-lt"/>
              </a:rPr>
              <a:t>F</a:t>
            </a:r>
            <a:r>
              <a:rPr lang="en-US" i="1" dirty="0">
                <a:latin typeface="+mn-lt"/>
              </a:rPr>
              <a:t>(W)</a:t>
            </a:r>
          </a:p>
        </p:txBody>
      </p:sp>
    </p:spTree>
    <p:extLst>
      <p:ext uri="{BB962C8B-B14F-4D97-AF65-F5344CB8AC3E}">
        <p14:creationId xmlns:p14="http://schemas.microsoft.com/office/powerpoint/2010/main" val="4640464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 animBg="1"/>
      <p:bldP spid="7" grpId="0" animBg="1"/>
      <p:bldP spid="14" grpId="0"/>
      <p:bldP spid="15" grpId="0" animBg="1"/>
      <p:bldP spid="16" grpId="0" animBg="1"/>
      <p:bldP spid="17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3600" dirty="0"/>
              <a:t>The domain of </a:t>
            </a:r>
            <a:r>
              <a:rPr lang="en-US" sz="3600"/>
              <a:t>state predicates, Pow</a:t>
            </a:r>
            <a:r>
              <a:rPr lang="en-US" sz="3600" dirty="0"/>
              <a:t>(∑)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/>
              <a:t>Suppose ∑ (set of all states) = { </a:t>
            </a:r>
            <a:r>
              <a:rPr lang="en-US" sz="2400" dirty="0" err="1"/>
              <a:t>s,t,u</a:t>
            </a:r>
            <a:r>
              <a:rPr lang="en-US" sz="2400" dirty="0"/>
              <a:t> }. The domain Pow(∑), ordered by ⊆ 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48220AE-4ABF-4647-9677-DBC7878747C7}" type="slidenum">
              <a:rPr lang="en-US" smtClean="0"/>
              <a:pPr>
                <a:defRPr/>
              </a:pPr>
              <a:t>40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3738095" y="2553800"/>
            <a:ext cx="1146468" cy="46166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{ </a:t>
            </a:r>
            <a:r>
              <a:rPr lang="en-US" dirty="0" err="1"/>
              <a:t>s,t,u</a:t>
            </a:r>
            <a:r>
              <a:rPr lang="en-US" dirty="0"/>
              <a:t> 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44934" y="3451871"/>
            <a:ext cx="761747" cy="46166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{</a:t>
            </a:r>
            <a:r>
              <a:rPr lang="en-US" dirty="0" err="1"/>
              <a:t>s,t</a:t>
            </a:r>
            <a:r>
              <a:rPr lang="en-US" dirty="0"/>
              <a:t>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95992" y="3451872"/>
            <a:ext cx="830677" cy="46166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{</a:t>
            </a:r>
            <a:r>
              <a:rPr lang="en-US" dirty="0" err="1"/>
              <a:t>s,u</a:t>
            </a:r>
            <a:r>
              <a:rPr lang="en-US" dirty="0"/>
              <a:t>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73380" y="3451871"/>
            <a:ext cx="795411" cy="46166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{</a:t>
            </a:r>
            <a:r>
              <a:rPr lang="en-US" dirty="0" err="1"/>
              <a:t>t,u</a:t>
            </a:r>
            <a:r>
              <a:rPr lang="en-US" dirty="0"/>
              <a:t>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34393" y="4289790"/>
            <a:ext cx="599844" cy="46166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{s}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35258" y="4274170"/>
            <a:ext cx="564577" cy="46166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{t}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54331" y="4274170"/>
            <a:ext cx="633508" cy="46166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{u}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42052" y="5146985"/>
            <a:ext cx="338555" cy="46166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∅</a:t>
            </a:r>
          </a:p>
        </p:txBody>
      </p:sp>
      <p:cxnSp>
        <p:nvCxnSpPr>
          <p:cNvPr id="15" name="Straight Connector 14"/>
          <p:cNvCxnSpPr>
            <a:stCxn id="5" idx="2"/>
            <a:endCxn id="6" idx="0"/>
          </p:cNvCxnSpPr>
          <p:nvPr/>
        </p:nvCxnSpPr>
        <p:spPr>
          <a:xfrm flipH="1">
            <a:off x="3025808" y="3015465"/>
            <a:ext cx="1285521" cy="43640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>
            <a:stCxn id="5" idx="2"/>
            <a:endCxn id="8" idx="0"/>
          </p:cNvCxnSpPr>
          <p:nvPr/>
        </p:nvCxnSpPr>
        <p:spPr>
          <a:xfrm>
            <a:off x="4311329" y="3015465"/>
            <a:ext cx="2" cy="43640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>
            <a:stCxn id="5" idx="2"/>
            <a:endCxn id="9" idx="0"/>
          </p:cNvCxnSpPr>
          <p:nvPr/>
        </p:nvCxnSpPr>
        <p:spPr>
          <a:xfrm>
            <a:off x="4311329" y="3015465"/>
            <a:ext cx="1359757" cy="43640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>
            <a:stCxn id="6" idx="2"/>
            <a:endCxn id="10" idx="0"/>
          </p:cNvCxnSpPr>
          <p:nvPr/>
        </p:nvCxnSpPr>
        <p:spPr>
          <a:xfrm>
            <a:off x="3025808" y="3913536"/>
            <a:ext cx="8507" cy="37625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/>
          <p:cNvCxnSpPr>
            <a:stCxn id="10" idx="0"/>
            <a:endCxn id="8" idx="2"/>
          </p:cNvCxnSpPr>
          <p:nvPr/>
        </p:nvCxnSpPr>
        <p:spPr>
          <a:xfrm flipV="1">
            <a:off x="3034315" y="3913537"/>
            <a:ext cx="1277016" cy="37625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>
            <a:stCxn id="9" idx="2"/>
            <a:endCxn id="12" idx="0"/>
          </p:cNvCxnSpPr>
          <p:nvPr/>
        </p:nvCxnSpPr>
        <p:spPr>
          <a:xfrm flipH="1">
            <a:off x="5671085" y="3913536"/>
            <a:ext cx="1" cy="36063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/>
          <p:cNvCxnSpPr>
            <a:stCxn id="8" idx="2"/>
            <a:endCxn id="12" idx="0"/>
          </p:cNvCxnSpPr>
          <p:nvPr/>
        </p:nvCxnSpPr>
        <p:spPr>
          <a:xfrm>
            <a:off x="4311331" y="3913537"/>
            <a:ext cx="1359754" cy="36063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/>
          <p:cNvCxnSpPr>
            <a:stCxn id="6" idx="2"/>
            <a:endCxn id="11" idx="0"/>
          </p:cNvCxnSpPr>
          <p:nvPr/>
        </p:nvCxnSpPr>
        <p:spPr>
          <a:xfrm>
            <a:off x="3025808" y="3913536"/>
            <a:ext cx="1291739" cy="36063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/>
          <p:cNvCxnSpPr>
            <a:stCxn id="11" idx="2"/>
            <a:endCxn id="13" idx="0"/>
          </p:cNvCxnSpPr>
          <p:nvPr/>
        </p:nvCxnSpPr>
        <p:spPr>
          <a:xfrm flipH="1">
            <a:off x="4311330" y="4735835"/>
            <a:ext cx="6217" cy="41115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/>
          <p:cNvCxnSpPr>
            <a:stCxn id="10" idx="2"/>
            <a:endCxn id="13" idx="0"/>
          </p:cNvCxnSpPr>
          <p:nvPr/>
        </p:nvCxnSpPr>
        <p:spPr>
          <a:xfrm>
            <a:off x="3034315" y="4751455"/>
            <a:ext cx="1277015" cy="39553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/>
          <p:cNvCxnSpPr>
            <a:stCxn id="12" idx="2"/>
            <a:endCxn id="13" idx="0"/>
          </p:cNvCxnSpPr>
          <p:nvPr/>
        </p:nvCxnSpPr>
        <p:spPr>
          <a:xfrm flipH="1">
            <a:off x="4311330" y="4735835"/>
            <a:ext cx="1359755" cy="41115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/>
          <p:cNvCxnSpPr>
            <a:stCxn id="9" idx="2"/>
            <a:endCxn id="11" idx="0"/>
          </p:cNvCxnSpPr>
          <p:nvPr/>
        </p:nvCxnSpPr>
        <p:spPr>
          <a:xfrm flipH="1">
            <a:off x="4317547" y="3913536"/>
            <a:ext cx="1353539" cy="36063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4991207" y="2599966"/>
            <a:ext cx="32383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/>
              <a:t>top ( ⟙ ) ... corresponds to “true”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393082" y="5544624"/>
            <a:ext cx="37898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/>
              <a:t>bottom ( ⟘ )  .... corresponds to “false”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241327" y="3018933"/>
            <a:ext cx="13901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/>
              <a:t>related by ⊆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812858" y="6004180"/>
            <a:ext cx="669138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i="1" dirty="0"/>
              <a:t>X</a:t>
            </a:r>
            <a:r>
              <a:rPr lang="en-US" sz="2000" dirty="0"/>
              <a:t>∪Y (union) acts as the least upper bound of  </a:t>
            </a:r>
            <a:r>
              <a:rPr lang="en-US" sz="2000" i="1" dirty="0"/>
              <a:t>X</a:t>
            </a:r>
            <a:r>
              <a:rPr lang="en-US" sz="2000" dirty="0"/>
              <a:t> and </a:t>
            </a:r>
            <a:r>
              <a:rPr lang="en-US" sz="2000" i="1" dirty="0"/>
              <a:t>Y</a:t>
            </a:r>
          </a:p>
          <a:p>
            <a:r>
              <a:rPr lang="en-US" sz="2000" i="1" dirty="0"/>
              <a:t>X</a:t>
            </a:r>
            <a:r>
              <a:rPr lang="en-US" sz="2000" dirty="0"/>
              <a:t> ∩ </a:t>
            </a:r>
            <a:r>
              <a:rPr lang="en-US" sz="2000" i="1" dirty="0"/>
              <a:t>Y</a:t>
            </a:r>
            <a:r>
              <a:rPr lang="en-US" sz="2000" dirty="0"/>
              <a:t> (intersection) acts as the greatest lower bound of </a:t>
            </a:r>
            <a:r>
              <a:rPr lang="en-US" sz="2000" i="1" dirty="0"/>
              <a:t>X</a:t>
            </a:r>
            <a:r>
              <a:rPr lang="en-US" sz="2000" dirty="0"/>
              <a:t> and </a:t>
            </a:r>
            <a:r>
              <a:rPr lang="en-US" sz="2000" i="1" dirty="0"/>
              <a:t>Y</a:t>
            </a:r>
          </a:p>
        </p:txBody>
      </p:sp>
    </p:spTree>
    <p:extLst>
      <p:ext uri="{BB962C8B-B14F-4D97-AF65-F5344CB8AC3E}">
        <p14:creationId xmlns:p14="http://schemas.microsoft.com/office/powerpoint/2010/main" val="4205944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Some bit of fix point theory</a:t>
            </a:r>
          </a:p>
        </p:txBody>
      </p:sp>
      <p:sp>
        <p:nvSpPr>
          <p:cNvPr id="26627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dirty="0"/>
              <a:t>(</a:t>
            </a:r>
            <a:r>
              <a:rPr lang="nl-NL" i="1" dirty="0"/>
              <a:t>A</a:t>
            </a:r>
            <a:r>
              <a:rPr lang="nl-NL" dirty="0"/>
              <a:t>,</a:t>
            </a:r>
            <a:r>
              <a:rPr lang="nl-NL" dirty="0">
                <a:sym typeface="Symbol"/>
              </a:rPr>
              <a:t>)  where  is a p.o., is a </a:t>
            </a:r>
            <a:r>
              <a:rPr lang="nl-NL" i="1" dirty="0">
                <a:sym typeface="Symbol"/>
              </a:rPr>
              <a:t>complete lattice</a:t>
            </a:r>
            <a:r>
              <a:rPr lang="nl-NL" dirty="0">
                <a:sym typeface="Symbol"/>
              </a:rPr>
              <a:t>,  if every subset </a:t>
            </a:r>
            <a:r>
              <a:rPr lang="nl-NL" i="1" dirty="0">
                <a:sym typeface="Symbol"/>
              </a:rPr>
              <a:t>X </a:t>
            </a:r>
            <a:r>
              <a:rPr lang="nl-NL" dirty="0">
                <a:sym typeface="Symbol"/>
              </a:rPr>
              <a:t> </a:t>
            </a:r>
            <a:r>
              <a:rPr lang="nl-NL" i="1" dirty="0">
                <a:sym typeface="Symbol"/>
              </a:rPr>
              <a:t>A</a:t>
            </a:r>
            <a:r>
              <a:rPr lang="nl-NL" dirty="0">
                <a:sym typeface="Symbol"/>
              </a:rPr>
              <a:t> has a supremum and infimum.</a:t>
            </a:r>
          </a:p>
          <a:p>
            <a:pPr lvl="1"/>
            <a:r>
              <a:rPr lang="nl-NL" dirty="0">
                <a:sym typeface="Symbol"/>
              </a:rPr>
              <a:t>Supremum = least upper bound = </a:t>
            </a:r>
            <a:r>
              <a:rPr lang="nl-NL" dirty="0" err="1">
                <a:sym typeface="Symbol"/>
              </a:rPr>
              <a:t>join</a:t>
            </a:r>
            <a:r>
              <a:rPr lang="nl-NL" dirty="0">
                <a:sym typeface="Symbol"/>
              </a:rPr>
              <a:t>        \/</a:t>
            </a:r>
            <a:r>
              <a:rPr lang="nl-NL" i="1" dirty="0">
                <a:sym typeface="Symbol"/>
              </a:rPr>
              <a:t>X</a:t>
            </a:r>
            <a:r>
              <a:rPr lang="nl-NL" dirty="0">
                <a:sym typeface="Symbol"/>
              </a:rPr>
              <a:t>      </a:t>
            </a:r>
            <a:r>
              <a:rPr lang="nl-NL" i="1" dirty="0">
                <a:sym typeface="Symbol"/>
              </a:rPr>
              <a:t>X</a:t>
            </a:r>
          </a:p>
          <a:p>
            <a:pPr lvl="1"/>
            <a:r>
              <a:rPr lang="nl-NL" dirty="0">
                <a:sym typeface="Symbol"/>
              </a:rPr>
              <a:t>Infimum = greatest lower bound = meet   /\ </a:t>
            </a:r>
            <a:r>
              <a:rPr lang="nl-NL" i="1" dirty="0">
                <a:sym typeface="Symbol"/>
              </a:rPr>
              <a:t>X</a:t>
            </a:r>
            <a:r>
              <a:rPr lang="nl-NL" dirty="0">
                <a:sym typeface="Symbol"/>
              </a:rPr>
              <a:t>     </a:t>
            </a:r>
            <a:r>
              <a:rPr lang="nl-NL" i="1" dirty="0">
                <a:sym typeface="Symbol"/>
              </a:rPr>
              <a:t>X</a:t>
            </a:r>
          </a:p>
          <a:p>
            <a:pPr lvl="1"/>
            <a:r>
              <a:rPr lang="nl-NL" dirty="0" err="1">
                <a:sym typeface="Symbol"/>
              </a:rPr>
              <a:t>So</a:t>
            </a:r>
            <a:r>
              <a:rPr lang="nl-NL" dirty="0">
                <a:sym typeface="Symbol"/>
              </a:rPr>
              <a:t>,  we will also have the supremum and infimum of the whole A, often called top ⊤ </a:t>
            </a:r>
            <a:r>
              <a:rPr lang="nl-NL" dirty="0" err="1">
                <a:sym typeface="Symbol"/>
              </a:rPr>
              <a:t>and</a:t>
            </a:r>
            <a:r>
              <a:rPr lang="nl-NL" dirty="0">
                <a:sym typeface="Symbol"/>
              </a:rPr>
              <a:t> </a:t>
            </a:r>
            <a:r>
              <a:rPr lang="nl-NL" dirty="0" err="1">
                <a:sym typeface="Symbol"/>
              </a:rPr>
              <a:t>bottom</a:t>
            </a:r>
            <a:r>
              <a:rPr lang="nl-NL" dirty="0">
                <a:sym typeface="Symbol"/>
              </a:rPr>
              <a:t> ⊥.</a:t>
            </a:r>
          </a:p>
          <a:p>
            <a:r>
              <a:rPr lang="nl-NL" dirty="0">
                <a:sym typeface="Symbol"/>
              </a:rPr>
              <a:t>Let </a:t>
            </a:r>
            <a:r>
              <a:rPr lang="nl-NL" i="1" dirty="0">
                <a:sym typeface="Symbol"/>
              </a:rPr>
              <a:t>f </a:t>
            </a:r>
            <a:r>
              <a:rPr lang="nl-NL" dirty="0">
                <a:sym typeface="Symbol"/>
              </a:rPr>
              <a:t>: </a:t>
            </a:r>
            <a:r>
              <a:rPr lang="nl-NL" i="1" dirty="0">
                <a:sym typeface="Symbol"/>
              </a:rPr>
              <a:t>A</a:t>
            </a:r>
            <a:r>
              <a:rPr lang="nl-NL" dirty="0">
                <a:sym typeface="Symbol"/>
              </a:rPr>
              <a:t></a:t>
            </a:r>
            <a:r>
              <a:rPr lang="nl-NL" i="1" dirty="0">
                <a:sym typeface="Symbol"/>
              </a:rPr>
              <a:t>A. </a:t>
            </a:r>
            <a:r>
              <a:rPr lang="nl-NL" dirty="0">
                <a:sym typeface="Symbol"/>
              </a:rPr>
              <a:t>An x such that x = f(x) is a </a:t>
            </a:r>
            <a:r>
              <a:rPr lang="nl-NL" i="1" dirty="0">
                <a:sym typeface="Symbol"/>
              </a:rPr>
              <a:t>fix point</a:t>
            </a:r>
            <a:r>
              <a:rPr lang="nl-NL" dirty="0">
                <a:sym typeface="Symbol"/>
              </a:rPr>
              <a:t> of </a:t>
            </a:r>
            <a:r>
              <a:rPr lang="nl-NL" i="1" dirty="0">
                <a:sym typeface="Symbol"/>
              </a:rPr>
              <a:t>f</a:t>
            </a:r>
            <a:r>
              <a:rPr lang="nl-NL" dirty="0">
                <a:sym typeface="Symbol"/>
              </a:rPr>
              <a:t>.</a:t>
            </a:r>
          </a:p>
          <a:p>
            <a:r>
              <a:rPr lang="nl-NL" b="1" dirty="0">
                <a:sym typeface="Symbol"/>
              </a:rPr>
              <a:t>Knaster-Tarski</a:t>
            </a:r>
            <a:r>
              <a:rPr lang="nl-NL" dirty="0">
                <a:sym typeface="Symbol"/>
              </a:rPr>
              <a:t>. Let </a:t>
            </a:r>
            <a:r>
              <a:rPr lang="nl-NL" dirty="0"/>
              <a:t>(</a:t>
            </a:r>
            <a:r>
              <a:rPr lang="nl-NL" i="1" dirty="0"/>
              <a:t>A</a:t>
            </a:r>
            <a:r>
              <a:rPr lang="nl-NL" dirty="0"/>
              <a:t>,</a:t>
            </a:r>
            <a:r>
              <a:rPr lang="nl-NL" dirty="0">
                <a:sym typeface="Symbol"/>
              </a:rPr>
              <a:t>)  be a complete lattice. If </a:t>
            </a:r>
            <a:br>
              <a:rPr lang="nl-NL" dirty="0">
                <a:sym typeface="Symbol"/>
              </a:rPr>
            </a:br>
            <a:r>
              <a:rPr lang="nl-NL" i="1" dirty="0">
                <a:sym typeface="Symbol"/>
              </a:rPr>
              <a:t>f </a:t>
            </a:r>
            <a:r>
              <a:rPr lang="nl-NL" dirty="0">
                <a:sym typeface="Symbol"/>
              </a:rPr>
              <a:t>: </a:t>
            </a:r>
            <a:r>
              <a:rPr lang="nl-NL" i="1" dirty="0">
                <a:sym typeface="Symbol"/>
              </a:rPr>
              <a:t>A</a:t>
            </a:r>
            <a:r>
              <a:rPr lang="nl-NL" dirty="0">
                <a:sym typeface="Symbol"/>
              </a:rPr>
              <a:t></a:t>
            </a:r>
            <a:r>
              <a:rPr lang="nl-NL" i="1" dirty="0">
                <a:sym typeface="Symbol"/>
              </a:rPr>
              <a:t>A  </a:t>
            </a:r>
            <a:r>
              <a:rPr lang="nl-NL" dirty="0">
                <a:sym typeface="Symbol"/>
              </a:rPr>
              <a:t>is monotonic over , and </a:t>
            </a:r>
            <a:r>
              <a:rPr lang="nl-NL" i="1" dirty="0">
                <a:sym typeface="Symbol"/>
              </a:rPr>
              <a:t>P</a:t>
            </a:r>
            <a:r>
              <a:rPr lang="nl-NL" dirty="0">
                <a:sym typeface="Symbol"/>
              </a:rPr>
              <a:t> is the set of all its fix points, then </a:t>
            </a:r>
            <a:r>
              <a:rPr lang="nl-NL" i="1" dirty="0">
                <a:sym typeface="Symbol"/>
              </a:rPr>
              <a:t>P</a:t>
            </a:r>
            <a:r>
              <a:rPr lang="nl-NL" dirty="0">
                <a:sym typeface="Symbol"/>
              </a:rPr>
              <a:t> is non-empty, and (</a:t>
            </a:r>
            <a:r>
              <a:rPr lang="nl-NL" i="1" dirty="0">
                <a:sym typeface="Symbol"/>
              </a:rPr>
              <a:t>P</a:t>
            </a:r>
            <a:r>
              <a:rPr lang="nl-NL" dirty="0">
                <a:sym typeface="Symbol"/>
              </a:rPr>
              <a:t>, ) is a complete lattice. </a:t>
            </a:r>
          </a:p>
          <a:p>
            <a:r>
              <a:rPr lang="nl-NL" dirty="0">
                <a:sym typeface="Symbol"/>
              </a:rPr>
              <a:t>(thus, both  </a:t>
            </a:r>
            <a:r>
              <a:rPr lang="nl-NL" i="1" dirty="0">
                <a:sym typeface="Symbol"/>
              </a:rPr>
              <a:t>P</a:t>
            </a:r>
            <a:r>
              <a:rPr lang="nl-NL" dirty="0">
                <a:sym typeface="Symbol"/>
              </a:rPr>
              <a:t> and  </a:t>
            </a:r>
            <a:r>
              <a:rPr lang="nl-NL" i="1" dirty="0">
                <a:sym typeface="Symbol"/>
              </a:rPr>
              <a:t>P</a:t>
            </a:r>
            <a:r>
              <a:rPr lang="nl-NL" dirty="0">
                <a:sym typeface="Symbol"/>
              </a:rPr>
              <a:t> are also in </a:t>
            </a:r>
            <a:r>
              <a:rPr lang="nl-NL" i="1" dirty="0">
                <a:sym typeface="Symbol"/>
              </a:rPr>
              <a:t>P</a:t>
            </a:r>
            <a:r>
              <a:rPr lang="nl-NL" dirty="0">
                <a:sym typeface="Symbol"/>
              </a:rPr>
              <a:t>).</a:t>
            </a:r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44C70E3-5EAC-4C30-ACC5-13624AD0324F}" type="slidenum">
              <a:rPr lang="en-US" smtClean="0"/>
              <a:pPr>
                <a:defRPr/>
              </a:pPr>
              <a:t>41</a:t>
            </a:fld>
            <a:endParaRPr lang="en-US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Some bit of fix point theory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0034" y="1447800"/>
            <a:ext cx="8643966" cy="4572000"/>
          </a:xfrm>
        </p:spPr>
        <p:txBody>
          <a:bodyPr/>
          <a:lstStyle/>
          <a:p>
            <a:r>
              <a:rPr lang="en-US" dirty="0"/>
              <a:t>The domain (</a:t>
            </a:r>
            <a:r>
              <a:rPr lang="en-US" b="1" dirty="0"/>
              <a:t>pow</a:t>
            </a:r>
            <a:r>
              <a:rPr lang="en-US" dirty="0"/>
              <a:t>(∑)</a:t>
            </a:r>
            <a:r>
              <a:rPr lang="en-US" i="1" dirty="0"/>
              <a:t>, </a:t>
            </a:r>
            <a:r>
              <a:rPr lang="en-US" dirty="0">
                <a:sym typeface="Symbol"/>
              </a:rPr>
              <a:t>) is a complete lattice.</a:t>
            </a:r>
          </a:p>
          <a:p>
            <a:pPr lvl="1"/>
            <a:r>
              <a:rPr lang="en-US" dirty="0"/>
              <a:t>∑ = top</a:t>
            </a:r>
          </a:p>
          <a:p>
            <a:pPr lvl="1"/>
            <a:r>
              <a:rPr lang="en-US" i="1" dirty="0"/>
              <a:t>∅ </a:t>
            </a:r>
            <a:r>
              <a:rPr lang="en-US" dirty="0"/>
              <a:t>= bottom</a:t>
            </a:r>
          </a:p>
          <a:p>
            <a:pPr lvl="1"/>
            <a:r>
              <a:rPr lang="en-US" dirty="0"/>
              <a:t>A∪B  : least upper bound (\/)</a:t>
            </a:r>
          </a:p>
          <a:p>
            <a:pPr lvl="1"/>
            <a:r>
              <a:rPr lang="en-US" dirty="0"/>
              <a:t>A ∩ B  : greatest lower bound (/\)</a:t>
            </a:r>
          </a:p>
          <a:p>
            <a:r>
              <a:rPr lang="en-US" dirty="0">
                <a:sym typeface="Symbol"/>
              </a:rPr>
              <a:t>So, if </a:t>
            </a:r>
            <a:r>
              <a:rPr lang="en-US" b="1" dirty="0">
                <a:sym typeface="Symbol"/>
              </a:rPr>
              <a:t>F</a:t>
            </a:r>
            <a:r>
              <a:rPr lang="en-US" dirty="0">
                <a:sym typeface="Symbol"/>
              </a:rPr>
              <a:t> defined before is monotonic within this domain, then it has a greatest fix-point. </a:t>
            </a:r>
          </a:p>
          <a:p>
            <a:r>
              <a:rPr lang="en-US" dirty="0">
                <a:sym typeface="Symbol"/>
              </a:rPr>
              <a:t>Is </a:t>
            </a:r>
            <a:r>
              <a:rPr lang="en-US" b="1" dirty="0">
                <a:sym typeface="Symbol"/>
              </a:rPr>
              <a:t>F</a:t>
            </a:r>
            <a:r>
              <a:rPr lang="en-US" dirty="0">
                <a:sym typeface="Symbol"/>
              </a:rPr>
              <a:t> monotonic ?</a:t>
            </a:r>
          </a:p>
          <a:p>
            <a:r>
              <a:rPr lang="en-US" dirty="0">
                <a:sym typeface="Symbol"/>
              </a:rPr>
              <a:t>Is </a:t>
            </a:r>
            <a:r>
              <a:rPr lang="en-US" b="1" dirty="0" err="1">
                <a:sym typeface="Symbol"/>
              </a:rPr>
              <a:t>wlp</a:t>
            </a:r>
            <a:r>
              <a:rPr lang="en-US" dirty="0">
                <a:sym typeface="Symbol"/>
              </a:rPr>
              <a:t> monotonic 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48220AE-4ABF-4647-9677-DBC7878747C7}" type="slidenum">
              <a:rPr lang="en-US" smtClean="0"/>
              <a:pPr>
                <a:defRPr/>
              </a:pPr>
              <a:t>42</a:t>
            </a:fld>
            <a:endParaRPr lang="en-US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Some bit of fix point theory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0034" y="1447800"/>
            <a:ext cx="8643966" cy="4572000"/>
          </a:xfrm>
        </p:spPr>
        <p:txBody>
          <a:bodyPr/>
          <a:lstStyle/>
          <a:p>
            <a:r>
              <a:rPr lang="en-US" dirty="0">
                <a:sym typeface="Symbol"/>
              </a:rPr>
              <a:t>Consider now </a:t>
            </a:r>
            <a:r>
              <a:rPr lang="en-US" i="1" dirty="0">
                <a:sym typeface="Symbol"/>
              </a:rPr>
              <a:t>f</a:t>
            </a:r>
            <a:r>
              <a:rPr lang="en-US" dirty="0">
                <a:sym typeface="Symbol"/>
              </a:rPr>
              <a:t> : </a:t>
            </a:r>
            <a:r>
              <a:rPr lang="en-US" b="1" dirty="0">
                <a:sym typeface="Symbol"/>
              </a:rPr>
              <a:t>pow</a:t>
            </a:r>
            <a:r>
              <a:rPr lang="en-US" dirty="0">
                <a:sym typeface="Symbol"/>
              </a:rPr>
              <a:t>(</a:t>
            </a:r>
            <a:r>
              <a:rPr lang="en-US" dirty="0"/>
              <a:t>∑</a:t>
            </a:r>
            <a:r>
              <a:rPr lang="en-US" dirty="0">
                <a:sym typeface="Symbol"/>
              </a:rPr>
              <a:t>)  </a:t>
            </a:r>
            <a:r>
              <a:rPr lang="en-US" b="1" dirty="0">
                <a:sym typeface="Symbol"/>
              </a:rPr>
              <a:t>pow</a:t>
            </a:r>
            <a:r>
              <a:rPr lang="en-US" dirty="0">
                <a:sym typeface="Symbol"/>
              </a:rPr>
              <a:t>(</a:t>
            </a:r>
            <a:r>
              <a:rPr lang="en-US" dirty="0"/>
              <a:t>∑</a:t>
            </a:r>
            <a:r>
              <a:rPr lang="en-US" dirty="0">
                <a:sym typeface="Symbol"/>
              </a:rPr>
              <a:t>). It is -continuous if for all decreasing chain </a:t>
            </a:r>
            <a:r>
              <a:rPr lang="en-US" i="1" dirty="0">
                <a:sym typeface="Symbol"/>
              </a:rPr>
              <a:t>X</a:t>
            </a:r>
            <a:r>
              <a:rPr lang="en-US" baseline="-25000" dirty="0">
                <a:sym typeface="Symbol"/>
              </a:rPr>
              <a:t>0</a:t>
            </a:r>
            <a:r>
              <a:rPr lang="en-US" dirty="0">
                <a:sym typeface="Symbol"/>
              </a:rPr>
              <a:t>⊇ </a:t>
            </a:r>
            <a:r>
              <a:rPr lang="en-US" i="1" dirty="0">
                <a:sym typeface="Symbol"/>
              </a:rPr>
              <a:t>X</a:t>
            </a:r>
            <a:r>
              <a:rPr lang="en-US" baseline="-25000" dirty="0">
                <a:sym typeface="Symbol"/>
              </a:rPr>
              <a:t>1</a:t>
            </a:r>
            <a:r>
              <a:rPr lang="en-US" dirty="0">
                <a:sym typeface="Symbol"/>
              </a:rPr>
              <a:t> ⊇</a:t>
            </a:r>
            <a:r>
              <a:rPr lang="en-US" i="1" dirty="0">
                <a:sym typeface="Symbol"/>
              </a:rPr>
              <a:t> X</a:t>
            </a:r>
            <a:r>
              <a:rPr lang="en-US" baseline="-25000" dirty="0">
                <a:sym typeface="Symbol"/>
              </a:rPr>
              <a:t>2</a:t>
            </a:r>
            <a:r>
              <a:rPr lang="en-US" dirty="0">
                <a:sym typeface="Symbol"/>
              </a:rPr>
              <a:t>  ... :</a:t>
            </a:r>
            <a:br>
              <a:rPr lang="en-US" dirty="0">
                <a:sym typeface="Symbol"/>
              </a:rPr>
            </a:br>
            <a:br>
              <a:rPr lang="en-US" dirty="0">
                <a:sym typeface="Symbol"/>
              </a:rPr>
            </a:br>
            <a:r>
              <a:rPr lang="en-US" dirty="0">
                <a:sym typeface="Symbol"/>
              </a:rPr>
              <a:t>     </a:t>
            </a:r>
            <a:r>
              <a:rPr lang="en-US" i="1" dirty="0">
                <a:sym typeface="Symbol"/>
              </a:rPr>
              <a:t> f </a:t>
            </a:r>
            <a:r>
              <a:rPr lang="en-US" dirty="0">
                <a:sym typeface="Symbol"/>
              </a:rPr>
              <a:t>( </a:t>
            </a:r>
            <a:r>
              <a:rPr lang="en-US" i="1" dirty="0">
                <a:sym typeface="Symbol"/>
              </a:rPr>
              <a:t>X</a:t>
            </a:r>
            <a:r>
              <a:rPr lang="en-US" baseline="-25000" dirty="0">
                <a:sym typeface="Symbol"/>
              </a:rPr>
              <a:t>0</a:t>
            </a:r>
            <a:r>
              <a:rPr lang="en-US" dirty="0">
                <a:sym typeface="Symbol"/>
              </a:rPr>
              <a:t>  </a:t>
            </a:r>
            <a:r>
              <a:rPr lang="en-US" i="1" dirty="0">
                <a:sym typeface="Symbol"/>
              </a:rPr>
              <a:t>X</a:t>
            </a:r>
            <a:r>
              <a:rPr lang="en-US" baseline="-25000" dirty="0">
                <a:sym typeface="Symbol"/>
              </a:rPr>
              <a:t>1</a:t>
            </a:r>
            <a:r>
              <a:rPr lang="en-US" dirty="0">
                <a:sym typeface="Symbol"/>
              </a:rPr>
              <a:t>  ... )  = </a:t>
            </a:r>
            <a:r>
              <a:rPr lang="en-US" i="1" dirty="0">
                <a:sym typeface="Symbol"/>
              </a:rPr>
              <a:t>f</a:t>
            </a:r>
            <a:r>
              <a:rPr lang="en-US" dirty="0">
                <a:sym typeface="Symbol"/>
              </a:rPr>
              <a:t>(</a:t>
            </a:r>
            <a:r>
              <a:rPr lang="en-US" i="1" dirty="0">
                <a:sym typeface="Symbol"/>
              </a:rPr>
              <a:t>X</a:t>
            </a:r>
            <a:r>
              <a:rPr lang="en-US" baseline="-25000" dirty="0">
                <a:sym typeface="Symbol"/>
              </a:rPr>
              <a:t>0</a:t>
            </a:r>
            <a:r>
              <a:rPr lang="en-US" dirty="0">
                <a:sym typeface="Symbol"/>
              </a:rPr>
              <a:t>)  </a:t>
            </a:r>
            <a:r>
              <a:rPr lang="en-US" i="1" dirty="0">
                <a:sym typeface="Symbol"/>
              </a:rPr>
              <a:t>f</a:t>
            </a:r>
            <a:r>
              <a:rPr lang="en-US" dirty="0">
                <a:sym typeface="Symbol"/>
              </a:rPr>
              <a:t>(</a:t>
            </a:r>
            <a:r>
              <a:rPr lang="en-US" i="1" dirty="0">
                <a:sym typeface="Symbol"/>
              </a:rPr>
              <a:t>X</a:t>
            </a:r>
            <a:r>
              <a:rPr lang="en-US" baseline="-25000" dirty="0">
                <a:sym typeface="Symbol"/>
              </a:rPr>
              <a:t>1</a:t>
            </a:r>
            <a:r>
              <a:rPr lang="en-US" dirty="0">
                <a:sym typeface="Symbol"/>
              </a:rPr>
              <a:t>)  ...  </a:t>
            </a:r>
          </a:p>
          <a:p>
            <a:endParaRPr lang="en-US" dirty="0">
              <a:sym typeface="Symbol"/>
            </a:endParaRPr>
          </a:p>
          <a:p>
            <a:r>
              <a:rPr lang="en-US" dirty="0">
                <a:sym typeface="Symbol"/>
              </a:rPr>
              <a:t>If </a:t>
            </a:r>
            <a:r>
              <a:rPr lang="en-US" i="1" dirty="0">
                <a:sym typeface="Symbol"/>
              </a:rPr>
              <a:t>f</a:t>
            </a:r>
            <a:r>
              <a:rPr lang="en-US" dirty="0">
                <a:sym typeface="Symbol"/>
              </a:rPr>
              <a:t> is -continuous, it is also monotonic.</a:t>
            </a:r>
          </a:p>
          <a:p>
            <a:r>
              <a:rPr lang="en-US" dirty="0">
                <a:sym typeface="Symbol"/>
              </a:rPr>
              <a:t>Is </a:t>
            </a:r>
            <a:r>
              <a:rPr lang="en-US" b="1" dirty="0" err="1">
                <a:sym typeface="Symbol"/>
              </a:rPr>
              <a:t>wlp</a:t>
            </a:r>
            <a:r>
              <a:rPr lang="en-US" dirty="0">
                <a:sym typeface="Symbol"/>
              </a:rPr>
              <a:t> -continuous 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48220AE-4ABF-4647-9677-DBC7878747C7}" type="slidenum">
              <a:rPr lang="en-US" smtClean="0"/>
              <a:pPr>
                <a:defRPr/>
              </a:pPr>
              <a:t>43</a:t>
            </a:fld>
            <a:endParaRPr lang="en-US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FP iteration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i="1" dirty="0"/>
              <a:t>Define:</a:t>
            </a:r>
          </a:p>
          <a:p>
            <a:pPr lvl="1"/>
            <a:r>
              <a:rPr lang="en-US" i="1" dirty="0"/>
              <a:t>f </a:t>
            </a:r>
            <a:r>
              <a:rPr lang="en-US" baseline="30000" dirty="0"/>
              <a:t>0</a:t>
            </a:r>
            <a:r>
              <a:rPr lang="en-US" i="1" dirty="0"/>
              <a:t> </a:t>
            </a:r>
            <a:r>
              <a:rPr lang="en-US" dirty="0"/>
              <a:t>(</a:t>
            </a:r>
            <a:r>
              <a:rPr lang="en-US" i="1" dirty="0"/>
              <a:t>X</a:t>
            </a:r>
            <a:r>
              <a:rPr lang="en-US" dirty="0"/>
              <a:t>)</a:t>
            </a:r>
            <a:r>
              <a:rPr lang="en-US" i="1" dirty="0"/>
              <a:t> = X   ,</a:t>
            </a:r>
          </a:p>
          <a:p>
            <a:pPr lvl="1"/>
            <a:r>
              <a:rPr lang="en-US" i="1" dirty="0"/>
              <a:t>f </a:t>
            </a:r>
            <a:r>
              <a:rPr lang="en-US" i="1" baseline="30000" dirty="0"/>
              <a:t>k+1</a:t>
            </a:r>
            <a:r>
              <a:rPr lang="en-US" i="1" dirty="0"/>
              <a:t> </a:t>
            </a:r>
            <a:r>
              <a:rPr lang="en-US" dirty="0"/>
              <a:t>(</a:t>
            </a:r>
            <a:r>
              <a:rPr lang="en-US" i="1" dirty="0"/>
              <a:t>X</a:t>
            </a:r>
            <a:r>
              <a:rPr lang="en-US" dirty="0"/>
              <a:t>)</a:t>
            </a:r>
            <a:r>
              <a:rPr lang="en-US" i="1" dirty="0"/>
              <a:t> = f ( f </a:t>
            </a:r>
            <a:r>
              <a:rPr lang="en-US" i="1" baseline="30000" dirty="0"/>
              <a:t>k</a:t>
            </a:r>
            <a:r>
              <a:rPr lang="en-US" i="1" dirty="0"/>
              <a:t> </a:t>
            </a:r>
            <a:r>
              <a:rPr lang="en-US" dirty="0"/>
              <a:t>(</a:t>
            </a:r>
            <a:r>
              <a:rPr lang="en-US" i="1" dirty="0"/>
              <a:t>X</a:t>
            </a:r>
            <a:r>
              <a:rPr lang="en-US" dirty="0"/>
              <a:t>))</a:t>
            </a:r>
          </a:p>
          <a:p>
            <a:r>
              <a:rPr lang="en-US" dirty="0">
                <a:sym typeface="Symbol"/>
              </a:rPr>
              <a:t>Suppose </a:t>
            </a:r>
            <a:r>
              <a:rPr lang="en-US" i="1" dirty="0">
                <a:sym typeface="Symbol"/>
              </a:rPr>
              <a:t>f</a:t>
            </a:r>
            <a:r>
              <a:rPr lang="en-US" dirty="0">
                <a:sym typeface="Symbol"/>
              </a:rPr>
              <a:t> is -continuous. Consider the series </a:t>
            </a:r>
            <a:br>
              <a:rPr lang="en-US" dirty="0">
                <a:sym typeface="Symbol"/>
              </a:rPr>
            </a:br>
            <a:r>
              <a:rPr lang="en-US" dirty="0">
                <a:sym typeface="Symbol"/>
              </a:rPr>
              <a:t>       </a:t>
            </a:r>
            <a:r>
              <a:rPr lang="en-US" i="1" dirty="0">
                <a:sym typeface="Symbol"/>
              </a:rPr>
              <a:t>f </a:t>
            </a:r>
            <a:r>
              <a:rPr lang="en-US" baseline="30000" dirty="0">
                <a:sym typeface="Symbol"/>
              </a:rPr>
              <a:t>0</a:t>
            </a:r>
            <a:r>
              <a:rPr lang="en-US" dirty="0">
                <a:sym typeface="Symbol"/>
              </a:rPr>
              <a:t> (</a:t>
            </a:r>
            <a:r>
              <a:rPr lang="en-US" dirty="0"/>
              <a:t>∑</a:t>
            </a:r>
            <a:r>
              <a:rPr lang="en-US" dirty="0">
                <a:sym typeface="Symbol"/>
              </a:rPr>
              <a:t>) , </a:t>
            </a:r>
            <a:r>
              <a:rPr lang="en-US" i="1" dirty="0">
                <a:sym typeface="Symbol"/>
              </a:rPr>
              <a:t>f </a:t>
            </a:r>
            <a:r>
              <a:rPr lang="en-US" baseline="30000" dirty="0">
                <a:sym typeface="Symbol"/>
              </a:rPr>
              <a:t>1</a:t>
            </a:r>
            <a:r>
              <a:rPr lang="en-US" dirty="0">
                <a:sym typeface="Symbol"/>
              </a:rPr>
              <a:t>(</a:t>
            </a:r>
            <a:r>
              <a:rPr lang="en-US" dirty="0"/>
              <a:t>∑</a:t>
            </a:r>
            <a:r>
              <a:rPr lang="en-US" dirty="0">
                <a:sym typeface="Symbol"/>
              </a:rPr>
              <a:t>) , </a:t>
            </a:r>
            <a:r>
              <a:rPr lang="en-US" i="1" dirty="0">
                <a:sym typeface="Symbol"/>
              </a:rPr>
              <a:t>f </a:t>
            </a:r>
            <a:r>
              <a:rPr lang="en-US" baseline="30000" dirty="0">
                <a:sym typeface="Symbol"/>
              </a:rPr>
              <a:t>2</a:t>
            </a:r>
            <a:r>
              <a:rPr lang="en-US" dirty="0">
                <a:sym typeface="Symbol"/>
              </a:rPr>
              <a:t>(</a:t>
            </a:r>
            <a:r>
              <a:rPr lang="en-US" dirty="0"/>
              <a:t>∑</a:t>
            </a:r>
            <a:r>
              <a:rPr lang="en-US" dirty="0">
                <a:sym typeface="Symbol"/>
              </a:rPr>
              <a:t>) ... </a:t>
            </a:r>
            <a:br>
              <a:rPr lang="en-US" dirty="0">
                <a:sym typeface="Symbol"/>
              </a:rPr>
            </a:br>
            <a:r>
              <a:rPr lang="en-US" dirty="0">
                <a:sym typeface="Symbol"/>
              </a:rPr>
              <a:t>Corollaries:</a:t>
            </a:r>
          </a:p>
          <a:p>
            <a:pPr lvl="1"/>
            <a:r>
              <a:rPr lang="en-US" i="1" dirty="0"/>
              <a:t>f</a:t>
            </a:r>
            <a:r>
              <a:rPr lang="en-US" dirty="0">
                <a:sym typeface="Symbol"/>
              </a:rPr>
              <a:t> is also monotonic.</a:t>
            </a:r>
          </a:p>
          <a:p>
            <a:pPr lvl="1"/>
            <a:r>
              <a:rPr lang="en-US" dirty="0">
                <a:sym typeface="Symbol"/>
              </a:rPr>
              <a:t>The series is a decreasing chain.</a:t>
            </a:r>
          </a:p>
          <a:p>
            <a:pPr lvl="1"/>
            <a:r>
              <a:rPr lang="en-US" dirty="0">
                <a:sym typeface="Symbol"/>
              </a:rPr>
              <a:t>𝛼 = </a:t>
            </a:r>
            <a:r>
              <a:rPr lang="en-US" i="1" dirty="0">
                <a:sym typeface="Symbol"/>
              </a:rPr>
              <a:t>f </a:t>
            </a:r>
            <a:r>
              <a:rPr lang="en-US" baseline="30000" dirty="0">
                <a:sym typeface="Symbol"/>
              </a:rPr>
              <a:t>0</a:t>
            </a:r>
            <a:r>
              <a:rPr lang="en-US" dirty="0">
                <a:sym typeface="Symbol"/>
              </a:rPr>
              <a:t>(</a:t>
            </a:r>
            <a:r>
              <a:rPr lang="en-US" dirty="0"/>
              <a:t>∑</a:t>
            </a:r>
            <a:r>
              <a:rPr lang="en-US" dirty="0">
                <a:sym typeface="Symbol"/>
              </a:rPr>
              <a:t>)  </a:t>
            </a:r>
            <a:r>
              <a:rPr lang="en-US" i="1" dirty="0">
                <a:sym typeface="Symbol"/>
              </a:rPr>
              <a:t>f </a:t>
            </a:r>
            <a:r>
              <a:rPr lang="en-US" baseline="30000" dirty="0">
                <a:sym typeface="Symbol"/>
              </a:rPr>
              <a:t>1</a:t>
            </a:r>
            <a:r>
              <a:rPr lang="en-US" dirty="0">
                <a:sym typeface="Symbol"/>
              </a:rPr>
              <a:t>(</a:t>
            </a:r>
            <a:r>
              <a:rPr lang="en-US" dirty="0"/>
              <a:t>∑</a:t>
            </a:r>
            <a:r>
              <a:rPr lang="en-US" dirty="0">
                <a:sym typeface="Symbol"/>
              </a:rPr>
              <a:t>)  </a:t>
            </a:r>
            <a:r>
              <a:rPr lang="en-US" i="1" dirty="0">
                <a:sym typeface="Symbol"/>
              </a:rPr>
              <a:t>f </a:t>
            </a:r>
            <a:r>
              <a:rPr lang="en-US" baseline="30000" dirty="0">
                <a:sym typeface="Symbol"/>
              </a:rPr>
              <a:t>2</a:t>
            </a:r>
            <a:r>
              <a:rPr lang="en-US" dirty="0">
                <a:sym typeface="Symbol"/>
              </a:rPr>
              <a:t>(</a:t>
            </a:r>
            <a:r>
              <a:rPr lang="en-US" dirty="0"/>
              <a:t>∑</a:t>
            </a:r>
            <a:r>
              <a:rPr lang="en-US" dirty="0">
                <a:sym typeface="Symbol"/>
              </a:rPr>
              <a:t>)  ... is a fix point of </a:t>
            </a:r>
            <a:r>
              <a:rPr lang="en-US" i="1" dirty="0">
                <a:sym typeface="Symbol"/>
              </a:rPr>
              <a:t>f</a:t>
            </a:r>
            <a:r>
              <a:rPr lang="en-US" dirty="0">
                <a:sym typeface="Symbol"/>
              </a:rPr>
              <a:t>.</a:t>
            </a:r>
          </a:p>
          <a:p>
            <a:pPr lvl="1"/>
            <a:r>
              <a:rPr lang="en-US" dirty="0">
                <a:sym typeface="Symbol"/>
              </a:rPr>
              <a:t>𝛼 is the greatest fix point of </a:t>
            </a:r>
            <a:r>
              <a:rPr lang="en-US" i="1" dirty="0">
                <a:sym typeface="Symbol"/>
              </a:rPr>
              <a:t>f</a:t>
            </a:r>
            <a:r>
              <a:rPr lang="en-US" dirty="0">
                <a:sym typeface="Symbol"/>
              </a:rPr>
              <a:t>.</a:t>
            </a:r>
          </a:p>
          <a:p>
            <a:endParaRPr lang="en-US" dirty="0">
              <a:sym typeface="Symbol"/>
            </a:endParaRP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48220AE-4ABF-4647-9677-DBC7878747C7}" type="slidenum">
              <a:rPr lang="en-US" smtClean="0"/>
              <a:pPr>
                <a:defRPr/>
              </a:pPr>
              <a:t>44</a:t>
            </a:fld>
            <a:endParaRPr lang="en-US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FP iteration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How to compute</a:t>
            </a:r>
            <a:r>
              <a:rPr lang="en-US" i="1" dirty="0"/>
              <a:t> </a:t>
            </a:r>
            <a:r>
              <a:rPr lang="en-US" dirty="0">
                <a:sym typeface="Symbol"/>
              </a:rPr>
              <a:t>{ </a:t>
            </a:r>
            <a:r>
              <a:rPr lang="en-US" i="1" dirty="0">
                <a:sym typeface="Symbol"/>
              </a:rPr>
              <a:t>f </a:t>
            </a:r>
            <a:r>
              <a:rPr lang="en-US" baseline="30000" dirty="0">
                <a:sym typeface="Symbol"/>
              </a:rPr>
              <a:t>k</a:t>
            </a:r>
            <a:r>
              <a:rPr lang="en-US" dirty="0">
                <a:sym typeface="Symbol"/>
              </a:rPr>
              <a:t> (</a:t>
            </a:r>
            <a:r>
              <a:rPr lang="en-US" dirty="0"/>
              <a:t>∑</a:t>
            </a:r>
            <a:r>
              <a:rPr lang="en-US" dirty="0">
                <a:sym typeface="Symbol"/>
              </a:rPr>
              <a:t>)  | </a:t>
            </a:r>
            <a:r>
              <a:rPr lang="en-US" i="1" dirty="0">
                <a:sym typeface="Symbol"/>
              </a:rPr>
              <a:t>k</a:t>
            </a:r>
            <a:r>
              <a:rPr lang="en-US" dirty="0">
                <a:sym typeface="Symbol"/>
              </a:rPr>
              <a:t>0 } ?  </a:t>
            </a:r>
          </a:p>
          <a:p>
            <a:pPr lvl="1"/>
            <a:r>
              <a:rPr lang="en-US" dirty="0">
                <a:sym typeface="Symbol"/>
              </a:rPr>
              <a:t>compute</a:t>
            </a:r>
            <a:r>
              <a:rPr lang="en-US" i="1" dirty="0">
                <a:sym typeface="Symbol"/>
              </a:rPr>
              <a:t> f </a:t>
            </a:r>
            <a:r>
              <a:rPr lang="en-US" baseline="30000" dirty="0">
                <a:sym typeface="Symbol"/>
              </a:rPr>
              <a:t>0</a:t>
            </a:r>
            <a:r>
              <a:rPr lang="en-US" i="1" dirty="0">
                <a:sym typeface="Symbol"/>
              </a:rPr>
              <a:t>, f </a:t>
            </a:r>
            <a:r>
              <a:rPr lang="en-US" baseline="30000" dirty="0">
                <a:sym typeface="Symbol"/>
              </a:rPr>
              <a:t>1</a:t>
            </a:r>
            <a:r>
              <a:rPr lang="en-US" i="1" dirty="0">
                <a:sym typeface="Symbol"/>
              </a:rPr>
              <a:t>, f </a:t>
            </a:r>
            <a:r>
              <a:rPr lang="en-US" baseline="30000" dirty="0">
                <a:sym typeface="Symbol"/>
              </a:rPr>
              <a:t>2</a:t>
            </a:r>
            <a:r>
              <a:rPr lang="en-US" i="1" dirty="0">
                <a:sym typeface="Symbol"/>
              </a:rPr>
              <a:t>, ... </a:t>
            </a:r>
            <a:r>
              <a:rPr lang="en-US" dirty="0">
                <a:sym typeface="Symbol"/>
              </a:rPr>
              <a:t>but notice you only need to keep track of the last.</a:t>
            </a:r>
            <a:endParaRPr lang="en-US" dirty="0"/>
          </a:p>
          <a:p>
            <a:pPr lvl="1"/>
            <a:r>
              <a:rPr lang="en-US" i="1" dirty="0"/>
              <a:t>X</a:t>
            </a:r>
            <a:r>
              <a:rPr lang="en-US" dirty="0"/>
              <a:t> := ∑ ;</a:t>
            </a:r>
            <a:br>
              <a:rPr lang="en-US" dirty="0"/>
            </a:br>
            <a:r>
              <a:rPr lang="en-US" b="1" dirty="0"/>
              <a:t>while </a:t>
            </a:r>
            <a:r>
              <a:rPr lang="en-US" i="1" dirty="0"/>
              <a:t>X</a:t>
            </a:r>
            <a:r>
              <a:rPr lang="en-US" dirty="0">
                <a:sym typeface="Symbol"/>
              </a:rPr>
              <a:t>  </a:t>
            </a:r>
            <a:r>
              <a:rPr lang="en-US" i="1" dirty="0">
                <a:sym typeface="Symbol"/>
              </a:rPr>
              <a:t>f</a:t>
            </a:r>
            <a:r>
              <a:rPr lang="en-US" dirty="0">
                <a:sym typeface="Symbol"/>
              </a:rPr>
              <a:t>(</a:t>
            </a:r>
            <a:r>
              <a:rPr lang="en-US" i="1" dirty="0">
                <a:sym typeface="Symbol"/>
              </a:rPr>
              <a:t>X</a:t>
            </a:r>
            <a:r>
              <a:rPr lang="en-US" dirty="0">
                <a:sym typeface="Symbol"/>
              </a:rPr>
              <a:t>)  </a:t>
            </a:r>
            <a:r>
              <a:rPr lang="en-US" b="1" dirty="0">
                <a:sym typeface="Symbol"/>
              </a:rPr>
              <a:t>do</a:t>
            </a:r>
            <a:r>
              <a:rPr lang="en-US" dirty="0">
                <a:sym typeface="Symbol"/>
              </a:rPr>
              <a:t> </a:t>
            </a:r>
            <a:r>
              <a:rPr lang="en-US" i="1" dirty="0">
                <a:sym typeface="Symbol"/>
              </a:rPr>
              <a:t>X</a:t>
            </a:r>
            <a:r>
              <a:rPr lang="en-US" dirty="0">
                <a:sym typeface="Symbol"/>
              </a:rPr>
              <a:t> := </a:t>
            </a:r>
            <a:r>
              <a:rPr lang="en-US" i="1" dirty="0">
                <a:sym typeface="Symbol"/>
              </a:rPr>
              <a:t>f</a:t>
            </a:r>
            <a:r>
              <a:rPr lang="en-US" dirty="0">
                <a:sym typeface="Symbol"/>
              </a:rPr>
              <a:t>(</a:t>
            </a:r>
            <a:r>
              <a:rPr lang="en-US" i="1" dirty="0">
                <a:sym typeface="Symbol"/>
              </a:rPr>
              <a:t>X</a:t>
            </a:r>
            <a:r>
              <a:rPr lang="en-US" dirty="0">
                <a:sym typeface="Symbol"/>
              </a:rPr>
              <a:t>)</a:t>
            </a:r>
          </a:p>
          <a:p>
            <a:endParaRPr lang="en-US" dirty="0">
              <a:sym typeface="Symbol"/>
            </a:endParaRPr>
          </a:p>
          <a:p>
            <a:r>
              <a:rPr lang="en-US" dirty="0">
                <a:sym typeface="Symbol"/>
              </a:rPr>
              <a:t>Will give the greatest FP, if it terminates.</a:t>
            </a:r>
          </a:p>
          <a:p>
            <a:r>
              <a:rPr lang="en-US" dirty="0">
                <a:sym typeface="Symbol"/>
              </a:rPr>
              <a:t>For </a:t>
            </a:r>
            <a:r>
              <a:rPr lang="en-US" b="1" dirty="0" err="1">
                <a:sym typeface="Symbol"/>
              </a:rPr>
              <a:t>wlp</a:t>
            </a:r>
            <a:r>
              <a:rPr lang="en-US" dirty="0">
                <a:sym typeface="Symbol"/>
              </a:rPr>
              <a:t> :</a:t>
            </a:r>
          </a:p>
          <a:p>
            <a:pPr lvl="1"/>
            <a:r>
              <a:rPr lang="en-US" i="1" dirty="0"/>
              <a:t>W</a:t>
            </a:r>
            <a:r>
              <a:rPr lang="en-US" dirty="0"/>
              <a:t> := </a:t>
            </a:r>
            <a:r>
              <a:rPr lang="en-US" b="1" dirty="0"/>
              <a:t>true</a:t>
            </a:r>
            <a:r>
              <a:rPr lang="en-US" dirty="0"/>
              <a:t> ;</a:t>
            </a:r>
            <a:br>
              <a:rPr lang="en-US" dirty="0"/>
            </a:br>
            <a:r>
              <a:rPr lang="en-US" b="1" dirty="0"/>
              <a:t>while </a:t>
            </a:r>
            <a:r>
              <a:rPr lang="en-US" i="1" dirty="0"/>
              <a:t>W</a:t>
            </a:r>
            <a:r>
              <a:rPr lang="en-US" dirty="0">
                <a:sym typeface="Symbol"/>
              </a:rPr>
              <a:t>  </a:t>
            </a:r>
            <a:r>
              <a:rPr lang="en-US" b="1" dirty="0">
                <a:solidFill>
                  <a:srgbClr val="0070C0"/>
                </a:solidFill>
                <a:sym typeface="Symbol"/>
              </a:rPr>
              <a:t>F</a:t>
            </a:r>
            <a:r>
              <a:rPr lang="en-US" dirty="0">
                <a:sym typeface="Symbol"/>
              </a:rPr>
              <a:t>(</a:t>
            </a:r>
            <a:r>
              <a:rPr lang="en-US" i="1" dirty="0">
                <a:sym typeface="Symbol"/>
              </a:rPr>
              <a:t>W</a:t>
            </a:r>
            <a:r>
              <a:rPr lang="en-US" dirty="0">
                <a:sym typeface="Symbol"/>
              </a:rPr>
              <a:t>)  </a:t>
            </a:r>
            <a:r>
              <a:rPr lang="en-US" b="1" dirty="0">
                <a:sym typeface="Symbol"/>
              </a:rPr>
              <a:t>do</a:t>
            </a:r>
            <a:r>
              <a:rPr lang="en-US" dirty="0">
                <a:sym typeface="Symbol"/>
              </a:rPr>
              <a:t> </a:t>
            </a:r>
            <a:r>
              <a:rPr lang="en-US" i="1" dirty="0">
                <a:sym typeface="Symbol"/>
              </a:rPr>
              <a:t>W </a:t>
            </a:r>
            <a:r>
              <a:rPr lang="en-US" dirty="0">
                <a:sym typeface="Symbol"/>
              </a:rPr>
              <a:t>:= </a:t>
            </a:r>
            <a:r>
              <a:rPr lang="en-US" b="1" dirty="0">
                <a:solidFill>
                  <a:srgbClr val="0070C0"/>
                </a:solidFill>
                <a:sym typeface="Symbol"/>
              </a:rPr>
              <a:t>F</a:t>
            </a:r>
            <a:r>
              <a:rPr lang="en-US" dirty="0">
                <a:sym typeface="Symbol"/>
              </a:rPr>
              <a:t>(</a:t>
            </a:r>
            <a:r>
              <a:rPr lang="en-US" i="1" dirty="0">
                <a:sym typeface="Symbol"/>
              </a:rPr>
              <a:t>W</a:t>
            </a:r>
            <a:r>
              <a:rPr lang="en-US" dirty="0">
                <a:sym typeface="Symbol"/>
              </a:rPr>
              <a:t>)</a:t>
            </a:r>
            <a:br>
              <a:rPr lang="en-US" dirty="0">
                <a:sym typeface="Symbol"/>
              </a:rPr>
            </a:br>
            <a:br>
              <a:rPr lang="en-US" dirty="0">
                <a:sym typeface="Symbol"/>
              </a:rPr>
            </a:br>
            <a:r>
              <a:rPr lang="en-US" dirty="0">
                <a:sym typeface="Symbol"/>
              </a:rPr>
              <a:t>where </a:t>
            </a:r>
            <a:r>
              <a:rPr lang="en-US" b="1" dirty="0">
                <a:solidFill>
                  <a:srgbClr val="0070C0"/>
                </a:solidFill>
                <a:sym typeface="Symbol"/>
              </a:rPr>
              <a:t>F</a:t>
            </a:r>
            <a:r>
              <a:rPr lang="en-US" dirty="0">
                <a:sym typeface="Symbol"/>
              </a:rPr>
              <a:t>(</a:t>
            </a:r>
            <a:r>
              <a:rPr lang="en-US" i="1" dirty="0">
                <a:sym typeface="Symbol"/>
              </a:rPr>
              <a:t>W</a:t>
            </a:r>
            <a:r>
              <a:rPr lang="en-US" dirty="0">
                <a:sym typeface="Symbol"/>
              </a:rPr>
              <a:t>)  =  </a:t>
            </a:r>
            <a:r>
              <a:rPr lang="en-US" dirty="0"/>
              <a:t>(</a:t>
            </a:r>
            <a:r>
              <a:rPr lang="en-US" i="1" dirty="0"/>
              <a:t>g</a:t>
            </a:r>
            <a:r>
              <a:rPr lang="en-US" dirty="0"/>
              <a:t>  /\  </a:t>
            </a:r>
            <a:r>
              <a:rPr lang="en-US" b="1" dirty="0" err="1">
                <a:solidFill>
                  <a:srgbClr val="FF0000"/>
                </a:solidFill>
              </a:rPr>
              <a:t>wlp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/>
              <a:t>S </a:t>
            </a:r>
            <a:r>
              <a:rPr lang="en-US" i="1" dirty="0"/>
              <a:t>W</a:t>
            </a:r>
            <a:r>
              <a:rPr lang="en-US" dirty="0"/>
              <a:t>)  \/  (</a:t>
            </a:r>
            <a:r>
              <a:rPr lang="en-US" dirty="0">
                <a:sym typeface="Symbol"/>
              </a:rPr>
              <a:t></a:t>
            </a:r>
            <a:r>
              <a:rPr lang="en-US" i="1" dirty="0">
                <a:sym typeface="Symbol"/>
              </a:rPr>
              <a:t>g</a:t>
            </a:r>
            <a:r>
              <a:rPr lang="en-US" dirty="0">
                <a:sym typeface="Symbol"/>
              </a:rPr>
              <a:t> /\ </a:t>
            </a:r>
            <a:r>
              <a:rPr lang="en-US" i="1" dirty="0">
                <a:sym typeface="Symbol"/>
              </a:rPr>
              <a:t>Q</a:t>
            </a:r>
            <a:r>
              <a:rPr lang="en-US" dirty="0">
                <a:sym typeface="Symbol"/>
              </a:rPr>
              <a:t>)</a:t>
            </a:r>
            <a:r>
              <a:rPr lang="en-US" dirty="0"/>
              <a:t> </a:t>
            </a:r>
            <a:br>
              <a:rPr lang="en-US" dirty="0">
                <a:sym typeface="Symbol"/>
              </a:rPr>
            </a:b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48220AE-4ABF-4647-9677-DBC7878747C7}" type="slidenum">
              <a:rPr lang="en-US" smtClean="0"/>
              <a:pPr>
                <a:defRPr/>
              </a:pPr>
              <a:t>45</a:t>
            </a:fld>
            <a:endParaRPr lang="en-US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0034" y="2346159"/>
            <a:ext cx="8358246" cy="3653587"/>
          </a:xfrm>
        </p:spPr>
        <p:txBody>
          <a:bodyPr>
            <a:normAutofit fontScale="92500" lnSpcReduction="10000"/>
          </a:bodyPr>
          <a:lstStyle/>
          <a:p>
            <a:r>
              <a:rPr lang="en-US" sz="2400" dirty="0"/>
              <a:t>Q is y=0</a:t>
            </a:r>
          </a:p>
          <a:p>
            <a:r>
              <a:rPr lang="en-US" sz="2400" i="1" dirty="0"/>
              <a:t>W</a:t>
            </a:r>
            <a:r>
              <a:rPr lang="en-US" sz="2400" baseline="-25000" dirty="0"/>
              <a:t>0</a:t>
            </a:r>
            <a:r>
              <a:rPr lang="en-US" sz="2400" dirty="0"/>
              <a:t>  =  true </a:t>
            </a:r>
          </a:p>
          <a:p>
            <a:r>
              <a:rPr lang="en-US" sz="2400" i="1" dirty="0"/>
              <a:t>W</a:t>
            </a:r>
            <a:r>
              <a:rPr lang="en-US" sz="2400" baseline="-25000" dirty="0"/>
              <a:t>1</a:t>
            </a:r>
            <a:r>
              <a:rPr lang="en-US" sz="2400" dirty="0"/>
              <a:t>  =  (y</a:t>
            </a:r>
            <a:r>
              <a:rPr lang="en-US" sz="2400" i="1" dirty="0"/>
              <a:t>&gt;</a:t>
            </a:r>
            <a:r>
              <a:rPr lang="en-US" sz="2400" dirty="0"/>
              <a:t>0  /\  </a:t>
            </a:r>
            <a:r>
              <a:rPr lang="en-US" sz="2400" b="1" dirty="0" err="1"/>
              <a:t>wlp</a:t>
            </a:r>
            <a:r>
              <a:rPr lang="en-US" sz="2400" dirty="0"/>
              <a:t> S </a:t>
            </a:r>
            <a:r>
              <a:rPr lang="en-US" sz="2400" i="1" dirty="0"/>
              <a:t>W</a:t>
            </a:r>
            <a:r>
              <a:rPr lang="en-US" sz="2400" baseline="-25000" dirty="0"/>
              <a:t>0</a:t>
            </a:r>
            <a:r>
              <a:rPr lang="en-US" sz="2400" dirty="0"/>
              <a:t>)   \/   (</a:t>
            </a:r>
            <a:r>
              <a:rPr lang="en-US" sz="2400" strike="sngStrike" dirty="0">
                <a:sym typeface="Symbol"/>
              </a:rPr>
              <a:t>(y</a:t>
            </a:r>
            <a:r>
              <a:rPr lang="en-US" sz="2400" i="1" strike="sngStrike" dirty="0">
                <a:sym typeface="Symbol"/>
              </a:rPr>
              <a:t>&gt;0</a:t>
            </a:r>
            <a:r>
              <a:rPr lang="en-US" sz="2400" strike="sngStrike" dirty="0">
                <a:sym typeface="Symbol"/>
              </a:rPr>
              <a:t>) </a:t>
            </a:r>
            <a:r>
              <a:rPr lang="en-US" sz="2400" dirty="0">
                <a:sym typeface="Symbol"/>
              </a:rPr>
              <a:t>/\  y=0)</a:t>
            </a:r>
            <a:r>
              <a:rPr lang="en-US" sz="2400" dirty="0"/>
              <a:t> </a:t>
            </a:r>
            <a:br>
              <a:rPr lang="en-US" sz="2400" dirty="0"/>
            </a:br>
            <a:r>
              <a:rPr lang="en-US" sz="2400" dirty="0"/>
              <a:t>       =  (y</a:t>
            </a:r>
            <a:r>
              <a:rPr lang="en-US" sz="2400" i="1" dirty="0"/>
              <a:t>&gt;</a:t>
            </a:r>
            <a:r>
              <a:rPr lang="en-US" sz="2400" dirty="0"/>
              <a:t>0  /\  </a:t>
            </a:r>
            <a:r>
              <a:rPr lang="en-US" sz="2400" dirty="0">
                <a:sym typeface="Symbol"/>
              </a:rPr>
              <a:t>true</a:t>
            </a:r>
            <a:r>
              <a:rPr lang="en-US" sz="2400" dirty="0"/>
              <a:t>)   \/   (</a:t>
            </a:r>
            <a:r>
              <a:rPr lang="en-US" sz="2400" dirty="0">
                <a:sym typeface="Symbol"/>
              </a:rPr>
              <a:t>y=0)</a:t>
            </a:r>
          </a:p>
          <a:p>
            <a:pPr>
              <a:buNone/>
            </a:pPr>
            <a:r>
              <a:rPr lang="en-US" sz="2400" dirty="0">
                <a:sym typeface="Symbol"/>
              </a:rPr>
              <a:t>          =   y0</a:t>
            </a:r>
            <a:endParaRPr lang="en-US" sz="2400" dirty="0"/>
          </a:p>
          <a:p>
            <a:r>
              <a:rPr lang="en-US" sz="2400" i="1" dirty="0">
                <a:sym typeface="Symbol"/>
              </a:rPr>
              <a:t>W</a:t>
            </a:r>
            <a:r>
              <a:rPr lang="en-US" sz="2400" baseline="-25000" dirty="0">
                <a:sym typeface="Symbol"/>
              </a:rPr>
              <a:t>2</a:t>
            </a:r>
            <a:r>
              <a:rPr lang="en-US" sz="2400" dirty="0">
                <a:sym typeface="Symbol"/>
              </a:rPr>
              <a:t>  =  </a:t>
            </a:r>
            <a:r>
              <a:rPr lang="en-US" sz="2400" dirty="0"/>
              <a:t>(y</a:t>
            </a:r>
            <a:r>
              <a:rPr lang="en-US" sz="2400" i="1" dirty="0"/>
              <a:t>&gt;</a:t>
            </a:r>
            <a:r>
              <a:rPr lang="en-US" sz="2400" dirty="0"/>
              <a:t>0  /\  </a:t>
            </a:r>
            <a:r>
              <a:rPr lang="en-US" sz="2400" dirty="0">
                <a:sym typeface="Symbol"/>
              </a:rPr>
              <a:t>y-10</a:t>
            </a:r>
            <a:r>
              <a:rPr lang="en-US" sz="2400" dirty="0"/>
              <a:t>)   \/   (</a:t>
            </a:r>
            <a:r>
              <a:rPr lang="en-US" sz="2400" strike="sngStrike" dirty="0">
                <a:sym typeface="Symbol"/>
              </a:rPr>
              <a:t>(y</a:t>
            </a:r>
            <a:r>
              <a:rPr lang="en-US" sz="2400" i="1" strike="sngStrike" dirty="0">
                <a:sym typeface="Symbol"/>
              </a:rPr>
              <a:t>&gt;0</a:t>
            </a:r>
            <a:r>
              <a:rPr lang="en-US" sz="2400" strike="sngStrike" dirty="0">
                <a:sym typeface="Symbol"/>
              </a:rPr>
              <a:t>) </a:t>
            </a:r>
            <a:r>
              <a:rPr lang="en-US" sz="2400" dirty="0">
                <a:sym typeface="Symbol"/>
              </a:rPr>
              <a:t>/\  y=0)</a:t>
            </a:r>
            <a:r>
              <a:rPr lang="en-US" sz="2400" dirty="0"/>
              <a:t> </a:t>
            </a:r>
            <a:br>
              <a:rPr lang="en-US" sz="2400" dirty="0"/>
            </a:br>
            <a:r>
              <a:rPr lang="en-US" sz="2400" dirty="0"/>
              <a:t>       =  y</a:t>
            </a:r>
            <a:r>
              <a:rPr lang="en-US" sz="2400" dirty="0">
                <a:sym typeface="Symbol"/>
              </a:rPr>
              <a:t> 1  \/  y=0</a:t>
            </a:r>
            <a:br>
              <a:rPr lang="en-US" sz="2400" dirty="0">
                <a:sym typeface="Symbol"/>
              </a:rPr>
            </a:br>
            <a:r>
              <a:rPr lang="en-US" sz="2400" dirty="0">
                <a:sym typeface="Symbol"/>
              </a:rPr>
              <a:t>       = y0</a:t>
            </a:r>
          </a:p>
          <a:p>
            <a:r>
              <a:rPr lang="en-US" sz="2400" dirty="0">
                <a:sym typeface="Symbol"/>
              </a:rPr>
              <a:t> </a:t>
            </a:r>
            <a:r>
              <a:rPr lang="en-US" sz="2400" i="1" dirty="0">
                <a:sym typeface="Symbol"/>
              </a:rPr>
              <a:t>W</a:t>
            </a:r>
            <a:r>
              <a:rPr lang="en-US" sz="2400" baseline="-25000" dirty="0">
                <a:sym typeface="Symbol"/>
              </a:rPr>
              <a:t>2  </a:t>
            </a:r>
            <a:r>
              <a:rPr lang="en-US" sz="2400" dirty="0">
                <a:sym typeface="Symbol"/>
              </a:rPr>
              <a:t>= </a:t>
            </a:r>
            <a:r>
              <a:rPr lang="en-US" sz="2400" i="1" dirty="0"/>
              <a:t>W</a:t>
            </a:r>
            <a:r>
              <a:rPr lang="en-US" sz="2400" baseline="-25000" dirty="0"/>
              <a:t>1</a:t>
            </a:r>
            <a:r>
              <a:rPr lang="en-US" sz="2400" dirty="0"/>
              <a:t> </a:t>
            </a:r>
            <a:br>
              <a:rPr lang="en-US" sz="2400" dirty="0">
                <a:sym typeface="Symbol"/>
              </a:rPr>
            </a:br>
            <a:endParaRPr lang="en-US" sz="2400" dirty="0"/>
          </a:p>
          <a:p>
            <a:endParaRPr lang="en-US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48220AE-4ABF-4647-9677-DBC7878747C7}" type="slidenum">
              <a:rPr lang="en-US" smtClean="0"/>
              <a:pPr>
                <a:defRPr/>
              </a:pPr>
              <a:t>46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603250" y="1638297"/>
            <a:ext cx="7722603" cy="52322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b="1" dirty="0"/>
              <a:t>   while</a:t>
            </a:r>
            <a:r>
              <a:rPr lang="en-US" sz="2800" dirty="0"/>
              <a:t>  y&gt;0 </a:t>
            </a:r>
            <a:r>
              <a:rPr lang="en-US" sz="2800" b="1" dirty="0"/>
              <a:t>do</a:t>
            </a:r>
            <a:r>
              <a:rPr lang="en-US" sz="2800" dirty="0"/>
              <a:t> { y := y−1  }   </a:t>
            </a:r>
            <a:r>
              <a:rPr lang="en-US" sz="2800" b="1" dirty="0">
                <a:solidFill>
                  <a:srgbClr val="0070C0"/>
                </a:solidFill>
              </a:rPr>
              <a:t>{ y=0 }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3249" y="2537285"/>
            <a:ext cx="8643967" cy="3735499"/>
          </a:xfrm>
        </p:spPr>
        <p:txBody>
          <a:bodyPr>
            <a:normAutofit lnSpcReduction="10000"/>
          </a:bodyPr>
          <a:lstStyle/>
          <a:p>
            <a:r>
              <a:rPr lang="en-US" sz="2400" dirty="0"/>
              <a:t>Q is d      </a:t>
            </a:r>
            <a:r>
              <a:rPr lang="en-US" sz="24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-- </a:t>
            </a:r>
            <a:r>
              <a:rPr lang="en-US" sz="2400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c,d</a:t>
            </a:r>
            <a:r>
              <a:rPr lang="en-US" sz="24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are </a:t>
            </a:r>
            <a:r>
              <a:rPr lang="en-US" sz="2400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bool</a:t>
            </a:r>
            <a:r>
              <a:rPr lang="en-US" sz="24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</a:t>
            </a:r>
            <a:r>
              <a:rPr lang="en-US" sz="2400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vars</a:t>
            </a:r>
            <a:endParaRPr lang="en-US" sz="24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  <a:p>
            <a:r>
              <a:rPr lang="en-US" sz="2400" i="1" dirty="0"/>
              <a:t>W</a:t>
            </a:r>
            <a:r>
              <a:rPr lang="en-US" sz="2400" baseline="-25000" dirty="0"/>
              <a:t>0</a:t>
            </a:r>
            <a:r>
              <a:rPr lang="en-US" sz="2400" dirty="0"/>
              <a:t>  =  true </a:t>
            </a:r>
          </a:p>
          <a:p>
            <a:r>
              <a:rPr lang="en-US" sz="2400" i="1" dirty="0"/>
              <a:t>W</a:t>
            </a:r>
            <a:r>
              <a:rPr lang="en-US" sz="2400" baseline="-25000" dirty="0"/>
              <a:t>1</a:t>
            </a:r>
            <a:r>
              <a:rPr lang="en-US" sz="2400" dirty="0"/>
              <a:t>  = (y</a:t>
            </a:r>
            <a:r>
              <a:rPr lang="en-US" sz="2400" i="1" dirty="0"/>
              <a:t>&gt;</a:t>
            </a:r>
            <a:r>
              <a:rPr lang="en-US" sz="2400" dirty="0"/>
              <a:t>0  /\  </a:t>
            </a:r>
            <a:r>
              <a:rPr lang="en-US" sz="2400" b="1" dirty="0" err="1"/>
              <a:t>wlp</a:t>
            </a:r>
            <a:r>
              <a:rPr lang="en-US" sz="2400" dirty="0"/>
              <a:t> S </a:t>
            </a:r>
            <a:r>
              <a:rPr lang="en-US" sz="2400" i="1" dirty="0"/>
              <a:t>W</a:t>
            </a:r>
            <a:r>
              <a:rPr lang="en-US" sz="2400" baseline="-25000" dirty="0"/>
              <a:t>0</a:t>
            </a:r>
            <a:r>
              <a:rPr lang="en-US" sz="2400" dirty="0"/>
              <a:t>)   \/   (</a:t>
            </a:r>
            <a:r>
              <a:rPr lang="en-US" sz="2400" dirty="0">
                <a:sym typeface="Symbol"/>
              </a:rPr>
              <a:t>(y</a:t>
            </a:r>
            <a:r>
              <a:rPr lang="en-US" sz="2400" i="1" dirty="0">
                <a:sym typeface="Symbol"/>
              </a:rPr>
              <a:t>&gt;</a:t>
            </a:r>
            <a:r>
              <a:rPr lang="en-US" sz="2400" dirty="0">
                <a:sym typeface="Symbol"/>
              </a:rPr>
              <a:t>0) /\ </a:t>
            </a:r>
            <a:r>
              <a:rPr lang="en-US" sz="2400" i="1" dirty="0">
                <a:sym typeface="Symbol"/>
              </a:rPr>
              <a:t> </a:t>
            </a:r>
            <a:r>
              <a:rPr lang="en-US" sz="2400" dirty="0">
                <a:sym typeface="Symbol"/>
              </a:rPr>
              <a:t>d)</a:t>
            </a:r>
            <a:r>
              <a:rPr lang="en-US" sz="2400" dirty="0"/>
              <a:t> </a:t>
            </a:r>
            <a:br>
              <a:rPr lang="en-US" sz="2400" dirty="0"/>
            </a:br>
            <a:r>
              <a:rPr lang="en-US" sz="2400" dirty="0"/>
              <a:t>       = (y</a:t>
            </a:r>
            <a:r>
              <a:rPr lang="en-US" sz="2400" i="1" dirty="0"/>
              <a:t>&gt;</a:t>
            </a:r>
            <a:r>
              <a:rPr lang="en-US" sz="2400" dirty="0"/>
              <a:t>0  /\  </a:t>
            </a:r>
            <a:r>
              <a:rPr lang="en-US" sz="2400" dirty="0">
                <a:sym typeface="Symbol"/>
              </a:rPr>
              <a:t>true</a:t>
            </a:r>
            <a:r>
              <a:rPr lang="en-US" sz="2400" dirty="0"/>
              <a:t>)   \/   (</a:t>
            </a:r>
            <a:r>
              <a:rPr lang="en-US" sz="2400" dirty="0">
                <a:sym typeface="Symbol"/>
              </a:rPr>
              <a:t>y0 /\ </a:t>
            </a:r>
            <a:r>
              <a:rPr lang="en-US" sz="2400" i="1" dirty="0">
                <a:sym typeface="Symbol"/>
              </a:rPr>
              <a:t> </a:t>
            </a:r>
            <a:r>
              <a:rPr lang="en-US" sz="2400" dirty="0">
                <a:sym typeface="Symbol"/>
              </a:rPr>
              <a:t>d)</a:t>
            </a:r>
            <a:r>
              <a:rPr lang="en-US" sz="2400" dirty="0"/>
              <a:t> </a:t>
            </a:r>
          </a:p>
          <a:p>
            <a:r>
              <a:rPr lang="en-US" sz="2400" i="1" dirty="0">
                <a:sym typeface="Symbol"/>
              </a:rPr>
              <a:t>W</a:t>
            </a:r>
            <a:r>
              <a:rPr lang="en-US" sz="2400" baseline="-25000" dirty="0">
                <a:sym typeface="Symbol"/>
              </a:rPr>
              <a:t>2</a:t>
            </a:r>
            <a:r>
              <a:rPr lang="en-US" sz="2400" dirty="0">
                <a:sym typeface="Symbol"/>
              </a:rPr>
              <a:t>  = </a:t>
            </a:r>
            <a:r>
              <a:rPr lang="en-US" sz="2400" dirty="0"/>
              <a:t>(y</a:t>
            </a:r>
            <a:r>
              <a:rPr lang="en-US" sz="2400" i="1" dirty="0"/>
              <a:t>&gt;</a:t>
            </a:r>
            <a:r>
              <a:rPr lang="en-US" sz="2400" dirty="0"/>
              <a:t>0  /\  </a:t>
            </a:r>
            <a:r>
              <a:rPr lang="en-US" sz="2400" b="1" dirty="0" err="1"/>
              <a:t>wlp</a:t>
            </a:r>
            <a:r>
              <a:rPr lang="en-US" sz="2400" dirty="0"/>
              <a:t> S </a:t>
            </a:r>
            <a:r>
              <a:rPr lang="en-US" sz="2400" i="1" dirty="0"/>
              <a:t>W</a:t>
            </a:r>
            <a:r>
              <a:rPr lang="en-US" sz="2400" baseline="-25000" dirty="0"/>
              <a:t>1</a:t>
            </a:r>
            <a:r>
              <a:rPr lang="en-US" sz="2400" dirty="0"/>
              <a:t>)   \/   (</a:t>
            </a:r>
            <a:r>
              <a:rPr lang="en-US" sz="2400" dirty="0">
                <a:sym typeface="Symbol"/>
              </a:rPr>
              <a:t>y0 /\ </a:t>
            </a:r>
            <a:r>
              <a:rPr lang="en-US" sz="2400" i="1" dirty="0">
                <a:sym typeface="Symbol"/>
              </a:rPr>
              <a:t> </a:t>
            </a:r>
            <a:r>
              <a:rPr lang="en-US" sz="2400" dirty="0">
                <a:sym typeface="Symbol"/>
              </a:rPr>
              <a:t>d)</a:t>
            </a:r>
            <a:r>
              <a:rPr lang="en-US" sz="2400" dirty="0"/>
              <a:t> </a:t>
            </a:r>
            <a:br>
              <a:rPr lang="en-US" sz="2400" dirty="0"/>
            </a:br>
            <a:r>
              <a:rPr lang="en-US" sz="2400" dirty="0"/>
              <a:t>       </a:t>
            </a:r>
            <a:r>
              <a:rPr lang="en-US" sz="2400" dirty="0">
                <a:sym typeface="Symbol"/>
              </a:rPr>
              <a:t>= </a:t>
            </a:r>
            <a:r>
              <a:rPr lang="en-US" sz="2400" dirty="0"/>
              <a:t>(y</a:t>
            </a:r>
            <a:r>
              <a:rPr lang="en-US" sz="2400" i="1" dirty="0"/>
              <a:t>&gt;</a:t>
            </a:r>
            <a:r>
              <a:rPr lang="en-US" sz="2400" dirty="0"/>
              <a:t>0  /\ </a:t>
            </a:r>
            <a:r>
              <a:rPr lang="en-US" sz="2400" dirty="0">
                <a:sym typeface="Symbol"/>
              </a:rPr>
              <a:t>y&gt;1</a:t>
            </a:r>
            <a:r>
              <a:rPr lang="en-US" sz="2400" dirty="0"/>
              <a:t>)   \/  (y=1 /\ d) \/  (</a:t>
            </a:r>
            <a:r>
              <a:rPr lang="en-US" sz="2400" dirty="0">
                <a:sym typeface="Symbol"/>
              </a:rPr>
              <a:t>y0 /\ </a:t>
            </a:r>
            <a:r>
              <a:rPr lang="en-US" sz="2400" i="1" dirty="0">
                <a:sym typeface="Symbol"/>
              </a:rPr>
              <a:t> </a:t>
            </a:r>
            <a:r>
              <a:rPr lang="en-US" sz="2400" dirty="0">
                <a:sym typeface="Symbol"/>
              </a:rPr>
              <a:t>d)</a:t>
            </a:r>
            <a:r>
              <a:rPr lang="en-US" sz="2400" dirty="0"/>
              <a:t> </a:t>
            </a:r>
          </a:p>
          <a:p>
            <a:r>
              <a:rPr lang="en-US" sz="2400" i="1" dirty="0">
                <a:sym typeface="Symbol"/>
              </a:rPr>
              <a:t>W</a:t>
            </a:r>
            <a:r>
              <a:rPr lang="en-US" sz="2400" baseline="-25000" dirty="0">
                <a:sym typeface="Symbol"/>
              </a:rPr>
              <a:t>3</a:t>
            </a:r>
            <a:r>
              <a:rPr lang="en-US" sz="2400" dirty="0">
                <a:sym typeface="Symbol"/>
              </a:rPr>
              <a:t> = </a:t>
            </a:r>
            <a:r>
              <a:rPr lang="en-US" sz="2400" dirty="0"/>
              <a:t>(y</a:t>
            </a:r>
            <a:r>
              <a:rPr lang="en-US" sz="2400" i="1" dirty="0"/>
              <a:t>&gt;</a:t>
            </a:r>
            <a:r>
              <a:rPr lang="en-US" sz="2400" dirty="0"/>
              <a:t>2 )  \/ (y=2 /\ d)  \/ (y=1 /\ d) \/  (</a:t>
            </a:r>
            <a:r>
              <a:rPr lang="en-US" sz="2400" dirty="0">
                <a:sym typeface="Symbol"/>
              </a:rPr>
              <a:t>y0 /\ </a:t>
            </a:r>
            <a:r>
              <a:rPr lang="en-US" sz="2400" i="1" dirty="0">
                <a:sym typeface="Symbol"/>
              </a:rPr>
              <a:t> </a:t>
            </a:r>
            <a:r>
              <a:rPr lang="en-US" sz="2400" dirty="0">
                <a:sym typeface="Symbol"/>
              </a:rPr>
              <a:t>d)</a:t>
            </a:r>
            <a:r>
              <a:rPr lang="en-US" sz="2400" dirty="0"/>
              <a:t> </a:t>
            </a:r>
          </a:p>
          <a:p>
            <a:r>
              <a:rPr lang="en-US" sz="2400" dirty="0"/>
              <a:t>does not terminate </a:t>
            </a:r>
            <a:r>
              <a:rPr lang="en-US" sz="2400" dirty="0">
                <a:sym typeface="Wingdings" pitchFamily="2" charset="2"/>
              </a:rPr>
              <a:t></a:t>
            </a:r>
            <a:br>
              <a:rPr lang="en-US" sz="2400" dirty="0"/>
            </a:br>
            <a:endParaRPr lang="en-US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48220AE-4ABF-4647-9677-DBC7878747C7}" type="slidenum">
              <a:rPr lang="en-US" smtClean="0"/>
              <a:pPr>
                <a:defRPr/>
              </a:pPr>
              <a:t>47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603249" y="1574132"/>
            <a:ext cx="7834897" cy="52322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b="1" dirty="0"/>
              <a:t>while</a:t>
            </a:r>
            <a:r>
              <a:rPr lang="en-US" sz="2800" dirty="0"/>
              <a:t>  y&gt;0 </a:t>
            </a:r>
            <a:r>
              <a:rPr lang="en-US" sz="2800" b="1" dirty="0"/>
              <a:t>do</a:t>
            </a:r>
            <a:r>
              <a:rPr lang="en-US" sz="2800" dirty="0"/>
              <a:t> {  y := y−1  }  </a:t>
            </a:r>
            <a:r>
              <a:rPr lang="en-US" sz="2800" b="1" dirty="0">
                <a:solidFill>
                  <a:srgbClr val="0070C0"/>
                </a:solidFill>
              </a:rPr>
              <a:t>{ </a:t>
            </a:r>
            <a:r>
              <a:rPr lang="en-US" sz="2800" b="1" i="1" dirty="0">
                <a:solidFill>
                  <a:srgbClr val="0070C0"/>
                </a:solidFill>
              </a:rPr>
              <a:t>d</a:t>
            </a:r>
            <a:r>
              <a:rPr lang="en-US" sz="2800" b="1" dirty="0">
                <a:solidFill>
                  <a:srgbClr val="0070C0"/>
                </a:solidFill>
              </a:rPr>
              <a:t> }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3249" y="2537285"/>
            <a:ext cx="8643967" cy="3735499"/>
          </a:xfrm>
        </p:spPr>
        <p:txBody>
          <a:bodyPr>
            <a:normAutofit/>
          </a:bodyPr>
          <a:lstStyle/>
          <a:p>
            <a:r>
              <a:rPr lang="en-US" sz="2400" dirty="0"/>
              <a:t>....</a:t>
            </a:r>
          </a:p>
          <a:p>
            <a:r>
              <a:rPr lang="en-US" sz="2400" i="1" dirty="0">
                <a:sym typeface="Symbol"/>
              </a:rPr>
              <a:t>W</a:t>
            </a:r>
            <a:r>
              <a:rPr lang="en-US" sz="2400" baseline="-25000" dirty="0">
                <a:sym typeface="Symbol"/>
              </a:rPr>
              <a:t>3</a:t>
            </a:r>
            <a:r>
              <a:rPr lang="en-US" sz="2400" dirty="0">
                <a:sym typeface="Symbol"/>
              </a:rPr>
              <a:t> = </a:t>
            </a:r>
            <a:r>
              <a:rPr lang="en-US" sz="2400" dirty="0"/>
              <a:t>(y</a:t>
            </a:r>
            <a:r>
              <a:rPr lang="en-US" sz="2400" i="1" dirty="0"/>
              <a:t>&gt;</a:t>
            </a:r>
            <a:r>
              <a:rPr lang="en-US" sz="2400" dirty="0"/>
              <a:t>2 )  \/ (y=2 /\ d)  \/ (y=1 /\ d) \/  (</a:t>
            </a:r>
            <a:r>
              <a:rPr lang="en-US" sz="2400" dirty="0">
                <a:sym typeface="Symbol"/>
              </a:rPr>
              <a:t>y0 /\ </a:t>
            </a:r>
            <a:r>
              <a:rPr lang="en-US" sz="2400" i="1" dirty="0">
                <a:sym typeface="Symbol"/>
              </a:rPr>
              <a:t> </a:t>
            </a:r>
            <a:r>
              <a:rPr lang="en-US" sz="2400" dirty="0">
                <a:sym typeface="Symbol"/>
              </a:rPr>
              <a:t>d)</a:t>
            </a:r>
            <a:r>
              <a:rPr lang="en-US" sz="2400" dirty="0"/>
              <a:t> </a:t>
            </a:r>
          </a:p>
          <a:p>
            <a:r>
              <a:rPr lang="en-US" sz="2400" dirty="0"/>
              <a:t>does not terminate </a:t>
            </a:r>
            <a:r>
              <a:rPr lang="en-US" sz="2400" dirty="0">
                <a:sym typeface="Wingdings" pitchFamily="2" charset="2"/>
              </a:rPr>
              <a:t></a:t>
            </a:r>
          </a:p>
          <a:p>
            <a:r>
              <a:rPr lang="en-US" dirty="0">
                <a:highlight>
                  <a:srgbClr val="FFFF00"/>
                </a:highlight>
                <a:sym typeface="Wingdings" pitchFamily="2" charset="2"/>
              </a:rPr>
              <a:t>But</a:t>
            </a:r>
            <a:r>
              <a:rPr lang="en-US" dirty="0">
                <a:sym typeface="Wingdings" pitchFamily="2" charset="2"/>
              </a:rPr>
              <a:t> we know that </a:t>
            </a:r>
            <a:r>
              <a:rPr lang="en-US" sz="2400" i="1" dirty="0">
                <a:sym typeface="Symbol"/>
              </a:rPr>
              <a:t>W</a:t>
            </a:r>
            <a:r>
              <a:rPr lang="en-US" sz="2400" baseline="-25000" dirty="0">
                <a:sym typeface="Symbol"/>
              </a:rPr>
              <a:t>3</a:t>
            </a:r>
            <a:r>
              <a:rPr lang="en-US" sz="2400" dirty="0">
                <a:sym typeface="Symbol"/>
              </a:rPr>
              <a:t> </a:t>
            </a:r>
            <a:r>
              <a:rPr lang="en-US" dirty="0">
                <a:sym typeface="Symbol"/>
              </a:rPr>
              <a:t>⊇ the actual fix-point (the </a:t>
            </a:r>
            <a:r>
              <a:rPr lang="en-US" dirty="0" err="1">
                <a:sym typeface="Symbol"/>
              </a:rPr>
              <a:t>wlp</a:t>
            </a:r>
            <a:r>
              <a:rPr lang="en-US" dirty="0">
                <a:sym typeface="Symbol"/>
              </a:rPr>
              <a:t>).</a:t>
            </a:r>
          </a:p>
          <a:p>
            <a:r>
              <a:rPr lang="en-US" dirty="0">
                <a:sym typeface="Symbol"/>
              </a:rPr>
              <a:t>We can take </a:t>
            </a:r>
            <a:r>
              <a:rPr lang="en-US" sz="2400" i="1" dirty="0">
                <a:sym typeface="Symbol"/>
              </a:rPr>
              <a:t>W</a:t>
            </a:r>
            <a:r>
              <a:rPr lang="en-US" sz="2400" baseline="-25000" dirty="0">
                <a:sym typeface="Symbol"/>
              </a:rPr>
              <a:t>3</a:t>
            </a:r>
            <a:r>
              <a:rPr lang="en-US" sz="2400" dirty="0">
                <a:sym typeface="Symbol"/>
              </a:rPr>
              <a:t> as the </a:t>
            </a:r>
            <a:r>
              <a:rPr lang="en-US" dirty="0">
                <a:sym typeface="Symbol"/>
              </a:rPr>
              <a:t>”</a:t>
            </a:r>
            <a:r>
              <a:rPr lang="en-US" dirty="0" err="1">
                <a:sym typeface="Symbol"/>
              </a:rPr>
              <a:t>wlp</a:t>
            </a:r>
            <a:r>
              <a:rPr lang="en-US" dirty="0">
                <a:sym typeface="Symbol"/>
              </a:rPr>
              <a:t>” of the loop. If P is the given pre-</a:t>
            </a:r>
            <a:r>
              <a:rPr lang="en-US" dirty="0" err="1">
                <a:sym typeface="Symbol"/>
              </a:rPr>
              <a:t>cond</a:t>
            </a:r>
            <a:r>
              <a:rPr lang="en-US" dirty="0">
                <a:sym typeface="Symbol"/>
              </a:rPr>
              <a:t> of the loop:</a:t>
            </a:r>
          </a:p>
          <a:p>
            <a:pPr lvl="1"/>
            <a:r>
              <a:rPr lang="en-US" dirty="0">
                <a:sym typeface="Symbol"/>
              </a:rPr>
              <a:t>P ⟹ </a:t>
            </a:r>
            <a:r>
              <a:rPr lang="en-US" sz="2000" i="1" dirty="0">
                <a:sym typeface="Symbol"/>
              </a:rPr>
              <a:t>W</a:t>
            </a:r>
            <a:r>
              <a:rPr lang="en-US" sz="2000" baseline="-25000" dirty="0">
                <a:sym typeface="Symbol"/>
              </a:rPr>
              <a:t>3</a:t>
            </a:r>
            <a:r>
              <a:rPr lang="en-US" sz="2000" dirty="0">
                <a:sym typeface="Symbol"/>
              </a:rPr>
              <a:t> turns out to be not valid </a:t>
            </a:r>
            <a:r>
              <a:rPr lang="en-US" sz="2000" dirty="0">
                <a:sym typeface="Wingdings" pitchFamily="2" charset="2"/>
              </a:rPr>
              <a:t> we find a bug!</a:t>
            </a:r>
          </a:p>
          <a:p>
            <a:pPr lvl="1"/>
            <a:r>
              <a:rPr lang="en-US" dirty="0">
                <a:sym typeface="Symbol"/>
              </a:rPr>
              <a:t>P ⟹ </a:t>
            </a:r>
            <a:r>
              <a:rPr lang="en-US" sz="2000" i="1" dirty="0">
                <a:sym typeface="Symbol"/>
              </a:rPr>
              <a:t>W</a:t>
            </a:r>
            <a:r>
              <a:rPr lang="en-US" sz="2000" baseline="-25000" dirty="0">
                <a:sym typeface="Symbol"/>
              </a:rPr>
              <a:t>3</a:t>
            </a:r>
            <a:r>
              <a:rPr lang="en-US" sz="2000" dirty="0">
                <a:sym typeface="Symbol"/>
              </a:rPr>
              <a:t> turns out to be valid </a:t>
            </a:r>
            <a:r>
              <a:rPr lang="en-US" sz="2000" dirty="0">
                <a:sym typeface="Wingdings" pitchFamily="2" charset="2"/>
              </a:rPr>
              <a:t> we still don’t know if the loop is correct</a:t>
            </a:r>
            <a:br>
              <a:rPr lang="en-US" dirty="0"/>
            </a:b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48220AE-4ABF-4647-9677-DBC7878747C7}" type="slidenum">
              <a:rPr lang="en-US" smtClean="0"/>
              <a:pPr>
                <a:defRPr/>
              </a:pPr>
              <a:t>48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603249" y="1574132"/>
            <a:ext cx="7834897" cy="52322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b="1" dirty="0"/>
              <a:t>while</a:t>
            </a:r>
            <a:r>
              <a:rPr lang="en-US" sz="2800" dirty="0"/>
              <a:t>  y&gt;0 </a:t>
            </a:r>
            <a:r>
              <a:rPr lang="en-US" sz="2800" b="1" dirty="0"/>
              <a:t>do</a:t>
            </a:r>
            <a:r>
              <a:rPr lang="en-US" sz="2800" dirty="0"/>
              <a:t> {  y := y−1  }  </a:t>
            </a:r>
            <a:r>
              <a:rPr lang="en-US" sz="2800" b="1" dirty="0">
                <a:solidFill>
                  <a:srgbClr val="0070C0"/>
                </a:solidFill>
              </a:rPr>
              <a:t>{ </a:t>
            </a:r>
            <a:r>
              <a:rPr lang="en-US" sz="2800" b="1" i="1" dirty="0">
                <a:solidFill>
                  <a:srgbClr val="0070C0"/>
                </a:solidFill>
              </a:rPr>
              <a:t>d</a:t>
            </a:r>
            <a:r>
              <a:rPr lang="en-US" sz="2800" b="1" dirty="0">
                <a:solidFill>
                  <a:srgbClr val="0070C0"/>
                </a:solidFill>
              </a:rPr>
              <a:t> }</a:t>
            </a:r>
          </a:p>
        </p:txBody>
      </p:sp>
    </p:spTree>
    <p:extLst>
      <p:ext uri="{BB962C8B-B14F-4D97-AF65-F5344CB8AC3E}">
        <p14:creationId xmlns:p14="http://schemas.microsoft.com/office/powerpoint/2010/main" val="158650105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3249" y="2537285"/>
            <a:ext cx="8643967" cy="3735499"/>
          </a:xfrm>
        </p:spPr>
        <p:txBody>
          <a:bodyPr>
            <a:normAutofit lnSpcReduction="10000"/>
          </a:bodyPr>
          <a:lstStyle/>
          <a:p>
            <a:r>
              <a:rPr lang="en-US" sz="2400" dirty="0"/>
              <a:t>Q is d      </a:t>
            </a:r>
            <a:r>
              <a:rPr lang="en-US" sz="24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-- </a:t>
            </a:r>
            <a:r>
              <a:rPr lang="en-US" sz="2400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c,d</a:t>
            </a:r>
            <a:r>
              <a:rPr lang="en-US" sz="24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are </a:t>
            </a:r>
            <a:r>
              <a:rPr lang="en-US" sz="2400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bool</a:t>
            </a:r>
            <a:r>
              <a:rPr lang="en-US" sz="24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</a:t>
            </a:r>
            <a:r>
              <a:rPr lang="en-US" sz="2400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vars</a:t>
            </a:r>
            <a:endParaRPr lang="en-US" sz="24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  <a:p>
            <a:r>
              <a:rPr lang="en-US" sz="2400" i="1" dirty="0"/>
              <a:t>W</a:t>
            </a:r>
            <a:r>
              <a:rPr lang="en-US" sz="2400" baseline="-25000" dirty="0"/>
              <a:t>0</a:t>
            </a:r>
            <a:r>
              <a:rPr lang="en-US" sz="2400" dirty="0"/>
              <a:t>  =  true </a:t>
            </a:r>
          </a:p>
          <a:p>
            <a:r>
              <a:rPr lang="en-US" sz="2400" i="1" dirty="0"/>
              <a:t>W</a:t>
            </a:r>
            <a:r>
              <a:rPr lang="en-US" sz="2400" baseline="-25000" dirty="0"/>
              <a:t>1</a:t>
            </a:r>
            <a:r>
              <a:rPr lang="en-US" sz="2400" dirty="0"/>
              <a:t>  = (y</a:t>
            </a:r>
            <a:r>
              <a:rPr lang="en-US" sz="2400" i="1" dirty="0"/>
              <a:t>&gt;</a:t>
            </a:r>
            <a:r>
              <a:rPr lang="en-US" sz="2400" dirty="0"/>
              <a:t>0  /\  </a:t>
            </a:r>
            <a:r>
              <a:rPr lang="en-US" sz="2400" b="1" dirty="0" err="1"/>
              <a:t>wlp</a:t>
            </a:r>
            <a:r>
              <a:rPr lang="en-US" sz="2400" dirty="0"/>
              <a:t> S </a:t>
            </a:r>
            <a:r>
              <a:rPr lang="en-US" sz="2400" i="1" dirty="0"/>
              <a:t>W</a:t>
            </a:r>
            <a:r>
              <a:rPr lang="en-US" sz="2400" baseline="-25000" dirty="0"/>
              <a:t>0</a:t>
            </a:r>
            <a:r>
              <a:rPr lang="en-US" sz="2400" dirty="0"/>
              <a:t>)   \/   (</a:t>
            </a:r>
            <a:r>
              <a:rPr lang="en-US" sz="2400" dirty="0">
                <a:sym typeface="Symbol"/>
              </a:rPr>
              <a:t>(y</a:t>
            </a:r>
            <a:r>
              <a:rPr lang="en-US" sz="2400" i="1" dirty="0">
                <a:sym typeface="Symbol"/>
              </a:rPr>
              <a:t>&gt;</a:t>
            </a:r>
            <a:r>
              <a:rPr lang="en-US" sz="2400" dirty="0">
                <a:sym typeface="Symbol"/>
              </a:rPr>
              <a:t>0) /\ </a:t>
            </a:r>
            <a:r>
              <a:rPr lang="en-US" sz="2400" i="1" dirty="0">
                <a:sym typeface="Symbol"/>
              </a:rPr>
              <a:t> </a:t>
            </a:r>
            <a:r>
              <a:rPr lang="en-US" sz="2400" dirty="0">
                <a:sym typeface="Symbol"/>
              </a:rPr>
              <a:t>d)</a:t>
            </a:r>
            <a:r>
              <a:rPr lang="en-US" sz="2400" dirty="0"/>
              <a:t> </a:t>
            </a:r>
            <a:br>
              <a:rPr lang="en-US" sz="2400" dirty="0"/>
            </a:br>
            <a:r>
              <a:rPr lang="en-US" sz="2400" dirty="0"/>
              <a:t>       = (y</a:t>
            </a:r>
            <a:r>
              <a:rPr lang="en-US" sz="2400" i="1" dirty="0"/>
              <a:t>&gt;</a:t>
            </a:r>
            <a:r>
              <a:rPr lang="en-US" sz="2400" dirty="0"/>
              <a:t>0  /\  </a:t>
            </a:r>
            <a:r>
              <a:rPr lang="en-US" sz="2400" dirty="0">
                <a:sym typeface="Symbol"/>
              </a:rPr>
              <a:t>d</a:t>
            </a:r>
            <a:r>
              <a:rPr lang="en-US" sz="2400" dirty="0"/>
              <a:t>)   \/   (</a:t>
            </a:r>
            <a:r>
              <a:rPr lang="en-US" sz="2400" dirty="0">
                <a:sym typeface="Symbol"/>
              </a:rPr>
              <a:t>y0 /\ </a:t>
            </a:r>
            <a:r>
              <a:rPr lang="en-US" sz="2400" i="1" dirty="0">
                <a:sym typeface="Symbol"/>
              </a:rPr>
              <a:t> </a:t>
            </a:r>
            <a:r>
              <a:rPr lang="en-US" sz="2400" dirty="0">
                <a:sym typeface="Symbol"/>
              </a:rPr>
              <a:t>d)</a:t>
            </a:r>
            <a:r>
              <a:rPr lang="en-US" sz="2400" dirty="0"/>
              <a:t> </a:t>
            </a:r>
            <a:br>
              <a:rPr lang="en-US" sz="2400" dirty="0"/>
            </a:br>
            <a:r>
              <a:rPr lang="en-US" sz="2400" dirty="0"/>
              <a:t>       = </a:t>
            </a:r>
            <a:r>
              <a:rPr lang="en-US" dirty="0">
                <a:sym typeface="Symbol"/>
              </a:rPr>
              <a:t> d</a:t>
            </a:r>
            <a:endParaRPr lang="en-US" sz="2400" dirty="0"/>
          </a:p>
          <a:p>
            <a:r>
              <a:rPr lang="en-US" sz="2400" i="1" dirty="0">
                <a:sym typeface="Symbol"/>
              </a:rPr>
              <a:t>W</a:t>
            </a:r>
            <a:r>
              <a:rPr lang="en-US" sz="2400" baseline="-25000" dirty="0">
                <a:sym typeface="Symbol"/>
              </a:rPr>
              <a:t>2</a:t>
            </a:r>
            <a:r>
              <a:rPr lang="en-US" sz="2400" dirty="0">
                <a:sym typeface="Symbol"/>
              </a:rPr>
              <a:t>  = </a:t>
            </a:r>
            <a:r>
              <a:rPr lang="en-US" sz="2400" dirty="0"/>
              <a:t>(y</a:t>
            </a:r>
            <a:r>
              <a:rPr lang="en-US" sz="2400" i="1" dirty="0"/>
              <a:t>&gt;</a:t>
            </a:r>
            <a:r>
              <a:rPr lang="en-US" sz="2400" dirty="0"/>
              <a:t>0  /\  </a:t>
            </a:r>
            <a:r>
              <a:rPr lang="en-US" sz="2400" b="1" dirty="0" err="1"/>
              <a:t>wlp</a:t>
            </a:r>
            <a:r>
              <a:rPr lang="en-US" sz="2400" dirty="0"/>
              <a:t> S </a:t>
            </a:r>
            <a:r>
              <a:rPr lang="en-US" sz="2400" i="1" dirty="0"/>
              <a:t>W</a:t>
            </a:r>
            <a:r>
              <a:rPr lang="en-US" sz="2400" baseline="-25000" dirty="0"/>
              <a:t>1</a:t>
            </a:r>
            <a:r>
              <a:rPr lang="en-US" sz="2400" dirty="0"/>
              <a:t>)   \/   (</a:t>
            </a:r>
            <a:r>
              <a:rPr lang="en-US" sz="2400" dirty="0">
                <a:sym typeface="Symbol"/>
              </a:rPr>
              <a:t>y0 /\ </a:t>
            </a:r>
            <a:r>
              <a:rPr lang="en-US" sz="2400" i="1" dirty="0">
                <a:sym typeface="Symbol"/>
              </a:rPr>
              <a:t> </a:t>
            </a:r>
            <a:r>
              <a:rPr lang="en-US" sz="2400" dirty="0">
                <a:sym typeface="Symbol"/>
              </a:rPr>
              <a:t>d)</a:t>
            </a:r>
            <a:r>
              <a:rPr lang="en-US" sz="2400" dirty="0"/>
              <a:t> </a:t>
            </a:r>
            <a:br>
              <a:rPr lang="en-US" sz="2400" dirty="0"/>
            </a:br>
            <a:r>
              <a:rPr lang="en-US" sz="2400" dirty="0"/>
              <a:t>       </a:t>
            </a:r>
            <a:r>
              <a:rPr lang="en-US" sz="2400" dirty="0">
                <a:sym typeface="Symbol"/>
              </a:rPr>
              <a:t>= </a:t>
            </a:r>
            <a:r>
              <a:rPr lang="en-US" sz="2400" dirty="0"/>
              <a:t>(y</a:t>
            </a:r>
            <a:r>
              <a:rPr lang="en-US" sz="2400" i="1" dirty="0"/>
              <a:t>&gt;</a:t>
            </a:r>
            <a:r>
              <a:rPr lang="en-US" sz="2400" dirty="0"/>
              <a:t>0 </a:t>
            </a:r>
            <a:r>
              <a:rPr lang="en-US" sz="2400" dirty="0">
                <a:sym typeface="Symbol"/>
              </a:rPr>
              <a:t> /\ d</a:t>
            </a:r>
            <a:r>
              <a:rPr lang="en-US" sz="2400" dirty="0"/>
              <a:t>)   \/   (</a:t>
            </a:r>
            <a:r>
              <a:rPr lang="en-US" sz="2400" dirty="0">
                <a:sym typeface="Symbol"/>
              </a:rPr>
              <a:t>y0 /\ </a:t>
            </a:r>
            <a:r>
              <a:rPr lang="en-US" sz="2400" i="1" dirty="0">
                <a:sym typeface="Symbol"/>
              </a:rPr>
              <a:t> </a:t>
            </a:r>
            <a:r>
              <a:rPr lang="en-US" sz="2400" dirty="0">
                <a:sym typeface="Symbol"/>
              </a:rPr>
              <a:t>d)</a:t>
            </a:r>
            <a:r>
              <a:rPr lang="en-US" sz="2400" dirty="0"/>
              <a:t> </a:t>
            </a:r>
          </a:p>
          <a:p>
            <a:pPr marL="0" indent="0">
              <a:buNone/>
            </a:pPr>
            <a:r>
              <a:rPr lang="en-US" sz="2400" dirty="0"/>
              <a:t>          = d</a:t>
            </a:r>
          </a:p>
          <a:p>
            <a:r>
              <a:rPr lang="en-US" sz="2400" i="1" dirty="0">
                <a:sym typeface="Symbol"/>
              </a:rPr>
              <a:t>W</a:t>
            </a:r>
            <a:r>
              <a:rPr lang="en-US" i="1" baseline="-25000" dirty="0">
                <a:sym typeface="Symbol"/>
              </a:rPr>
              <a:t>2</a:t>
            </a:r>
            <a:r>
              <a:rPr lang="en-US" sz="2400" dirty="0">
                <a:sym typeface="Symbol"/>
              </a:rPr>
              <a:t> = </a:t>
            </a:r>
            <a:r>
              <a:rPr lang="en-US" i="1" dirty="0">
                <a:sym typeface="Symbol"/>
              </a:rPr>
              <a:t>W</a:t>
            </a:r>
            <a:r>
              <a:rPr lang="en-US" i="1" baseline="-25000" dirty="0">
                <a:sym typeface="Symbol"/>
              </a:rPr>
              <a:t>1</a:t>
            </a:r>
            <a:endParaRPr lang="en-US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48220AE-4ABF-4647-9677-DBC7878747C7}" type="slidenum">
              <a:rPr lang="en-US" smtClean="0"/>
              <a:pPr>
                <a:defRPr/>
              </a:pPr>
              <a:t>49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603249" y="1574132"/>
            <a:ext cx="7834897" cy="52322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b="1" dirty="0"/>
              <a:t>while</a:t>
            </a:r>
            <a:r>
              <a:rPr lang="en-US" sz="2800" dirty="0"/>
              <a:t>  y&gt;0 </a:t>
            </a:r>
            <a:r>
              <a:rPr lang="en-US" sz="2800" b="1" dirty="0"/>
              <a:t>do</a:t>
            </a:r>
            <a:r>
              <a:rPr lang="en-US" sz="2800" dirty="0"/>
              <a:t> {  </a:t>
            </a:r>
            <a:r>
              <a:rPr lang="en-US" sz="2800" b="1" dirty="0"/>
              <a:t>assert</a:t>
            </a:r>
            <a:r>
              <a:rPr lang="en-US" sz="2800" dirty="0"/>
              <a:t> </a:t>
            </a:r>
            <a:r>
              <a:rPr lang="en-US" sz="2800" i="1" dirty="0"/>
              <a:t>d</a:t>
            </a:r>
            <a:r>
              <a:rPr lang="en-US" sz="2800" dirty="0"/>
              <a:t> ; y := y−1  }  </a:t>
            </a:r>
            <a:r>
              <a:rPr lang="en-US" sz="2800" b="1" dirty="0">
                <a:solidFill>
                  <a:srgbClr val="0070C0"/>
                </a:solidFill>
              </a:rPr>
              <a:t>{ </a:t>
            </a:r>
            <a:r>
              <a:rPr lang="en-US" sz="2800" b="1" i="1" dirty="0">
                <a:solidFill>
                  <a:srgbClr val="0070C0"/>
                </a:solidFill>
              </a:rPr>
              <a:t>d</a:t>
            </a:r>
            <a:r>
              <a:rPr lang="en-US" sz="2800" b="1" dirty="0">
                <a:solidFill>
                  <a:srgbClr val="0070C0"/>
                </a:solidFill>
              </a:rPr>
              <a:t> }</a:t>
            </a:r>
          </a:p>
        </p:txBody>
      </p:sp>
    </p:spTree>
    <p:extLst>
      <p:ext uri="{BB962C8B-B14F-4D97-AF65-F5344CB8AC3E}">
        <p14:creationId xmlns:p14="http://schemas.microsoft.com/office/powerpoint/2010/main" val="1851213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Finite unfolding</a:t>
            </a:r>
          </a:p>
        </p:txBody>
      </p:sp>
      <p:sp>
        <p:nvSpPr>
          <p:cNvPr id="25603" name="Content Placeholder 2"/>
          <p:cNvSpPr>
            <a:spLocks noGrp="1"/>
          </p:cNvSpPr>
          <p:nvPr>
            <p:ph idx="1"/>
          </p:nvPr>
        </p:nvSpPr>
        <p:spPr>
          <a:xfrm>
            <a:off x="500063" y="1257300"/>
            <a:ext cx="8358187" cy="4762500"/>
          </a:xfrm>
        </p:spPr>
        <p:txBody>
          <a:bodyPr/>
          <a:lstStyle/>
          <a:p>
            <a:r>
              <a:rPr lang="nl-NL" dirty="0"/>
              <a:t>Define</a:t>
            </a:r>
            <a:br>
              <a:rPr lang="nl-NL" dirty="0"/>
            </a:br>
            <a:br>
              <a:rPr lang="nl-NL" dirty="0"/>
            </a:br>
            <a:r>
              <a:rPr lang="nl-NL" dirty="0"/>
              <a:t>[</a:t>
            </a:r>
            <a:r>
              <a:rPr lang="nl-NL" b="1" dirty="0"/>
              <a:t>while</a:t>
            </a:r>
            <a:r>
              <a:rPr lang="nl-NL" dirty="0"/>
              <a:t>]</a:t>
            </a:r>
            <a:r>
              <a:rPr lang="nl-NL" baseline="30000" dirty="0"/>
              <a:t>0</a:t>
            </a:r>
            <a:r>
              <a:rPr lang="nl-NL" dirty="0"/>
              <a:t>    (</a:t>
            </a:r>
            <a:r>
              <a:rPr lang="nl-NL" i="1" dirty="0"/>
              <a:t>g</a:t>
            </a:r>
            <a:r>
              <a:rPr lang="nl-NL" dirty="0"/>
              <a:t>,S)  =  </a:t>
            </a:r>
            <a:r>
              <a:rPr lang="nl-NL" b="1" dirty="0"/>
              <a:t>assert</a:t>
            </a:r>
            <a:r>
              <a:rPr lang="nl-NL" dirty="0"/>
              <a:t> </a:t>
            </a:r>
            <a:r>
              <a:rPr lang="nl-NL" dirty="0">
                <a:sym typeface="Symbol"/>
              </a:rPr>
              <a:t></a:t>
            </a:r>
            <a:r>
              <a:rPr lang="nl-NL" i="1" dirty="0">
                <a:sym typeface="Symbol"/>
              </a:rPr>
              <a:t>g</a:t>
            </a:r>
            <a:br>
              <a:rPr lang="nl-NL" i="1" dirty="0">
                <a:sym typeface="Symbol"/>
              </a:rPr>
            </a:br>
            <a:r>
              <a:rPr lang="nl-NL" dirty="0"/>
              <a:t>[</a:t>
            </a:r>
            <a:r>
              <a:rPr lang="nl-NL" b="1" dirty="0"/>
              <a:t>while</a:t>
            </a:r>
            <a:r>
              <a:rPr lang="nl-NL" dirty="0"/>
              <a:t>]</a:t>
            </a:r>
            <a:r>
              <a:rPr lang="nl-NL" baseline="30000" dirty="0"/>
              <a:t>k+1</a:t>
            </a:r>
            <a:r>
              <a:rPr lang="nl-NL" dirty="0"/>
              <a:t> (</a:t>
            </a:r>
            <a:r>
              <a:rPr lang="nl-NL" i="1" dirty="0"/>
              <a:t>g</a:t>
            </a:r>
            <a:r>
              <a:rPr lang="nl-NL" dirty="0"/>
              <a:t>,S)  =  </a:t>
            </a:r>
            <a:r>
              <a:rPr lang="nl-NL" b="1" dirty="0"/>
              <a:t>if</a:t>
            </a:r>
            <a:r>
              <a:rPr lang="nl-NL" dirty="0"/>
              <a:t> </a:t>
            </a:r>
            <a:r>
              <a:rPr lang="nl-NL" i="1" dirty="0"/>
              <a:t>g </a:t>
            </a:r>
            <a:r>
              <a:rPr lang="nl-NL" b="1" dirty="0"/>
              <a:t>then</a:t>
            </a:r>
            <a:r>
              <a:rPr lang="nl-NL" dirty="0"/>
              <a:t> { S ; [</a:t>
            </a:r>
            <a:r>
              <a:rPr lang="nl-NL" b="1" dirty="0"/>
              <a:t>while</a:t>
            </a:r>
            <a:r>
              <a:rPr lang="nl-NL" dirty="0"/>
              <a:t>]</a:t>
            </a:r>
            <a:r>
              <a:rPr lang="nl-NL" baseline="30000" dirty="0"/>
              <a:t>k</a:t>
            </a:r>
            <a:r>
              <a:rPr lang="nl-NL" dirty="0"/>
              <a:t> (</a:t>
            </a:r>
            <a:r>
              <a:rPr lang="nl-NL" i="1" dirty="0"/>
              <a:t>g</a:t>
            </a:r>
            <a:r>
              <a:rPr lang="nl-NL" dirty="0"/>
              <a:t>,S) }</a:t>
            </a:r>
            <a:br>
              <a:rPr lang="nl-NL" dirty="0"/>
            </a:br>
            <a:r>
              <a:rPr lang="nl-NL" dirty="0"/>
              <a:t>                                    </a:t>
            </a:r>
            <a:r>
              <a:rPr lang="nl-NL" b="1" dirty="0"/>
              <a:t>else</a:t>
            </a:r>
            <a:r>
              <a:rPr lang="nl-NL" dirty="0"/>
              <a:t> skip</a:t>
            </a:r>
            <a:br>
              <a:rPr lang="nl-NL" dirty="0"/>
            </a:br>
            <a:br>
              <a:rPr lang="nl-NL" dirty="0"/>
            </a:br>
            <a:r>
              <a:rPr lang="nl-NL" dirty="0">
                <a:sym typeface="Symbol"/>
              </a:rPr>
              <a:t></a:t>
            </a:r>
            <a:r>
              <a:rPr lang="nl-NL" b="1" dirty="0"/>
              <a:t>while</a:t>
            </a:r>
            <a:r>
              <a:rPr lang="nl-NL" dirty="0">
                <a:sym typeface="Symbol"/>
              </a:rPr>
              <a:t></a:t>
            </a:r>
            <a:r>
              <a:rPr lang="nl-NL" baseline="30000" dirty="0"/>
              <a:t>0</a:t>
            </a:r>
            <a:r>
              <a:rPr lang="nl-NL" dirty="0"/>
              <a:t>    (</a:t>
            </a:r>
            <a:r>
              <a:rPr lang="nl-NL" i="1" dirty="0"/>
              <a:t>g</a:t>
            </a:r>
            <a:r>
              <a:rPr lang="nl-NL" dirty="0"/>
              <a:t>,S)  =  </a:t>
            </a:r>
            <a:r>
              <a:rPr lang="nl-NL" b="1" dirty="0"/>
              <a:t>assume </a:t>
            </a:r>
            <a:r>
              <a:rPr lang="nl-NL" dirty="0">
                <a:sym typeface="Symbol"/>
              </a:rPr>
              <a:t></a:t>
            </a:r>
            <a:r>
              <a:rPr lang="nl-NL" i="1" dirty="0">
                <a:sym typeface="Symbol"/>
              </a:rPr>
              <a:t>g</a:t>
            </a:r>
            <a:br>
              <a:rPr lang="nl-NL" i="1" dirty="0">
                <a:sym typeface="Symbol"/>
              </a:rPr>
            </a:br>
            <a:r>
              <a:rPr lang="nl-NL" dirty="0">
                <a:sym typeface="Symbol"/>
              </a:rPr>
              <a:t></a:t>
            </a:r>
            <a:r>
              <a:rPr lang="nl-NL" b="1" dirty="0"/>
              <a:t>while</a:t>
            </a:r>
            <a:r>
              <a:rPr lang="nl-NL" dirty="0">
                <a:sym typeface="Symbol"/>
              </a:rPr>
              <a:t></a:t>
            </a:r>
            <a:r>
              <a:rPr lang="nl-NL" baseline="30000" dirty="0"/>
              <a:t>k+1</a:t>
            </a:r>
            <a:r>
              <a:rPr lang="nl-NL" dirty="0"/>
              <a:t> (</a:t>
            </a:r>
            <a:r>
              <a:rPr lang="nl-NL" i="1" dirty="0"/>
              <a:t>g</a:t>
            </a:r>
            <a:r>
              <a:rPr lang="nl-NL" dirty="0"/>
              <a:t>,S)  =  </a:t>
            </a:r>
            <a:r>
              <a:rPr lang="nl-NL" b="1" dirty="0"/>
              <a:t>if</a:t>
            </a:r>
            <a:r>
              <a:rPr lang="nl-NL" dirty="0"/>
              <a:t> </a:t>
            </a:r>
            <a:r>
              <a:rPr lang="nl-NL" i="1" dirty="0"/>
              <a:t>g </a:t>
            </a:r>
            <a:r>
              <a:rPr lang="nl-NL" b="1" dirty="0"/>
              <a:t>then</a:t>
            </a:r>
            <a:r>
              <a:rPr lang="nl-NL" dirty="0"/>
              <a:t> { S ; </a:t>
            </a:r>
            <a:r>
              <a:rPr lang="nl-NL" dirty="0">
                <a:sym typeface="Symbol"/>
              </a:rPr>
              <a:t></a:t>
            </a:r>
            <a:r>
              <a:rPr lang="nl-NL" b="1" dirty="0"/>
              <a:t>while</a:t>
            </a:r>
            <a:r>
              <a:rPr lang="nl-NL" dirty="0">
                <a:sym typeface="Symbol"/>
              </a:rPr>
              <a:t></a:t>
            </a:r>
            <a:r>
              <a:rPr lang="nl-NL" baseline="30000" dirty="0"/>
              <a:t>k</a:t>
            </a:r>
            <a:r>
              <a:rPr lang="nl-NL" dirty="0"/>
              <a:t> (</a:t>
            </a:r>
            <a:r>
              <a:rPr lang="nl-NL" i="1" dirty="0"/>
              <a:t>g</a:t>
            </a:r>
            <a:r>
              <a:rPr lang="nl-NL" dirty="0"/>
              <a:t>,S) }</a:t>
            </a:r>
            <a:br>
              <a:rPr lang="nl-NL" dirty="0"/>
            </a:br>
            <a:r>
              <a:rPr lang="nl-NL" dirty="0"/>
              <a:t>                                    </a:t>
            </a:r>
            <a:r>
              <a:rPr lang="nl-NL" b="1" dirty="0"/>
              <a:t>else</a:t>
            </a:r>
            <a:r>
              <a:rPr lang="nl-NL" dirty="0"/>
              <a:t> skip</a:t>
            </a:r>
          </a:p>
          <a:p>
            <a:r>
              <a:rPr lang="nl-NL" dirty="0"/>
              <a:t>[</a:t>
            </a:r>
            <a:r>
              <a:rPr lang="nl-NL" b="1" dirty="0" err="1"/>
              <a:t>while</a:t>
            </a:r>
            <a:r>
              <a:rPr lang="nl-NL" dirty="0"/>
              <a:t>]</a:t>
            </a:r>
            <a:r>
              <a:rPr lang="nl-NL" baseline="30000" dirty="0"/>
              <a:t>k  </a:t>
            </a:r>
            <a:r>
              <a:rPr lang="nl-NL" dirty="0" err="1"/>
              <a:t>iterates</a:t>
            </a:r>
            <a:r>
              <a:rPr lang="nl-NL" dirty="0"/>
              <a:t> at most </a:t>
            </a:r>
            <a:r>
              <a:rPr lang="nl-NL" i="1" dirty="0"/>
              <a:t>k</a:t>
            </a:r>
            <a:r>
              <a:rPr lang="nl-NL" dirty="0"/>
              <a:t>-</a:t>
            </a:r>
            <a:r>
              <a:rPr lang="nl-NL" dirty="0" err="1"/>
              <a:t>times</a:t>
            </a:r>
            <a:r>
              <a:rPr lang="nl-NL" dirty="0"/>
              <a:t>, </a:t>
            </a:r>
            <a:r>
              <a:rPr lang="nl-NL" dirty="0" err="1"/>
              <a:t>then</a:t>
            </a:r>
            <a:r>
              <a:rPr lang="nl-NL" dirty="0"/>
              <a:t> </a:t>
            </a:r>
            <a:r>
              <a:rPr lang="nl-NL" dirty="0" err="1"/>
              <a:t>stops</a:t>
            </a:r>
            <a:r>
              <a:rPr lang="nl-NL" dirty="0"/>
              <a:t>.</a:t>
            </a:r>
          </a:p>
          <a:p>
            <a:r>
              <a:rPr lang="nl-NL" dirty="0">
                <a:sym typeface="Symbol"/>
              </a:rPr>
              <a:t></a:t>
            </a:r>
            <a:r>
              <a:rPr lang="nl-NL" b="1" dirty="0" err="1"/>
              <a:t>while</a:t>
            </a:r>
            <a:r>
              <a:rPr lang="nl-NL" dirty="0" err="1">
                <a:sym typeface="Symbol"/>
              </a:rPr>
              <a:t></a:t>
            </a:r>
            <a:r>
              <a:rPr lang="nl-NL" baseline="30000" dirty="0" err="1"/>
              <a:t>k</a:t>
            </a:r>
            <a:r>
              <a:rPr lang="nl-NL" baseline="30000" dirty="0"/>
              <a:t>  </a:t>
            </a:r>
            <a:r>
              <a:rPr lang="en-US" dirty="0"/>
              <a:t>iterates at most </a:t>
            </a:r>
            <a:r>
              <a:rPr lang="en-US" i="1" dirty="0"/>
              <a:t>k </a:t>
            </a:r>
            <a:r>
              <a:rPr lang="en-US" dirty="0"/>
              <a:t>times; higher iterations are ignored.</a:t>
            </a:r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0619E98-E9C8-4AD0-A3C9-E6B5804EBCB8}" type="slidenum">
              <a:rPr lang="en-US" smtClean="0"/>
              <a:pPr>
                <a:defRPr/>
              </a:pPr>
              <a:t>50</a:t>
            </a:fld>
            <a:endParaRPr lang="en-US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Replacing while with [while]</a:t>
            </a:r>
            <a:r>
              <a:rPr lang="en-US" baseline="30000" dirty="0"/>
              <a:t>k</a:t>
            </a:r>
          </a:p>
        </p:txBody>
      </p:sp>
      <p:sp>
        <p:nvSpPr>
          <p:cNvPr id="5" name="Content Placeholder 4"/>
          <p:cNvSpPr txBox="1">
            <a:spLocks noGrp="1"/>
          </p:cNvSpPr>
          <p:nvPr>
            <p:ph idx="1"/>
          </p:nvPr>
        </p:nvSpPr>
        <p:spPr>
          <a:xfrm>
            <a:off x="603250" y="2618871"/>
            <a:ext cx="810260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err="1">
                <a:solidFill>
                  <a:srgbClr val="FF0000"/>
                </a:solidFill>
              </a:rPr>
              <a:t>wlp</a:t>
            </a:r>
            <a:r>
              <a:rPr lang="en-US" sz="2800" dirty="0"/>
              <a:t>  ([</a:t>
            </a:r>
            <a:r>
              <a:rPr lang="en-US" sz="2800" b="1" dirty="0"/>
              <a:t>while</a:t>
            </a:r>
            <a:r>
              <a:rPr lang="en-US" sz="2800" dirty="0"/>
              <a:t>]</a:t>
            </a:r>
            <a:r>
              <a:rPr lang="en-US" sz="2800" baseline="30000" dirty="0"/>
              <a:t>2</a:t>
            </a:r>
            <a:r>
              <a:rPr lang="en-US" sz="2800" dirty="0"/>
              <a:t>  (y&gt;0 , y := y−1))    (y=0)</a:t>
            </a:r>
            <a:br>
              <a:rPr lang="en-US" sz="2800" dirty="0"/>
            </a:br>
            <a:br>
              <a:rPr lang="en-US" sz="2800" dirty="0"/>
            </a:br>
            <a:r>
              <a:rPr lang="en-US" sz="2800" dirty="0"/>
              <a:t>     =  ( y=2   \/  y=1  \/  y=0 )</a:t>
            </a:r>
          </a:p>
          <a:p>
            <a:endParaRPr lang="en-US" sz="2800" dirty="0"/>
          </a:p>
          <a:p>
            <a:r>
              <a:rPr lang="en-US" sz="2800" dirty="0"/>
              <a:t>Works if </a:t>
            </a:r>
            <a:r>
              <a:rPr lang="en-US" sz="2800" i="1" dirty="0"/>
              <a:t>P</a:t>
            </a:r>
            <a:r>
              <a:rPr lang="en-US" sz="2800" dirty="0"/>
              <a:t> says y is exactly that (0,1,2).</a:t>
            </a:r>
          </a:p>
          <a:p>
            <a:r>
              <a:rPr lang="en-US" sz="2800" dirty="0"/>
              <a:t>Does not work if </a:t>
            </a:r>
            <a:r>
              <a:rPr lang="en-US" sz="2800" i="1" dirty="0"/>
              <a:t>P</a:t>
            </a:r>
            <a:r>
              <a:rPr lang="en-US" sz="2800" dirty="0"/>
              <a:t> is e.g. y=3 or y≥0</a:t>
            </a:r>
          </a:p>
          <a:p>
            <a:r>
              <a:rPr lang="en-US" sz="2800" dirty="0"/>
              <a:t>Such unfolding produces </a:t>
            </a:r>
            <a:r>
              <a:rPr lang="en-US" i="1" dirty="0"/>
              <a:t>sound </a:t>
            </a:r>
            <a:r>
              <a:rPr lang="en-US" dirty="0" err="1"/>
              <a:t>wlp</a:t>
            </a:r>
            <a:r>
              <a:rPr lang="en-US" dirty="0"/>
              <a:t>, but </a:t>
            </a:r>
            <a:r>
              <a:rPr lang="en-US" i="1" dirty="0"/>
              <a:t>incomplete</a:t>
            </a:r>
            <a:r>
              <a:rPr lang="en-US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48220AE-4ABF-4647-9677-DBC7878747C7}" type="slidenum">
              <a:rPr lang="en-US" smtClean="0"/>
              <a:pPr>
                <a:defRPr/>
              </a:pPr>
              <a:t>51</a:t>
            </a:fld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603250" y="1484236"/>
            <a:ext cx="8102600" cy="58477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0070C0"/>
                </a:solidFill>
              </a:rPr>
              <a:t>{ </a:t>
            </a:r>
            <a:r>
              <a:rPr lang="en-US" sz="3200" b="1" i="1" dirty="0">
                <a:solidFill>
                  <a:srgbClr val="0070C0"/>
                </a:solidFill>
              </a:rPr>
              <a:t>P</a:t>
            </a:r>
            <a:r>
              <a:rPr lang="en-US" sz="3200" b="1" dirty="0">
                <a:solidFill>
                  <a:srgbClr val="0070C0"/>
                </a:solidFill>
              </a:rPr>
              <a:t> }   </a:t>
            </a:r>
            <a:r>
              <a:rPr lang="en-US" sz="3200" b="1" dirty="0"/>
              <a:t>while</a:t>
            </a:r>
            <a:r>
              <a:rPr lang="en-US" sz="3200" dirty="0"/>
              <a:t>  y&gt;0 </a:t>
            </a:r>
            <a:r>
              <a:rPr lang="en-US" sz="3200" b="1" dirty="0"/>
              <a:t>do</a:t>
            </a:r>
            <a:r>
              <a:rPr lang="en-US" sz="3200" dirty="0"/>
              <a:t> { y := y−1  }    </a:t>
            </a:r>
            <a:r>
              <a:rPr lang="en-US" sz="3200" b="1" dirty="0">
                <a:solidFill>
                  <a:srgbClr val="0070C0"/>
                </a:solidFill>
              </a:rPr>
              <a:t>{ y=0 }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Replacing while with </a:t>
            </a:r>
            <a:r>
              <a:rPr lang="en-US" dirty="0">
                <a:sym typeface="Symbol"/>
              </a:rPr>
              <a:t></a:t>
            </a:r>
            <a:r>
              <a:rPr lang="en-US" dirty="0" err="1"/>
              <a:t>while</a:t>
            </a:r>
            <a:r>
              <a:rPr lang="en-US" dirty="0" err="1">
                <a:sym typeface="Symbol"/>
              </a:rPr>
              <a:t></a:t>
            </a:r>
            <a:r>
              <a:rPr lang="en-US" baseline="30000" dirty="0" err="1"/>
              <a:t>k</a:t>
            </a:r>
            <a:endParaRPr lang="en-US" baseline="30000" dirty="0"/>
          </a:p>
        </p:txBody>
      </p:sp>
      <p:sp>
        <p:nvSpPr>
          <p:cNvPr id="5" name="Content Placeholder 4"/>
          <p:cNvSpPr txBox="1">
            <a:spLocks noGrp="1"/>
          </p:cNvSpPr>
          <p:nvPr>
            <p:ph idx="1"/>
          </p:nvPr>
        </p:nvSpPr>
        <p:spPr>
          <a:xfrm>
            <a:off x="500034" y="1447800"/>
            <a:ext cx="8205816" cy="55153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err="1">
                <a:solidFill>
                  <a:srgbClr val="FF0000"/>
                </a:solidFill>
              </a:rPr>
              <a:t>wlp</a:t>
            </a:r>
            <a:r>
              <a:rPr lang="en-US" sz="2800" dirty="0"/>
              <a:t>  (</a:t>
            </a:r>
            <a:r>
              <a:rPr lang="nl-NL" sz="2800" dirty="0">
                <a:sym typeface="Symbol"/>
              </a:rPr>
              <a:t></a:t>
            </a:r>
            <a:r>
              <a:rPr lang="nl-NL" sz="2800" b="1" dirty="0" err="1"/>
              <a:t>while</a:t>
            </a:r>
            <a:r>
              <a:rPr lang="nl-NL" sz="2800" dirty="0">
                <a:sym typeface="Symbol"/>
              </a:rPr>
              <a:t></a:t>
            </a:r>
            <a:r>
              <a:rPr lang="en-US" sz="2800" baseline="30000" dirty="0">
                <a:sym typeface="Symbol"/>
              </a:rPr>
              <a:t>2</a:t>
            </a:r>
            <a:r>
              <a:rPr lang="en-US" sz="2800" dirty="0"/>
              <a:t>  (y&gt;0 , y := y−1))    (y=0 /\ b)</a:t>
            </a:r>
            <a:br>
              <a:rPr lang="en-US" sz="2800" dirty="0"/>
            </a:br>
            <a:br>
              <a:rPr lang="en-US" sz="2800" dirty="0"/>
            </a:br>
            <a:r>
              <a:rPr lang="en-US" sz="2800" dirty="0"/>
              <a:t>     </a:t>
            </a:r>
            <a:br>
              <a:rPr lang="en-US" sz="2800" dirty="0"/>
            </a:br>
            <a:r>
              <a:rPr lang="en-US" sz="2800" dirty="0"/>
              <a:t>        =   y&gt;2  \/ (y=2/\b) \/  (y=1/\b)  \/  (y=0/\b)</a:t>
            </a:r>
          </a:p>
          <a:p>
            <a:endParaRPr lang="en-US" sz="2800" dirty="0"/>
          </a:p>
          <a:p>
            <a:r>
              <a:rPr lang="en-US" sz="2800" dirty="0"/>
              <a:t>P : y=0 \/ y=1  ...  works</a:t>
            </a:r>
          </a:p>
          <a:p>
            <a:r>
              <a:rPr lang="en-US" sz="2800" dirty="0"/>
              <a:t>P : y≥0            ... “works” as well</a:t>
            </a:r>
          </a:p>
          <a:p>
            <a:r>
              <a:rPr lang="en-US" sz="2800" dirty="0"/>
              <a:t>This unfolding yields </a:t>
            </a:r>
            <a:r>
              <a:rPr lang="en-US" sz="2800" dirty="0" err="1"/>
              <a:t>wlp</a:t>
            </a:r>
            <a:r>
              <a:rPr lang="en-US" sz="2800" dirty="0"/>
              <a:t> which is complete but unsound. So, if P ⇒ W, W is the above </a:t>
            </a:r>
            <a:r>
              <a:rPr lang="en-US" sz="2800" dirty="0" err="1"/>
              <a:t>wlp</a:t>
            </a:r>
            <a:r>
              <a:rPr lang="en-US" sz="2800" dirty="0"/>
              <a:t>, is valid, we don’t know if the original specification is also valid. However, if P ⇒ W is invalid, then so is the orig. spec.</a:t>
            </a:r>
          </a:p>
          <a:p>
            <a:endParaRPr lang="en-US" sz="2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48220AE-4ABF-4647-9677-DBC7878747C7}" type="slidenum">
              <a:rPr lang="en-US" smtClean="0"/>
              <a:pPr>
                <a:defRPr/>
              </a:pPr>
              <a:t>52</a:t>
            </a:fld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1412111" y="1238249"/>
            <a:ext cx="3889095" cy="903067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/>
              <a:t>Verification of OO programs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/>
              <a:t>GCL is not OO, but we can encode OO constructs in it. We’ll need few additional ingredients :</a:t>
            </a:r>
          </a:p>
          <a:p>
            <a:pPr lvl="1"/>
            <a:r>
              <a:rPr lang="en-US" sz="2800" dirty="0"/>
              <a:t>local variables</a:t>
            </a:r>
          </a:p>
          <a:p>
            <a:pPr lvl="1"/>
            <a:r>
              <a:rPr lang="en-US" sz="2800" dirty="0" err="1"/>
              <a:t>simultant</a:t>
            </a:r>
            <a:r>
              <a:rPr lang="en-US" sz="2800" dirty="0"/>
              <a:t> assignment</a:t>
            </a:r>
          </a:p>
          <a:p>
            <a:pPr lvl="1"/>
            <a:r>
              <a:rPr lang="en-US" sz="2800" dirty="0"/>
              <a:t>program call</a:t>
            </a:r>
          </a:p>
          <a:p>
            <a:pPr lvl="1"/>
            <a:r>
              <a:rPr lang="en-US" sz="2800" dirty="0"/>
              <a:t>array</a:t>
            </a:r>
          </a:p>
          <a:p>
            <a:pPr lvl="1"/>
            <a:r>
              <a:rPr lang="en-US" sz="2800" dirty="0"/>
              <a:t>object</a:t>
            </a:r>
          </a:p>
          <a:p>
            <a:pPr lvl="1"/>
            <a:r>
              <a:rPr lang="en-US" sz="2800" dirty="0"/>
              <a:t>method </a:t>
            </a:r>
          </a:p>
          <a:p>
            <a:endParaRPr lang="en-US" sz="2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48220AE-4ABF-4647-9677-DBC7878747C7}" type="slidenum">
              <a:rPr lang="en-US" smtClean="0"/>
              <a:pPr>
                <a:defRPr/>
              </a:pPr>
              <a:t>53</a:t>
            </a:fld>
            <a:endParaRPr lang="en-US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Local variable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383957"/>
            <a:ext cx="7772400" cy="4888828"/>
          </a:xfrm>
        </p:spPr>
        <p:txBody>
          <a:bodyPr>
            <a:normAutofit lnSpcReduction="10000"/>
          </a:bodyPr>
          <a:lstStyle/>
          <a:p>
            <a:r>
              <a:rPr lang="en-US" b="1" dirty="0" err="1">
                <a:solidFill>
                  <a:srgbClr val="FF0000"/>
                </a:solidFill>
              </a:rPr>
              <a:t>wlp</a:t>
            </a:r>
            <a:r>
              <a:rPr lang="en-US" b="1" dirty="0"/>
              <a:t>  </a:t>
            </a:r>
            <a:r>
              <a:rPr lang="en-US" dirty="0"/>
              <a:t>(</a:t>
            </a:r>
            <a:r>
              <a:rPr lang="en-US" b="1" dirty="0" err="1"/>
              <a:t>var</a:t>
            </a:r>
            <a:r>
              <a:rPr lang="en-US" b="1" dirty="0"/>
              <a:t> </a:t>
            </a:r>
            <a:r>
              <a:rPr lang="en-US" dirty="0"/>
              <a:t>x </a:t>
            </a:r>
            <a:r>
              <a:rPr lang="en-US" b="1" dirty="0"/>
              <a:t>in</a:t>
            </a:r>
            <a:r>
              <a:rPr lang="en-US" dirty="0"/>
              <a:t>  x:=1 ; y := </a:t>
            </a:r>
            <a:r>
              <a:rPr lang="en-US" dirty="0" err="1"/>
              <a:t>y+x</a:t>
            </a:r>
            <a:r>
              <a:rPr lang="en-US" dirty="0"/>
              <a:t> </a:t>
            </a:r>
            <a:r>
              <a:rPr lang="en-US" b="1" dirty="0"/>
              <a:t>end</a:t>
            </a:r>
            <a:r>
              <a:rPr lang="en-US" dirty="0"/>
              <a:t>)    (x=y) </a:t>
            </a:r>
            <a:br>
              <a:rPr lang="en-US" dirty="0"/>
            </a:br>
            <a:br>
              <a:rPr lang="en-US" dirty="0"/>
            </a:br>
            <a:r>
              <a:rPr lang="en-US" dirty="0"/>
              <a:t>Rename </a:t>
            </a:r>
            <a:r>
              <a:rPr lang="en-US" dirty="0" err="1"/>
              <a:t>loc-vars</a:t>
            </a:r>
            <a:r>
              <a:rPr lang="en-US" dirty="0"/>
              <a:t> to fresh-</a:t>
            </a:r>
            <a:r>
              <a:rPr lang="en-US" dirty="0" err="1"/>
              <a:t>vars</a:t>
            </a:r>
            <a:r>
              <a:rPr lang="en-US" dirty="0"/>
              <a:t>, to avoid captures:</a:t>
            </a:r>
            <a:r>
              <a:rPr lang="en-US" b="1" dirty="0"/>
              <a:t> </a:t>
            </a:r>
            <a:br>
              <a:rPr lang="en-US" b="1" dirty="0"/>
            </a:br>
            <a:br>
              <a:rPr lang="en-US" b="1" dirty="0"/>
            </a:br>
            <a:r>
              <a:rPr lang="en-US" b="1" dirty="0" err="1">
                <a:solidFill>
                  <a:srgbClr val="FF0000"/>
                </a:solidFill>
              </a:rPr>
              <a:t>wlp</a:t>
            </a:r>
            <a:r>
              <a:rPr lang="en-US" b="1" dirty="0"/>
              <a:t>  </a:t>
            </a:r>
            <a:r>
              <a:rPr lang="en-US" dirty="0"/>
              <a:t>(</a:t>
            </a:r>
            <a:r>
              <a:rPr lang="en-US" b="1" dirty="0" err="1"/>
              <a:t>var</a:t>
            </a:r>
            <a:r>
              <a:rPr lang="en-US" b="1" dirty="0"/>
              <a:t> </a:t>
            </a:r>
            <a:r>
              <a:rPr lang="en-US" dirty="0"/>
              <a:t>x’ </a:t>
            </a:r>
            <a:r>
              <a:rPr lang="en-US" b="1" dirty="0"/>
              <a:t>in</a:t>
            </a:r>
            <a:r>
              <a:rPr lang="en-US" dirty="0"/>
              <a:t>  x’:=1 ; y := </a:t>
            </a:r>
            <a:r>
              <a:rPr lang="en-US" dirty="0" err="1"/>
              <a:t>y+x</a:t>
            </a:r>
            <a:r>
              <a:rPr lang="en-US" dirty="0"/>
              <a:t>’ </a:t>
            </a:r>
            <a:r>
              <a:rPr lang="en-US" b="1" dirty="0"/>
              <a:t>end</a:t>
            </a:r>
            <a:r>
              <a:rPr lang="en-US" dirty="0"/>
              <a:t>)    (x=y) </a:t>
            </a:r>
          </a:p>
          <a:p>
            <a:endParaRPr lang="en-US" dirty="0"/>
          </a:p>
          <a:p>
            <a:r>
              <a:rPr lang="en-US" dirty="0"/>
              <a:t>Let’s try another example :</a:t>
            </a:r>
            <a:br>
              <a:rPr lang="en-US" dirty="0"/>
            </a:br>
            <a:br>
              <a:rPr lang="en-US" dirty="0"/>
            </a:br>
            <a:r>
              <a:rPr lang="en-US" b="1" dirty="0"/>
              <a:t> </a:t>
            </a:r>
            <a:r>
              <a:rPr lang="en-US" b="1" dirty="0" err="1">
                <a:solidFill>
                  <a:srgbClr val="FF0000"/>
                </a:solidFill>
              </a:rPr>
              <a:t>wlp</a:t>
            </a:r>
            <a:r>
              <a:rPr lang="en-US" b="1" dirty="0"/>
              <a:t>  </a:t>
            </a:r>
            <a:r>
              <a:rPr lang="en-US" dirty="0"/>
              <a:t>(</a:t>
            </a:r>
            <a:r>
              <a:rPr lang="en-US" b="1" dirty="0" err="1"/>
              <a:t>var</a:t>
            </a:r>
            <a:r>
              <a:rPr lang="en-US" b="1" dirty="0"/>
              <a:t> </a:t>
            </a:r>
            <a:r>
              <a:rPr lang="en-US" dirty="0"/>
              <a:t>x’ </a:t>
            </a:r>
            <a:r>
              <a:rPr lang="en-US" b="1" dirty="0"/>
              <a:t>in</a:t>
            </a:r>
            <a:r>
              <a:rPr lang="en-US" dirty="0"/>
              <a:t>  </a:t>
            </a:r>
            <a:r>
              <a:rPr lang="en-US" b="1" dirty="0"/>
              <a:t>assume</a:t>
            </a:r>
            <a:r>
              <a:rPr lang="en-US" dirty="0"/>
              <a:t> x’&gt;0 ; y := </a:t>
            </a:r>
            <a:r>
              <a:rPr lang="en-US" dirty="0" err="1"/>
              <a:t>y+x</a:t>
            </a:r>
            <a:r>
              <a:rPr lang="en-US" dirty="0"/>
              <a:t>’ </a:t>
            </a:r>
            <a:r>
              <a:rPr lang="en-US" b="1" dirty="0"/>
              <a:t>end</a:t>
            </a:r>
            <a:r>
              <a:rPr lang="en-US" dirty="0"/>
              <a:t>)    (x=y) </a:t>
            </a:r>
            <a:br>
              <a:rPr lang="en-US" dirty="0"/>
            </a:br>
            <a:endParaRPr lang="en-US" dirty="0"/>
          </a:p>
          <a:p>
            <a:r>
              <a:rPr lang="en-US" dirty="0"/>
              <a:t>Note that if x’ is fresh we can alternatively treat this as:</a:t>
            </a:r>
            <a:br>
              <a:rPr lang="en-US" dirty="0"/>
            </a:br>
            <a:br>
              <a:rPr lang="en-US" dirty="0"/>
            </a:br>
            <a:r>
              <a:rPr lang="en-US" dirty="0"/>
              <a:t>  </a:t>
            </a:r>
            <a:r>
              <a:rPr lang="en-US" b="1" dirty="0"/>
              <a:t>assume</a:t>
            </a:r>
            <a:r>
              <a:rPr lang="en-US" dirty="0"/>
              <a:t> x’&gt;0 ; y := </a:t>
            </a:r>
            <a:r>
              <a:rPr lang="en-US" dirty="0" err="1"/>
              <a:t>y+x</a:t>
            </a:r>
            <a:r>
              <a:rPr lang="en-US" dirty="0"/>
              <a:t>’ </a:t>
            </a:r>
            <a:br>
              <a:rPr lang="en-US" dirty="0"/>
            </a:br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48220AE-4ABF-4647-9677-DBC7878747C7}" type="slidenum">
              <a:rPr lang="en-US" smtClean="0"/>
              <a:pPr>
                <a:defRPr/>
              </a:pPr>
              <a:t>54</a:t>
            </a:fld>
            <a:endParaRPr lang="en-US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Simultant</a:t>
            </a:r>
            <a:r>
              <a:rPr lang="en-US" dirty="0"/>
              <a:t> assignment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For example:  </a:t>
            </a:r>
            <a:r>
              <a:rPr lang="en-US" dirty="0" err="1"/>
              <a:t>x,y</a:t>
            </a:r>
            <a:r>
              <a:rPr lang="en-US" dirty="0"/>
              <a:t> := y , </a:t>
            </a:r>
            <a:r>
              <a:rPr lang="en-US" dirty="0" err="1"/>
              <a:t>x+y</a:t>
            </a:r>
            <a:r>
              <a:rPr lang="en-US" dirty="0"/>
              <a:t>     </a:t>
            </a:r>
            <a:r>
              <a:rPr lang="en-US" b="1" dirty="0">
                <a:solidFill>
                  <a:srgbClr val="0070C0"/>
                </a:solidFill>
              </a:rPr>
              <a:t>{ x=y }</a:t>
            </a:r>
            <a:br>
              <a:rPr lang="en-US" b="1" dirty="0">
                <a:solidFill>
                  <a:srgbClr val="0070C0"/>
                </a:solidFill>
              </a:rPr>
            </a:br>
            <a:br>
              <a:rPr lang="en-US" dirty="0"/>
            </a:br>
            <a:r>
              <a:rPr lang="en-US" dirty="0"/>
              <a:t>       </a:t>
            </a:r>
            <a:r>
              <a:rPr lang="en-US" b="1" dirty="0" err="1">
                <a:solidFill>
                  <a:srgbClr val="FF0000"/>
                </a:solidFill>
              </a:rPr>
              <a:t>wlp</a:t>
            </a:r>
            <a:r>
              <a:rPr lang="en-US" dirty="0"/>
              <a:t>  (</a:t>
            </a:r>
            <a:r>
              <a:rPr lang="en-US" dirty="0" err="1"/>
              <a:t>x,y</a:t>
            </a:r>
            <a:r>
              <a:rPr lang="en-US" dirty="0"/>
              <a:t> := e</a:t>
            </a:r>
            <a:r>
              <a:rPr lang="en-US" baseline="-25000" dirty="0"/>
              <a:t>1</a:t>
            </a:r>
            <a:r>
              <a:rPr lang="en-US" dirty="0"/>
              <a:t>,e</a:t>
            </a:r>
            <a:r>
              <a:rPr lang="en-US" baseline="-25000" dirty="0"/>
              <a:t>2</a:t>
            </a:r>
            <a:r>
              <a:rPr lang="en-US" dirty="0"/>
              <a:t>)  Q   =  Q[e</a:t>
            </a:r>
            <a:r>
              <a:rPr lang="en-US" baseline="-25000" dirty="0"/>
              <a:t>1</a:t>
            </a:r>
            <a:r>
              <a:rPr lang="en-US" dirty="0"/>
              <a:t>,e</a:t>
            </a:r>
            <a:r>
              <a:rPr lang="en-US" baseline="-25000" dirty="0"/>
              <a:t>2</a:t>
            </a:r>
            <a:r>
              <a:rPr lang="en-US" dirty="0"/>
              <a:t> / </a:t>
            </a:r>
            <a:r>
              <a:rPr lang="en-US" dirty="0" err="1"/>
              <a:t>x,y</a:t>
            </a:r>
            <a:r>
              <a:rPr lang="en-US" dirty="0"/>
              <a:t>]</a:t>
            </a:r>
          </a:p>
          <a:p>
            <a:endParaRPr lang="en-US" dirty="0"/>
          </a:p>
          <a:p>
            <a:r>
              <a:rPr lang="en-US" dirty="0"/>
              <a:t>Compare it with : (x=y) [y/x] [</a:t>
            </a:r>
            <a:r>
              <a:rPr lang="en-US" dirty="0" err="1"/>
              <a:t>x+y</a:t>
            </a:r>
            <a:r>
              <a:rPr lang="en-US" dirty="0"/>
              <a:t>/y]</a:t>
            </a:r>
          </a:p>
          <a:p>
            <a:endParaRPr lang="en-US" dirty="0"/>
          </a:p>
          <a:p>
            <a:r>
              <a:rPr lang="en-US" dirty="0"/>
              <a:t>But e.g. this is </a:t>
            </a:r>
            <a:r>
              <a:rPr lang="en-US" b="1" dirty="0"/>
              <a:t>not allowed</a:t>
            </a:r>
            <a:r>
              <a:rPr lang="en-US" dirty="0"/>
              <a:t>: </a:t>
            </a:r>
            <a:r>
              <a:rPr lang="en-US" i="1" dirty="0" err="1"/>
              <a:t>x,x</a:t>
            </a:r>
            <a:r>
              <a:rPr lang="en-US" dirty="0"/>
              <a:t> := </a:t>
            </a:r>
            <a:r>
              <a:rPr lang="en-US" i="1" dirty="0"/>
              <a:t>e</a:t>
            </a:r>
            <a:r>
              <a:rPr lang="en-US" baseline="-25000" dirty="0"/>
              <a:t>1</a:t>
            </a:r>
            <a:r>
              <a:rPr lang="en-US" dirty="0"/>
              <a:t>, </a:t>
            </a:r>
            <a:r>
              <a:rPr lang="en-US" i="1" dirty="0"/>
              <a:t>e</a:t>
            </a:r>
            <a:r>
              <a:rPr lang="en-US" baseline="-25000" dirty="0"/>
              <a:t>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48220AE-4ABF-4647-9677-DBC7878747C7}" type="slidenum">
              <a:rPr lang="en-US" smtClean="0"/>
              <a:pPr>
                <a:defRPr/>
              </a:pPr>
              <a:t>55</a:t>
            </a:fld>
            <a:endParaRPr lang="en-US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Program and program call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3137" y="1383957"/>
            <a:ext cx="8373979" cy="4621427"/>
          </a:xfrm>
        </p:spPr>
        <p:txBody>
          <a:bodyPr>
            <a:normAutofit/>
          </a:bodyPr>
          <a:lstStyle/>
          <a:p>
            <a:r>
              <a:rPr lang="en-US" dirty="0"/>
              <a:t>Syntax: </a:t>
            </a:r>
            <a:r>
              <a:rPr lang="en-US" i="1" dirty="0"/>
              <a:t>Pr</a:t>
            </a:r>
            <a:r>
              <a:rPr lang="en-US" dirty="0"/>
              <a:t>(</a:t>
            </a:r>
            <a:r>
              <a:rPr lang="en-US" i="1" dirty="0"/>
              <a:t>x, y</a:t>
            </a:r>
            <a:r>
              <a:rPr lang="en-US" dirty="0"/>
              <a:t>  | </a:t>
            </a:r>
            <a:r>
              <a:rPr lang="en-US" i="1" dirty="0"/>
              <a:t>r</a:t>
            </a:r>
            <a:r>
              <a:rPr lang="en-US" i="1" baseline="-25000" dirty="0"/>
              <a:t> </a:t>
            </a:r>
            <a:r>
              <a:rPr lang="en-US" dirty="0"/>
              <a:t>)  </a:t>
            </a:r>
            <a:r>
              <a:rPr lang="en-US" i="1" dirty="0"/>
              <a:t>body</a:t>
            </a:r>
          </a:p>
          <a:p>
            <a:r>
              <a:rPr lang="en-US" i="1" dirty="0" err="1"/>
              <a:t>x,y</a:t>
            </a:r>
            <a:r>
              <a:rPr lang="en-US" i="1" dirty="0"/>
              <a:t> </a:t>
            </a:r>
            <a:r>
              <a:rPr lang="en-US" dirty="0"/>
              <a:t>are input parameters </a:t>
            </a:r>
            <a:r>
              <a:rPr lang="en-US" dirty="0">
                <a:sym typeface="Wingdings" pitchFamily="2" charset="2"/>
              </a:rPr>
              <a:t> passed by value</a:t>
            </a:r>
          </a:p>
          <a:p>
            <a:r>
              <a:rPr lang="en-US" i="1" dirty="0"/>
              <a:t>r</a:t>
            </a:r>
            <a:r>
              <a:rPr lang="en-US" dirty="0"/>
              <a:t>  </a:t>
            </a:r>
            <a:r>
              <a:rPr lang="en-US" dirty="0">
                <a:sym typeface="Wingdings" pitchFamily="2" charset="2"/>
              </a:rPr>
              <a:t>is an output parameter.</a:t>
            </a:r>
          </a:p>
          <a:p>
            <a:r>
              <a:rPr lang="en-US" dirty="0">
                <a:sym typeface="Wingdings" pitchFamily="2" charset="2"/>
              </a:rPr>
              <a:t>Syntax of program call:  </a:t>
            </a:r>
            <a:r>
              <a:rPr lang="en-US" i="1" dirty="0">
                <a:sym typeface="Wingdings" pitchFamily="2" charset="2"/>
              </a:rPr>
              <a:t>a</a:t>
            </a:r>
            <a:r>
              <a:rPr lang="en-US" dirty="0">
                <a:sym typeface="Wingdings" pitchFamily="2" charset="2"/>
              </a:rPr>
              <a:t> := </a:t>
            </a:r>
            <a:r>
              <a:rPr lang="en-US" i="1" dirty="0" err="1">
                <a:sym typeface="Wingdings" pitchFamily="2" charset="2"/>
              </a:rPr>
              <a:t>Pr</a:t>
            </a:r>
            <a:r>
              <a:rPr lang="en-US" dirty="0">
                <a:sym typeface="Wingdings" pitchFamily="2" charset="2"/>
              </a:rPr>
              <a:t>(</a:t>
            </a:r>
            <a:r>
              <a:rPr lang="en-US" i="1" dirty="0">
                <a:sym typeface="Wingdings" pitchFamily="2" charset="2"/>
              </a:rPr>
              <a:t>e</a:t>
            </a:r>
            <a:r>
              <a:rPr lang="en-US" baseline="-25000" dirty="0">
                <a:sym typeface="Wingdings" pitchFamily="2" charset="2"/>
              </a:rPr>
              <a:t>1</a:t>
            </a:r>
            <a:r>
              <a:rPr lang="en-US" dirty="0">
                <a:sym typeface="Wingdings" pitchFamily="2" charset="2"/>
              </a:rPr>
              <a:t>,</a:t>
            </a:r>
            <a:r>
              <a:rPr lang="en-US" i="1" dirty="0">
                <a:sym typeface="Wingdings" pitchFamily="2" charset="2"/>
              </a:rPr>
              <a:t>e</a:t>
            </a:r>
            <a:r>
              <a:rPr lang="en-US" baseline="-25000" dirty="0">
                <a:sym typeface="Wingdings" pitchFamily="2" charset="2"/>
              </a:rPr>
              <a:t>2</a:t>
            </a:r>
            <a:r>
              <a:rPr lang="en-US" dirty="0">
                <a:sym typeface="Wingdings" pitchFamily="2" charset="2"/>
              </a:rPr>
              <a:t>)</a:t>
            </a:r>
            <a:br>
              <a:rPr lang="en-US" dirty="0">
                <a:sym typeface="Wingdings" pitchFamily="2" charset="2"/>
              </a:rPr>
            </a:br>
            <a:br>
              <a:rPr lang="en-US" dirty="0">
                <a:sym typeface="Wingdings" pitchFamily="2" charset="2"/>
              </a:rPr>
            </a:br>
            <a:r>
              <a:rPr lang="en-US" dirty="0"/>
              <a:t>Example : </a:t>
            </a:r>
          </a:p>
          <a:p>
            <a:pPr lvl="1"/>
            <a:r>
              <a:rPr lang="en-US" sz="2400" i="1" dirty="0" err="1"/>
              <a:t>inc</a:t>
            </a:r>
            <a:r>
              <a:rPr lang="en-US" sz="2400" dirty="0"/>
              <a:t>(</a:t>
            </a:r>
            <a:r>
              <a:rPr lang="en-US" sz="2400" i="1" dirty="0"/>
              <a:t>x</a:t>
            </a:r>
            <a:r>
              <a:rPr lang="en-US" sz="2400" dirty="0"/>
              <a:t> | </a:t>
            </a:r>
            <a:r>
              <a:rPr lang="en-US" sz="2400" i="1" dirty="0"/>
              <a:t>r</a:t>
            </a:r>
            <a:r>
              <a:rPr lang="en-US" sz="2400" dirty="0"/>
              <a:t>)  {  r := x+1 }</a:t>
            </a:r>
          </a:p>
          <a:p>
            <a:pPr lvl="1"/>
            <a:r>
              <a:rPr lang="en-US" sz="2400" dirty="0"/>
              <a:t>x := </a:t>
            </a:r>
            <a:r>
              <a:rPr lang="en-US" sz="2400" dirty="0" err="1"/>
              <a:t>inc</a:t>
            </a:r>
            <a:r>
              <a:rPr lang="en-US" sz="2400" dirty="0"/>
              <a:t>(x)</a:t>
            </a:r>
          </a:p>
          <a:p>
            <a:pPr lvl="1"/>
            <a:r>
              <a:rPr lang="en-US" sz="2400" dirty="0"/>
              <a:t>y := </a:t>
            </a:r>
            <a:r>
              <a:rPr lang="en-US" sz="2400" dirty="0" err="1"/>
              <a:t>inc</a:t>
            </a:r>
            <a:r>
              <a:rPr lang="en-US" sz="2400" dirty="0"/>
              <a:t>(x)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48220AE-4ABF-4647-9677-DBC7878747C7}" type="slidenum">
              <a:rPr lang="en-US" smtClean="0"/>
              <a:pPr>
                <a:defRPr/>
              </a:pPr>
              <a:t>56</a:t>
            </a:fld>
            <a:endParaRPr lang="en-US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Encoding program call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273050" lvl="1" indent="-273050">
              <a:spcBef>
                <a:spcPts val="575"/>
              </a:spcBef>
              <a:buClr>
                <a:schemeClr val="accent1"/>
              </a:buClr>
            </a:pPr>
            <a:r>
              <a:rPr lang="en-US" sz="2400" dirty="0"/>
              <a:t>Consider : </a:t>
            </a:r>
            <a:r>
              <a:rPr lang="en-US" sz="2400" i="1" dirty="0" err="1"/>
              <a:t>Pr</a:t>
            </a:r>
            <a:r>
              <a:rPr lang="en-US" sz="2400" dirty="0"/>
              <a:t>(</a:t>
            </a:r>
            <a:r>
              <a:rPr lang="en-US" sz="2400" i="1" dirty="0"/>
              <a:t>x, y</a:t>
            </a:r>
            <a:r>
              <a:rPr lang="en-US" sz="2400" dirty="0"/>
              <a:t>  | </a:t>
            </a:r>
            <a:r>
              <a:rPr lang="en-US" sz="2400" i="1" dirty="0"/>
              <a:t>r</a:t>
            </a:r>
            <a:r>
              <a:rPr lang="en-US" sz="2400" i="1" baseline="-25000" dirty="0"/>
              <a:t> </a:t>
            </a:r>
            <a:r>
              <a:rPr lang="en-US" sz="2400" dirty="0"/>
              <a:t>)  </a:t>
            </a:r>
            <a:r>
              <a:rPr lang="en-US" sz="2400" i="1" dirty="0"/>
              <a:t>body</a:t>
            </a:r>
          </a:p>
          <a:p>
            <a:pPr marL="273050" lvl="1" indent="-273050">
              <a:spcBef>
                <a:spcPts val="575"/>
              </a:spcBef>
              <a:buClr>
                <a:schemeClr val="accent1"/>
              </a:buClr>
            </a:pPr>
            <a:r>
              <a:rPr lang="en-US" sz="2400" dirty="0"/>
              <a:t>We treat program call as syntactic sugar :</a:t>
            </a:r>
            <a:br>
              <a:rPr lang="en-US" sz="2400" dirty="0"/>
            </a:br>
            <a:br>
              <a:rPr lang="en-US" sz="2400" dirty="0"/>
            </a:br>
            <a:r>
              <a:rPr lang="en-US" sz="2400" dirty="0"/>
              <a:t>   </a:t>
            </a:r>
            <a:r>
              <a:rPr lang="en-US" sz="2400" i="1" dirty="0">
                <a:sym typeface="Wingdings" pitchFamily="2" charset="2"/>
              </a:rPr>
              <a:t>a</a:t>
            </a:r>
            <a:r>
              <a:rPr lang="en-US" sz="2400" dirty="0">
                <a:sym typeface="Wingdings" pitchFamily="2" charset="2"/>
              </a:rPr>
              <a:t> := </a:t>
            </a:r>
            <a:r>
              <a:rPr lang="en-US" sz="2400" i="1" dirty="0">
                <a:sym typeface="Wingdings" pitchFamily="2" charset="2"/>
              </a:rPr>
              <a:t>Pr</a:t>
            </a:r>
            <a:r>
              <a:rPr lang="en-US" sz="2400" dirty="0">
                <a:sym typeface="Wingdings" pitchFamily="2" charset="2"/>
              </a:rPr>
              <a:t>(</a:t>
            </a:r>
            <a:r>
              <a:rPr lang="en-US" sz="2400" i="1" dirty="0">
                <a:sym typeface="Wingdings" pitchFamily="2" charset="2"/>
              </a:rPr>
              <a:t>e</a:t>
            </a:r>
            <a:r>
              <a:rPr lang="en-US" sz="2400" baseline="-25000" dirty="0">
                <a:sym typeface="Wingdings" pitchFamily="2" charset="2"/>
              </a:rPr>
              <a:t>1</a:t>
            </a:r>
            <a:r>
              <a:rPr lang="en-US" sz="2400" dirty="0">
                <a:sym typeface="Wingdings" pitchFamily="2" charset="2"/>
              </a:rPr>
              <a:t>,</a:t>
            </a:r>
            <a:r>
              <a:rPr lang="en-US" sz="2400" i="1" dirty="0">
                <a:sym typeface="Wingdings" pitchFamily="2" charset="2"/>
              </a:rPr>
              <a:t>e</a:t>
            </a:r>
            <a:r>
              <a:rPr lang="en-US" sz="2400" baseline="-25000" dirty="0">
                <a:sym typeface="Wingdings" pitchFamily="2" charset="2"/>
              </a:rPr>
              <a:t>2</a:t>
            </a:r>
            <a:r>
              <a:rPr lang="en-US" sz="2400" dirty="0">
                <a:sym typeface="Wingdings" pitchFamily="2" charset="2"/>
              </a:rPr>
              <a:t>) </a:t>
            </a:r>
            <a:br>
              <a:rPr lang="en-US" sz="2400" dirty="0">
                <a:sym typeface="Wingdings" pitchFamily="2" charset="2"/>
              </a:rPr>
            </a:br>
            <a:r>
              <a:rPr lang="en-US" sz="2400" dirty="0">
                <a:sym typeface="Wingdings" pitchFamily="2" charset="2"/>
              </a:rPr>
              <a:t>   </a:t>
            </a:r>
            <a:r>
              <a:rPr lang="en-US" sz="2400" dirty="0">
                <a:sym typeface="Symbol"/>
              </a:rPr>
              <a:t>  </a:t>
            </a:r>
            <a:br>
              <a:rPr lang="en-US" sz="2400" dirty="0">
                <a:sym typeface="Symbol"/>
              </a:rPr>
            </a:br>
            <a:r>
              <a:rPr lang="en-US" sz="2400" dirty="0">
                <a:sym typeface="Symbol"/>
              </a:rPr>
              <a:t>   </a:t>
            </a:r>
            <a:r>
              <a:rPr lang="en-US" sz="2400" b="1" dirty="0" err="1">
                <a:sym typeface="Symbol"/>
              </a:rPr>
              <a:t>var</a:t>
            </a:r>
            <a:r>
              <a:rPr lang="en-US" sz="2400" dirty="0">
                <a:sym typeface="Symbol"/>
              </a:rPr>
              <a:t> </a:t>
            </a:r>
            <a:r>
              <a:rPr lang="en-US" sz="2400" dirty="0" err="1">
                <a:sym typeface="Symbol"/>
              </a:rPr>
              <a:t>x,y</a:t>
            </a:r>
            <a:r>
              <a:rPr lang="en-US" sz="2400" dirty="0">
                <a:sym typeface="Symbol"/>
              </a:rPr>
              <a:t>, </a:t>
            </a:r>
            <a:r>
              <a:rPr lang="en-US" sz="2400" i="1" dirty="0"/>
              <a:t>r</a:t>
            </a:r>
            <a:r>
              <a:rPr lang="en-US" sz="2400" dirty="0">
                <a:sym typeface="Symbol"/>
              </a:rPr>
              <a:t>  </a:t>
            </a:r>
            <a:r>
              <a:rPr lang="en-US" sz="2400" b="1" dirty="0">
                <a:sym typeface="Symbol"/>
              </a:rPr>
              <a:t>in</a:t>
            </a:r>
            <a:r>
              <a:rPr lang="en-US" sz="2400" dirty="0">
                <a:sym typeface="Symbol"/>
              </a:rPr>
              <a:t> </a:t>
            </a:r>
            <a:r>
              <a:rPr lang="en-US" sz="2400" dirty="0" err="1">
                <a:sym typeface="Symbol"/>
              </a:rPr>
              <a:t>x,y</a:t>
            </a:r>
            <a:r>
              <a:rPr lang="en-US" sz="2400" dirty="0">
                <a:sym typeface="Symbol"/>
              </a:rPr>
              <a:t> := e1,e2 ;  </a:t>
            </a:r>
            <a:r>
              <a:rPr lang="en-US" sz="2400" i="1" dirty="0">
                <a:sym typeface="Symbol"/>
              </a:rPr>
              <a:t>body</a:t>
            </a:r>
            <a:r>
              <a:rPr lang="en-US" sz="2400" dirty="0">
                <a:sym typeface="Symbol"/>
              </a:rPr>
              <a:t> ; </a:t>
            </a:r>
            <a:r>
              <a:rPr lang="en-US" sz="2400" i="1" dirty="0">
                <a:sym typeface="Symbol"/>
              </a:rPr>
              <a:t>a</a:t>
            </a:r>
            <a:r>
              <a:rPr lang="en-US" sz="2400" dirty="0">
                <a:sym typeface="Symbol"/>
              </a:rPr>
              <a:t> := </a:t>
            </a:r>
            <a:r>
              <a:rPr lang="en-US" sz="2400" i="1" dirty="0"/>
              <a:t>r</a:t>
            </a:r>
            <a:r>
              <a:rPr lang="en-US" sz="2400" dirty="0">
                <a:sym typeface="Symbol"/>
              </a:rPr>
              <a:t>  </a:t>
            </a:r>
            <a:r>
              <a:rPr lang="en-US" sz="2400" b="1" dirty="0">
                <a:sym typeface="Symbol"/>
              </a:rPr>
              <a:t>end</a:t>
            </a:r>
            <a:br>
              <a:rPr lang="en-US" sz="2400" b="1" dirty="0">
                <a:sym typeface="Symbol"/>
              </a:rPr>
            </a:br>
            <a:br>
              <a:rPr lang="en-US" sz="2400" b="1" dirty="0">
                <a:sym typeface="Symbol"/>
              </a:rPr>
            </a:br>
            <a:r>
              <a:rPr lang="en-US" sz="2400" dirty="0">
                <a:sym typeface="Symbol"/>
              </a:rPr>
              <a:t>Rename to make the </a:t>
            </a:r>
            <a:r>
              <a:rPr lang="en-US" sz="2400" dirty="0" err="1">
                <a:sym typeface="Symbol"/>
              </a:rPr>
              <a:t>loc-vars</a:t>
            </a:r>
            <a:r>
              <a:rPr lang="en-US" sz="2400" dirty="0">
                <a:sym typeface="Symbol"/>
              </a:rPr>
              <a:t> fresh.</a:t>
            </a:r>
          </a:p>
          <a:p>
            <a:pPr marL="273050" lvl="1" indent="-273050">
              <a:spcBef>
                <a:spcPts val="575"/>
              </a:spcBef>
              <a:buClr>
                <a:schemeClr val="accent1"/>
              </a:buClr>
            </a:pPr>
            <a:r>
              <a:rPr lang="en-US" sz="2400" dirty="0">
                <a:sym typeface="Symbol"/>
              </a:rPr>
              <a:t>This allows you to using existing rules to calculate the </a:t>
            </a:r>
            <a:r>
              <a:rPr lang="en-US" sz="2400" dirty="0" err="1">
                <a:sym typeface="Symbol"/>
              </a:rPr>
              <a:t>wlp</a:t>
            </a:r>
            <a:r>
              <a:rPr lang="en-US" sz="2400" dirty="0">
                <a:sym typeface="Symbol"/>
              </a:rPr>
              <a:t> of calls (except when we have recursion, see next slide).</a:t>
            </a:r>
          </a:p>
          <a:p>
            <a:pPr marL="273050" lvl="1" indent="-273050">
              <a:spcBef>
                <a:spcPts val="575"/>
              </a:spcBef>
              <a:buClr>
                <a:schemeClr val="accent1"/>
              </a:buClr>
            </a:pPr>
            <a:r>
              <a:rPr lang="en-US" sz="2400" dirty="0">
                <a:sym typeface="Symbol"/>
              </a:rPr>
              <a:t>example:  </a:t>
            </a:r>
            <a:br>
              <a:rPr lang="en-US" sz="2400" dirty="0">
                <a:sym typeface="Symbol"/>
              </a:rPr>
            </a:br>
            <a:r>
              <a:rPr lang="en-US" sz="2400" dirty="0">
                <a:sym typeface="Symbol"/>
              </a:rPr>
              <a:t>     </a:t>
            </a:r>
            <a:r>
              <a:rPr lang="en-US" sz="2400" b="1" dirty="0" err="1">
                <a:sym typeface="Symbol"/>
              </a:rPr>
              <a:t>wlp</a:t>
            </a:r>
            <a:r>
              <a:rPr lang="en-US" sz="2400" dirty="0">
                <a:sym typeface="Symbol"/>
              </a:rPr>
              <a:t>  (</a:t>
            </a:r>
            <a:r>
              <a:rPr lang="en-US" sz="2400" i="1" dirty="0">
                <a:sym typeface="Symbol"/>
              </a:rPr>
              <a:t>x</a:t>
            </a:r>
            <a:r>
              <a:rPr lang="en-US" sz="2400" dirty="0">
                <a:sym typeface="Symbol"/>
              </a:rPr>
              <a:t> := </a:t>
            </a:r>
            <a:r>
              <a:rPr lang="en-US" sz="2400" i="1" dirty="0">
                <a:sym typeface="Symbol"/>
              </a:rPr>
              <a:t>inc</a:t>
            </a:r>
            <a:r>
              <a:rPr lang="en-US" sz="2400" dirty="0">
                <a:sym typeface="Symbol"/>
              </a:rPr>
              <a:t>(</a:t>
            </a:r>
            <a:r>
              <a:rPr lang="en-US" sz="2400" i="1" dirty="0">
                <a:sym typeface="Symbol"/>
              </a:rPr>
              <a:t>x</a:t>
            </a:r>
            <a:r>
              <a:rPr lang="en-US" sz="2400" dirty="0">
                <a:sym typeface="Symbol"/>
              </a:rPr>
              <a:t>))   (x&gt;1)   →    x+1 &gt; 1</a:t>
            </a:r>
            <a:endParaRPr lang="en-US" sz="2400" dirty="0">
              <a:sym typeface="Wingdings" pitchFamily="2" charset="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48220AE-4ABF-4647-9677-DBC7878747C7}" type="slidenum">
              <a:rPr lang="en-US" smtClean="0"/>
              <a:pPr>
                <a:defRPr/>
              </a:pPr>
              <a:t>57</a:t>
            </a:fld>
            <a:endParaRPr lang="en-US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Black-box call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2400" dirty="0"/>
              <a:t>What if we don’t know the body? Assuming you still have the specification, e.g. :</a:t>
            </a:r>
            <a:br>
              <a:rPr lang="en-US" sz="2400" dirty="0"/>
            </a:br>
            <a:br>
              <a:rPr lang="en-US" sz="2400" dirty="0"/>
            </a:br>
            <a:r>
              <a:rPr lang="en-US" sz="2400" dirty="0"/>
              <a:t>    { </a:t>
            </a:r>
            <a:r>
              <a:rPr lang="en-US" sz="2400" i="1" dirty="0"/>
              <a:t>x</a:t>
            </a:r>
            <a:r>
              <a:rPr lang="en-US" sz="2400" dirty="0"/>
              <a:t>&gt;0 }   </a:t>
            </a:r>
            <a:r>
              <a:rPr lang="en-US" sz="2400" i="1" dirty="0"/>
              <a:t>drop</a:t>
            </a:r>
            <a:r>
              <a:rPr lang="en-US" sz="2400" dirty="0"/>
              <a:t>(</a:t>
            </a:r>
            <a:r>
              <a:rPr lang="en-US" sz="2400" i="1" dirty="0"/>
              <a:t>x </a:t>
            </a:r>
            <a:r>
              <a:rPr lang="en-US" sz="2400" dirty="0"/>
              <a:t>| </a:t>
            </a:r>
            <a:r>
              <a:rPr lang="en-US" sz="2400" i="1" dirty="0"/>
              <a:t>r</a:t>
            </a:r>
            <a:r>
              <a:rPr lang="en-US" sz="2400" dirty="0"/>
              <a:t>)  </a:t>
            </a:r>
            <a:r>
              <a:rPr lang="en-US" sz="2400" dirty="0">
                <a:highlight>
                  <a:srgbClr val="FFFF00"/>
                </a:highlight>
              </a:rPr>
              <a:t>{ </a:t>
            </a:r>
            <a:r>
              <a:rPr lang="en-US" sz="2400" i="1" dirty="0">
                <a:highlight>
                  <a:srgbClr val="FFFF00"/>
                </a:highlight>
              </a:rPr>
              <a:t>r</a:t>
            </a:r>
            <a:r>
              <a:rPr lang="en-US" sz="2400" dirty="0">
                <a:highlight>
                  <a:srgbClr val="FFFF00"/>
                </a:highlight>
              </a:rPr>
              <a:t> </a:t>
            </a:r>
            <a:r>
              <a:rPr lang="en-US" sz="2400" dirty="0">
                <a:highlight>
                  <a:srgbClr val="FFFF00"/>
                </a:highlight>
                <a:sym typeface="Symbol"/>
              </a:rPr>
              <a:t>&lt; </a:t>
            </a:r>
            <a:r>
              <a:rPr lang="en-US" sz="2400" i="1" dirty="0">
                <a:highlight>
                  <a:srgbClr val="FFFF00"/>
                </a:highlight>
                <a:sym typeface="Symbol"/>
              </a:rPr>
              <a:t>x</a:t>
            </a:r>
            <a:r>
              <a:rPr lang="en-US" sz="2400" dirty="0">
                <a:highlight>
                  <a:srgbClr val="FFFF00"/>
                </a:highlight>
                <a:sym typeface="Symbol"/>
              </a:rPr>
              <a:t> }</a:t>
            </a:r>
            <a:br>
              <a:rPr lang="en-US" sz="2400" dirty="0">
                <a:sym typeface="Symbol"/>
              </a:rPr>
            </a:br>
            <a:br>
              <a:rPr lang="en-US" sz="2400" dirty="0">
                <a:sym typeface="Symbol"/>
              </a:rPr>
            </a:br>
            <a:r>
              <a:rPr lang="en-US" sz="2400" dirty="0">
                <a:sym typeface="Symbol"/>
              </a:rPr>
              <a:t>We treat this as having this body :</a:t>
            </a:r>
            <a:br>
              <a:rPr lang="en-US" sz="2400" dirty="0">
                <a:sym typeface="Symbol"/>
              </a:rPr>
            </a:br>
            <a:br>
              <a:rPr lang="en-US" sz="2400" dirty="0">
                <a:sym typeface="Symbol"/>
              </a:rPr>
            </a:br>
            <a:r>
              <a:rPr lang="en-US" sz="2400" dirty="0">
                <a:sym typeface="Symbol"/>
              </a:rPr>
              <a:t> </a:t>
            </a:r>
            <a:r>
              <a:rPr lang="en-US" sz="2400" dirty="0"/>
              <a:t>   </a:t>
            </a:r>
            <a:r>
              <a:rPr lang="en-US" sz="2400" i="1" dirty="0"/>
              <a:t>drop</a:t>
            </a:r>
            <a:r>
              <a:rPr lang="en-US" sz="2400" dirty="0"/>
              <a:t>(</a:t>
            </a:r>
            <a:r>
              <a:rPr lang="en-US" sz="2400" i="1" dirty="0"/>
              <a:t>x </a:t>
            </a:r>
            <a:r>
              <a:rPr lang="en-US" sz="2400" dirty="0"/>
              <a:t>| </a:t>
            </a:r>
            <a:r>
              <a:rPr lang="en-US" sz="2400" i="1" dirty="0"/>
              <a:t>r</a:t>
            </a:r>
            <a:r>
              <a:rPr lang="en-US" sz="2400" dirty="0"/>
              <a:t>)  { </a:t>
            </a:r>
            <a:r>
              <a:rPr lang="en-US" sz="2400" b="1" dirty="0"/>
              <a:t>assert</a:t>
            </a:r>
            <a:r>
              <a:rPr lang="en-US" sz="2400" dirty="0"/>
              <a:t> </a:t>
            </a:r>
            <a:r>
              <a:rPr lang="en-US" sz="2400" i="1" dirty="0"/>
              <a:t>x</a:t>
            </a:r>
            <a:r>
              <a:rPr lang="en-US" sz="2400" dirty="0"/>
              <a:t>&gt;0 ; </a:t>
            </a:r>
            <a:r>
              <a:rPr lang="en-US" sz="2400" b="1" dirty="0"/>
              <a:t>assume</a:t>
            </a:r>
            <a:r>
              <a:rPr lang="en-US" sz="2400" dirty="0"/>
              <a:t> </a:t>
            </a:r>
            <a:r>
              <a:rPr lang="en-US" sz="2400" i="1" dirty="0"/>
              <a:t>r</a:t>
            </a:r>
            <a:r>
              <a:rPr lang="en-US" sz="2400" dirty="0"/>
              <a:t> </a:t>
            </a:r>
            <a:r>
              <a:rPr lang="en-US" sz="2400" dirty="0">
                <a:sym typeface="Symbol"/>
              </a:rPr>
              <a:t>&lt; </a:t>
            </a:r>
            <a:r>
              <a:rPr lang="en-US" sz="2400" i="1" dirty="0">
                <a:sym typeface="Symbol"/>
              </a:rPr>
              <a:t>x</a:t>
            </a:r>
            <a:r>
              <a:rPr lang="en-US" sz="2400" dirty="0">
                <a:sym typeface="Symbol"/>
              </a:rPr>
              <a:t> }</a:t>
            </a:r>
          </a:p>
          <a:p>
            <a:r>
              <a:rPr lang="en-US" sz="2000" b="1" dirty="0">
                <a:sym typeface="Symbol"/>
              </a:rPr>
              <a:t>Note</a:t>
            </a:r>
            <a:r>
              <a:rPr lang="en-US" sz="2000" dirty="0">
                <a:sym typeface="Symbol"/>
              </a:rPr>
              <a:t>: reference to input params (e.g. “x”) in a method post-</a:t>
            </a:r>
            <a:r>
              <a:rPr lang="en-US" sz="2000" dirty="0" err="1">
                <a:sym typeface="Symbol"/>
              </a:rPr>
              <a:t>cond</a:t>
            </a:r>
            <a:r>
              <a:rPr lang="en-US" sz="2000" dirty="0">
                <a:sym typeface="Symbol"/>
              </a:rPr>
              <a:t> is intended to refer to their initial value.</a:t>
            </a:r>
          </a:p>
          <a:p>
            <a:pPr marL="273050" lvl="1" indent="-273050">
              <a:spcBef>
                <a:spcPts val="575"/>
              </a:spcBef>
              <a:buClr>
                <a:schemeClr val="accent1"/>
              </a:buClr>
            </a:pPr>
            <a:r>
              <a:rPr lang="en-US" dirty="0">
                <a:sym typeface="Symbol"/>
              </a:rPr>
              <a:t>example:  </a:t>
            </a:r>
            <a:r>
              <a:rPr lang="en-US" b="1" dirty="0" err="1">
                <a:sym typeface="Symbol"/>
              </a:rPr>
              <a:t>wlp</a:t>
            </a:r>
            <a:r>
              <a:rPr lang="en-US" dirty="0">
                <a:sym typeface="Symbol"/>
              </a:rPr>
              <a:t>  (</a:t>
            </a:r>
            <a:r>
              <a:rPr lang="en-US" i="1" dirty="0">
                <a:sym typeface="Symbol"/>
              </a:rPr>
              <a:t>x</a:t>
            </a:r>
            <a:r>
              <a:rPr lang="en-US" dirty="0">
                <a:sym typeface="Symbol"/>
              </a:rPr>
              <a:t> := </a:t>
            </a:r>
            <a:r>
              <a:rPr lang="en-US" i="1" dirty="0">
                <a:sym typeface="Symbol"/>
              </a:rPr>
              <a:t>drop</a:t>
            </a:r>
            <a:r>
              <a:rPr lang="en-US" dirty="0">
                <a:sym typeface="Symbol"/>
              </a:rPr>
              <a:t>(</a:t>
            </a:r>
            <a:r>
              <a:rPr lang="en-US" i="1" dirty="0">
                <a:sym typeface="Symbol"/>
              </a:rPr>
              <a:t>x</a:t>
            </a:r>
            <a:r>
              <a:rPr lang="en-US" dirty="0">
                <a:sym typeface="Symbol"/>
              </a:rPr>
              <a:t>))   (</a:t>
            </a:r>
            <a:r>
              <a:rPr lang="en-US" i="1" dirty="0">
                <a:sym typeface="Symbol"/>
              </a:rPr>
              <a:t>x</a:t>
            </a:r>
            <a:r>
              <a:rPr lang="en-US" dirty="0">
                <a:sym typeface="Symbol"/>
              </a:rPr>
              <a:t>&lt;7)  </a:t>
            </a:r>
            <a:br>
              <a:rPr lang="en-US" dirty="0">
                <a:sym typeface="Symbol"/>
              </a:rPr>
            </a:br>
            <a:r>
              <a:rPr lang="en-US" dirty="0">
                <a:sym typeface="Symbol"/>
              </a:rPr>
              <a:t>                    →  </a:t>
            </a:r>
            <a:r>
              <a:rPr lang="en-US" i="1" dirty="0">
                <a:sym typeface="Symbol"/>
              </a:rPr>
              <a:t>x</a:t>
            </a:r>
            <a:r>
              <a:rPr lang="en-US" dirty="0">
                <a:sym typeface="Symbol"/>
              </a:rPr>
              <a:t>&gt;0  /\  (</a:t>
            </a:r>
            <a:r>
              <a:rPr lang="en-US" i="1" dirty="0">
                <a:sym typeface="Symbol"/>
              </a:rPr>
              <a:t>r </a:t>
            </a:r>
            <a:r>
              <a:rPr lang="en-US" dirty="0">
                <a:sym typeface="Symbol"/>
              </a:rPr>
              <a:t>&lt;</a:t>
            </a:r>
            <a:r>
              <a:rPr lang="en-US" i="1" dirty="0">
                <a:sym typeface="Symbol"/>
              </a:rPr>
              <a:t>x</a:t>
            </a:r>
            <a:r>
              <a:rPr lang="en-US" dirty="0">
                <a:sym typeface="Symbol"/>
              </a:rPr>
              <a:t>  ⇒  </a:t>
            </a:r>
            <a:r>
              <a:rPr lang="en-US" i="1" dirty="0">
                <a:sym typeface="Symbol"/>
              </a:rPr>
              <a:t>r </a:t>
            </a:r>
            <a:r>
              <a:rPr lang="en-US" dirty="0">
                <a:sym typeface="Symbol"/>
              </a:rPr>
              <a:t>&lt; 7)     </a:t>
            </a:r>
          </a:p>
          <a:p>
            <a:pPr marL="273050" lvl="1" indent="-273050">
              <a:spcBef>
                <a:spcPts val="575"/>
              </a:spcBef>
              <a:buClr>
                <a:schemeClr val="accent1"/>
              </a:buClr>
            </a:pPr>
            <a:r>
              <a:rPr lang="en-US" sz="1600" b="1" dirty="0">
                <a:sym typeface="Symbol"/>
              </a:rPr>
              <a:t>                              (assuming </a:t>
            </a:r>
            <a:r>
              <a:rPr lang="en-US" sz="1600" b="1" i="1" dirty="0">
                <a:sym typeface="Symbol"/>
              </a:rPr>
              <a:t>r</a:t>
            </a:r>
            <a:r>
              <a:rPr lang="en-US" sz="1600" b="1" dirty="0">
                <a:sym typeface="Symbol"/>
              </a:rPr>
              <a:t> is fresh!)</a:t>
            </a:r>
          </a:p>
          <a:p>
            <a:pPr marL="273050" lvl="1" indent="-273050">
              <a:spcBef>
                <a:spcPts val="575"/>
              </a:spcBef>
              <a:buClr>
                <a:schemeClr val="accent1"/>
              </a:buClr>
            </a:pPr>
            <a:r>
              <a:rPr lang="en-US" sz="1600" b="1" dirty="0">
                <a:sym typeface="Symbol"/>
              </a:rPr>
              <a:t>Note:</a:t>
            </a:r>
            <a:r>
              <a:rPr lang="en-US" sz="1600" dirty="0">
                <a:sym typeface="Symbol"/>
              </a:rPr>
              <a:t> this allows us to handle call to recursive programs, if they provide specifications (but proving the correctness of a recursive program is still another problem to solve)</a:t>
            </a:r>
            <a:endParaRPr lang="en-US" sz="1600" dirty="0">
              <a:sym typeface="Wingdings" pitchFamily="2" charset="2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48220AE-4ABF-4647-9677-DBC7878747C7}" type="slidenum">
              <a:rPr lang="en-US" smtClean="0"/>
              <a:pPr>
                <a:defRPr/>
              </a:pPr>
              <a:t>58</a:t>
            </a:fld>
            <a:endParaRPr lang="en-US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Arrays</a:t>
            </a:r>
          </a:p>
        </p:txBody>
      </p:sp>
      <p:sp>
        <p:nvSpPr>
          <p:cNvPr id="27651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nl-NL" dirty="0"/>
              <a:t>Arrays in </a:t>
            </a:r>
            <a:r>
              <a:rPr lang="nl-NL" dirty="0" err="1"/>
              <a:t>this</a:t>
            </a:r>
            <a:r>
              <a:rPr lang="nl-NL" dirty="0"/>
              <a:t> GCL are </a:t>
            </a:r>
            <a:r>
              <a:rPr lang="nl-NL" dirty="0" err="1"/>
              <a:t>infinite</a:t>
            </a:r>
            <a:r>
              <a:rPr lang="nl-NL" dirty="0"/>
              <a:t> (but </a:t>
            </a:r>
            <a:r>
              <a:rPr lang="nl-NL" dirty="0" err="1"/>
              <a:t>not</a:t>
            </a:r>
            <a:r>
              <a:rPr lang="nl-NL" dirty="0"/>
              <a:t> in </a:t>
            </a:r>
            <a:r>
              <a:rPr lang="nl-NL" dirty="0" err="1"/>
              <a:t>your</a:t>
            </a:r>
            <a:r>
              <a:rPr lang="nl-NL" dirty="0"/>
              <a:t> project).</a:t>
            </a:r>
          </a:p>
          <a:p>
            <a:r>
              <a:rPr lang="nl-NL" dirty="0"/>
              <a:t> a := b is </a:t>
            </a:r>
            <a:r>
              <a:rPr lang="nl-NL" dirty="0" err="1"/>
              <a:t>assumed</a:t>
            </a:r>
            <a:r>
              <a:rPr lang="nl-NL" dirty="0"/>
              <a:t>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clone</a:t>
            </a:r>
            <a:r>
              <a:rPr lang="nl-NL" dirty="0"/>
              <a:t> b </a:t>
            </a:r>
            <a:r>
              <a:rPr lang="nl-NL" dirty="0" err="1"/>
              <a:t>into</a:t>
            </a:r>
            <a:r>
              <a:rPr lang="nl-NL" dirty="0"/>
              <a:t> a.</a:t>
            </a:r>
          </a:p>
          <a:p>
            <a:r>
              <a:rPr lang="nl-NL" dirty="0"/>
              <a:t>Introduce the notation a(i </a:t>
            </a:r>
            <a:r>
              <a:rPr lang="nl-NL" b="1" dirty="0"/>
              <a:t>repby</a:t>
            </a:r>
            <a:r>
              <a:rPr lang="nl-NL" dirty="0"/>
              <a:t> e) to denote a clone of  the array a</a:t>
            </a:r>
            <a:r>
              <a:rPr lang="nl-NL" i="1" dirty="0"/>
              <a:t>, </a:t>
            </a:r>
            <a:r>
              <a:rPr lang="nl-NL" dirty="0"/>
              <a:t>but differs at i-th element, which now has the value e.  </a:t>
            </a:r>
            <a:r>
              <a:rPr lang="nl-NL" dirty="0">
                <a:solidFill>
                  <a:srgbClr val="FF0000"/>
                </a:solidFill>
              </a:rPr>
              <a:t>See LN, Rule 2.6.12</a:t>
            </a:r>
            <a:r>
              <a:rPr lang="nl-NL" dirty="0"/>
              <a:t>.</a:t>
            </a:r>
          </a:p>
          <a:p>
            <a:r>
              <a:rPr lang="nl-NL" dirty="0"/>
              <a:t>Treat  a[i] := e  as  a := a(i </a:t>
            </a:r>
            <a:r>
              <a:rPr lang="nl-NL" b="1" dirty="0"/>
              <a:t>repby</a:t>
            </a:r>
            <a:r>
              <a:rPr lang="nl-NL" dirty="0"/>
              <a:t> e) </a:t>
            </a:r>
          </a:p>
          <a:p>
            <a:r>
              <a:rPr lang="nl-NL" dirty="0"/>
              <a:t>Example :</a:t>
            </a:r>
            <a:br>
              <a:rPr lang="nl-NL" dirty="0"/>
            </a:br>
            <a:r>
              <a:rPr lang="nl-NL" dirty="0"/>
              <a:t>     </a:t>
            </a:r>
            <a:r>
              <a:rPr lang="nl-NL" b="1" dirty="0"/>
              <a:t>wlp  </a:t>
            </a:r>
            <a:r>
              <a:rPr lang="nl-NL" dirty="0"/>
              <a:t>(a[i] := 0)  (a[i] = a[3])</a:t>
            </a:r>
          </a:p>
          <a:p>
            <a:endParaRPr lang="nl-NL" dirty="0"/>
          </a:p>
          <a:p>
            <a:r>
              <a:rPr lang="nl-NL" dirty="0"/>
              <a:t>Encode  a[i] := 0  in an RL language e.g. as :</a:t>
            </a:r>
            <a:br>
              <a:rPr lang="nl-NL" dirty="0"/>
            </a:br>
            <a:br>
              <a:rPr lang="nl-NL" dirty="0"/>
            </a:br>
            <a:r>
              <a:rPr lang="nl-NL" dirty="0"/>
              <a:t>     </a:t>
            </a:r>
            <a:r>
              <a:rPr lang="nl-NL" b="1" dirty="0"/>
              <a:t>assert</a:t>
            </a:r>
            <a:r>
              <a:rPr lang="nl-NL" dirty="0"/>
              <a:t> 0</a:t>
            </a:r>
            <a:r>
              <a:rPr lang="nl-NL" dirty="0">
                <a:sym typeface="Symbol"/>
              </a:rPr>
              <a:t> i &lt; #a  ; </a:t>
            </a:r>
            <a:r>
              <a:rPr lang="nl-NL" dirty="0"/>
              <a:t>a[i] := 0</a:t>
            </a:r>
            <a:r>
              <a:rPr lang="nl-NL" dirty="0">
                <a:sym typeface="Symbol"/>
              </a:rPr>
              <a:t>  </a:t>
            </a:r>
            <a:endParaRPr lang="nl-NL" dirty="0"/>
          </a:p>
          <a:p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34DB6D4-C1C6-4E67-9953-9695918C5348}" type="slidenum">
              <a:rPr lang="en-US" smtClean="0"/>
              <a:pPr>
                <a:defRPr/>
              </a:pPr>
              <a:t>59</a:t>
            </a:fld>
            <a:endParaRPr lang="en-US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CA5A05-2E58-824E-AC6D-93868740AE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Array assignments trigger cases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B45085-1418-6347-96BB-47AD2D4439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328156"/>
            <a:ext cx="7772400" cy="4621427"/>
          </a:xfrm>
        </p:spPr>
        <p:txBody>
          <a:bodyPr>
            <a:normAutofit fontScale="85000" lnSpcReduction="10000"/>
          </a:bodyPr>
          <a:lstStyle/>
          <a:p>
            <a:r>
              <a:rPr lang="en-US" dirty="0"/>
              <a:t>Consider </a:t>
            </a:r>
            <a:r>
              <a:rPr lang="en-US" dirty="0" err="1"/>
              <a:t>wlp</a:t>
            </a:r>
            <a:r>
              <a:rPr lang="en-US" dirty="0"/>
              <a:t> calculation of: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For each array expression in the post-condition, each array assignment adds a nested conditional expression. Above this leads to 3 cases that the back-end prover must consider. If the post-</a:t>
            </a:r>
            <a:r>
              <a:rPr lang="en-US" dirty="0" err="1"/>
              <a:t>cond</a:t>
            </a:r>
            <a:r>
              <a:rPr lang="en-US" dirty="0"/>
              <a:t> has one more array expression, it will create its own 3 cases. In combination with the first, now there are 3x3 cases to consider!</a:t>
            </a:r>
          </a:p>
          <a:p>
            <a:pPr marL="0" indent="0">
              <a:buNone/>
            </a:pPr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DC7CDF-7C44-EB48-B8DE-E84838587C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8A332FB-769C-4CBB-BDDE-0DC26211CC04}" type="slidenum">
              <a:rPr lang="en-US" smtClean="0"/>
              <a:pPr>
                <a:defRPr/>
              </a:pPr>
              <a:t>60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502F9CC-763D-684D-960C-4C8BB0CE61F1}"/>
              </a:ext>
            </a:extLst>
          </p:cNvPr>
          <p:cNvSpPr txBox="1"/>
          <p:nvPr/>
        </p:nvSpPr>
        <p:spPr>
          <a:xfrm>
            <a:off x="5776263" y="1838332"/>
            <a:ext cx="2050561" cy="1569660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{a[k+1]=2}   </a:t>
            </a:r>
          </a:p>
          <a:p>
            <a:pPr algn="ctr"/>
            <a:r>
              <a:rPr lang="en-US" dirty="0"/>
              <a:t>   a[k] := 1 ;    </a:t>
            </a:r>
          </a:p>
          <a:p>
            <a:pPr algn="ctr"/>
            <a:r>
              <a:rPr lang="en-US" dirty="0"/>
              <a:t>a[1] := 2   </a:t>
            </a:r>
          </a:p>
          <a:p>
            <a:pPr algn="ctr"/>
            <a:r>
              <a:rPr lang="en-US" dirty="0"/>
              <a:t>{  </a:t>
            </a:r>
            <a:r>
              <a:rPr lang="en-US" b="1" dirty="0">
                <a:solidFill>
                  <a:srgbClr val="0070C0"/>
                </a:solidFill>
              </a:rPr>
              <a:t>a[k+1] </a:t>
            </a:r>
            <a:r>
              <a:rPr lang="en-US" dirty="0"/>
              <a:t>= 2 }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19784B4-76A9-3745-A80D-C65712104EE6}"/>
              </a:ext>
            </a:extLst>
          </p:cNvPr>
          <p:cNvSpPr txBox="1"/>
          <p:nvPr/>
        </p:nvSpPr>
        <p:spPr>
          <a:xfrm>
            <a:off x="1845587" y="2740904"/>
            <a:ext cx="3472425" cy="46166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(k+1=1 ➝ 2 | a[k+1])  </a:t>
            </a:r>
            <a:r>
              <a:rPr lang="en-US" dirty="0"/>
              <a:t>= 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CCAAD67-378B-0F42-97CD-9CCADD859DBC}"/>
              </a:ext>
            </a:extLst>
          </p:cNvPr>
          <p:cNvSpPr txBox="1"/>
          <p:nvPr/>
        </p:nvSpPr>
        <p:spPr>
          <a:xfrm>
            <a:off x="101368" y="1992137"/>
            <a:ext cx="5360763" cy="46166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(k+1=1 ➝ 2 | (k+1=k ➝ 1 | a[k+1]))  </a:t>
            </a:r>
            <a:r>
              <a:rPr lang="en-US" dirty="0"/>
              <a:t>= 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57FFD44-7C0B-1246-AD38-C7B151734E43}"/>
              </a:ext>
            </a:extLst>
          </p:cNvPr>
          <p:cNvSpPr txBox="1"/>
          <p:nvPr/>
        </p:nvSpPr>
        <p:spPr>
          <a:xfrm>
            <a:off x="5610833" y="1838332"/>
            <a:ext cx="338554" cy="156966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0</a:t>
            </a:r>
          </a:p>
          <a:p>
            <a:pPr algn="ctr"/>
            <a:r>
              <a:rPr lang="en-US" dirty="0"/>
              <a:t>1</a:t>
            </a:r>
          </a:p>
          <a:p>
            <a:pPr algn="ctr"/>
            <a:r>
              <a:rPr lang="en-US" dirty="0"/>
              <a:t>2</a:t>
            </a:r>
          </a:p>
          <a:p>
            <a:pPr algn="ctr"/>
            <a:r>
              <a:rPr lang="en-US" dirty="0"/>
              <a:t>3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74797937-4EBB-6644-944A-9CB0B2A9E2D6}"/>
              </a:ext>
            </a:extLst>
          </p:cNvPr>
          <p:cNvCxnSpPr>
            <a:cxnSpLocks/>
            <a:endCxn id="7" idx="3"/>
          </p:cNvCxnSpPr>
          <p:nvPr/>
        </p:nvCxnSpPr>
        <p:spPr>
          <a:xfrm flipH="1">
            <a:off x="5318012" y="2853443"/>
            <a:ext cx="292821" cy="1182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C86A1A9A-99E2-1E46-8F8E-395075E4AF62}"/>
              </a:ext>
            </a:extLst>
          </p:cNvPr>
          <p:cNvCxnSpPr>
            <a:cxnSpLocks/>
            <a:endCxn id="8" idx="3"/>
          </p:cNvCxnSpPr>
          <p:nvPr/>
        </p:nvCxnSpPr>
        <p:spPr>
          <a:xfrm flipH="1" flipV="1">
            <a:off x="5462131" y="2222970"/>
            <a:ext cx="292821" cy="2308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66556873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CA5A05-2E58-824E-AC6D-93868740AE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Array assignments trigger cases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B45085-1418-6347-96BB-47AD2D4439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1413" y="1328156"/>
            <a:ext cx="8006787" cy="4621427"/>
          </a:xfrm>
        </p:spPr>
        <p:txBody>
          <a:bodyPr>
            <a:normAutofit/>
          </a:bodyPr>
          <a:lstStyle/>
          <a:p>
            <a:r>
              <a:rPr lang="en-US" dirty="0"/>
              <a:t>Consider again this </a:t>
            </a:r>
            <a:r>
              <a:rPr lang="en-US" dirty="0" err="1"/>
              <a:t>wlp</a:t>
            </a:r>
            <a:r>
              <a:rPr lang="en-US" dirty="0"/>
              <a:t> calculation of: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DC7CDF-7C44-EB48-B8DE-E84838587C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8A332FB-769C-4CBB-BDDE-0DC26211CC04}" type="slidenum">
              <a:rPr lang="en-US" smtClean="0"/>
              <a:pPr>
                <a:defRPr/>
              </a:pPr>
              <a:t>61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502F9CC-763D-684D-960C-4C8BB0CE61F1}"/>
              </a:ext>
            </a:extLst>
          </p:cNvPr>
          <p:cNvSpPr txBox="1"/>
          <p:nvPr/>
        </p:nvSpPr>
        <p:spPr>
          <a:xfrm>
            <a:off x="5776264" y="1838332"/>
            <a:ext cx="2050562" cy="1569660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{ a[k+1]=2 }   </a:t>
            </a:r>
          </a:p>
          <a:p>
            <a:pPr algn="ctr"/>
            <a:r>
              <a:rPr lang="en-US" dirty="0"/>
              <a:t>   a[k] := 1 ;    </a:t>
            </a:r>
          </a:p>
          <a:p>
            <a:pPr algn="ctr"/>
            <a:r>
              <a:rPr lang="en-US" dirty="0"/>
              <a:t>a[1] := 2   </a:t>
            </a:r>
          </a:p>
          <a:p>
            <a:pPr algn="ctr"/>
            <a:r>
              <a:rPr lang="en-US" dirty="0"/>
              <a:t>{  </a:t>
            </a:r>
            <a:r>
              <a:rPr lang="en-US" b="1" dirty="0">
                <a:solidFill>
                  <a:srgbClr val="0070C0"/>
                </a:solidFill>
              </a:rPr>
              <a:t>a[k+1] </a:t>
            </a:r>
            <a:r>
              <a:rPr lang="en-US" dirty="0"/>
              <a:t>= 2 }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57FFD44-7C0B-1246-AD38-C7B151734E43}"/>
              </a:ext>
            </a:extLst>
          </p:cNvPr>
          <p:cNvSpPr txBox="1"/>
          <p:nvPr/>
        </p:nvSpPr>
        <p:spPr>
          <a:xfrm>
            <a:off x="5610833" y="1838332"/>
            <a:ext cx="338554" cy="156966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0</a:t>
            </a:r>
          </a:p>
          <a:p>
            <a:pPr algn="ctr"/>
            <a:r>
              <a:rPr lang="en-US" dirty="0"/>
              <a:t>1</a:t>
            </a:r>
          </a:p>
          <a:p>
            <a:pPr algn="ctr"/>
            <a:r>
              <a:rPr lang="en-US" dirty="0"/>
              <a:t>2</a:t>
            </a:r>
          </a:p>
          <a:p>
            <a:pPr algn="ctr"/>
            <a:r>
              <a:rPr lang="en-US" dirty="0"/>
              <a:t>3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F66C3D0-437F-D24D-8E7B-583045E36C99}"/>
              </a:ext>
            </a:extLst>
          </p:cNvPr>
          <p:cNvSpPr txBox="1"/>
          <p:nvPr/>
        </p:nvSpPr>
        <p:spPr>
          <a:xfrm>
            <a:off x="451413" y="3958542"/>
            <a:ext cx="834534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We can reduce/simplify </a:t>
            </a:r>
            <a:r>
              <a:rPr lang="en-US" b="1" dirty="0"/>
              <a:t>this</a:t>
            </a:r>
            <a:r>
              <a:rPr lang="en-US" dirty="0"/>
              <a:t>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Simplifying cost effort.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4D1AECD8-706A-9340-B4E1-8096C9B967DF}"/>
              </a:ext>
            </a:extLst>
          </p:cNvPr>
          <p:cNvCxnSpPr>
            <a:cxnSpLocks/>
          </p:cNvCxnSpPr>
          <p:nvPr/>
        </p:nvCxnSpPr>
        <p:spPr>
          <a:xfrm flipH="1" flipV="1">
            <a:off x="2697480" y="2481214"/>
            <a:ext cx="1365235" cy="16162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DA67DAB5-2008-CE4B-96C4-62C6F6BA7951}"/>
              </a:ext>
            </a:extLst>
          </p:cNvPr>
          <p:cNvSpPr txBox="1"/>
          <p:nvPr/>
        </p:nvSpPr>
        <p:spPr>
          <a:xfrm>
            <a:off x="1845587" y="2740904"/>
            <a:ext cx="3472425" cy="46166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(k+1=1 ➝ 2 | a[k+1])  </a:t>
            </a:r>
            <a:r>
              <a:rPr lang="en-US" dirty="0"/>
              <a:t>= 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59B1109-1581-BA4F-892E-06908156804D}"/>
              </a:ext>
            </a:extLst>
          </p:cNvPr>
          <p:cNvSpPr txBox="1"/>
          <p:nvPr/>
        </p:nvSpPr>
        <p:spPr>
          <a:xfrm>
            <a:off x="167354" y="2033631"/>
            <a:ext cx="5360763" cy="46166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(k+1=1 ➝ 2 | (k+1=k ➝ 1 | a[k+1]))  </a:t>
            </a:r>
            <a:r>
              <a:rPr lang="en-US" dirty="0"/>
              <a:t>= 2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D6D3FFB8-70A6-7F44-BDBA-D1FE58DC19A2}"/>
              </a:ext>
            </a:extLst>
          </p:cNvPr>
          <p:cNvCxnSpPr>
            <a:cxnSpLocks/>
            <a:endCxn id="14" idx="3"/>
          </p:cNvCxnSpPr>
          <p:nvPr/>
        </p:nvCxnSpPr>
        <p:spPr>
          <a:xfrm flipH="1">
            <a:off x="5318012" y="2853443"/>
            <a:ext cx="292821" cy="1182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DE7372F5-F3AF-1D45-AD79-9930BB464A8F}"/>
              </a:ext>
            </a:extLst>
          </p:cNvPr>
          <p:cNvCxnSpPr>
            <a:cxnSpLocks/>
            <a:endCxn id="15" idx="3"/>
          </p:cNvCxnSpPr>
          <p:nvPr/>
        </p:nvCxnSpPr>
        <p:spPr>
          <a:xfrm flipH="1" flipV="1">
            <a:off x="5528117" y="2264464"/>
            <a:ext cx="165431" cy="20373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88988271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Introduce ‘heap’ H : [</a:t>
            </a:r>
            <a:r>
              <a:rPr lang="en-US" dirty="0" err="1"/>
              <a:t>int</a:t>
            </a:r>
            <a:r>
              <a:rPr lang="en-US" dirty="0"/>
              <a:t>][fieldname] </a:t>
            </a:r>
            <a:r>
              <a:rPr lang="en-US" dirty="0">
                <a:sym typeface="Symbol"/>
              </a:rPr>
              <a:t>  value</a:t>
            </a:r>
          </a:p>
          <a:p>
            <a:r>
              <a:rPr lang="en-US" dirty="0">
                <a:sym typeface="Symbol"/>
              </a:rPr>
              <a:t>We may want to introduce one heap for each Class; but let’s ignore this here.</a:t>
            </a:r>
          </a:p>
          <a:p>
            <a:r>
              <a:rPr lang="en-US" dirty="0">
                <a:sym typeface="Symbol"/>
              </a:rPr>
              <a:t>N, representing the number of existing objects.</a:t>
            </a:r>
          </a:p>
          <a:p>
            <a:r>
              <a:rPr lang="en-US" dirty="0">
                <a:sym typeface="Symbol"/>
              </a:rPr>
              <a:t>Objects are stored in H[0] ... H[N-1]</a:t>
            </a:r>
          </a:p>
          <a:p>
            <a:r>
              <a:rPr lang="en-US" dirty="0">
                <a:sym typeface="Symbol"/>
              </a:rPr>
              <a:t>Two types of values : primitive values, or reference to an object.</a:t>
            </a:r>
          </a:p>
          <a:p>
            <a:r>
              <a:rPr lang="en-US" dirty="0">
                <a:sym typeface="Symbol"/>
              </a:rPr>
              <a:t>Encoding :</a:t>
            </a:r>
          </a:p>
          <a:p>
            <a:pPr lvl="1"/>
            <a:r>
              <a:rPr lang="en-US" dirty="0">
                <a:sym typeface="Symbol"/>
              </a:rPr>
              <a:t>x := o    ,  unchanged, but note o is thus an </a:t>
            </a:r>
            <a:r>
              <a:rPr lang="en-US" dirty="0" err="1">
                <a:sym typeface="Symbol"/>
              </a:rPr>
              <a:t>int</a:t>
            </a:r>
            <a:endParaRPr lang="en-US" dirty="0">
              <a:sym typeface="Symbol"/>
            </a:endParaRPr>
          </a:p>
          <a:p>
            <a:pPr lvl="1"/>
            <a:r>
              <a:rPr lang="en-US" dirty="0" err="1">
                <a:sym typeface="Symbol"/>
              </a:rPr>
              <a:t>o.fn</a:t>
            </a:r>
            <a:r>
              <a:rPr lang="en-US" dirty="0">
                <a:sym typeface="Symbol"/>
              </a:rPr>
              <a:t> := 3  is encoded by H[o][fn] := 3</a:t>
            </a:r>
          </a:p>
          <a:p>
            <a:pPr lvl="1"/>
            <a:r>
              <a:rPr lang="en-US" dirty="0">
                <a:sym typeface="Symbol"/>
              </a:rPr>
              <a:t>Suppose C has a single </a:t>
            </a:r>
            <a:r>
              <a:rPr lang="en-US" dirty="0" err="1">
                <a:sym typeface="Symbol"/>
              </a:rPr>
              <a:t>int</a:t>
            </a:r>
            <a:r>
              <a:rPr lang="en-US" dirty="0">
                <a:sym typeface="Symbol"/>
              </a:rPr>
              <a:t>-field named a </a:t>
            </a:r>
            <a:br>
              <a:rPr lang="en-US" dirty="0">
                <a:sym typeface="Symbol"/>
              </a:rPr>
            </a:br>
            <a:br>
              <a:rPr lang="en-US" dirty="0">
                <a:sym typeface="Symbol"/>
              </a:rPr>
            </a:br>
            <a:r>
              <a:rPr lang="en-US" dirty="0">
                <a:sym typeface="Symbol"/>
              </a:rPr>
              <a:t>x = </a:t>
            </a:r>
            <a:r>
              <a:rPr lang="en-US" b="1" dirty="0">
                <a:sym typeface="Symbol"/>
              </a:rPr>
              <a:t>new</a:t>
            </a:r>
            <a:r>
              <a:rPr lang="en-US" dirty="0">
                <a:sym typeface="Symbol"/>
              </a:rPr>
              <a:t> C()  is encoded by  { H[N][a] := 0 ; x:=N ; N++ }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48220AE-4ABF-4647-9677-DBC7878747C7}" type="slidenum">
              <a:rPr lang="en-US" smtClean="0"/>
              <a:pPr>
                <a:defRPr/>
              </a:pPr>
              <a:t>62</a:t>
            </a:fld>
            <a:endParaRPr lang="en-US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Methods</a:t>
            </a:r>
          </a:p>
        </p:txBody>
      </p:sp>
      <p:sp>
        <p:nvSpPr>
          <p:cNvPr id="28675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dirty="0"/>
              <a:t>Let m(x|r) be a method of class C. It implicitly has the instance-object and the whole heap as input and output parameter.</a:t>
            </a:r>
          </a:p>
          <a:p>
            <a:r>
              <a:rPr lang="nl-NL" dirty="0"/>
              <a:t>Example:  </a:t>
            </a:r>
            <a:r>
              <a:rPr lang="nl-NL" b="1" dirty="0"/>
              <a:t>class</a:t>
            </a:r>
            <a:r>
              <a:rPr lang="nl-NL" dirty="0"/>
              <a:t> C {  a:int </a:t>
            </a:r>
            <a:br>
              <a:rPr lang="nl-NL" dirty="0"/>
            </a:br>
            <a:r>
              <a:rPr lang="nl-NL" dirty="0"/>
              <a:t>                                 inc(d) { </a:t>
            </a:r>
            <a:r>
              <a:rPr lang="nl-NL" b="1" dirty="0"/>
              <a:t>this</a:t>
            </a:r>
            <a:r>
              <a:rPr lang="nl-NL" dirty="0"/>
              <a:t>.a := </a:t>
            </a:r>
            <a:r>
              <a:rPr lang="nl-NL" b="1" dirty="0"/>
              <a:t>this</a:t>
            </a:r>
            <a:r>
              <a:rPr lang="nl-NL" dirty="0"/>
              <a:t>.a+d ; } }</a:t>
            </a:r>
            <a:br>
              <a:rPr lang="nl-NL" dirty="0"/>
            </a:br>
            <a:br>
              <a:rPr lang="nl-NL" dirty="0"/>
            </a:br>
            <a:r>
              <a:rPr lang="nl-NL" dirty="0"/>
              <a:t>The method is translated to:</a:t>
            </a:r>
            <a:br>
              <a:rPr lang="nl-NL" dirty="0"/>
            </a:br>
            <a:br>
              <a:rPr lang="nl-NL" dirty="0"/>
            </a:br>
            <a:r>
              <a:rPr lang="nl-NL" dirty="0"/>
              <a:t>inc(</a:t>
            </a:r>
            <a:r>
              <a:rPr lang="nl-NL" dirty="0" err="1"/>
              <a:t>this,H,d</a:t>
            </a:r>
            <a:r>
              <a:rPr lang="nl-NL" dirty="0"/>
              <a:t> | H’) { H[this][a] := H[this][a] + d ;</a:t>
            </a:r>
            <a:br>
              <a:rPr lang="nl-NL" dirty="0"/>
            </a:br>
            <a:r>
              <a:rPr lang="nl-NL" dirty="0"/>
              <a:t>                             H’ := H }</a:t>
            </a:r>
          </a:p>
          <a:p>
            <a:endParaRPr lang="nl-NL" dirty="0"/>
          </a:p>
          <a:p>
            <a:r>
              <a:rPr lang="nl-NL" dirty="0"/>
              <a:t>call o.inc(3)  is translated to ... ?</a:t>
            </a:r>
          </a:p>
          <a:p>
            <a:pPr>
              <a:buNone/>
            </a:pPr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A252B93-4650-4517-908C-4B80298C5FCB}" type="slidenum">
              <a:rPr lang="en-US" smtClean="0"/>
              <a:pPr>
                <a:defRPr/>
              </a:pPr>
              <a:t>63</a:t>
            </a:fld>
            <a:endParaRPr lang="en-US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F000A2-D478-5016-302D-87280B6F61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L" dirty="0"/>
              <a:t>excEption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735CE4-7EA5-0CA3-4F8F-004B1CB565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NL" dirty="0"/>
              <a:t>In an actual language, many expressions can throw an exception, e.g x/y if y happens to be zero.</a:t>
            </a:r>
          </a:p>
          <a:p>
            <a:endParaRPr lang="en-NL" dirty="0"/>
          </a:p>
          <a:p>
            <a:r>
              <a:rPr lang="en-NL" dirty="0"/>
              <a:t>Consider this try-catch extension to GCL:   </a:t>
            </a:r>
            <a:r>
              <a:rPr lang="en-NL" i="1" dirty="0">
                <a:highlight>
                  <a:srgbClr val="FFFF00"/>
                </a:highlight>
              </a:rPr>
              <a:t>S</a:t>
            </a:r>
            <a:r>
              <a:rPr lang="en-NL" dirty="0">
                <a:highlight>
                  <a:srgbClr val="FFFF00"/>
                </a:highlight>
              </a:rPr>
              <a:t> ! </a:t>
            </a:r>
            <a:r>
              <a:rPr lang="en-NL" i="1" dirty="0">
                <a:highlight>
                  <a:srgbClr val="FFFF00"/>
                </a:highlight>
              </a:rPr>
              <a:t>H</a:t>
            </a:r>
            <a:r>
              <a:rPr lang="en-NL" dirty="0"/>
              <a:t>, execute the statement </a:t>
            </a:r>
            <a:r>
              <a:rPr lang="en-NL" i="1" dirty="0"/>
              <a:t>S</a:t>
            </a:r>
            <a:r>
              <a:rPr lang="en-NL" dirty="0"/>
              <a:t>. If this throws an exception, jump to the handler </a:t>
            </a:r>
            <a:r>
              <a:rPr lang="en-NL" i="1" dirty="0"/>
              <a:t>H</a:t>
            </a:r>
            <a:r>
              <a:rPr lang="en-NL" dirty="0"/>
              <a:t>.</a:t>
            </a:r>
          </a:p>
          <a:p>
            <a:endParaRPr lang="en-NL" dirty="0"/>
          </a:p>
          <a:p>
            <a:r>
              <a:rPr lang="en-NL" dirty="0"/>
              <a:t>We also add the statement </a:t>
            </a:r>
            <a:r>
              <a:rPr lang="en-NL" b="1" dirty="0">
                <a:highlight>
                  <a:srgbClr val="FFFF00"/>
                </a:highlight>
              </a:rPr>
              <a:t>raise</a:t>
            </a:r>
            <a:r>
              <a:rPr lang="en-NL" dirty="0"/>
              <a:t>, to throw an exception. To keep it simple, there is only one type of exception.</a:t>
            </a:r>
          </a:p>
          <a:p>
            <a:endParaRPr lang="en-NL" dirty="0"/>
          </a:p>
          <a:p>
            <a:r>
              <a:rPr lang="en-NL" dirty="0"/>
              <a:t>Calculating wlp is now more complicated, because </a:t>
            </a:r>
            <a:r>
              <a:rPr lang="en-NL" b="1" dirty="0"/>
              <a:t>raise</a:t>
            </a:r>
            <a:r>
              <a:rPr lang="en-NL" dirty="0"/>
              <a:t> can cause a jump in the execution.</a:t>
            </a:r>
            <a:br>
              <a:rPr lang="en-NL" dirty="0"/>
            </a:br>
            <a:br>
              <a:rPr lang="en-NL" dirty="0"/>
            </a:br>
            <a:endParaRPr lang="en-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8DDBD4-E8F7-AB5E-77C2-382C112FAE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8A332FB-769C-4CBB-BDDE-0DC26211CC04}" type="slidenum">
              <a:rPr lang="en-US" smtClean="0"/>
              <a:pPr>
                <a:defRPr/>
              </a:pPr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6650760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Assignments and guards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1295400"/>
            <a:ext cx="8382000" cy="4724400"/>
          </a:xfrm>
        </p:spPr>
        <p:txBody>
          <a:bodyPr>
            <a:normAutofit/>
          </a:bodyPr>
          <a:lstStyle/>
          <a:p>
            <a:r>
              <a:rPr lang="en-US" dirty="0"/>
              <a:t>When reasoning about programs, we can either insist that they do not throw an exception. We can do this by adding “asserts”. E.g. :</a:t>
            </a:r>
            <a:br>
              <a:rPr lang="en-US" dirty="0"/>
            </a:br>
            <a:br>
              <a:rPr lang="en-US" dirty="0"/>
            </a:br>
            <a:r>
              <a:rPr lang="en-US" dirty="0"/>
              <a:t>	x := a[k]/y</a:t>
            </a:r>
            <a:br>
              <a:rPr lang="en-US" dirty="0"/>
            </a:br>
            <a:br>
              <a:rPr lang="en-US" dirty="0"/>
            </a:br>
            <a:r>
              <a:rPr lang="en-US" dirty="0"/>
              <a:t>is transformed to:</a:t>
            </a:r>
            <a:br>
              <a:rPr lang="en-US" dirty="0"/>
            </a:br>
            <a:br>
              <a:rPr lang="en-US" dirty="0"/>
            </a:br>
            <a:r>
              <a:rPr lang="en-US" dirty="0"/>
              <a:t>    </a:t>
            </a:r>
            <a:r>
              <a:rPr lang="en-US" b="1" dirty="0"/>
              <a:t>assert</a:t>
            </a:r>
            <a:r>
              <a:rPr lang="en-US" dirty="0"/>
              <a:t> 0≤k&lt;</a:t>
            </a:r>
            <a:r>
              <a:rPr lang="en-US" dirty="0">
                <a:sym typeface="Symbol"/>
              </a:rPr>
              <a:t>#a ; </a:t>
            </a:r>
            <a:br>
              <a:rPr lang="en-US" dirty="0">
                <a:sym typeface="Symbol"/>
              </a:rPr>
            </a:br>
            <a:r>
              <a:rPr lang="en-US" dirty="0">
                <a:sym typeface="Symbol"/>
              </a:rPr>
              <a:t>    </a:t>
            </a:r>
            <a:r>
              <a:rPr lang="en-US" b="1" dirty="0">
                <a:sym typeface="Symbol"/>
              </a:rPr>
              <a:t>assert</a:t>
            </a:r>
            <a:r>
              <a:rPr lang="en-US" dirty="0">
                <a:sym typeface="Symbol"/>
              </a:rPr>
              <a:t> y≠0 ; </a:t>
            </a:r>
            <a:br>
              <a:rPr lang="en-US" dirty="0">
                <a:sym typeface="Symbol"/>
              </a:rPr>
            </a:br>
            <a:r>
              <a:rPr lang="en-US" dirty="0"/>
              <a:t>    x := a[k]/y  ;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Similar situation with guards in </a:t>
            </a:r>
            <a:r>
              <a:rPr lang="en-US" dirty="0" err="1"/>
              <a:t>ite</a:t>
            </a:r>
            <a:r>
              <a:rPr lang="en-US" dirty="0"/>
              <a:t> and loop.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48220AE-4ABF-4647-9677-DBC7878747C7}" type="slidenum">
              <a:rPr lang="en-US" smtClean="0"/>
              <a:pPr>
                <a:defRPr/>
              </a:pPr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356205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Assignments and guards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0034" y="1447800"/>
            <a:ext cx="8643966" cy="4572000"/>
          </a:xfrm>
        </p:spPr>
        <p:txBody>
          <a:bodyPr/>
          <a:lstStyle/>
          <a:p>
            <a:r>
              <a:rPr lang="en-US" dirty="0"/>
              <a:t>Or we model exception throwing executions.  E.g. :</a:t>
            </a:r>
            <a:br>
              <a:rPr lang="en-US" dirty="0"/>
            </a:br>
            <a:br>
              <a:rPr lang="en-US" dirty="0"/>
            </a:br>
            <a:r>
              <a:rPr lang="en-US" dirty="0"/>
              <a:t>                x := a[k]/y</a:t>
            </a:r>
            <a:br>
              <a:rPr lang="en-US" dirty="0"/>
            </a:br>
            <a:br>
              <a:rPr lang="en-US" dirty="0"/>
            </a:br>
            <a:r>
              <a:rPr lang="en-US" dirty="0"/>
              <a:t>is then transformed to  :</a:t>
            </a:r>
          </a:p>
          <a:p>
            <a:pPr marL="0" indent="0">
              <a:buNone/>
            </a:pPr>
            <a:br>
              <a:rPr lang="en-US" dirty="0"/>
            </a:br>
            <a:r>
              <a:rPr lang="en-US" dirty="0"/>
              <a:t>    </a:t>
            </a:r>
            <a:r>
              <a:rPr lang="en-US" b="1" dirty="0"/>
              <a:t>if</a:t>
            </a:r>
            <a:r>
              <a:rPr lang="en-US" dirty="0"/>
              <a:t> k</a:t>
            </a:r>
            <a:r>
              <a:rPr lang="en-US" dirty="0">
                <a:sym typeface="Symbol"/>
              </a:rPr>
              <a:t>&lt;0 \/ k#a  </a:t>
            </a:r>
            <a:r>
              <a:rPr lang="en-US" b="1" dirty="0">
                <a:sym typeface="Symbol"/>
              </a:rPr>
              <a:t>then</a:t>
            </a:r>
            <a:r>
              <a:rPr lang="en-US" dirty="0">
                <a:sym typeface="Symbol"/>
              </a:rPr>
              <a:t> </a:t>
            </a:r>
            <a:r>
              <a:rPr lang="en-US" b="1" dirty="0">
                <a:sym typeface="Symbol"/>
              </a:rPr>
              <a:t>raise</a:t>
            </a:r>
            <a:r>
              <a:rPr lang="en-US" dirty="0">
                <a:sym typeface="Symbol"/>
              </a:rPr>
              <a:t> ; </a:t>
            </a:r>
            <a:br>
              <a:rPr lang="en-US" dirty="0">
                <a:sym typeface="Symbol"/>
              </a:rPr>
            </a:br>
            <a:r>
              <a:rPr lang="en-US" dirty="0">
                <a:sym typeface="Symbol"/>
              </a:rPr>
              <a:t>    </a:t>
            </a:r>
            <a:r>
              <a:rPr lang="en-US" b="1" dirty="0">
                <a:sym typeface="Symbol"/>
              </a:rPr>
              <a:t>if</a:t>
            </a:r>
            <a:r>
              <a:rPr lang="en-US" dirty="0">
                <a:sym typeface="Symbol"/>
              </a:rPr>
              <a:t> y=0                </a:t>
            </a:r>
            <a:r>
              <a:rPr lang="en-US" b="1" dirty="0">
                <a:sym typeface="Symbol"/>
              </a:rPr>
              <a:t>then</a:t>
            </a:r>
            <a:r>
              <a:rPr lang="en-US" dirty="0">
                <a:sym typeface="Symbol"/>
              </a:rPr>
              <a:t> </a:t>
            </a:r>
            <a:r>
              <a:rPr lang="en-US" b="1" dirty="0">
                <a:sym typeface="Symbol"/>
              </a:rPr>
              <a:t>raise</a:t>
            </a:r>
            <a:r>
              <a:rPr lang="en-US" dirty="0">
                <a:sym typeface="Symbol"/>
              </a:rPr>
              <a:t> ; </a:t>
            </a:r>
            <a:br>
              <a:rPr lang="en-US" dirty="0">
                <a:sym typeface="Symbol"/>
              </a:rPr>
            </a:br>
            <a:r>
              <a:rPr lang="en-US" dirty="0"/>
              <a:t>    x := a[k]/y  ;</a:t>
            </a:r>
          </a:p>
          <a:p>
            <a:endParaRPr lang="en-US" dirty="0"/>
          </a:p>
          <a:p>
            <a:r>
              <a:rPr lang="en-US" dirty="0"/>
              <a:t>Similar situation with guards in </a:t>
            </a:r>
            <a:r>
              <a:rPr lang="en-US" dirty="0" err="1"/>
              <a:t>ite</a:t>
            </a:r>
            <a:r>
              <a:rPr lang="en-US" dirty="0"/>
              <a:t> and loop.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48220AE-4ABF-4647-9677-DBC7878747C7}" type="slidenum">
              <a:rPr lang="en-US" smtClean="0"/>
              <a:pPr>
                <a:defRPr/>
              </a:pPr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0082773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Exception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/>
              <a:t>Exception introduces non-standard flow of execution, which are often error prone, hence it is a good idea to verify exceptional flows.</a:t>
            </a:r>
          </a:p>
          <a:p>
            <a:r>
              <a:rPr lang="en-US" sz="2400" dirty="0"/>
              <a:t>The problem is, exception can be thrown from many points in the program</a:t>
            </a:r>
            <a:r>
              <a:rPr lang="en-US" dirty="0"/>
              <a:t> </a:t>
            </a:r>
            <a:r>
              <a:rPr lang="en-US" dirty="0">
                <a:sym typeface="Wingdings" pitchFamily="2" charset="2"/>
              </a:rPr>
              <a:t> </a:t>
            </a:r>
            <a:r>
              <a:rPr lang="en-US" sz="2400" dirty="0"/>
              <a:t>exploding the number or the size of the formulas that we have to deal with for verification.</a:t>
            </a:r>
          </a:p>
          <a:p>
            <a:r>
              <a:rPr lang="en-US" sz="2400" dirty="0"/>
              <a:t>But first ... how to deal with exception in Hoare logic / </a:t>
            </a:r>
            <a:r>
              <a:rPr lang="en-US" sz="2400" b="1" dirty="0" err="1"/>
              <a:t>wlp</a:t>
            </a:r>
            <a:r>
              <a:rPr lang="en-US" sz="2400" dirty="0"/>
              <a:t> ?</a:t>
            </a:r>
          </a:p>
          <a:p>
            <a:pPr lvl="1"/>
            <a:r>
              <a:rPr lang="en-US" sz="2000" dirty="0"/>
              <a:t>Approach-1: extend post-condition to be a pair (</a:t>
            </a:r>
            <a:r>
              <a:rPr lang="en-US" sz="2000" i="1" dirty="0" err="1"/>
              <a:t>Q</a:t>
            </a:r>
            <a:r>
              <a:rPr lang="en-US" sz="2000" baseline="-25000" dirty="0" err="1"/>
              <a:t>n</a:t>
            </a:r>
            <a:r>
              <a:rPr lang="en-US" sz="2000" dirty="0" err="1"/>
              <a:t>,</a:t>
            </a:r>
            <a:r>
              <a:rPr lang="en-US" sz="2000" i="1" dirty="0" err="1"/>
              <a:t>Q</a:t>
            </a:r>
            <a:r>
              <a:rPr lang="en-US" sz="2000" baseline="-25000" dirty="0" err="1"/>
              <a:t>e</a:t>
            </a:r>
            <a:r>
              <a:rPr lang="en-US" sz="2000" dirty="0"/>
              <a:t>) representing the desired situation when a program terminates normally, and when it terminates exceptionally.</a:t>
            </a:r>
          </a:p>
          <a:p>
            <a:pPr lvl="1"/>
            <a:r>
              <a:rPr lang="en-US" dirty="0"/>
              <a:t>Approach-2: figure out the jumps e.g. by first constructing the program’s a control flow graph</a:t>
            </a:r>
            <a:endParaRPr lang="en-US" sz="2000" dirty="0"/>
          </a:p>
          <a:p>
            <a:endParaRPr lang="en-US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48220AE-4ABF-4647-9677-DBC7878747C7}" type="slidenum">
              <a:rPr lang="en-US" smtClean="0"/>
              <a:pPr>
                <a:defRPr/>
              </a:pPr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763964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Approach 1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383957"/>
            <a:ext cx="7772400" cy="5109440"/>
          </a:xfrm>
        </p:spPr>
        <p:txBody>
          <a:bodyPr>
            <a:normAutofit/>
          </a:bodyPr>
          <a:lstStyle/>
          <a:p>
            <a:r>
              <a:rPr lang="en-US" dirty="0"/>
              <a:t>Extend the post-condition from a single predicate to a pair of predicate:</a:t>
            </a:r>
            <a:br>
              <a:rPr lang="en-US" dirty="0"/>
            </a:br>
            <a:br>
              <a:rPr lang="en-US" dirty="0"/>
            </a:br>
            <a:r>
              <a:rPr lang="en-US" dirty="0"/>
              <a:t>{P}  S {Q,R}  where Q describes the expectation when S terminates normally, and R the expectation when S terminates by exception.</a:t>
            </a:r>
          </a:p>
          <a:p>
            <a:r>
              <a:rPr lang="en-US" b="1" dirty="0" err="1">
                <a:solidFill>
                  <a:srgbClr val="FF0000"/>
                </a:solidFill>
              </a:rPr>
              <a:t>wlp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/>
              <a:t>(</a:t>
            </a:r>
            <a:r>
              <a:rPr lang="en-US" i="1" dirty="0"/>
              <a:t>x</a:t>
            </a:r>
            <a:r>
              <a:rPr lang="en-US" dirty="0"/>
              <a:t> := </a:t>
            </a:r>
            <a:r>
              <a:rPr lang="en-US" i="1" dirty="0"/>
              <a:t>e</a:t>
            </a:r>
            <a:r>
              <a:rPr lang="en-US" dirty="0"/>
              <a:t>) (</a:t>
            </a:r>
            <a:r>
              <a:rPr lang="en-US" i="1" dirty="0"/>
              <a:t>Q,R</a:t>
            </a:r>
            <a:r>
              <a:rPr lang="en-US" dirty="0"/>
              <a:t>) =  </a:t>
            </a:r>
            <a:r>
              <a:rPr lang="en-US" i="1" dirty="0"/>
              <a:t>Q</a:t>
            </a:r>
            <a:r>
              <a:rPr lang="en-US" dirty="0"/>
              <a:t>[</a:t>
            </a:r>
            <a:r>
              <a:rPr lang="en-US" i="1" dirty="0"/>
              <a:t>e/x</a:t>
            </a:r>
            <a:r>
              <a:rPr lang="en-US" dirty="0"/>
              <a:t>]     </a:t>
            </a:r>
            <a:r>
              <a:rPr lang="en-US" sz="1400" dirty="0"/>
              <a:t>-- assuming e does not throw an exception.</a:t>
            </a:r>
          </a:p>
          <a:p>
            <a:r>
              <a:rPr lang="en-US" b="1" dirty="0" err="1">
                <a:solidFill>
                  <a:srgbClr val="FF0000"/>
                </a:solidFill>
              </a:rPr>
              <a:t>wlp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b="1" dirty="0"/>
              <a:t>raise</a:t>
            </a:r>
            <a:r>
              <a:rPr lang="en-US" dirty="0"/>
              <a:t> (</a:t>
            </a:r>
            <a:r>
              <a:rPr lang="en-US" i="1" dirty="0"/>
              <a:t>Q,R</a:t>
            </a:r>
            <a:r>
              <a:rPr lang="en-US" dirty="0"/>
              <a:t>)     =  </a:t>
            </a:r>
            <a:r>
              <a:rPr lang="en-US" i="1" dirty="0"/>
              <a:t>R</a:t>
            </a:r>
          </a:p>
          <a:p>
            <a:r>
              <a:rPr lang="en-US" b="1" dirty="0" err="1">
                <a:solidFill>
                  <a:srgbClr val="FF0000"/>
                </a:solidFill>
              </a:rPr>
              <a:t>wlp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/>
              <a:t>(</a:t>
            </a:r>
            <a:r>
              <a:rPr lang="en-US" i="1" dirty="0"/>
              <a:t>S</a:t>
            </a:r>
            <a:r>
              <a:rPr lang="en-US" baseline="-25000" dirty="0"/>
              <a:t>1</a:t>
            </a:r>
            <a:r>
              <a:rPr lang="en-US" dirty="0"/>
              <a:t> ; </a:t>
            </a:r>
            <a:r>
              <a:rPr lang="en-US" i="1" dirty="0"/>
              <a:t>S</a:t>
            </a:r>
            <a:r>
              <a:rPr lang="en-US" baseline="-25000" dirty="0"/>
              <a:t>2</a:t>
            </a:r>
            <a:r>
              <a:rPr lang="en-US" dirty="0"/>
              <a:t>) (</a:t>
            </a:r>
            <a:r>
              <a:rPr lang="en-US" i="1" dirty="0"/>
              <a:t>Q,R</a:t>
            </a:r>
            <a:r>
              <a:rPr lang="en-US" dirty="0"/>
              <a:t>) =  </a:t>
            </a:r>
            <a:r>
              <a:rPr lang="en-US" b="1" dirty="0" err="1">
                <a:solidFill>
                  <a:srgbClr val="FF0000"/>
                </a:solidFill>
              </a:rPr>
              <a:t>wlp</a:t>
            </a:r>
            <a:r>
              <a:rPr lang="en-US" dirty="0"/>
              <a:t> </a:t>
            </a:r>
            <a:r>
              <a:rPr lang="en-US" i="1" dirty="0"/>
              <a:t>S</a:t>
            </a:r>
            <a:r>
              <a:rPr lang="en-US" baseline="-25000" dirty="0"/>
              <a:t>1</a:t>
            </a:r>
            <a:r>
              <a:rPr lang="en-US" dirty="0"/>
              <a:t> (</a:t>
            </a:r>
            <a:r>
              <a:rPr lang="en-US" b="1" dirty="0" err="1">
                <a:solidFill>
                  <a:srgbClr val="FF0000"/>
                </a:solidFill>
              </a:rPr>
              <a:t>wlp</a:t>
            </a:r>
            <a:r>
              <a:rPr lang="en-US" dirty="0"/>
              <a:t> </a:t>
            </a:r>
            <a:r>
              <a:rPr lang="en-US" i="1" dirty="0"/>
              <a:t>S</a:t>
            </a:r>
            <a:r>
              <a:rPr lang="en-US" baseline="-25000" dirty="0"/>
              <a:t>2</a:t>
            </a:r>
            <a:r>
              <a:rPr lang="en-US" dirty="0"/>
              <a:t> (</a:t>
            </a:r>
            <a:r>
              <a:rPr lang="en-US" i="1" dirty="0"/>
              <a:t>Q</a:t>
            </a:r>
            <a:r>
              <a:rPr lang="en-US" dirty="0"/>
              <a:t>,</a:t>
            </a:r>
            <a:r>
              <a:rPr lang="en-US" i="1" dirty="0"/>
              <a:t>R</a:t>
            </a:r>
            <a:r>
              <a:rPr lang="en-US" dirty="0"/>
              <a:t>), </a:t>
            </a:r>
            <a:r>
              <a:rPr lang="en-US" i="1" dirty="0"/>
              <a:t>R</a:t>
            </a:r>
            <a:r>
              <a:rPr lang="en-US" dirty="0"/>
              <a:t>)</a:t>
            </a:r>
          </a:p>
          <a:p>
            <a:r>
              <a:rPr lang="en-US" b="1" dirty="0" err="1">
                <a:solidFill>
                  <a:srgbClr val="FF0000"/>
                </a:solidFill>
              </a:rPr>
              <a:t>wlp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/>
              <a:t>(</a:t>
            </a:r>
            <a:r>
              <a:rPr lang="en-US" i="1" dirty="0"/>
              <a:t>S</a:t>
            </a:r>
            <a:r>
              <a:rPr lang="en-US" dirty="0"/>
              <a:t> ! </a:t>
            </a:r>
            <a:r>
              <a:rPr lang="en-US" i="1" dirty="0"/>
              <a:t>H</a:t>
            </a:r>
            <a:r>
              <a:rPr lang="en-US" dirty="0"/>
              <a:t>) (</a:t>
            </a:r>
            <a:r>
              <a:rPr lang="en-US" i="1" dirty="0"/>
              <a:t>Q,R</a:t>
            </a:r>
            <a:r>
              <a:rPr lang="en-US" dirty="0"/>
              <a:t>)   =  </a:t>
            </a:r>
            <a:r>
              <a:rPr lang="en-US" b="1" dirty="0" err="1">
                <a:solidFill>
                  <a:srgbClr val="FF0000"/>
                </a:solidFill>
              </a:rPr>
              <a:t>wlp</a:t>
            </a:r>
            <a:r>
              <a:rPr lang="en-US" dirty="0"/>
              <a:t>  S  (</a:t>
            </a:r>
            <a:r>
              <a:rPr lang="en-US" i="1" dirty="0"/>
              <a:t>Q</a:t>
            </a:r>
            <a:r>
              <a:rPr lang="en-US" dirty="0"/>
              <a:t> ,  </a:t>
            </a:r>
            <a:r>
              <a:rPr lang="en-US" b="1" dirty="0" err="1">
                <a:solidFill>
                  <a:srgbClr val="FF0000"/>
                </a:solidFill>
              </a:rPr>
              <a:t>wlp</a:t>
            </a:r>
            <a:r>
              <a:rPr lang="en-US" dirty="0"/>
              <a:t>  </a:t>
            </a:r>
            <a:r>
              <a:rPr lang="en-US" i="1" dirty="0"/>
              <a:t>H</a:t>
            </a:r>
            <a:r>
              <a:rPr lang="en-US" dirty="0"/>
              <a:t>  (</a:t>
            </a:r>
            <a:r>
              <a:rPr lang="en-US" i="1" dirty="0"/>
              <a:t>Q,R</a:t>
            </a:r>
            <a:r>
              <a:rPr lang="en-US" dirty="0"/>
              <a:t>))</a:t>
            </a:r>
          </a:p>
          <a:p>
            <a:r>
              <a:rPr lang="en-US" dirty="0"/>
              <a:t>This avoids blow up that we saw in Approach-1, but on the other hand </a:t>
            </a:r>
            <a:r>
              <a:rPr lang="en-US" dirty="0" err="1"/>
              <a:t>wlp</a:t>
            </a:r>
            <a:r>
              <a:rPr lang="en-US" dirty="0"/>
              <a:t> becomes more complicated.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8A332FB-769C-4CBB-BDDE-0DC26211CC04}" type="slidenum">
              <a:rPr lang="en-US" smtClean="0"/>
              <a:pPr>
                <a:defRPr/>
              </a:pPr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937732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3222F6-95E6-71E4-0B13-4DF2E9B0DA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L" dirty="0"/>
              <a:t>Approach 2: via a CFG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950ABB-7D69-6FE4-0842-DC27831020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8A332FB-769C-4CBB-BDDE-0DC26211CC04}" type="slidenum">
              <a:rPr lang="en-US" smtClean="0"/>
              <a:pPr>
                <a:defRPr/>
              </a:pPr>
              <a:t>69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DA9BA26-029A-191B-E200-7DB3E4DD2B3A}"/>
              </a:ext>
            </a:extLst>
          </p:cNvPr>
          <p:cNvSpPr txBox="1"/>
          <p:nvPr/>
        </p:nvSpPr>
        <p:spPr>
          <a:xfrm>
            <a:off x="293386" y="1859340"/>
            <a:ext cx="3748142" cy="156966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>
              <a:buClr>
                <a:schemeClr val="accent1">
                  <a:lumMod val="75000"/>
                </a:schemeClr>
              </a:buClr>
              <a:buSzPct val="85000"/>
            </a:pPr>
            <a:r>
              <a:rPr lang="en-US" b="1" dirty="0"/>
              <a:t>{ if</a:t>
            </a:r>
            <a:r>
              <a:rPr lang="en-US" dirty="0"/>
              <a:t> k</a:t>
            </a:r>
            <a:r>
              <a:rPr lang="en-US" dirty="0">
                <a:sym typeface="Symbol"/>
              </a:rPr>
              <a:t>&lt;0 \/ k#a  </a:t>
            </a:r>
            <a:r>
              <a:rPr lang="en-US" b="1" dirty="0">
                <a:sym typeface="Symbol"/>
              </a:rPr>
              <a:t>then</a:t>
            </a:r>
            <a:r>
              <a:rPr lang="en-US" dirty="0">
                <a:sym typeface="Symbol"/>
              </a:rPr>
              <a:t> </a:t>
            </a:r>
            <a:r>
              <a:rPr lang="en-US" b="1" dirty="0">
                <a:sym typeface="Symbol"/>
              </a:rPr>
              <a:t>raise</a:t>
            </a:r>
            <a:r>
              <a:rPr lang="en-US" dirty="0">
                <a:sym typeface="Symbol"/>
              </a:rPr>
              <a:t> ; </a:t>
            </a:r>
            <a:br>
              <a:rPr lang="en-US" dirty="0">
                <a:sym typeface="Symbol"/>
              </a:rPr>
            </a:br>
            <a:r>
              <a:rPr lang="en-US" dirty="0">
                <a:sym typeface="Symbol"/>
              </a:rPr>
              <a:t>  </a:t>
            </a:r>
            <a:r>
              <a:rPr lang="en-US" b="1" dirty="0">
                <a:sym typeface="Symbol"/>
              </a:rPr>
              <a:t>if</a:t>
            </a:r>
            <a:r>
              <a:rPr lang="en-US" dirty="0">
                <a:sym typeface="Symbol"/>
              </a:rPr>
              <a:t> y=0              </a:t>
            </a:r>
            <a:r>
              <a:rPr lang="en-US" b="1" dirty="0">
                <a:sym typeface="Symbol"/>
              </a:rPr>
              <a:t>then</a:t>
            </a:r>
            <a:r>
              <a:rPr lang="en-US" dirty="0">
                <a:sym typeface="Symbol"/>
              </a:rPr>
              <a:t> </a:t>
            </a:r>
            <a:r>
              <a:rPr lang="en-US" b="1" dirty="0">
                <a:sym typeface="Symbol"/>
              </a:rPr>
              <a:t>raise</a:t>
            </a:r>
            <a:r>
              <a:rPr lang="en-US" dirty="0">
                <a:sym typeface="Symbol"/>
              </a:rPr>
              <a:t> ; </a:t>
            </a:r>
            <a:br>
              <a:rPr lang="en-US" dirty="0">
                <a:sym typeface="Symbol"/>
              </a:rPr>
            </a:br>
            <a:r>
              <a:rPr lang="en-US" dirty="0">
                <a:sym typeface="Symbol"/>
              </a:rPr>
              <a:t>  </a:t>
            </a:r>
            <a:r>
              <a:rPr lang="en-US" dirty="0"/>
              <a:t>x := a[k]/y  }</a:t>
            </a:r>
            <a:br>
              <a:rPr lang="en-US" dirty="0"/>
            </a:br>
            <a:r>
              <a:rPr lang="en-US" dirty="0">
                <a:highlight>
                  <a:srgbClr val="FFFF00"/>
                </a:highlight>
              </a:rPr>
              <a:t>! { x := -1 }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DD42E68-9F92-6968-8793-39489D4F1F35}"/>
              </a:ext>
            </a:extLst>
          </p:cNvPr>
          <p:cNvSpPr txBox="1"/>
          <p:nvPr/>
        </p:nvSpPr>
        <p:spPr>
          <a:xfrm>
            <a:off x="5307958" y="2099257"/>
            <a:ext cx="1755609" cy="46166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 k</a:t>
            </a:r>
            <a:r>
              <a:rPr lang="en-US" dirty="0">
                <a:sym typeface="Symbol"/>
              </a:rPr>
              <a:t>&lt;0 \/ k#a </a:t>
            </a:r>
            <a:endParaRPr lang="en-NL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2B70340-D0CD-A058-65C4-44D9FA79959B}"/>
              </a:ext>
            </a:extLst>
          </p:cNvPr>
          <p:cNvSpPr txBox="1"/>
          <p:nvPr/>
        </p:nvSpPr>
        <p:spPr>
          <a:xfrm>
            <a:off x="5814506" y="2875120"/>
            <a:ext cx="742511" cy="46166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 y=0</a:t>
            </a:r>
            <a:endParaRPr lang="en-NL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266A8C3-BF49-E6D0-00D9-089855950710}"/>
              </a:ext>
            </a:extLst>
          </p:cNvPr>
          <p:cNvSpPr txBox="1"/>
          <p:nvPr/>
        </p:nvSpPr>
        <p:spPr>
          <a:xfrm>
            <a:off x="5366466" y="3648173"/>
            <a:ext cx="1638590" cy="461665"/>
          </a:xfrm>
          <a:prstGeom prst="rect">
            <a:avLst/>
          </a:prstGeom>
          <a:solidFill>
            <a:srgbClr val="00B0F0">
              <a:alpha val="43922"/>
            </a:srgbClr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sym typeface="Symbol"/>
              </a:rPr>
              <a:t> </a:t>
            </a:r>
            <a:r>
              <a:rPr lang="en-US" dirty="0"/>
              <a:t>x := a[k]/y </a:t>
            </a:r>
            <a:endParaRPr lang="en-NL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17D355C-574B-4097-4DC5-F95AFA88F66A}"/>
              </a:ext>
            </a:extLst>
          </p:cNvPr>
          <p:cNvSpPr txBox="1"/>
          <p:nvPr/>
        </p:nvSpPr>
        <p:spPr>
          <a:xfrm>
            <a:off x="7399395" y="2099256"/>
            <a:ext cx="1083951" cy="461665"/>
          </a:xfrm>
          <a:prstGeom prst="rect">
            <a:avLst/>
          </a:prstGeom>
          <a:solidFill>
            <a:srgbClr val="FFFF00">
              <a:alpha val="43922"/>
            </a:srgbClr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sym typeface="Symbol"/>
              </a:rPr>
              <a:t> </a:t>
            </a:r>
            <a:r>
              <a:rPr lang="en-US" dirty="0"/>
              <a:t>x := -1</a:t>
            </a:r>
            <a:endParaRPr lang="en-NL" dirty="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190954A8-FA9C-A420-DB44-E7A75631877A}"/>
              </a:ext>
            </a:extLst>
          </p:cNvPr>
          <p:cNvSpPr/>
          <p:nvPr/>
        </p:nvSpPr>
        <p:spPr>
          <a:xfrm>
            <a:off x="6005654" y="1488884"/>
            <a:ext cx="360219" cy="381126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cxnSp>
        <p:nvCxnSpPr>
          <p:cNvPr id="14" name="Elbow Connector 13">
            <a:extLst>
              <a:ext uri="{FF2B5EF4-FFF2-40B4-BE49-F238E27FC236}">
                <a16:creationId xmlns:a16="http://schemas.microsoft.com/office/drawing/2014/main" id="{141B9255-AF3F-D3D3-0F88-CBE143303EB3}"/>
              </a:ext>
            </a:extLst>
          </p:cNvPr>
          <p:cNvCxnSpPr>
            <a:stCxn id="12" idx="4"/>
            <a:endCxn id="7" idx="0"/>
          </p:cNvCxnSpPr>
          <p:nvPr/>
        </p:nvCxnSpPr>
        <p:spPr>
          <a:xfrm rot="5400000">
            <a:off x="6071141" y="1984633"/>
            <a:ext cx="229247" cy="1"/>
          </a:xfrm>
          <a:prstGeom prst="bentConnector3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Elbow Connector 16">
            <a:extLst>
              <a:ext uri="{FF2B5EF4-FFF2-40B4-BE49-F238E27FC236}">
                <a16:creationId xmlns:a16="http://schemas.microsoft.com/office/drawing/2014/main" id="{511C86C6-E616-4514-C86E-2D7D645081DF}"/>
              </a:ext>
            </a:extLst>
          </p:cNvPr>
          <p:cNvCxnSpPr>
            <a:cxnSpLocks/>
            <a:stCxn id="7" idx="2"/>
            <a:endCxn id="8" idx="0"/>
          </p:cNvCxnSpPr>
          <p:nvPr/>
        </p:nvCxnSpPr>
        <p:spPr>
          <a:xfrm rot="5400000">
            <a:off x="6028664" y="2718021"/>
            <a:ext cx="314198" cy="1"/>
          </a:xfrm>
          <a:prstGeom prst="bentConnector3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Elbow Connector 21">
            <a:extLst>
              <a:ext uri="{FF2B5EF4-FFF2-40B4-BE49-F238E27FC236}">
                <a16:creationId xmlns:a16="http://schemas.microsoft.com/office/drawing/2014/main" id="{1844BCE3-DC69-D8D5-7808-65401C3CF094}"/>
              </a:ext>
            </a:extLst>
          </p:cNvPr>
          <p:cNvCxnSpPr>
            <a:cxnSpLocks/>
            <a:stCxn id="8" idx="2"/>
            <a:endCxn id="9" idx="0"/>
          </p:cNvCxnSpPr>
          <p:nvPr/>
        </p:nvCxnSpPr>
        <p:spPr>
          <a:xfrm rot="5400000">
            <a:off x="6030068" y="3492479"/>
            <a:ext cx="311388" cy="1"/>
          </a:xfrm>
          <a:prstGeom prst="bentConnector3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Oval 25">
            <a:extLst>
              <a:ext uri="{FF2B5EF4-FFF2-40B4-BE49-F238E27FC236}">
                <a16:creationId xmlns:a16="http://schemas.microsoft.com/office/drawing/2014/main" id="{304E546C-EB73-8D35-3EE0-A67443132B7E}"/>
              </a:ext>
            </a:extLst>
          </p:cNvPr>
          <p:cNvSpPr/>
          <p:nvPr/>
        </p:nvSpPr>
        <p:spPr>
          <a:xfrm>
            <a:off x="6005654" y="4421226"/>
            <a:ext cx="360219" cy="381126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cxnSp>
        <p:nvCxnSpPr>
          <p:cNvPr id="27" name="Elbow Connector 26">
            <a:extLst>
              <a:ext uri="{FF2B5EF4-FFF2-40B4-BE49-F238E27FC236}">
                <a16:creationId xmlns:a16="http://schemas.microsoft.com/office/drawing/2014/main" id="{F2152F14-7AE3-E032-A967-6BC538E12D0E}"/>
              </a:ext>
            </a:extLst>
          </p:cNvPr>
          <p:cNvCxnSpPr>
            <a:cxnSpLocks/>
            <a:stCxn id="9" idx="2"/>
            <a:endCxn id="26" idx="0"/>
          </p:cNvCxnSpPr>
          <p:nvPr/>
        </p:nvCxnSpPr>
        <p:spPr>
          <a:xfrm rot="16200000" flipH="1">
            <a:off x="6030068" y="4265530"/>
            <a:ext cx="311388" cy="3"/>
          </a:xfrm>
          <a:prstGeom prst="bentConnector3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Elbow Connector 30">
            <a:extLst>
              <a:ext uri="{FF2B5EF4-FFF2-40B4-BE49-F238E27FC236}">
                <a16:creationId xmlns:a16="http://schemas.microsoft.com/office/drawing/2014/main" id="{0D458F91-87C0-C358-7E93-1CC6E09237C1}"/>
              </a:ext>
            </a:extLst>
          </p:cNvPr>
          <p:cNvCxnSpPr>
            <a:cxnSpLocks/>
            <a:stCxn id="7" idx="3"/>
            <a:endCxn id="10" idx="1"/>
          </p:cNvCxnSpPr>
          <p:nvPr/>
        </p:nvCxnSpPr>
        <p:spPr>
          <a:xfrm flipV="1">
            <a:off x="7063567" y="2330089"/>
            <a:ext cx="335828" cy="1"/>
          </a:xfrm>
          <a:prstGeom prst="bentConnector3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Elbow Connector 33">
            <a:extLst>
              <a:ext uri="{FF2B5EF4-FFF2-40B4-BE49-F238E27FC236}">
                <a16:creationId xmlns:a16="http://schemas.microsoft.com/office/drawing/2014/main" id="{975DC2A2-32F8-2390-B2E8-3B56E65C4267}"/>
              </a:ext>
            </a:extLst>
          </p:cNvPr>
          <p:cNvCxnSpPr>
            <a:cxnSpLocks/>
            <a:stCxn id="8" idx="3"/>
            <a:endCxn id="10" idx="2"/>
          </p:cNvCxnSpPr>
          <p:nvPr/>
        </p:nvCxnSpPr>
        <p:spPr>
          <a:xfrm flipV="1">
            <a:off x="6557017" y="2560921"/>
            <a:ext cx="1384354" cy="545032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F3082EAF-5BB0-324A-47C8-96859537E044}"/>
              </a:ext>
            </a:extLst>
          </p:cNvPr>
          <p:cNvSpPr txBox="1"/>
          <p:nvPr/>
        </p:nvSpPr>
        <p:spPr>
          <a:xfrm>
            <a:off x="4094295" y="4892751"/>
            <a:ext cx="418292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NL" sz="2000" dirty="0"/>
              <a:t>Control Flow Graph (CFG) of the statement to the left. From here execution paths can be generated.</a:t>
            </a:r>
          </a:p>
        </p:txBody>
      </p:sp>
      <p:sp>
        <p:nvSpPr>
          <p:cNvPr id="40" name="Right Arrow 39">
            <a:extLst>
              <a:ext uri="{FF2B5EF4-FFF2-40B4-BE49-F238E27FC236}">
                <a16:creationId xmlns:a16="http://schemas.microsoft.com/office/drawing/2014/main" id="{6157B6FB-0903-CA04-FE1A-AD7FFB3460D8}"/>
              </a:ext>
            </a:extLst>
          </p:cNvPr>
          <p:cNvSpPr/>
          <p:nvPr/>
        </p:nvSpPr>
        <p:spPr>
          <a:xfrm>
            <a:off x="4247211" y="2330088"/>
            <a:ext cx="724919" cy="609647"/>
          </a:xfrm>
          <a:prstGeom prst="rightArrow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644109243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0034" y="226512"/>
            <a:ext cx="8358246" cy="796908"/>
          </a:xfrm>
        </p:spPr>
        <p:txBody>
          <a:bodyPr/>
          <a:lstStyle/>
          <a:p>
            <a:r>
              <a:rPr lang="en-US" dirty="0"/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You have now the full </a:t>
            </a:r>
            <a:r>
              <a:rPr lang="en-US" b="1" dirty="0" err="1"/>
              <a:t>wlp</a:t>
            </a:r>
            <a:r>
              <a:rPr lang="en-US" dirty="0"/>
              <a:t>-based logic to verify GCL programs.</a:t>
            </a:r>
          </a:p>
          <a:p>
            <a:r>
              <a:rPr lang="en-US" dirty="0"/>
              <a:t>The calculation of </a:t>
            </a:r>
            <a:r>
              <a:rPr lang="en-US" b="1" dirty="0" err="1"/>
              <a:t>wlp</a:t>
            </a:r>
            <a:r>
              <a:rPr lang="en-US" dirty="0"/>
              <a:t> is syntax driven.</a:t>
            </a:r>
          </a:p>
          <a:p>
            <a:r>
              <a:rPr lang="en-US" dirty="0"/>
              <a:t>If loops are annotated, the calculation of </a:t>
            </a:r>
            <a:r>
              <a:rPr lang="en-US" b="1" dirty="0" err="1"/>
              <a:t>wlp</a:t>
            </a:r>
            <a:r>
              <a:rPr lang="en-US" dirty="0"/>
              <a:t> is fully automatic, else you may have to do some trade off.</a:t>
            </a:r>
          </a:p>
          <a:p>
            <a:r>
              <a:rPr lang="en-US" dirty="0"/>
              <a:t>RL languages can be translated to GCL; we have shown how some core OO constructs can be translated.</a:t>
            </a:r>
          </a:p>
          <a:p>
            <a:r>
              <a:rPr lang="en-US" b="1" dirty="0" err="1"/>
              <a:t>wlp</a:t>
            </a:r>
            <a:r>
              <a:rPr lang="en-US" dirty="0"/>
              <a:t>-based logic does </a:t>
            </a:r>
            <a:r>
              <a:rPr lang="en-US" i="1" dirty="0"/>
              <a:t>not</a:t>
            </a:r>
            <a:r>
              <a:rPr lang="en-US" dirty="0"/>
              <a:t> deal with concurrency.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48220AE-4ABF-4647-9677-DBC7878747C7}" type="slidenum">
              <a:rPr lang="en-US" smtClean="0"/>
              <a:pPr>
                <a:defRPr/>
              </a:pPr>
              <a:t>70</a:t>
            </a:fld>
            <a:endParaRPr lang="en-US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Wood Type">
  <a:themeElements>
    <a:clrScheme name="Red Orange">
      <a:dk1>
        <a:sysClr val="windowText" lastClr="000000"/>
      </a:dk1>
      <a:lt1>
        <a:sysClr val="window" lastClr="FFFFFF"/>
      </a:lt1>
      <a:dk2>
        <a:srgbClr val="505046"/>
      </a:dk2>
      <a:lt2>
        <a:srgbClr val="EEECE1"/>
      </a:lt2>
      <a:accent1>
        <a:srgbClr val="E84C22"/>
      </a:accent1>
      <a:accent2>
        <a:srgbClr val="FFBD47"/>
      </a:accent2>
      <a:accent3>
        <a:srgbClr val="B64926"/>
      </a:accent3>
      <a:accent4>
        <a:srgbClr val="FF8427"/>
      </a:accent4>
      <a:accent5>
        <a:srgbClr val="CC9900"/>
      </a:accent5>
      <a:accent6>
        <a:srgbClr val="B22600"/>
      </a:accent6>
      <a:hlink>
        <a:srgbClr val="CC9900"/>
      </a:hlink>
      <a:folHlink>
        <a:srgbClr val="666699"/>
      </a:folHlink>
    </a:clrScheme>
    <a:fontScheme name="Cambria-Calibri">
      <a:majorFont>
        <a:latin typeface="Cambria" panose="02040503050406030204"/>
        <a:ea typeface=""/>
        <a:cs typeface=""/>
        <a:font script="Jpan" typeface="ＭＳ Ｐゴシック"/>
        <a:font script="Hang" typeface="맑은 고딕"/>
        <a:font script="Hans" typeface="黑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ood Typ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142A1326-48AB-42A9-8428-CB14AA30176D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PV_semantic</Template>
  <TotalTime>21764</TotalTime>
  <Words>8656</Words>
  <Application>Microsoft Macintosh PowerPoint</Application>
  <PresentationFormat>On-screen Show (4:3)</PresentationFormat>
  <Paragraphs>825</Paragraphs>
  <Slides>70</Slides>
  <Notes>47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70</vt:i4>
      </vt:variant>
    </vt:vector>
  </HeadingPairs>
  <TitlesOfParts>
    <vt:vector size="80" baseType="lpstr">
      <vt:lpstr>Arial</vt:lpstr>
      <vt:lpstr>Calibri</vt:lpstr>
      <vt:lpstr>Cambria</vt:lpstr>
      <vt:lpstr>Courier New</vt:lpstr>
      <vt:lpstr>Rockwell Extra Bold</vt:lpstr>
      <vt:lpstr>Symbol</vt:lpstr>
      <vt:lpstr>Times New Roman</vt:lpstr>
      <vt:lpstr>Wingdings</vt:lpstr>
      <vt:lpstr>Wingdings 3</vt:lpstr>
      <vt:lpstr>Wood Type</vt:lpstr>
      <vt:lpstr>Predicate-transformer–based Verification (LN Chapter 2)</vt:lpstr>
      <vt:lpstr>Plan</vt:lpstr>
      <vt:lpstr>Specifying programs</vt:lpstr>
      <vt:lpstr>Hoare Logic</vt:lpstr>
      <vt:lpstr>The logic’s general idea:  break it down!</vt:lpstr>
      <vt:lpstr>Assignment</vt:lpstr>
      <vt:lpstr>Loop</vt:lpstr>
      <vt:lpstr>Few more examples</vt:lpstr>
      <vt:lpstr>Few more examples</vt:lpstr>
      <vt:lpstr>Proving termination (of loop)</vt:lpstr>
      <vt:lpstr>Example</vt:lpstr>
      <vt:lpstr>Home work</vt:lpstr>
      <vt:lpstr>Hoare logic cannot be directly automated</vt:lpstr>
      <vt:lpstr>Forward and backward transformer</vt:lpstr>
      <vt:lpstr>Forward and backward transformer</vt:lpstr>
      <vt:lpstr>WP and WLP transformer</vt:lpstr>
      <vt:lpstr>Guarded Command Language (GCL)</vt:lpstr>
      <vt:lpstr>wlp</vt:lpstr>
      <vt:lpstr>wlp</vt:lpstr>
      <vt:lpstr>wlp</vt:lpstr>
      <vt:lpstr>Formula growth</vt:lpstr>
      <vt:lpstr>PATH-based verification</vt:lpstr>
      <vt:lpstr>PATH-based verification</vt:lpstr>
      <vt:lpstr>Unfeasible path</vt:lpstr>
      <vt:lpstr>forward symbolic execution</vt:lpstr>
      <vt:lpstr>forward symbolic execution</vt:lpstr>
      <vt:lpstr>forward symbolic execution</vt:lpstr>
      <vt:lpstr>forward symbolic execution</vt:lpstr>
      <vt:lpstr>Backward vs forward symbolic execution</vt:lpstr>
      <vt:lpstr>Backward vs forward transformation</vt:lpstr>
      <vt:lpstr>Can we prove the soundness and completeness of the wlp transformer ?</vt:lpstr>
      <vt:lpstr>The semantic of expressions and predicates</vt:lpstr>
      <vt:lpstr>The semantic of expressions and predicates</vt:lpstr>
      <vt:lpstr>The semantic of statements</vt:lpstr>
      <vt:lpstr>The semantic of statements (deterministic)</vt:lpstr>
      <vt:lpstr>Semantic of Hoare Triple (deterministic)</vt:lpstr>
      <vt:lpstr>Back to Dealing with loop</vt:lpstr>
      <vt:lpstr>What if there is no I annotated ?</vt:lpstr>
      <vt:lpstr>wlp as fix point</vt:lpstr>
      <vt:lpstr>The domain of state predicates, Pow(∑)</vt:lpstr>
      <vt:lpstr>Some bit of fix point theory</vt:lpstr>
      <vt:lpstr>Some bit of fix point theory</vt:lpstr>
      <vt:lpstr>Some bit of fix point theory</vt:lpstr>
      <vt:lpstr>FP iteration</vt:lpstr>
      <vt:lpstr>FP iteration</vt:lpstr>
      <vt:lpstr>Example 1</vt:lpstr>
      <vt:lpstr>Example 2</vt:lpstr>
      <vt:lpstr>Example 2</vt:lpstr>
      <vt:lpstr>Example 3</vt:lpstr>
      <vt:lpstr>Finite unfolding</vt:lpstr>
      <vt:lpstr>Replacing while with [while]k</vt:lpstr>
      <vt:lpstr>Replacing while with whilek</vt:lpstr>
      <vt:lpstr>Verification of OO programs</vt:lpstr>
      <vt:lpstr>Local variable</vt:lpstr>
      <vt:lpstr>Simultant assignment</vt:lpstr>
      <vt:lpstr>Program and program call</vt:lpstr>
      <vt:lpstr>Encoding program call</vt:lpstr>
      <vt:lpstr>Black-box call</vt:lpstr>
      <vt:lpstr>Arrays</vt:lpstr>
      <vt:lpstr>Array assignments trigger cases</vt:lpstr>
      <vt:lpstr>Array assignments trigger cases</vt:lpstr>
      <vt:lpstr>Objects</vt:lpstr>
      <vt:lpstr>Methods</vt:lpstr>
      <vt:lpstr>excEption</vt:lpstr>
      <vt:lpstr>Assignments and guards</vt:lpstr>
      <vt:lpstr>Assignments and guards</vt:lpstr>
      <vt:lpstr>Exception</vt:lpstr>
      <vt:lpstr>Approach 1 </vt:lpstr>
      <vt:lpstr>Approach 2: via a CFG</vt:lpstr>
      <vt:lpstr>Summary</vt:lpstr>
    </vt:vector>
  </TitlesOfParts>
  <Company>Universiteit Utrecht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Course on Program Verification</dc:title>
  <dc:creator>wish</dc:creator>
  <cp:lastModifiedBy>ISWB Prasetya</cp:lastModifiedBy>
  <cp:revision>787</cp:revision>
  <cp:lastPrinted>2016-02-16T15:13:41Z</cp:lastPrinted>
  <dcterms:created xsi:type="dcterms:W3CDTF">2002-05-10T11:36:29Z</dcterms:created>
  <dcterms:modified xsi:type="dcterms:W3CDTF">2026-09-20T19:30:41Z</dcterms:modified>
</cp:coreProperties>
</file>